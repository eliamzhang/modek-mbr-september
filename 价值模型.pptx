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71" r:id="rId2"/>
    <p:sldId id="272" r:id="rId3"/>
    <p:sldId id="278" r:id="rId4"/>
    <p:sldId id="270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52" d="100"/>
          <a:sy n="152" d="100"/>
        </p:scale>
        <p:origin x="61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B8EBA2-80EF-4252-8597-048A45E2E1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B21FC56-6680-4AD6-82E5-88A11AFC2C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07AA0C1-447C-4AEA-81FA-9EB45857E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5CC9B75-A23F-4BC0-AF10-8E3B6D59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F3BAF1-849E-4CFB-97FB-462B79C53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2134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348D98-575F-4B86-853A-5626FCCE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51CB4C6-859B-47BA-B600-73580410D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1BEAC3-78C5-45B7-A23B-249EC15E9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9A1087-075F-407E-BB28-CDF217CD0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DC62BF-1010-4F72-A364-4192F2116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0560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4CBB0-B952-49F8-A1B8-3979F30A3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EC5F22-E42C-4263-A574-0CF3FB326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779609-2E9A-498F-932D-68BAA7EBB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99CF08-A439-43B3-A3F9-168D0F5CD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DFEC39-07FE-47BE-B8DE-2AFAE3D5E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47748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2E4F4-0D12-4C67-A2DE-5D38CFD33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CEAA503-16B9-4CA8-8AA5-603157897F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68D83A5-8A38-40E5-AB3E-D4138C5D57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A0B2CC2-A96A-41D7-A4D7-A284B7D5A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3BBF648-B851-4DA5-953B-86578FBD0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CC2EA2-1228-4FAF-B547-0D8F31FE6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09628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7E7825-95FC-4C1A-AF5F-E36B597AB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F39FAA-4C36-4CB6-A320-3DAC5409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CB609A8-1E92-437D-B0B0-6111310F1D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94226CF-A2B3-4B4E-9300-5E028ABA71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BB10009-1111-457E-B430-65E1C279A3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67E8ED2-908F-4B1A-8AE5-D192B1A89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49F550B-0F48-4318-996D-4884DECB1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28EED0F-6559-4C6F-9CA7-7770DD3D1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44073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16F64B-E647-4104-B1ED-F93F843D4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1D34E7-F38A-4F82-9AB6-F8589C899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B3AE06E-5BC2-49FC-AFDD-93822814B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F46D1A6-6F30-4369-886C-0B9A8E4C5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60289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99A4833-036F-41C6-B817-DBAF5E3F3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1AA5643-CE71-4F55-8C58-D1337D393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06E3F4D-D0ED-4973-9E9A-D6287B443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31106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F3B291-4439-45D3-BCEE-846EEECB6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A73331-4FF4-49B6-A023-F72C49367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FA3C987-2276-42A0-A1E7-E0606F374A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522F0A1-047D-4CAC-9C15-FF066542E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B2EAEBB-7478-4902-AB86-AE45AA28F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4A46412-6586-483A-ABB0-E712F839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50501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320C44-3AFF-45CD-9780-0D2FBCA4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793764D-8357-41AF-8664-BADF71EFE1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868CC22-900C-4216-BFAA-893CFBCC43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C52A649-1B04-42E5-84B4-2A037C732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DACB251-B513-433D-A8AC-3FA74F8D4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7EE6DA-2AE9-4C28-B829-F80EA98E4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95498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022334-2A6B-4387-80FD-70E1F1E0E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7C5D0A-2D53-4144-B690-6C700F742A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150CEC7-6E44-43BF-A36B-7D08A2F5C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AE63B3-0B50-4DF9-8F0E-79A5D7184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1FEAD4-D222-409F-A809-BD5B97867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95807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E48EF8A-FDFA-4016-9979-C8C5B09F32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8B09383-AF7E-4FF6-9616-02B3620BC3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39486C-99DC-445E-A433-3EDCCFF51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26F166-1825-4F9D-89FB-66C38CDA1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C0A879-DDC9-44A8-97E4-649A0365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45455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681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0B64D2A-B4A2-4991-8631-34442C84D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7B2BE11-2F72-49B2-9898-38081781B5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DFEC2A-8966-4520-BDC5-D824E43289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AAC27E-A6AB-47AB-8662-4EC357CAD7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2857CC-AAF6-440B-A91D-E387063E6C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0072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效果：跨时间稳定，分箱单调，交叉分化清晰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风险与价值两个维度各自排序成立，交叉后两端分化近 5 倍——联合分层具备数据基础。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654DD557-F88C-471A-8315-115E25447C86}"/>
              </a:ext>
            </a:extLst>
          </p:cNvPr>
          <p:cNvGrpSpPr/>
          <p:nvPr/>
        </p:nvGrpSpPr>
        <p:grpSpPr>
          <a:xfrm>
            <a:off x="512064" y="1207008"/>
            <a:ext cx="5376672" cy="729508"/>
            <a:chOff x="512064" y="1207008"/>
            <a:chExt cx="5376672" cy="896112"/>
          </a:xfrm>
        </p:grpSpPr>
        <p:sp>
          <p:nvSpPr>
            <p:cNvPr id="5" name="Rectangle 4"/>
            <p:cNvSpPr/>
            <p:nvPr/>
          </p:nvSpPr>
          <p:spPr>
            <a:xfrm>
              <a:off x="512064" y="1207008"/>
              <a:ext cx="2633472" cy="896112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46304" tIns="128016" bIns="54864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 dirty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AUC（OOT）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500" b="1" i="0" u="none" strike="noStrike" kern="1200" cap="none" spc="0" normalizeH="0" baseline="0" noProof="0" dirty="0">
                  <a:ln>
                    <a:noFill/>
                  </a:ln>
                  <a:solidFill>
                    <a:srgbClr val="1F4E79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0.7294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60606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INS 0.7015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12064" y="1207008"/>
              <a:ext cx="2633472" cy="54864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3255264" y="1207008"/>
              <a:ext cx="2633472" cy="896112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46304" tIns="128016" bIns="54864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KS（OOT）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500" b="1" i="0" u="none" strike="noStrike" kern="1200" cap="none" spc="0" normalizeH="0" baseline="0" noProof="0">
                  <a:ln>
                    <a:noFill/>
                  </a:ln>
                  <a:solidFill>
                    <a:srgbClr val="1F4E79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0.3467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60606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INS 0.2939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255264" y="1207008"/>
              <a:ext cx="2633472" cy="54864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512064" y="2111199"/>
            <a:ext cx="5376672" cy="1417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模型概况：</a:t>
            </a:r>
            <a:r>
              <a:rPr kumimoji="0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新客价值模型</a:t>
            </a:r>
            <a:r>
              <a:rPr kumimoji="0" sz="900" b="0" i="0" u="none" strike="noStrike" kern="1200" cap="none" spc="0" normalizeH="0" baseline="0" noProof="0" dirty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1.0，LightGBM 二分类，17 </a:t>
            </a:r>
            <a:r>
              <a:rPr kumimoji="0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个银行流水特征，建模样本</a:t>
            </a:r>
            <a:r>
              <a:rPr kumimoji="0" sz="900" b="0" i="0" u="none" strike="noStrike" kern="1200" cap="none" spc="0" normalizeH="0" baseline="0" noProof="0" dirty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56,330（成交客户，2024-04 起）；</a:t>
            </a:r>
            <a:r>
              <a:rPr kumimoji="0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目标</a:t>
            </a:r>
            <a:r>
              <a:rPr kumimoji="0" sz="900" b="0" i="0" u="none" strike="noStrike" kern="1200" cap="none" spc="0" normalizeH="0" baseline="0" noProof="0" dirty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=「3 </a:t>
            </a:r>
            <a:r>
              <a:rPr kumimoji="0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个月利息收入低于</a:t>
            </a:r>
            <a:r>
              <a:rPr kumimoji="0" sz="900" b="0" i="0" u="none" strike="noStrike" kern="1200" cap="none" spc="0" normalizeH="0" baseline="0" noProof="0" dirty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160」的弱价值标记（占比 27.12%）；</a:t>
            </a:r>
            <a:r>
              <a:rPr kumimoji="0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原始分越高</a:t>
            </a:r>
            <a:r>
              <a:rPr kumimoji="0" sz="900" b="0" i="0" u="none" strike="noStrike" kern="1200" cap="none" spc="0" normalizeH="0" baseline="0" noProof="0" dirty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=</a:t>
            </a:r>
            <a:r>
              <a:rPr kumimoji="0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弱价值概率越高，对外价值</a:t>
            </a:r>
            <a:r>
              <a:rPr kumimoji="0" sz="900" b="0" i="0" u="none" strike="noStrike" kern="1200" cap="none" spc="0" normalizeH="0" baseline="0" noProof="0" dirty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1（最好）→ 5（最弱）。</a:t>
            </a:r>
          </a:p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分箱单调：</a:t>
            </a:r>
            <a:r>
              <a:rPr kumimoji="0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申请样本</a:t>
            </a:r>
            <a:r>
              <a:rPr kumimoji="0" sz="900" b="0" i="0" u="none" strike="noStrike" kern="1200" cap="none" spc="0" normalizeH="0" baseline="0" noProof="0" dirty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151,579，价值 1→5：收入 9,611→3,924、通过率 41.04%→6.57%、3M30 </a:t>
            </a:r>
            <a:r>
              <a:rPr kumimoji="0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逾期率</a:t>
            </a:r>
            <a:r>
              <a:rPr kumimoji="0" sz="900" b="0" i="0" u="none" strike="noStrike" kern="1200" cap="none" spc="0" normalizeH="0" baseline="0" noProof="0" dirty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7.05%→22.90%，</a:t>
            </a:r>
            <a:r>
              <a:rPr kumimoji="0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逐档单调、无倒挂</a:t>
            </a:r>
            <a:r>
              <a:rPr kumimoji="0" sz="900" b="0" i="0" u="none" strike="noStrike" kern="1200" cap="none" spc="0" normalizeH="0" baseline="0" noProof="0" dirty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。</a:t>
            </a:r>
          </a:p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风险模型对照：</a:t>
            </a:r>
            <a:r>
              <a:rPr kumimoji="0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风险</a:t>
            </a:r>
            <a:r>
              <a:rPr kumimoji="0" sz="900" b="0" i="0" u="none" strike="noStrike" kern="1200" cap="none" spc="0" normalizeH="0" baseline="0" noProof="0" dirty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1→5，3M30 </a:t>
            </a:r>
            <a:r>
              <a:rPr kumimoji="0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逾期率</a:t>
            </a:r>
            <a:r>
              <a:rPr kumimoji="0" sz="900" b="0" i="0" u="none" strike="noStrike" kern="1200" cap="none" spc="0" normalizeH="0" baseline="0" noProof="0" dirty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5.92%→22.02%、</a:t>
            </a:r>
            <a:r>
              <a:rPr kumimoji="0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通过率</a:t>
            </a:r>
            <a:r>
              <a:rPr kumimoji="0" sz="900" b="0" i="0" u="none" strike="noStrike" kern="1200" cap="none" spc="0" normalizeH="0" baseline="0" noProof="0" dirty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32.91%→7.49%，</a:t>
            </a:r>
            <a:r>
              <a:rPr kumimoji="0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排序清晰、无倒挂</a:t>
            </a:r>
            <a:r>
              <a:rPr kumimoji="0" sz="900" b="0" i="0" u="none" strike="noStrike" kern="1200" cap="none" spc="0" normalizeH="0" baseline="0" noProof="0" dirty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——</a:t>
            </a:r>
            <a:r>
              <a:rPr kumimoji="0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两个维度各自成立，联合分层成立</a:t>
            </a:r>
            <a:r>
              <a:rPr kumimoji="0" sz="900" b="0" i="0" u="none" strike="noStrike" kern="1200" cap="none" spc="0" normalizeH="0" baseline="0" noProof="0" dirty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。</a:t>
            </a:r>
          </a:p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交叉结果与使用边界：</a:t>
            </a:r>
            <a:r>
              <a:rPr kumimoji="0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申请样本</a:t>
            </a:r>
            <a:r>
              <a:rPr kumimoji="0" sz="900" b="0" i="0" u="none" strike="noStrike" kern="1200" cap="none" spc="0" normalizeH="0" baseline="0" noProof="0" dirty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157,741，最好格「风险1×价值1」5.74%、最差格「风险5×价值5」27.05%；样本集中于最差格（46,235，29.3%），价值5档占 46.45%。</a:t>
            </a:r>
            <a:r>
              <a:rPr kumimoji="0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预测性模型回答「当前策略下谁更可能贡献价值</a:t>
            </a:r>
            <a:r>
              <a:rPr kumimoji="0" sz="900" b="0" i="0" u="none" strike="noStrike" kern="1200" cap="none" spc="0" normalizeH="0" baseline="0" noProof="0" dirty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」，OOT </a:t>
            </a:r>
            <a:r>
              <a:rPr kumimoji="0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弱价值概率低估约</a:t>
            </a:r>
            <a:r>
              <a:rPr kumimoji="0" sz="900" b="0" i="0" u="none" strike="noStrike" kern="1200" cap="none" spc="0" normalizeH="0" baseline="0" noProof="0" dirty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2.15pp，适合排序分层，概率阈值/</a:t>
            </a:r>
            <a:r>
              <a:rPr kumimoji="0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定价需先校准</a:t>
            </a:r>
            <a:r>
              <a:rPr kumimoji="0" sz="900" b="0" i="0" u="none" strike="noStrike" kern="1200" cap="none" spc="0" normalizeH="0" baseline="0" noProof="0" dirty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8" y="4145701"/>
            <a:ext cx="10899648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表4：风险 × </a:t>
            </a:r>
            <a:r>
              <a:rPr kumimoji="0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价值</a:t>
            </a:r>
            <a:r>
              <a:rPr kumimoji="0" sz="105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3M30 </a:t>
            </a:r>
            <a:r>
              <a:rPr kumimoji="0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人数逾期率</a:t>
            </a:r>
            <a:endParaRPr kumimoji="0" sz="105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3593758"/>
              </p:ext>
            </p:extLst>
          </p:nvPr>
        </p:nvGraphicFramePr>
        <p:xfrm>
          <a:off x="512068" y="4401733"/>
          <a:ext cx="10899644" cy="1536192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93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 \ 风险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5.74%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5.99%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10.57%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10.55%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10.42%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7.05%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5.46%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8.38%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9.69%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13.80%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14.34%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9.46%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6.35%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8.38%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10.78%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11.76%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14.61%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10.61%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8.04%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8.15%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14.88%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16.80%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20.27%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15.91%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11.54%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10.83%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13.31%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19.28%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27.05%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22.90%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5.92%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7.79%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11.70%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15.16%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22.02%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13.19%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44072" y="6029365"/>
            <a:ext cx="1089964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注：价值1×风险5（96 个观察）、价值5×风险1（26 个观察）样本不足 100，上屏时在热力矩阵中淡化处理，不单独引用。</a:t>
            </a:r>
          </a:p>
        </p:txBody>
      </p:sp>
      <p:sp>
        <p:nvSpPr>
          <p:cNvPr id="19" name="TextBox 4">
            <a:extLst>
              <a:ext uri="{FF2B5EF4-FFF2-40B4-BE49-F238E27FC236}">
                <a16:creationId xmlns:a16="http://schemas.microsoft.com/office/drawing/2014/main" id="{A464A7CB-ACEC-48F8-BCE9-4085AF94C5AB}"/>
              </a:ext>
            </a:extLst>
          </p:cNvPr>
          <p:cNvSpPr txBox="1"/>
          <p:nvPr/>
        </p:nvSpPr>
        <p:spPr>
          <a:xfrm>
            <a:off x="6381880" y="1163998"/>
            <a:ext cx="5376673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表8：入模变量重要度 Top10</a:t>
            </a:r>
          </a:p>
        </p:txBody>
      </p:sp>
      <p:graphicFrame>
        <p:nvGraphicFramePr>
          <p:cNvPr id="20" name="Table 5">
            <a:extLst>
              <a:ext uri="{FF2B5EF4-FFF2-40B4-BE49-F238E27FC236}">
                <a16:creationId xmlns:a16="http://schemas.microsoft.com/office/drawing/2014/main" id="{94FC042B-CB34-404F-9B62-BD772C0383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4532197"/>
              </p:ext>
            </p:extLst>
          </p:nvPr>
        </p:nvGraphicFramePr>
        <p:xfrm>
          <a:off x="6381880" y="1438318"/>
          <a:ext cx="5376672" cy="2596896"/>
        </p:xfrm>
        <a:graphic>
          <a:graphicData uri="http://schemas.openxmlformats.org/drawingml/2006/table">
            <a:tbl>
              <a:tblPr/>
              <a:tblGrid>
                <a:gridCol w="4059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89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1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63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排名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变量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含义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重要度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bank_txn_income_wages_sum_182d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182 天工资收入汇总金额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20.25%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bank_txn_income_global_mean_56d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56 </a:t>
                      </a:r>
                      <a:r>
                        <a:rPr sz="800" b="1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天收入均值</a:t>
                      </a:r>
                      <a:endParaRPr sz="800" b="1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15.60%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bank_txn_balance_debit_mean_168d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168 </a:t>
                      </a:r>
                      <a:r>
                        <a:rPr sz="800" b="1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天借方金额均值</a:t>
                      </a:r>
                      <a:endParaRPr sz="800" b="1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15.23%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bank_txn_lender_repay_bnpl_amount_sum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先买后付（BNPL）还款金额总和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6.98%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bank_txn_category_cluster_transfers_share_28d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28 天转账簇金额占比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6.32%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bank_txn_lender_repay_loan_count_max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个人贷款还款单机构最大累计笔数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4.98%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bank_txn_balance_cv_56d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56 天余额变异系数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4.91%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bank_txn_lender_disburse_loan_amount_avg_l168d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168 天个人贷款放款金额均值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4.75%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bank_txn_category_insurance_debit_amt_14d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14 天保险出账金额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4.56%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bank_txn_category_cluster_debt_avg_ticket_168d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债务支出簇近 168 天平均客单价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 dirty="0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3.60%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12064" y="256032"/>
            <a:ext cx="73152" cy="21945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四类客群矩阵</a:t>
            </a:r>
          </a:p>
        </p:txBody>
      </p: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00ACEA40-6C8F-4FC4-AFD8-F307344D520F}"/>
              </a:ext>
            </a:extLst>
          </p:cNvPr>
          <p:cNvGrpSpPr/>
          <p:nvPr/>
        </p:nvGrpSpPr>
        <p:grpSpPr>
          <a:xfrm>
            <a:off x="481724" y="1115253"/>
            <a:ext cx="5394960" cy="2418588"/>
            <a:chOff x="512064" y="658368"/>
            <a:chExt cx="5394960" cy="2962656"/>
          </a:xfrm>
        </p:grpSpPr>
        <p:sp>
          <p:nvSpPr>
            <p:cNvPr id="4" name="Rounded Rectangle 3"/>
            <p:cNvSpPr/>
            <p:nvPr/>
          </p:nvSpPr>
          <p:spPr>
            <a:xfrm>
              <a:off x="512064" y="658368"/>
              <a:ext cx="5394960" cy="2962656"/>
            </a:xfrm>
            <a:prstGeom prst="roundRect">
              <a:avLst>
                <a:gd name="adj" fmla="val 3500"/>
              </a:avLst>
            </a:prstGeom>
            <a:solidFill>
              <a:srgbClr val="EEF6F0"/>
            </a:solidFill>
            <a:ln w="19050">
              <a:solidFill>
                <a:srgbClr val="3E7A5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676656" y="786384"/>
              <a:ext cx="1428749" cy="237744"/>
            </a:xfrm>
            <a:prstGeom prst="roundRect">
              <a:avLst>
                <a:gd name="adj" fmla="val 50000"/>
              </a:avLst>
            </a:prstGeom>
            <a:solidFill>
              <a:srgbClr val="EEF6F0"/>
            </a:solidFill>
            <a:ln w="12700">
              <a:solidFill>
                <a:srgbClr val="3E7A5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54864" tIns="0" rIns="54864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3E7A55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风险</a:t>
              </a:r>
              <a:r>
                <a:rPr kumimoji="0" sz="900" b="1" i="0" u="none" strike="noStrike" kern="1200" cap="none" spc="0" normalizeH="0" baseline="0" noProof="0" dirty="0">
                  <a:ln>
                    <a:noFill/>
                  </a:ln>
                  <a:solidFill>
                    <a:srgbClr val="3E7A55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 1-2 × </a:t>
              </a:r>
              <a:r>
                <a:rPr kumimoji="0" sz="9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3E7A55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价值</a:t>
              </a:r>
              <a:r>
                <a:rPr kumimoji="0" sz="900" b="1" i="0" u="none" strike="noStrike" kern="1200" cap="none" spc="0" normalizeH="0" baseline="0" noProof="0" dirty="0">
                  <a:ln>
                    <a:noFill/>
                  </a:ln>
                  <a:solidFill>
                    <a:srgbClr val="3E7A55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 1-2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196846" y="786384"/>
              <a:ext cx="1181862" cy="237744"/>
            </a:xfrm>
            <a:prstGeom prst="roundRect">
              <a:avLst>
                <a:gd name="adj" fmla="val 50000"/>
              </a:avLst>
            </a:prstGeom>
            <a:solidFill>
              <a:srgbClr val="3E7A5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54864" tIns="0" rIns="54864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价值好 × 风险好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76656" y="1078992"/>
              <a:ext cx="5084064" cy="27432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76656" y="1078992"/>
              <a:ext cx="5084064" cy="292608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400" b="1" i="0" u="none" strike="noStrike" kern="1200" cap="none" spc="0" normalizeH="0" baseline="0" noProof="0">
                  <a:ln>
                    <a:noFill/>
                  </a:ln>
                  <a:solidFill>
                    <a:srgbClr val="3E7A55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优先经营客群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76656" y="1408176"/>
              <a:ext cx="5084064" cy="310896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2700">
              <a:solidFill>
                <a:srgbClr val="3E7A5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6384" y="1435607"/>
              <a:ext cx="4864608" cy="256032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50" b="0" i="0" u="none" strike="noStrike" kern="1200" cap="none" spc="0" normalizeH="0" baseline="0" noProof="0">
                  <a:ln>
                    <a:noFill/>
                  </a:ln>
                  <a:solidFill>
                    <a:srgbClr val="60606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对应产品  </a:t>
              </a:r>
              <a:r>
                <a:rPr kumimoji="0" sz="950" b="1" i="0" u="none" strike="noStrike" kern="1200" cap="none" spc="0" normalizeH="0" baseline="0" noProof="0">
                  <a:ln>
                    <a:noFill/>
                  </a:ln>
                  <a:solidFill>
                    <a:srgbClr val="3E7A55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3000-5000 优质 MACC / LACC 候选池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76656" y="1792224"/>
              <a:ext cx="5084064" cy="64008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3D3C3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风险低、价值好，适合作为重点经营客群。当前优先承接 3000-5000 优质 MACC，后续可从中筛选更优质、更稳定人群，作为 LACC / 循环贷的扩展候选。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76656" y="2542032"/>
              <a:ext cx="1658112" cy="3657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82296" tIns="73152" rIns="54864" bIns="18288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60606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样本数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3E7A55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18,934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76656" y="2542032"/>
              <a:ext cx="1658112" cy="41148"/>
            </a:xfrm>
            <a:prstGeom prst="rect">
              <a:avLst/>
            </a:prstGeom>
            <a:solidFill>
              <a:srgbClr val="3E7A5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389632" y="2542032"/>
              <a:ext cx="1658112" cy="3657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82296" tIns="73152" rIns="54864" bIns="18288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60606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样本占比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3E7A55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12.00%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389632" y="2542032"/>
              <a:ext cx="1658112" cy="41148"/>
            </a:xfrm>
            <a:prstGeom prst="rect">
              <a:avLst/>
            </a:prstGeom>
            <a:solidFill>
              <a:srgbClr val="3E7A5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102607" y="2542032"/>
              <a:ext cx="1658112" cy="3657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82296" tIns="73152" rIns="54864" bIns="18288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60606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3M30人数逾期率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3E7A55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6.30%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102607" y="2542032"/>
              <a:ext cx="1658112" cy="41148"/>
            </a:xfrm>
            <a:prstGeom prst="rect">
              <a:avLst/>
            </a:prstGeom>
            <a:solidFill>
              <a:srgbClr val="3E7A5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676656" y="2962656"/>
              <a:ext cx="5084064" cy="3657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82296" tIns="73152" rIns="54864" bIns="18288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60606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3M30金额逾期率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3E7A55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3.00%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76656" y="2962656"/>
              <a:ext cx="5084064" cy="41148"/>
            </a:xfrm>
            <a:prstGeom prst="rect">
              <a:avLst/>
            </a:prstGeom>
            <a:solidFill>
              <a:srgbClr val="3E7A5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676656" y="3383280"/>
              <a:ext cx="644144" cy="219456"/>
            </a:xfrm>
            <a:prstGeom prst="roundRect">
              <a:avLst>
                <a:gd name="adj" fmla="val 50000"/>
              </a:avLst>
            </a:prstGeom>
            <a:solidFill>
              <a:srgbClr val="3E7A5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54864" tIns="0" rIns="54864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优先经营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1393951" y="3383280"/>
              <a:ext cx="705104" cy="219456"/>
            </a:xfrm>
            <a:prstGeom prst="roundRect">
              <a:avLst>
                <a:gd name="adj" fmla="val 50000"/>
              </a:avLst>
            </a:prstGeom>
            <a:solidFill>
              <a:srgbClr val="3E7A5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54864" tIns="0" rIns="54864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优质 MACC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2172207" y="3383280"/>
              <a:ext cx="705104" cy="219456"/>
            </a:xfrm>
            <a:prstGeom prst="roundRect">
              <a:avLst>
                <a:gd name="adj" fmla="val 50000"/>
              </a:avLst>
            </a:prstGeom>
            <a:solidFill>
              <a:srgbClr val="3E7A5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54864" tIns="0" rIns="54864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LACC 候选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950463" y="3383280"/>
              <a:ext cx="745744" cy="219456"/>
            </a:xfrm>
            <a:prstGeom prst="roundRect">
              <a:avLst>
                <a:gd name="adj" fmla="val 50000"/>
              </a:avLst>
            </a:prstGeom>
            <a:solidFill>
              <a:srgbClr val="3E7A5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54864" tIns="0" rIns="54864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循环贷候选</a:t>
              </a:r>
            </a:p>
          </p:txBody>
        </p:sp>
      </p:grpSp>
      <p:grpSp>
        <p:nvGrpSpPr>
          <p:cNvPr id="77" name="组合 76">
            <a:extLst>
              <a:ext uri="{FF2B5EF4-FFF2-40B4-BE49-F238E27FC236}">
                <a16:creationId xmlns:a16="http://schemas.microsoft.com/office/drawing/2014/main" id="{8FD3A381-182F-4E99-A561-1621AF5DE9F3}"/>
              </a:ext>
            </a:extLst>
          </p:cNvPr>
          <p:cNvGrpSpPr/>
          <p:nvPr/>
        </p:nvGrpSpPr>
        <p:grpSpPr>
          <a:xfrm>
            <a:off x="6089904" y="1115252"/>
            <a:ext cx="5138928" cy="2505771"/>
            <a:chOff x="6089904" y="658368"/>
            <a:chExt cx="5394960" cy="2962656"/>
          </a:xfrm>
        </p:grpSpPr>
        <p:sp>
          <p:nvSpPr>
            <p:cNvPr id="24" name="Rounded Rectangle 23"/>
            <p:cNvSpPr/>
            <p:nvPr/>
          </p:nvSpPr>
          <p:spPr>
            <a:xfrm>
              <a:off x="6089904" y="658368"/>
              <a:ext cx="5394960" cy="2962656"/>
            </a:xfrm>
            <a:prstGeom prst="roundRect">
              <a:avLst>
                <a:gd name="adj" fmla="val 3500"/>
              </a:avLst>
            </a:prstGeom>
            <a:solidFill>
              <a:srgbClr val="FBF4E2"/>
            </a:solidFill>
            <a:ln w="19050">
              <a:solidFill>
                <a:srgbClr val="B8860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6254496" y="786384"/>
              <a:ext cx="1428749" cy="237744"/>
            </a:xfrm>
            <a:prstGeom prst="roundRect">
              <a:avLst>
                <a:gd name="adj" fmla="val 50000"/>
              </a:avLst>
            </a:prstGeom>
            <a:solidFill>
              <a:srgbClr val="FBF4E2"/>
            </a:solidFill>
            <a:ln w="12700">
              <a:solidFill>
                <a:srgbClr val="B8860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54864" tIns="0" rIns="54864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B8860B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风险 4-5 × 价值 1-2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7774686" y="786384"/>
              <a:ext cx="1181862" cy="237744"/>
            </a:xfrm>
            <a:prstGeom prst="roundRect">
              <a:avLst>
                <a:gd name="adj" fmla="val 50000"/>
              </a:avLst>
            </a:prstGeom>
            <a:solidFill>
              <a:srgbClr val="B886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54864" tIns="0" rIns="54864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价值好 × 风险差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254496" y="1078992"/>
              <a:ext cx="5084064" cy="27432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254496" y="1078992"/>
              <a:ext cx="5084064" cy="292608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400" b="1" i="0" u="none" strike="noStrike" kern="1200" cap="none" spc="0" normalizeH="0" baseline="0" noProof="0">
                  <a:ln>
                    <a:noFill/>
                  </a:ln>
                  <a:solidFill>
                    <a:srgbClr val="B8860B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谨慎经营客群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6254496" y="1408176"/>
              <a:ext cx="5084064" cy="310896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2700">
              <a:solidFill>
                <a:srgbClr val="B8860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364224" y="1435607"/>
              <a:ext cx="4864608" cy="256032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50" b="0" i="0" u="none" strike="noStrike" kern="1200" cap="none" spc="0" normalizeH="0" baseline="0" noProof="0">
                  <a:ln>
                    <a:noFill/>
                  </a:ln>
                  <a:solidFill>
                    <a:srgbClr val="60606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对应产品  </a:t>
              </a:r>
              <a:r>
                <a:rPr kumimoji="0" sz="950" b="1" i="0" u="none" strike="noStrike" kern="1200" cap="none" spc="0" normalizeH="0" baseline="0" noProof="0">
                  <a:ln>
                    <a:noFill/>
                  </a:ln>
                  <a:solidFill>
                    <a:srgbClr val="B8860B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EWA / 超短期产品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254496" y="1792224"/>
              <a:ext cx="5084064" cy="64008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3D3C3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客户具备一定经营价值，但风险压力已经抬升。不适合直接放款大额度或期限，更适合通过短期、小额、即时周转产品承接需求，并控制风险暴露。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6254496" y="2542032"/>
              <a:ext cx="2514600" cy="3657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82296" tIns="73152" rIns="54864" bIns="18288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60606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定位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B8860B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有价值但风险高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6254496" y="2542032"/>
              <a:ext cx="2514600" cy="41148"/>
            </a:xfrm>
            <a:prstGeom prst="rect">
              <a:avLst/>
            </a:prstGeom>
            <a:solidFill>
              <a:srgbClr val="B886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8823960" y="2542032"/>
              <a:ext cx="2514600" cy="3657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82296" tIns="73152" rIns="54864" bIns="18288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60606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3M30人数逾期率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B8860B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12.90%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8823960" y="2542032"/>
              <a:ext cx="2514600" cy="41148"/>
            </a:xfrm>
            <a:prstGeom prst="rect">
              <a:avLst/>
            </a:prstGeom>
            <a:solidFill>
              <a:srgbClr val="B886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6254496" y="3383280"/>
              <a:ext cx="644144" cy="219456"/>
            </a:xfrm>
            <a:prstGeom prst="roundRect">
              <a:avLst>
                <a:gd name="adj" fmla="val 50000"/>
              </a:avLst>
            </a:prstGeom>
            <a:solidFill>
              <a:srgbClr val="B886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54864" tIns="0" rIns="54864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短期承接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6971792" y="3383280"/>
              <a:ext cx="644144" cy="219456"/>
            </a:xfrm>
            <a:prstGeom prst="roundRect">
              <a:avLst>
                <a:gd name="adj" fmla="val 50000"/>
              </a:avLst>
            </a:prstGeom>
            <a:solidFill>
              <a:srgbClr val="B886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54864" tIns="0" rIns="54864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小额控制</a:t>
              </a:r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7689088" y="3383280"/>
              <a:ext cx="644144" cy="219456"/>
            </a:xfrm>
            <a:prstGeom prst="roundRect">
              <a:avLst>
                <a:gd name="adj" fmla="val 50000"/>
              </a:avLst>
            </a:prstGeom>
            <a:solidFill>
              <a:srgbClr val="B886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54864" tIns="0" rIns="54864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即时周转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8406384" y="3383280"/>
              <a:ext cx="847344" cy="219456"/>
            </a:xfrm>
            <a:prstGeom prst="roundRect">
              <a:avLst>
                <a:gd name="adj" fmla="val 50000"/>
              </a:avLst>
            </a:prstGeom>
            <a:solidFill>
              <a:srgbClr val="B886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54864" tIns="0" rIns="54864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风险暴露控制</a:t>
              </a:r>
            </a:p>
          </p:txBody>
        </p:sp>
      </p:grp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F151ECCA-90F1-41F3-82D5-17EE173BC590}"/>
              </a:ext>
            </a:extLst>
          </p:cNvPr>
          <p:cNvGrpSpPr/>
          <p:nvPr/>
        </p:nvGrpSpPr>
        <p:grpSpPr>
          <a:xfrm>
            <a:off x="482494" y="3748110"/>
            <a:ext cx="5364620" cy="2816186"/>
            <a:chOff x="512064" y="3730752"/>
            <a:chExt cx="5394960" cy="2962656"/>
          </a:xfrm>
        </p:grpSpPr>
        <p:sp>
          <p:nvSpPr>
            <p:cNvPr id="40" name="Rounded Rectangle 39"/>
            <p:cNvSpPr/>
            <p:nvPr/>
          </p:nvSpPr>
          <p:spPr>
            <a:xfrm>
              <a:off x="512064" y="3730752"/>
              <a:ext cx="5394960" cy="2962656"/>
            </a:xfrm>
            <a:prstGeom prst="roundRect">
              <a:avLst>
                <a:gd name="adj" fmla="val 3500"/>
              </a:avLst>
            </a:prstGeom>
            <a:solidFill>
              <a:srgbClr val="EFF4FA"/>
            </a:solidFill>
            <a:ln w="19050">
              <a:solidFill>
                <a:srgbClr val="1F4E7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676656" y="3858768"/>
              <a:ext cx="1428749" cy="237744"/>
            </a:xfrm>
            <a:prstGeom prst="roundRect">
              <a:avLst>
                <a:gd name="adj" fmla="val 50000"/>
              </a:avLst>
            </a:prstGeom>
            <a:solidFill>
              <a:srgbClr val="EFF4FA"/>
            </a:solidFill>
            <a:ln w="12700">
              <a:solidFill>
                <a:srgbClr val="1F4E7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54864" tIns="0" rIns="54864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1F4E79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风险 1-2 × 价值 4-5</a:t>
              </a:r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2196846" y="3858768"/>
              <a:ext cx="1181862" cy="237744"/>
            </a:xfrm>
            <a:prstGeom prst="roundRect">
              <a:avLst>
                <a:gd name="adj" fmla="val 50000"/>
              </a:avLst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54864" tIns="0" rIns="54864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价值差 × 风险好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676656" y="4151376"/>
              <a:ext cx="5084064" cy="27432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676656" y="4151376"/>
              <a:ext cx="5084064" cy="292608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400" b="1" i="0" u="none" strike="noStrike" kern="1200" cap="none" spc="0" normalizeH="0" baseline="0" noProof="0">
                  <a:ln>
                    <a:noFill/>
                  </a:ln>
                  <a:solidFill>
                    <a:srgbClr val="1F4E79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收益验证客群</a:t>
              </a: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676656" y="4480560"/>
              <a:ext cx="5084064" cy="310896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2700">
              <a:solidFill>
                <a:srgbClr val="1F4E7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786384" y="4507992"/>
              <a:ext cx="4864608" cy="256032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50" b="0" i="0" u="none" strike="noStrike" kern="1200" cap="none" spc="0" normalizeH="0" baseline="0" noProof="0">
                  <a:ln>
                    <a:noFill/>
                  </a:ln>
                  <a:solidFill>
                    <a:srgbClr val="60606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对应产品  </a:t>
              </a:r>
              <a:r>
                <a:rPr kumimoji="0" sz="950" b="1" i="0" u="none" strike="noStrike" kern="1200" cap="none" spc="0" normalizeH="0" baseline="0" noProof="0">
                  <a:ln>
                    <a:noFill/>
                  </a:ln>
                  <a:solidFill>
                    <a:srgbClr val="1F4E79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低额度 Personal Loan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676656" y="4864608"/>
              <a:ext cx="5084064" cy="64008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3D3C3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风险相对可控，但收入、额度承接和转化能力偏弱。不适合作为强经营客群，可通过低额度 Personal Loan 验证稳定需求、复贷表现和真实贡献。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676656" y="5614416"/>
              <a:ext cx="2514600" cy="3657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82296" tIns="73152" rIns="54864" bIns="18288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60606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定位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1F4E79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低风险但价值弱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676656" y="5614416"/>
              <a:ext cx="2514600" cy="41148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3246120" y="5614416"/>
              <a:ext cx="2514600" cy="3657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82296" tIns="73152" rIns="54864" bIns="18288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60606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观察重点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1F4E79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稳定需求 / 复贷 / 真实贡献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3246120" y="5614416"/>
              <a:ext cx="2514600" cy="41148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676656" y="6455664"/>
              <a:ext cx="745744" cy="219456"/>
            </a:xfrm>
            <a:prstGeom prst="roundRect">
              <a:avLst>
                <a:gd name="adj" fmla="val 50000"/>
              </a:avLst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54864" tIns="0" rIns="54864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低额度验证</a:t>
              </a:r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1495552" y="6455664"/>
              <a:ext cx="644144" cy="219456"/>
            </a:xfrm>
            <a:prstGeom prst="roundRect">
              <a:avLst>
                <a:gd name="adj" fmla="val 50000"/>
              </a:avLst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54864" tIns="0" rIns="54864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收益观察</a:t>
              </a:r>
            </a:p>
          </p:txBody>
        </p:sp>
        <p:sp>
          <p:nvSpPr>
            <p:cNvPr id="54" name="Rounded Rectangle 53"/>
            <p:cNvSpPr/>
            <p:nvPr/>
          </p:nvSpPr>
          <p:spPr>
            <a:xfrm>
              <a:off x="2212848" y="6455664"/>
              <a:ext cx="644144" cy="219456"/>
            </a:xfrm>
            <a:prstGeom prst="roundRect">
              <a:avLst>
                <a:gd name="adj" fmla="val 50000"/>
              </a:avLst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54864" tIns="0" rIns="54864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复贷跟踪</a:t>
              </a:r>
            </a:p>
          </p:txBody>
        </p:sp>
        <p:sp>
          <p:nvSpPr>
            <p:cNvPr id="55" name="Rounded Rectangle 54"/>
            <p:cNvSpPr/>
            <p:nvPr/>
          </p:nvSpPr>
          <p:spPr>
            <a:xfrm>
              <a:off x="2930144" y="6455664"/>
              <a:ext cx="644144" cy="219456"/>
            </a:xfrm>
            <a:prstGeom prst="roundRect">
              <a:avLst>
                <a:gd name="adj" fmla="val 50000"/>
              </a:avLst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54864" tIns="0" rIns="54864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贡献评估</a:t>
              </a:r>
            </a:p>
          </p:txBody>
        </p:sp>
      </p:grpSp>
      <p:grpSp>
        <p:nvGrpSpPr>
          <p:cNvPr id="78" name="组合 77">
            <a:extLst>
              <a:ext uri="{FF2B5EF4-FFF2-40B4-BE49-F238E27FC236}">
                <a16:creationId xmlns:a16="http://schemas.microsoft.com/office/drawing/2014/main" id="{AD00019A-C337-4A3E-B9C7-14C5C90C9F99}"/>
              </a:ext>
            </a:extLst>
          </p:cNvPr>
          <p:cNvGrpSpPr/>
          <p:nvPr/>
        </p:nvGrpSpPr>
        <p:grpSpPr>
          <a:xfrm>
            <a:off x="6072484" y="3713829"/>
            <a:ext cx="5156348" cy="2833083"/>
            <a:chOff x="6089904" y="3730752"/>
            <a:chExt cx="5394960" cy="2962656"/>
          </a:xfrm>
        </p:grpSpPr>
        <p:sp>
          <p:nvSpPr>
            <p:cNvPr id="56" name="Rounded Rectangle 55"/>
            <p:cNvSpPr/>
            <p:nvPr/>
          </p:nvSpPr>
          <p:spPr>
            <a:xfrm>
              <a:off x="6089904" y="3730752"/>
              <a:ext cx="5394960" cy="2962656"/>
            </a:xfrm>
            <a:prstGeom prst="roundRect">
              <a:avLst>
                <a:gd name="adj" fmla="val 3500"/>
              </a:avLst>
            </a:prstGeom>
            <a:solidFill>
              <a:srgbClr val="F9ECE9"/>
            </a:solidFill>
            <a:ln w="19050">
              <a:solidFill>
                <a:srgbClr val="A9443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  <p:sp>
          <p:nvSpPr>
            <p:cNvPr id="57" name="Rounded Rectangle 56"/>
            <p:cNvSpPr/>
            <p:nvPr/>
          </p:nvSpPr>
          <p:spPr>
            <a:xfrm>
              <a:off x="6254496" y="3858768"/>
              <a:ext cx="1428749" cy="237744"/>
            </a:xfrm>
            <a:prstGeom prst="roundRect">
              <a:avLst>
                <a:gd name="adj" fmla="val 50000"/>
              </a:avLst>
            </a:prstGeom>
            <a:solidFill>
              <a:srgbClr val="F9ECE9"/>
            </a:solidFill>
            <a:ln w="12700">
              <a:solidFill>
                <a:srgbClr val="A9443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54864" tIns="0" rIns="54864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A94434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风险 4-5 × 价值 4-5</a:t>
              </a:r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7774686" y="3858768"/>
              <a:ext cx="1181862" cy="237744"/>
            </a:xfrm>
            <a:prstGeom prst="roundRect">
              <a:avLst>
                <a:gd name="adj" fmla="val 50000"/>
              </a:avLst>
            </a:prstGeom>
            <a:solidFill>
              <a:srgbClr val="A9443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54864" tIns="0" rIns="54864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价值差 × 风险差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6254496" y="4151376"/>
              <a:ext cx="5084064" cy="27432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6254496" y="4151376"/>
              <a:ext cx="5084064" cy="292608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400" b="1" i="0" u="none" strike="noStrike" kern="1200" cap="none" spc="0" normalizeH="0" baseline="0" noProof="0">
                  <a:ln>
                    <a:noFill/>
                  </a:ln>
                  <a:solidFill>
                    <a:srgbClr val="A94434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优先风险控制客群</a:t>
              </a:r>
            </a:p>
          </p:txBody>
        </p:sp>
        <p:sp>
          <p:nvSpPr>
            <p:cNvPr id="61" name="Rounded Rectangle 60"/>
            <p:cNvSpPr/>
            <p:nvPr/>
          </p:nvSpPr>
          <p:spPr>
            <a:xfrm>
              <a:off x="6254496" y="4480560"/>
              <a:ext cx="5084064" cy="310896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2700">
              <a:solidFill>
                <a:srgbClr val="A9443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6364224" y="4507992"/>
              <a:ext cx="4864608" cy="256032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50" b="0" i="0" u="none" strike="noStrike" kern="1200" cap="none" spc="0" normalizeH="0" baseline="0" noProof="0">
                  <a:ln>
                    <a:noFill/>
                  </a:ln>
                  <a:solidFill>
                    <a:srgbClr val="60606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对应产品  </a:t>
              </a:r>
              <a:r>
                <a:rPr kumimoji="0" sz="950" b="1" i="0" u="none" strike="noStrike" kern="1200" cap="none" spc="0" normalizeH="0" baseline="0" noProof="0">
                  <a:ln>
                    <a:noFill/>
                  </a:ln>
                  <a:solidFill>
                    <a:srgbClr val="A94434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原则上不重点承接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6254496" y="4864608"/>
              <a:ext cx="5084064" cy="64008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3D3C3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同时处在高风险、弱价值位置，风险暴露明显。该客群不建议绑定扩展型产品，重点应放在限额、提价、人工审核和谨慎准入。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6254496" y="5614416"/>
              <a:ext cx="1658112" cy="3657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82296" tIns="73152" rIns="54864" bIns="18288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60606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样本数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A94434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77,057</a:t>
              </a:r>
            </a:p>
          </p:txBody>
        </p:sp>
        <p:sp>
          <p:nvSpPr>
            <p:cNvPr id="65" name="Rectangle 64"/>
            <p:cNvSpPr/>
            <p:nvPr/>
          </p:nvSpPr>
          <p:spPr>
            <a:xfrm>
              <a:off x="6254496" y="5614416"/>
              <a:ext cx="1658112" cy="41148"/>
            </a:xfrm>
            <a:prstGeom prst="rect">
              <a:avLst/>
            </a:prstGeom>
            <a:solidFill>
              <a:srgbClr val="A9443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  <p:sp>
          <p:nvSpPr>
            <p:cNvPr id="66" name="Rectangle 65"/>
            <p:cNvSpPr/>
            <p:nvPr/>
          </p:nvSpPr>
          <p:spPr>
            <a:xfrm>
              <a:off x="7967472" y="5614416"/>
              <a:ext cx="1658112" cy="3657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82296" tIns="73152" rIns="54864" bIns="18288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60606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样本占比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A94434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48.85%</a:t>
              </a:r>
            </a:p>
          </p:txBody>
        </p:sp>
        <p:sp>
          <p:nvSpPr>
            <p:cNvPr id="67" name="Rectangle 66"/>
            <p:cNvSpPr/>
            <p:nvPr/>
          </p:nvSpPr>
          <p:spPr>
            <a:xfrm>
              <a:off x="7967472" y="5614416"/>
              <a:ext cx="1658112" cy="41148"/>
            </a:xfrm>
            <a:prstGeom prst="rect">
              <a:avLst/>
            </a:prstGeom>
            <a:solidFill>
              <a:srgbClr val="A9443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  <p:sp>
          <p:nvSpPr>
            <p:cNvPr id="68" name="Rectangle 67"/>
            <p:cNvSpPr/>
            <p:nvPr/>
          </p:nvSpPr>
          <p:spPr>
            <a:xfrm>
              <a:off x="9680448" y="5614416"/>
              <a:ext cx="1658112" cy="3657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82296" tIns="73152" rIns="54864" bIns="18288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60606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3M30人数逾期率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A94434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22.25%</a:t>
              </a:r>
            </a:p>
          </p:txBody>
        </p:sp>
        <p:sp>
          <p:nvSpPr>
            <p:cNvPr id="69" name="Rectangle 68"/>
            <p:cNvSpPr/>
            <p:nvPr/>
          </p:nvSpPr>
          <p:spPr>
            <a:xfrm>
              <a:off x="9680448" y="5614416"/>
              <a:ext cx="1658112" cy="41148"/>
            </a:xfrm>
            <a:prstGeom prst="rect">
              <a:avLst/>
            </a:prstGeom>
            <a:solidFill>
              <a:srgbClr val="A9443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  <p:sp>
          <p:nvSpPr>
            <p:cNvPr id="70" name="Rectangle 69"/>
            <p:cNvSpPr/>
            <p:nvPr/>
          </p:nvSpPr>
          <p:spPr>
            <a:xfrm>
              <a:off x="6254496" y="6035040"/>
              <a:ext cx="5084064" cy="3657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82296" tIns="73152" rIns="54864" bIns="18288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60606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3M30金额逾期率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A94434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15.38%</a:t>
              </a:r>
            </a:p>
          </p:txBody>
        </p:sp>
        <p:sp>
          <p:nvSpPr>
            <p:cNvPr id="71" name="Rectangle 70"/>
            <p:cNvSpPr/>
            <p:nvPr/>
          </p:nvSpPr>
          <p:spPr>
            <a:xfrm>
              <a:off x="6254496" y="6035040"/>
              <a:ext cx="5084064" cy="41148"/>
            </a:xfrm>
            <a:prstGeom prst="rect">
              <a:avLst/>
            </a:prstGeom>
            <a:solidFill>
              <a:srgbClr val="A9443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  <p:sp>
          <p:nvSpPr>
            <p:cNvPr id="72" name="Rounded Rectangle 71"/>
            <p:cNvSpPr/>
            <p:nvPr/>
          </p:nvSpPr>
          <p:spPr>
            <a:xfrm>
              <a:off x="6254496" y="6455664"/>
              <a:ext cx="440944" cy="219456"/>
            </a:xfrm>
            <a:prstGeom prst="roundRect">
              <a:avLst>
                <a:gd name="adj" fmla="val 50000"/>
              </a:avLst>
            </a:prstGeom>
            <a:solidFill>
              <a:srgbClr val="A9443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54864" tIns="0" rIns="54864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限额</a:t>
              </a:r>
            </a:p>
          </p:txBody>
        </p:sp>
        <p:sp>
          <p:nvSpPr>
            <p:cNvPr id="73" name="Rounded Rectangle 72"/>
            <p:cNvSpPr/>
            <p:nvPr/>
          </p:nvSpPr>
          <p:spPr>
            <a:xfrm>
              <a:off x="6768592" y="6455664"/>
              <a:ext cx="440944" cy="219456"/>
            </a:xfrm>
            <a:prstGeom prst="roundRect">
              <a:avLst>
                <a:gd name="adj" fmla="val 50000"/>
              </a:avLst>
            </a:prstGeom>
            <a:solidFill>
              <a:srgbClr val="A9443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54864" tIns="0" rIns="54864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提价</a:t>
              </a:r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7282688" y="6455664"/>
              <a:ext cx="644144" cy="219456"/>
            </a:xfrm>
            <a:prstGeom prst="roundRect">
              <a:avLst>
                <a:gd name="adj" fmla="val 50000"/>
              </a:avLst>
            </a:prstGeom>
            <a:solidFill>
              <a:srgbClr val="A9443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54864" tIns="0" rIns="54864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人工审核</a:t>
              </a:r>
            </a:p>
          </p:txBody>
        </p:sp>
        <p:sp>
          <p:nvSpPr>
            <p:cNvPr id="75" name="Rounded Rectangle 74"/>
            <p:cNvSpPr/>
            <p:nvPr/>
          </p:nvSpPr>
          <p:spPr>
            <a:xfrm>
              <a:off x="7999984" y="6455664"/>
              <a:ext cx="644144" cy="219456"/>
            </a:xfrm>
            <a:prstGeom prst="roundRect">
              <a:avLst>
                <a:gd name="adj" fmla="val 50000"/>
              </a:avLst>
            </a:prstGeom>
            <a:solidFill>
              <a:srgbClr val="A9443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54864" tIns="0" rIns="54864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谨慎准入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75488" y="237744"/>
            <a:ext cx="73152" cy="256032"/>
          </a:xfrm>
          <a:prstGeom prst="rect">
            <a:avLst/>
          </a:prstGeom>
          <a:solidFill>
            <a:srgbClr val="BE2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03504" y="201168"/>
            <a:ext cx="10241280" cy="38404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5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客户画像总览：价值来源、风险来源与经营边界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064" y="585216"/>
            <a:ext cx="11109960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三页画像合并：价值差并非高负债；高价值高风险来自高支出、高波动与风险消费；低价值低风险可低额度验证。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4" y="960120"/>
            <a:ext cx="10899648" cy="9144"/>
          </a:xfrm>
          <a:prstGeom prst="rect">
            <a:avLst/>
          </a:prstGeom>
          <a:solidFill>
            <a:srgbClr val="DB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2064" y="1124712"/>
            <a:ext cx="3438144" cy="5413248"/>
          </a:xfrm>
          <a:prstGeom prst="roundRect">
            <a:avLst/>
          </a:prstGeom>
          <a:solidFill>
            <a:srgbClr val="F6F9FD"/>
          </a:solidFill>
          <a:ln w="7620">
            <a:solidFill>
              <a:srgbClr val="DB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12064" y="1124712"/>
            <a:ext cx="54864" cy="54132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9224" y="1225296"/>
            <a:ext cx="3209544" cy="4389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4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① 价值画像由收入体量、工资连续性与职业可识别性共同决定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691640"/>
            <a:ext cx="3209544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价值差更像「职业现金流弱」，并非负债更重或多头更多。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" y="2066543"/>
            <a:ext cx="649224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5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高收入体量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53312" y="2066543"/>
            <a:ext cx="649224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5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工资更连续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57400" y="2066543"/>
            <a:ext cx="649224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5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主业更清晰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1488" y="2066543"/>
            <a:ext cx="850392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5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福利收入依赖低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2496312"/>
            <a:ext cx="3209544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4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表5：画像对比（价值 1/2 档 vs 4/5 档）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9224" y="2715768"/>
          <a:ext cx="3145536" cy="22494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21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34" b="1">
                          <a:solidFill>
                            <a:srgbClr val="1F2A37"/>
                          </a:solidFill>
                          <a:latin typeface="Noto Sans CJK SC"/>
                        </a:rPr>
                        <a:t>画像维度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34" b="1">
                          <a:solidFill>
                            <a:srgbClr val="1F2A37"/>
                          </a:solidFill>
                          <a:latin typeface="Noto Sans CJK SC"/>
                        </a:rPr>
                        <a:t>价值好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34" b="1">
                          <a:solidFill>
                            <a:srgbClr val="1F2A37"/>
                          </a:solidFill>
                          <a:latin typeface="Noto Sans CJK SC"/>
                        </a:rPr>
                        <a:t>价值差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34" b="1">
                          <a:solidFill>
                            <a:srgbClr val="1F2A37"/>
                          </a:solidFill>
                          <a:latin typeface="Noto Sans CJK SC"/>
                        </a:rPr>
                        <a:t>画像解读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工资收入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4E79"/>
                          </a:solidFill>
                          <a:latin typeface="Noto Sans CJK SC"/>
                        </a:rPr>
                        <a:t>41,139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4E79"/>
                          </a:solidFill>
                          <a:latin typeface="Noto Sans CJK SC"/>
                        </a:rPr>
                        <a:t>11,130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价值好约为 3.7 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总收入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4E79"/>
                          </a:solidFill>
                          <a:latin typeface="Noto Sans CJK SC"/>
                        </a:rPr>
                        <a:t>140,807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4E79"/>
                          </a:solidFill>
                          <a:latin typeface="Noto Sans CJK SC"/>
                        </a:rPr>
                        <a:t>59,771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整体资金体量更高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工资入账次数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 dirty="0">
                          <a:solidFill>
                            <a:srgbClr val="1F4E79"/>
                          </a:solidFill>
                          <a:latin typeface="Noto Sans CJK SC"/>
                        </a:rPr>
                        <a:t>20.5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4E79"/>
                          </a:solidFill>
                          <a:latin typeface="Noto Sans CJK SC"/>
                        </a:rPr>
                        <a:t>10.6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工资现金流更连续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主行业入账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4E79"/>
                          </a:solidFill>
                          <a:latin typeface="Noto Sans CJK SC"/>
                        </a:rPr>
                        <a:t>40,916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4E79"/>
                          </a:solidFill>
                          <a:latin typeface="Noto Sans CJK SC"/>
                        </a:rPr>
                        <a:t>16,067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职业主收入更强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Centrelink 收入占比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4E79"/>
                          </a:solidFill>
                          <a:latin typeface="Noto Sans CJK SC"/>
                        </a:rPr>
                        <a:t>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4E79"/>
                          </a:solidFill>
                          <a:latin typeface="Noto Sans CJK SC"/>
                        </a:rPr>
                        <a:t>14.6%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价值差更依赖福利收入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发薪周期标准差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4E79"/>
                          </a:solidFill>
                          <a:latin typeface="Noto Sans CJK SC"/>
                        </a:rPr>
                        <a:t>2.72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4E79"/>
                          </a:solidFill>
                          <a:latin typeface="Noto Sans CJK SC"/>
                        </a:rPr>
                        <a:t>3.79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价值差发薪更不稳定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行业识别缺失率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4E79"/>
                          </a:solidFill>
                          <a:latin typeface="Noto Sans CJK SC"/>
                        </a:rPr>
                        <a:t>3.5%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4E79"/>
                          </a:solidFill>
                          <a:latin typeface="Noto Sans CJK SC"/>
                        </a:rPr>
                        <a:t>30.7%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价值差职业信息更弱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可支配盈余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4E79"/>
                          </a:solidFill>
                          <a:latin typeface="Noto Sans CJK SC"/>
                        </a:rPr>
                        <a:t>1,334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4E79"/>
                          </a:solidFill>
                          <a:latin typeface="Noto Sans CJK SC"/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 dirty="0" err="1">
                          <a:solidFill>
                            <a:srgbClr val="1F2A37"/>
                          </a:solidFill>
                          <a:latin typeface="Noto Sans CJK SC"/>
                        </a:rPr>
                        <a:t>价值差可支配空间有限</a:t>
                      </a:r>
                      <a:endParaRPr sz="455" b="0" dirty="0">
                        <a:solidFill>
                          <a:srgbClr val="1F2A37"/>
                        </a:solidFill>
                        <a:latin typeface="Noto Sans CJK SC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49224" y="5093207"/>
            <a:ext cx="3145536" cy="38404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59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结构补充：价值好人群 couple 占比更高（43.8% vs 29.1%），Lead Partner / Owned Channels 占比也更高；该差异仅作结构描述，不解释为因果。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" y="5925312"/>
            <a:ext cx="3145536" cy="512064"/>
          </a:xfrm>
          <a:prstGeom prst="rect">
            <a:avLst/>
          </a:prstGeom>
          <a:solidFill>
            <a:srgbClr val="FFF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49224" y="5925312"/>
            <a:ext cx="41148" cy="5120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13232" y="5948172"/>
            <a:ext cx="3035808" cy="4846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55" b="0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信贷还款金额与次数在价值差人群中反而更低（5,963 / 13.5 vs 20,439 / 29.4），当前数据不支持「价值差 = 高负债 / 多头更多」。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42816" y="1124712"/>
            <a:ext cx="3438144" cy="5413248"/>
          </a:xfrm>
          <a:prstGeom prst="roundRect">
            <a:avLst/>
          </a:prstGeom>
          <a:solidFill>
            <a:srgbClr val="FFFAF0"/>
          </a:solidFill>
          <a:ln w="7620">
            <a:solidFill>
              <a:srgbClr val="DB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242816" y="1124712"/>
            <a:ext cx="54864" cy="5413248"/>
          </a:xfrm>
          <a:prstGeom prst="rect">
            <a:avLst/>
          </a:prstGeom>
          <a:solidFill>
            <a:srgbClr val="C47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379976" y="1225296"/>
            <a:ext cx="3209544" cy="4389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4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② 高价值但高风险：收入更高，但资金波动与风险消费同步放大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9976" y="1691640"/>
            <a:ext cx="3209544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这类客户的价值来自收入端，风险则来自高支出、高波动和账户异常。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9976" y="2066543"/>
            <a:ext cx="448056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C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50" b="1" i="0" u="none" strike="noStrike" kern="1200" cap="none" spc="0" normalizeH="0" baseline="0" noProof="0">
                <a:ln>
                  <a:noFill/>
                </a:ln>
                <a:solidFill>
                  <a:srgbClr val="C47E0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高收入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82896" y="2066543"/>
            <a:ext cx="448056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C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50" b="1" i="0" u="none" strike="noStrike" kern="1200" cap="none" spc="0" normalizeH="0" baseline="0" noProof="0">
                <a:ln>
                  <a:noFill/>
                </a:ln>
                <a:solidFill>
                  <a:srgbClr val="C47E0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高支出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85816" y="2066543"/>
            <a:ext cx="448056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C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50" b="1" i="0" u="none" strike="noStrike" kern="1200" cap="none" spc="0" normalizeH="0" baseline="0" noProof="0">
                <a:ln>
                  <a:noFill/>
                </a:ln>
                <a:solidFill>
                  <a:srgbClr val="C47E0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高赌博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88736" y="2066543"/>
            <a:ext cx="448056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C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50" b="1" i="0" u="none" strike="noStrike" kern="1200" cap="none" spc="0" normalizeH="0" baseline="0" noProof="0">
                <a:ln>
                  <a:noFill/>
                </a:ln>
                <a:solidFill>
                  <a:srgbClr val="C47E0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高波动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9976" y="2496312"/>
            <a:ext cx="3209544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4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表6：画像对比（价值好且风险好 vs 价值好但风险差）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4379976" y="2715768"/>
          <a:ext cx="3145536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21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3746"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34" b="1">
                          <a:solidFill>
                            <a:srgbClr val="1F2A37"/>
                          </a:solidFill>
                          <a:latin typeface="Noto Sans CJK SC"/>
                        </a:rPr>
                        <a:t>画像维度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34" b="1">
                          <a:solidFill>
                            <a:srgbClr val="1F2A37"/>
                          </a:solidFill>
                          <a:latin typeface="Noto Sans CJK SC"/>
                        </a:rPr>
                        <a:t>价值好且风险好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34" b="1">
                          <a:solidFill>
                            <a:srgbClr val="1F2A37"/>
                          </a:solidFill>
                          <a:latin typeface="Noto Sans CJK SC"/>
                        </a:rPr>
                        <a:t>价值好但风险差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34" b="1">
                          <a:solidFill>
                            <a:srgbClr val="1F2A37"/>
                          </a:solidFill>
                          <a:latin typeface="Noto Sans CJK SC"/>
                        </a:rPr>
                        <a:t>风险信号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746"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工资收入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C47E00"/>
                          </a:solidFill>
                          <a:latin typeface="Noto Sans CJK SC"/>
                        </a:rPr>
                        <a:t>34,024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C47E00"/>
                          </a:solidFill>
                          <a:latin typeface="Noto Sans CJK SC"/>
                        </a:rPr>
                        <a:t>50,253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收入能力并不弱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3746"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总收入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C47E00"/>
                          </a:solidFill>
                          <a:latin typeface="Noto Sans CJK SC"/>
                        </a:rPr>
                        <a:t>96,943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C47E00"/>
                          </a:solidFill>
                          <a:latin typeface="Noto Sans CJK SC"/>
                        </a:rPr>
                        <a:t>191,383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资金体量约 2 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3746"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总支出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C47E00"/>
                          </a:solidFill>
                          <a:latin typeface="Noto Sans CJK SC"/>
                        </a:rPr>
                        <a:t>92,348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C47E00"/>
                          </a:solidFill>
                          <a:latin typeface="Noto Sans CJK SC"/>
                        </a:rPr>
                        <a:t>193,711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收支几乎打平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3746"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赌博支出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C47E00"/>
                          </a:solidFill>
                          <a:latin typeface="Noto Sans CJK SC"/>
                        </a:rPr>
                        <a:t>2,398 / 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C47E00"/>
                          </a:solidFill>
                          <a:latin typeface="Noto Sans CJK SC"/>
                        </a:rPr>
                        <a:t>7,416 / 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金额与占比同时升高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3746"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余额波动标准差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C47E00"/>
                          </a:solidFill>
                          <a:latin typeface="Noto Sans CJK SC"/>
                        </a:rPr>
                        <a:t>4,947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C47E00"/>
                          </a:solidFill>
                          <a:latin typeface="Noto Sans CJK SC"/>
                        </a:rPr>
                        <a:t>8,442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账户波动显著放大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3746"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余额异常天数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C47E00"/>
                          </a:solidFill>
                          <a:latin typeface="Noto Sans CJK SC"/>
                        </a:rPr>
                        <a:t>3.82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C47E00"/>
                          </a:solidFill>
                          <a:latin typeface="Noto Sans CJK SC"/>
                        </a:rPr>
                        <a:t>5.13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账户异常更多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3746"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收入波动 CV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C47E00"/>
                          </a:solidFill>
                          <a:latin typeface="Noto Sans CJK SC"/>
                        </a:rPr>
                        <a:t>1.83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C47E00"/>
                          </a:solidFill>
                          <a:latin typeface="Noto Sans CJK SC"/>
                        </a:rPr>
                        <a:t>2.10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收入稳定性更弱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4379976" y="4873751"/>
            <a:ext cx="3145536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59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注：赌博支出为金额 / 占比。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79976" y="5925312"/>
            <a:ext cx="3145536" cy="512064"/>
          </a:xfrm>
          <a:prstGeom prst="rect">
            <a:avLst/>
          </a:prstGeom>
          <a:solidFill>
            <a:srgbClr val="FFF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4379976" y="5925312"/>
            <a:ext cx="41148" cy="512064"/>
          </a:xfrm>
          <a:prstGeom prst="rect">
            <a:avLst/>
          </a:prstGeom>
          <a:solidFill>
            <a:srgbClr val="C47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443984" y="5948172"/>
            <a:ext cx="3035808" cy="4846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55" b="0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不宜因价值高直接扩额；优先用小额、短期产品承接，并持续观察赌博支出、余额异常和收入波动。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73568" y="1124712"/>
            <a:ext cx="3438144" cy="5413248"/>
          </a:xfrm>
          <a:prstGeom prst="roundRect">
            <a:avLst/>
          </a:prstGeom>
          <a:solidFill>
            <a:srgbClr val="F6FCF8"/>
          </a:solidFill>
          <a:ln w="7620">
            <a:solidFill>
              <a:srgbClr val="DB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7973568" y="1124712"/>
            <a:ext cx="54864" cy="5413248"/>
          </a:xfrm>
          <a:prstGeom prst="rect">
            <a:avLst/>
          </a:prstGeom>
          <a:solidFill>
            <a:srgbClr val="307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110728" y="1225296"/>
            <a:ext cx="3209544" cy="4389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4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③ 低价值但低风险：收入偏弱，但支出克制、账户稳定、还款更活跃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10728" y="1691640"/>
            <a:ext cx="3209544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这类客户不是高收入客群，而是行为更保守、风险相对可控的低收入客群。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10728" y="2066543"/>
            <a:ext cx="448056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307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50" b="1" i="0" u="none" strike="noStrike" kern="1200" cap="none" spc="0" normalizeH="0" baseline="0" noProof="0">
                <a:ln>
                  <a:noFill/>
                </a:ln>
                <a:solidFill>
                  <a:srgbClr val="30785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低收入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13648" y="2066543"/>
            <a:ext cx="448056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307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50" b="1" i="0" u="none" strike="noStrike" kern="1200" cap="none" spc="0" normalizeH="0" baseline="0" noProof="0">
                <a:ln>
                  <a:noFill/>
                </a:ln>
                <a:solidFill>
                  <a:srgbClr val="30785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低支出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16568" y="2066543"/>
            <a:ext cx="448056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307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50" b="1" i="0" u="none" strike="noStrike" kern="1200" cap="none" spc="0" normalizeH="0" baseline="0" noProof="0">
                <a:ln>
                  <a:noFill/>
                </a:ln>
                <a:solidFill>
                  <a:srgbClr val="30785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低赌博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19488" y="2066543"/>
            <a:ext cx="448056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307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50" b="1" i="0" u="none" strike="noStrike" kern="1200" cap="none" spc="0" normalizeH="0" baseline="0" noProof="0">
                <a:ln>
                  <a:noFill/>
                </a:ln>
                <a:solidFill>
                  <a:srgbClr val="30785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低波动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22408" y="2066543"/>
            <a:ext cx="649224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307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50" b="1" i="0" u="none" strike="noStrike" kern="1200" cap="none" spc="0" normalizeH="0" baseline="0" noProof="0">
                <a:ln>
                  <a:noFill/>
                </a:ln>
                <a:solidFill>
                  <a:srgbClr val="30785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有还款活动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10728" y="2496312"/>
            <a:ext cx="3209544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4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表7：画像对比（价值差但风险好 vs 价值差且风险差）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8110728" y="2715768"/>
          <a:ext cx="3145536" cy="22494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21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34" b="1">
                          <a:solidFill>
                            <a:srgbClr val="1F2A37"/>
                          </a:solidFill>
                          <a:latin typeface="Noto Sans CJK SC"/>
                        </a:rPr>
                        <a:t>画像维度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34" b="1">
                          <a:solidFill>
                            <a:srgbClr val="1F2A37"/>
                          </a:solidFill>
                          <a:latin typeface="Noto Sans CJK SC"/>
                        </a:rPr>
                        <a:t>价值差但风险好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34" b="1">
                          <a:solidFill>
                            <a:srgbClr val="1F2A37"/>
                          </a:solidFill>
                          <a:latin typeface="Noto Sans CJK SC"/>
                        </a:rPr>
                        <a:t>价值差且风险差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34" b="1">
                          <a:solidFill>
                            <a:srgbClr val="1F2A37"/>
                          </a:solidFill>
                          <a:latin typeface="Noto Sans CJK SC"/>
                        </a:rPr>
                        <a:t>风险信号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工资收入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30785C"/>
                          </a:solidFill>
                          <a:latin typeface="Noto Sans CJK SC"/>
                        </a:rPr>
                        <a:t>8,750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30785C"/>
                          </a:solidFill>
                          <a:latin typeface="Noto Sans CJK SC"/>
                        </a:rPr>
                        <a:t>13,314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低风险并非来自高收入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Centrelink 收入占比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30785C"/>
                          </a:solidFill>
                          <a:latin typeface="Noto Sans CJK SC"/>
                        </a:rPr>
                        <a:t>22.1%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30785C"/>
                          </a:solidFill>
                          <a:latin typeface="Noto Sans CJK SC"/>
                        </a:rPr>
                        <a:t>5.9%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收入结构偏福利类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总支出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30785C"/>
                          </a:solidFill>
                          <a:latin typeface="Noto Sans CJK SC"/>
                        </a:rPr>
                        <a:t>43,062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30785C"/>
                          </a:solidFill>
                          <a:latin typeface="Noto Sans CJK SC"/>
                        </a:rPr>
                        <a:t>75,496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支出更克制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赌博支出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30785C"/>
                          </a:solidFill>
                          <a:latin typeface="Noto Sans CJK SC"/>
                        </a:rPr>
                        <a:t>531.7 / 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30785C"/>
                          </a:solidFill>
                          <a:latin typeface="Noto Sans CJK SC"/>
                        </a:rPr>
                        <a:t>2,067 / 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风险消费更低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余额波动标准差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30785C"/>
                          </a:solidFill>
                          <a:latin typeface="Noto Sans CJK SC"/>
                        </a:rPr>
                        <a:t>478.1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30785C"/>
                          </a:solidFill>
                          <a:latin typeface="Noto Sans CJK SC"/>
                        </a:rPr>
                        <a:t>1,181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账户波动更小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余额异常天数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30785C"/>
                          </a:solidFill>
                          <a:latin typeface="Noto Sans CJK SC"/>
                        </a:rPr>
                        <a:t>3.45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30785C"/>
                          </a:solidFill>
                          <a:latin typeface="Noto Sans CJK SC"/>
                        </a:rPr>
                        <a:t>5.22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账户异常更少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信贷还款金额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30785C"/>
                          </a:solidFill>
                          <a:latin typeface="Noto Sans CJK SC"/>
                        </a:rPr>
                        <a:t>7,582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30785C"/>
                          </a:solidFill>
                          <a:latin typeface="Noto Sans CJK SC"/>
                        </a:rPr>
                        <a:t>4,133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还款活动更活跃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贷款还款次数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30785C"/>
                          </a:solidFill>
                          <a:latin typeface="Noto Sans CJK SC"/>
                        </a:rPr>
                        <a:t>15.9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30785C"/>
                          </a:solidFill>
                          <a:latin typeface="Noto Sans CJK SC"/>
                        </a:rPr>
                        <a:t>10.8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85000"/>
                        </a:lnSpc>
                      </a:pPr>
                      <a:r>
                        <a:rPr sz="455" b="0">
                          <a:solidFill>
                            <a:srgbClr val="1F2A37"/>
                          </a:solidFill>
                          <a:latin typeface="Noto Sans CJK SC"/>
                        </a:rPr>
                        <a:t>还款活动相对更多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8110728" y="5093207"/>
            <a:ext cx="3145536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59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注：赌博支出为金额 / 占比。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110728" y="5925312"/>
            <a:ext cx="3145536" cy="512064"/>
          </a:xfrm>
          <a:prstGeom prst="rect">
            <a:avLst/>
          </a:prstGeom>
          <a:solidFill>
            <a:srgbClr val="FFF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8110728" y="5925312"/>
            <a:ext cx="41148" cy="512064"/>
          </a:xfrm>
          <a:prstGeom prst="rect">
            <a:avLst/>
          </a:prstGeom>
          <a:solidFill>
            <a:srgbClr val="307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8174736" y="5948172"/>
            <a:ext cx="3035808" cy="4846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55" b="0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不宜因价值弱一刀切拒绝；可用低额度 Personal Loan 验证其额度使用、复贷与真实贡献。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6042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价值模型：</a:t>
            </a:r>
            <a:r>
              <a:rPr kumimoji="0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模型识别的是客户价值，不是历史额度策略</a:t>
            </a:r>
            <a:endParaRPr kumimoji="0" sz="20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b="1" i="0" dirty="0">
                <a:solidFill>
                  <a:srgbClr val="BFBFBF"/>
                </a:solidFill>
                <a:effectLst/>
                <a:latin typeface="-apple-system"/>
              </a:rPr>
              <a:t>额度决定价值释放的上限</a:t>
            </a:r>
            <a:r>
              <a:rPr lang="en-US" altLang="zh-CN" b="1" i="0" dirty="0">
                <a:solidFill>
                  <a:srgbClr val="BFBFBF"/>
                </a:solidFill>
                <a:effectLst/>
                <a:latin typeface="-apple-system"/>
              </a:rPr>
              <a:t>,</a:t>
            </a:r>
            <a:r>
              <a:rPr lang="zh-CN" altLang="en-US" b="1" i="0" dirty="0">
                <a:solidFill>
                  <a:srgbClr val="BFBFBF"/>
                </a:solidFill>
                <a:effectLst/>
                <a:latin typeface="-apple-system"/>
              </a:rPr>
              <a:t>价值决定额度应该投向哪里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98553" y="1578772"/>
            <a:ext cx="4425696" cy="130013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Font typeface="+mj-lt"/>
              <a:buAutoNum type="arabicPeriod"/>
            </a:pPr>
            <a:r>
              <a:rPr lang="zh-CN" altLang="en-US" sz="1000" b="1" i="0" dirty="0">
                <a:effectLst/>
                <a:latin typeface="-apple-system"/>
              </a:rPr>
              <a:t>模型解决识别问题</a:t>
            </a:r>
            <a:r>
              <a:rPr lang="en-US" altLang="zh-CN" sz="1000" b="1" i="0" dirty="0">
                <a:effectLst/>
                <a:latin typeface="-apple-system"/>
              </a:rPr>
              <a:t>,</a:t>
            </a:r>
            <a:r>
              <a:rPr lang="zh-CN" altLang="en-US" sz="1000" b="1" i="0" dirty="0">
                <a:effectLst/>
                <a:latin typeface="-apple-system"/>
              </a:rPr>
              <a:t>不解决因果问题。</a:t>
            </a:r>
            <a:r>
              <a:rPr lang="zh-CN" altLang="en-US" sz="1000" b="0" i="0" dirty="0">
                <a:effectLst/>
                <a:latin typeface="-apple-system"/>
              </a:rPr>
              <a:t> 价值模型负责识别</a:t>
            </a:r>
            <a:r>
              <a:rPr lang="en-US" altLang="zh-CN" sz="1000" b="0" i="0" dirty="0">
                <a:effectLst/>
                <a:latin typeface="-apple-system"/>
              </a:rPr>
              <a:t>"</a:t>
            </a:r>
            <a:r>
              <a:rPr lang="zh-CN" altLang="en-US" sz="1000" b="0" i="0" dirty="0">
                <a:effectLst/>
                <a:latin typeface="-apple-system"/>
              </a:rPr>
              <a:t>谁值得经营</a:t>
            </a:r>
            <a:r>
              <a:rPr lang="en-US" altLang="zh-CN" sz="1000" b="0" i="0" dirty="0">
                <a:effectLst/>
                <a:latin typeface="-apple-system"/>
              </a:rPr>
              <a:t>",</a:t>
            </a:r>
            <a:r>
              <a:rPr lang="zh-CN" altLang="en-US" sz="1000" b="0" i="0" dirty="0">
                <a:effectLst/>
                <a:latin typeface="-apple-system"/>
              </a:rPr>
              <a:t>额度策略负责</a:t>
            </a:r>
            <a:r>
              <a:rPr lang="en-US" altLang="zh-CN" sz="1000" b="0" i="0" dirty="0">
                <a:effectLst/>
                <a:latin typeface="-apple-system"/>
              </a:rPr>
              <a:t>"</a:t>
            </a:r>
            <a:r>
              <a:rPr lang="zh-CN" altLang="en-US" sz="1000" b="0" i="0" dirty="0">
                <a:effectLst/>
                <a:latin typeface="-apple-system"/>
              </a:rPr>
              <a:t>给多少额度去释放价值</a:t>
            </a:r>
            <a:r>
              <a:rPr lang="en-US" altLang="zh-CN" sz="1000" b="0" i="0" dirty="0">
                <a:effectLst/>
                <a:latin typeface="-apple-system"/>
              </a:rPr>
              <a:t>",</a:t>
            </a:r>
            <a:r>
              <a:rPr lang="zh-CN" altLang="en-US" sz="1000" b="0" i="0" dirty="0">
                <a:effectLst/>
                <a:latin typeface="-apple-system"/>
              </a:rPr>
              <a:t>两个阶段职责分离。</a:t>
            </a:r>
          </a:p>
          <a:p>
            <a:pPr algn="l">
              <a:buFont typeface="+mj-lt"/>
              <a:buAutoNum type="arabicPeriod"/>
            </a:pPr>
            <a:r>
              <a:rPr lang="zh-CN" altLang="en-US" sz="1000" b="1" i="0" dirty="0">
                <a:effectLst/>
                <a:latin typeface="-apple-system"/>
              </a:rPr>
              <a:t>额度可以放大价值</a:t>
            </a:r>
            <a:r>
              <a:rPr lang="en-US" altLang="zh-CN" sz="1000" b="1" i="0" dirty="0">
                <a:effectLst/>
                <a:latin typeface="-apple-system"/>
              </a:rPr>
              <a:t>,</a:t>
            </a:r>
            <a:r>
              <a:rPr lang="zh-CN" altLang="en-US" sz="1000" b="1" i="0" dirty="0">
                <a:effectLst/>
                <a:latin typeface="-apple-system"/>
              </a:rPr>
              <a:t>但不能创造价值。</a:t>
            </a:r>
            <a:r>
              <a:rPr lang="zh-CN" altLang="en-US" sz="1000" b="0" i="0" dirty="0">
                <a:effectLst/>
                <a:latin typeface="-apple-system"/>
              </a:rPr>
              <a:t> 同样给 </a:t>
            </a:r>
            <a:r>
              <a:rPr lang="en-US" altLang="zh-CN" sz="1000" b="0" i="0" dirty="0">
                <a:effectLst/>
                <a:latin typeface="-apple-system"/>
              </a:rPr>
              <a:t>5000 </a:t>
            </a:r>
            <a:r>
              <a:rPr lang="zh-CN" altLang="en-US" sz="1000" b="0" i="0" dirty="0">
                <a:effectLst/>
                <a:latin typeface="-apple-system"/>
              </a:rPr>
              <a:t>额度</a:t>
            </a:r>
            <a:r>
              <a:rPr lang="en-US" altLang="zh-CN" sz="1000" b="0" i="0" dirty="0">
                <a:effectLst/>
                <a:latin typeface="-apple-system"/>
              </a:rPr>
              <a:t>,</a:t>
            </a:r>
            <a:r>
              <a:rPr lang="zh-CN" altLang="en-US" sz="1000" b="0" i="0" dirty="0">
                <a:effectLst/>
                <a:latin typeface="-apple-system"/>
              </a:rPr>
              <a:t>稳定低风险的客户长期付息、波动高风险的快速逾期</a:t>
            </a:r>
            <a:r>
              <a:rPr lang="en-US" altLang="zh-CN" sz="1000" b="0" i="0" dirty="0">
                <a:effectLst/>
                <a:latin typeface="-apple-system"/>
              </a:rPr>
              <a:t>——</a:t>
            </a:r>
            <a:r>
              <a:rPr lang="zh-CN" altLang="en-US" sz="1000" b="0" i="0" dirty="0">
                <a:effectLst/>
                <a:latin typeface="-apple-system"/>
              </a:rPr>
              <a:t>额度一样</a:t>
            </a:r>
            <a:r>
              <a:rPr lang="en-US" altLang="zh-CN" sz="1000" b="0" i="0" dirty="0">
                <a:effectLst/>
                <a:latin typeface="-apple-system"/>
              </a:rPr>
              <a:t>,</a:t>
            </a:r>
            <a:r>
              <a:rPr lang="zh-CN" altLang="en-US" sz="1000" b="0" i="0" dirty="0">
                <a:effectLst/>
                <a:latin typeface="-apple-system"/>
              </a:rPr>
              <a:t>价值可以不同。</a:t>
            </a:r>
          </a:p>
          <a:p>
            <a:pPr algn="l">
              <a:buFont typeface="+mj-lt"/>
              <a:buAutoNum type="arabicPeriod"/>
            </a:pPr>
            <a:r>
              <a:rPr lang="zh-CN" altLang="en-US" sz="1000" b="1" i="0" dirty="0">
                <a:effectLst/>
                <a:latin typeface="-apple-system"/>
              </a:rPr>
              <a:t>实证证明价值信号存在于额度之外。</a:t>
            </a:r>
            <a:r>
              <a:rPr lang="zh-CN" altLang="en-US" sz="1000" b="0" i="0" dirty="0">
                <a:effectLst/>
                <a:latin typeface="-apple-system"/>
              </a:rPr>
              <a:t> 若模型只是在学额度</a:t>
            </a:r>
            <a:r>
              <a:rPr lang="en-US" altLang="zh-CN" sz="1000" b="0" i="0" dirty="0">
                <a:effectLst/>
                <a:latin typeface="-apple-system"/>
              </a:rPr>
              <a:t>,</a:t>
            </a:r>
            <a:r>
              <a:rPr lang="zh-CN" altLang="en-US" sz="1000" b="0" i="0" dirty="0">
                <a:effectLst/>
                <a:latin typeface="-apple-system"/>
              </a:rPr>
              <a:t>同额度内部就不该再有区分</a:t>
            </a:r>
            <a:r>
              <a:rPr lang="en-US" altLang="zh-CN" sz="1000" b="0" i="0" dirty="0">
                <a:effectLst/>
                <a:latin typeface="-apple-system"/>
              </a:rPr>
              <a:t>——</a:t>
            </a:r>
            <a:r>
              <a:rPr lang="zh-CN" altLang="en-US" sz="1000" b="0" i="0" dirty="0">
                <a:effectLst/>
                <a:latin typeface="-apple-system"/>
              </a:rPr>
              <a:t>所以区分能力来自额度之外。</a:t>
            </a:r>
          </a:p>
          <a:p>
            <a:pPr algn="l">
              <a:buFont typeface="+mj-lt"/>
              <a:buAutoNum type="arabicPeriod"/>
            </a:pPr>
            <a:r>
              <a:rPr lang="zh-CN" altLang="en-US" sz="1000" b="1" i="0" dirty="0">
                <a:effectLst/>
                <a:latin typeface="-apple-system"/>
              </a:rPr>
              <a:t>价值扩张以风险预算为上限。</a:t>
            </a:r>
            <a:r>
              <a:rPr lang="zh-CN" altLang="en-US" sz="1000" b="0" i="0" dirty="0">
                <a:effectLst/>
                <a:latin typeface="-apple-system"/>
              </a:rPr>
              <a:t> 落地采用风险 </a:t>
            </a:r>
            <a:r>
              <a:rPr lang="en-US" altLang="zh-CN" sz="1000" b="0" i="0" dirty="0">
                <a:effectLst/>
                <a:latin typeface="-apple-system"/>
              </a:rPr>
              <a:t>× </a:t>
            </a:r>
            <a:r>
              <a:rPr lang="zh-CN" altLang="en-US" sz="1000" b="0" i="0" dirty="0">
                <a:effectLst/>
                <a:latin typeface="-apple-system"/>
              </a:rPr>
              <a:t>价值联合决策</a:t>
            </a:r>
            <a:r>
              <a:rPr lang="en-US" altLang="zh-CN" sz="1000" b="0" i="0" dirty="0">
                <a:effectLst/>
                <a:latin typeface="-apple-system"/>
              </a:rPr>
              <a:t>,</a:t>
            </a:r>
            <a:r>
              <a:rPr lang="zh-CN" altLang="en-US" sz="1000" b="0" i="0" dirty="0">
                <a:effectLst/>
                <a:latin typeface="-apple-system"/>
              </a:rPr>
              <a:t>不追求单客价值最大化</a:t>
            </a:r>
            <a:r>
              <a:rPr lang="en-US" altLang="zh-CN" sz="1000" b="0" i="0" dirty="0">
                <a:effectLst/>
                <a:latin typeface="-apple-system"/>
              </a:rPr>
              <a:t>,</a:t>
            </a:r>
            <a:r>
              <a:rPr lang="zh-CN" altLang="en-US" sz="1000" b="0" i="0" dirty="0">
                <a:effectLst/>
                <a:latin typeface="-apple-system"/>
              </a:rPr>
              <a:t>而是风险约束下的组合收益最大化。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74920" y="1188720"/>
            <a:ext cx="9144" cy="402336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42432" y="1400090"/>
            <a:ext cx="5870448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表2：各总额度区间 × 价值分箱的 3M30 逾期率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7850230"/>
              </p:ext>
            </p:extLst>
          </p:nvPr>
        </p:nvGraphicFramePr>
        <p:xfrm>
          <a:off x="5742432" y="1656122"/>
          <a:ext cx="5870448" cy="1316736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总额度区间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有效样本数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500–1000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4.37%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8.04%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7.47%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12.22%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20.59%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5,769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1000–1500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5.73%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8.35%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10.94%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20.14%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28.04%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3,748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1500–2000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7.80%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10.76%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13.55%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16.84%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37.88%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1,254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2000–2500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8.84%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12.08%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17.17%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24.71%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28.12%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2,181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7.05%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9.46%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10.61%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15.91%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22.90%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12,988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742432" y="3046010"/>
            <a:ext cx="58704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注：500–1000 段价值2/3 有轻微倒挂（8.04% vs 7.47%），上屏引用「首尾方向全部正确」，不写「全部严格单调」。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2432" y="4066737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表1：各申请金额区间 × </a:t>
            </a:r>
            <a:r>
              <a:rPr kumimoji="0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价值分箱的平均收入</a:t>
            </a:r>
            <a:endParaRPr kumimoji="0" sz="105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5630263"/>
              </p:ext>
            </p:extLst>
          </p:nvPr>
        </p:nvGraphicFramePr>
        <p:xfrm>
          <a:off x="5742432" y="4325112"/>
          <a:ext cx="5669278" cy="1828800"/>
        </p:xfrm>
        <a:graphic>
          <a:graphicData uri="http://schemas.openxmlformats.org/drawingml/2006/table">
            <a:tbl>
              <a:tblPr/>
              <a:tblGrid>
                <a:gridCol w="722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申请金额区间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500–1000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9,559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6,926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6,081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5,518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3,857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1000–1500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8,596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6,850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6,322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5,446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3,982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1500–2000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8,829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7,103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6,186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5,535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3,928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2000–2500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9,891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7,258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6,465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5,826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4,028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2500–5000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9,288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7,454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6,374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5,467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3,965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5000+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10,388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7,849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6,768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6,322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3,891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9,611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7,284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6,366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5,682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3,924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12064" y="4069081"/>
            <a:ext cx="4425696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表3：各申请金额区间 × 价值分箱的平均可支配盈余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6834531"/>
              </p:ext>
            </p:extLst>
          </p:nvPr>
        </p:nvGraphicFramePr>
        <p:xfrm>
          <a:off x="512064" y="4325112"/>
          <a:ext cx="4425695" cy="18288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申请金额区间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500–1000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1,106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763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288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793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287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1000–1500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940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685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731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603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1500–2000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1,096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798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729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608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144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2000–2500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1,708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737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496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828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−154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2500–5000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1,196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583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681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569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124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5000+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1,488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931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989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1,010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−353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1,334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745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598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761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12064" y="6227065"/>
            <a:ext cx="442569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注：盈余＝收入−支出（可支配余量）；按「价值1最高、价值5最低」首尾判读，中间档并非严格单调；价值5在2000–2500与5000+两段转负（入不敷出）。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0506226-8465-4441-A63A-D9C9A5F454B8}"/>
              </a:ext>
            </a:extLst>
          </p:cNvPr>
          <p:cNvSpPr txBox="1"/>
          <p:nvPr/>
        </p:nvSpPr>
        <p:spPr>
          <a:xfrm>
            <a:off x="398553" y="3569963"/>
            <a:ext cx="546937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b="0" i="0" dirty="0">
                <a:solidFill>
                  <a:srgbClr val="BFBFBF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在同一申请金额区间内</a:t>
            </a:r>
            <a:r>
              <a:rPr lang="en-US" altLang="zh-CN" sz="1100" b="0" i="0" dirty="0">
                <a:solidFill>
                  <a:srgbClr val="BFBFBF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,</a:t>
            </a:r>
            <a:r>
              <a:rPr lang="zh-CN" altLang="en-US" sz="1100" b="0" i="0" dirty="0">
                <a:solidFill>
                  <a:srgbClr val="BFBFBF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价值</a:t>
            </a:r>
            <a:r>
              <a:rPr lang="en-US" altLang="zh-CN" sz="1100" b="0" i="0" dirty="0">
                <a:solidFill>
                  <a:srgbClr val="BFBFBF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1→</a:t>
            </a:r>
            <a:r>
              <a:rPr lang="zh-CN" altLang="en-US" sz="1100" b="0" i="0" dirty="0">
                <a:solidFill>
                  <a:srgbClr val="BFBFBF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价值</a:t>
            </a:r>
            <a:r>
              <a:rPr lang="en-US" altLang="zh-CN" sz="1100" b="0" i="0" dirty="0">
                <a:solidFill>
                  <a:srgbClr val="BFBFBF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5 </a:t>
            </a:r>
            <a:r>
              <a:rPr lang="zh-CN" altLang="en-US" sz="1100" b="0" i="0" dirty="0">
                <a:solidFill>
                  <a:srgbClr val="BFBFBF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的平均收入仍然全部单调下降</a:t>
            </a:r>
            <a:r>
              <a:rPr lang="en-US" altLang="zh-CN" sz="1100" b="0" i="0" dirty="0">
                <a:solidFill>
                  <a:srgbClr val="BFBFBF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1100" b="0" i="0" dirty="0">
                <a:solidFill>
                  <a:srgbClr val="BFBFBF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如 </a:t>
            </a:r>
            <a:r>
              <a:rPr lang="en-US" altLang="zh-CN" sz="1100" b="0" i="0" dirty="0">
                <a:solidFill>
                  <a:srgbClr val="BFBFBF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500–1000 </a:t>
            </a:r>
            <a:r>
              <a:rPr lang="zh-CN" altLang="en-US" sz="1100" b="0" i="0" dirty="0">
                <a:solidFill>
                  <a:srgbClr val="BFBFBF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段 </a:t>
            </a:r>
            <a:r>
              <a:rPr lang="en-US" altLang="zh-CN" sz="1100" b="0" i="0" dirty="0">
                <a:solidFill>
                  <a:srgbClr val="BFBFBF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9,559→3,857</a:t>
            </a:r>
            <a:r>
              <a:rPr lang="zh-CN" altLang="en-US" sz="1100" b="0" i="0" dirty="0">
                <a:solidFill>
                  <a:srgbClr val="BFBFBF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100" b="0" i="0" dirty="0">
                <a:solidFill>
                  <a:srgbClr val="BFBFBF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5000+ </a:t>
            </a:r>
            <a:r>
              <a:rPr lang="zh-CN" altLang="en-US" sz="1100" b="0" i="0" dirty="0">
                <a:solidFill>
                  <a:srgbClr val="BFBFBF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段 </a:t>
            </a:r>
            <a:r>
              <a:rPr lang="en-US" altLang="zh-CN" sz="1100" b="0" i="0" dirty="0">
                <a:solidFill>
                  <a:srgbClr val="BFBFBF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10,388→3,891)</a:t>
            </a:r>
            <a:endParaRPr lang="zh-CN" alt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3F84E0B-3D12-4283-82C2-CD5D69069FAE}"/>
              </a:ext>
            </a:extLst>
          </p:cNvPr>
          <p:cNvSpPr txBox="1"/>
          <p:nvPr/>
        </p:nvSpPr>
        <p:spPr>
          <a:xfrm>
            <a:off x="5698499" y="1087982"/>
            <a:ext cx="609494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00" b="0" i="0" dirty="0">
                <a:solidFill>
                  <a:srgbClr val="BFBFBF"/>
                </a:solidFill>
                <a:effectLst/>
                <a:latin typeface="-apple-system"/>
              </a:rPr>
              <a:t>在总额度 </a:t>
            </a:r>
            <a:r>
              <a:rPr lang="en-US" altLang="zh-CN" sz="1000" b="0" i="0" dirty="0">
                <a:solidFill>
                  <a:srgbClr val="BFBFBF"/>
                </a:solidFill>
                <a:effectLst/>
                <a:latin typeface="-apple-system"/>
              </a:rPr>
              <a:t>500–2500 </a:t>
            </a:r>
            <a:r>
              <a:rPr lang="zh-CN" altLang="en-US" sz="1000" b="0" i="0" dirty="0">
                <a:solidFill>
                  <a:srgbClr val="BFBFBF"/>
                </a:solidFill>
                <a:effectLst/>
                <a:latin typeface="-apple-system"/>
              </a:rPr>
              <a:t>四个区间内</a:t>
            </a:r>
            <a:r>
              <a:rPr lang="en-US" altLang="zh-CN" sz="1000" b="0" i="0" dirty="0">
                <a:solidFill>
                  <a:srgbClr val="BFBFBF"/>
                </a:solidFill>
                <a:effectLst/>
                <a:latin typeface="-apple-system"/>
              </a:rPr>
              <a:t>,</a:t>
            </a:r>
            <a:r>
              <a:rPr lang="zh-CN" altLang="en-US" sz="1000" b="0" i="0" dirty="0">
                <a:solidFill>
                  <a:srgbClr val="BFBFBF"/>
                </a:solidFill>
                <a:effectLst/>
                <a:latin typeface="-apple-system"/>
              </a:rPr>
              <a:t>逾期率随价值变差单调上升</a:t>
            </a:r>
            <a:r>
              <a:rPr lang="en-US" altLang="zh-CN" sz="1000" b="0" i="0" dirty="0">
                <a:solidFill>
                  <a:srgbClr val="BFBFBF"/>
                </a:solidFill>
                <a:effectLst/>
                <a:latin typeface="-apple-system"/>
              </a:rPr>
              <a:t>(4.37%→20.59% </a:t>
            </a:r>
            <a:r>
              <a:rPr lang="zh-CN" altLang="en-US" sz="1000" b="0" i="0" dirty="0">
                <a:solidFill>
                  <a:srgbClr val="BFBFBF"/>
                </a:solidFill>
                <a:effectLst/>
                <a:latin typeface="-apple-system"/>
              </a:rPr>
              <a:t>等</a:t>
            </a:r>
            <a:r>
              <a:rPr lang="en-US" altLang="zh-CN" sz="1000" b="0" i="0" dirty="0">
                <a:solidFill>
                  <a:srgbClr val="BFBFBF"/>
                </a:solidFill>
                <a:effectLst/>
                <a:latin typeface="-apple-system"/>
              </a:rPr>
              <a:t>)</a:t>
            </a:r>
            <a:endParaRPr lang="zh-CN" altLang="en-US" sz="1000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1E0AD44-7E10-4C8D-866E-2FA2C25E8EA5}"/>
              </a:ext>
            </a:extLst>
          </p:cNvPr>
          <p:cNvSpPr txBox="1"/>
          <p:nvPr/>
        </p:nvSpPr>
        <p:spPr>
          <a:xfrm>
            <a:off x="5661505" y="3693716"/>
            <a:ext cx="609494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00" dirty="0">
                <a:solidFill>
                  <a:srgbClr val="BFBFBF"/>
                </a:solidFill>
                <a:latin typeface="-apple-system"/>
              </a:rPr>
              <a:t>逾期率随价值变差单调上升</a:t>
            </a:r>
            <a:r>
              <a:rPr lang="en-US" altLang="zh-CN" sz="1000" dirty="0">
                <a:solidFill>
                  <a:srgbClr val="BFBFBF"/>
                </a:solidFill>
                <a:latin typeface="-apple-system"/>
              </a:rPr>
              <a:t>(4.37%→20.59% </a:t>
            </a:r>
            <a:r>
              <a:rPr lang="zh-CN" altLang="en-US" sz="1000" dirty="0">
                <a:solidFill>
                  <a:srgbClr val="BFBFBF"/>
                </a:solidFill>
                <a:latin typeface="-apple-system"/>
              </a:rPr>
              <a:t>等</a:t>
            </a:r>
            <a:r>
              <a:rPr lang="en-US" altLang="zh-CN" sz="1000" dirty="0">
                <a:solidFill>
                  <a:srgbClr val="BFBFBF"/>
                </a:solidFill>
                <a:latin typeface="-apple-system"/>
              </a:rPr>
              <a:t>)</a:t>
            </a:r>
            <a:endParaRPr lang="zh-CN" altLang="en-US" sz="1000" dirty="0">
              <a:solidFill>
                <a:srgbClr val="BFBFBF"/>
              </a:solidFill>
              <a:latin typeface="-apple-system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1455</Words>
  <Application>Microsoft Office PowerPoint</Application>
  <PresentationFormat>宽屏</PresentationFormat>
  <Paragraphs>455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1" baseType="lpstr">
      <vt:lpstr>-apple-system</vt:lpstr>
      <vt:lpstr>Noto Sans CJK SC</vt:lpstr>
      <vt:lpstr>微软雅黑</vt:lpstr>
      <vt:lpstr>等线</vt:lpstr>
      <vt:lpstr>等线 Light</vt:lpstr>
      <vt:lpstr>Arial</vt:lpstr>
      <vt:lpstr>1_Office 主题​​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昱良</dc:creator>
  <cp:lastModifiedBy>昱良</cp:lastModifiedBy>
  <cp:revision>12</cp:revision>
  <dcterms:created xsi:type="dcterms:W3CDTF">2026-08-31T05:46:19Z</dcterms:created>
  <dcterms:modified xsi:type="dcterms:W3CDTF">2026-08-31T06:28:49Z</dcterms:modified>
</cp:coreProperties>
</file>