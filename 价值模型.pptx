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71" r:id="rId3"/>
    <p:sldId id="272" r:id="rId4"/>
    <p:sldId id="273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13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56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77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96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0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02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11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05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54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80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545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8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7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042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价值模型：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模型识别的是客户价值，不是历史额度策略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控制额度后，模型仍能稳定区分客户表现——价值信号存在于额度之外。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1188720"/>
            <a:ext cx="4425696" cy="2240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直接回答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额度在先、利息收入在后；但同等额度能否转化为收入，取决于客户的收入、现金流与履约能力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——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模型识别的是客户本身的价值潜力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为什么必须检验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利息收入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≈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在贷余额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×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利率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×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用款时长，与额度机械关联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；「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高额度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=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高价值」的质疑仅凭论证无法排除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决定性检验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——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同额度分层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收入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6 个申请金额区间全部单调（5000+ 档：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10,388 vs 3,891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）；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逾期率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4 个总额度区间首尾方向全部随价值变差上升（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4.37% vs 20.59%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）；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盈余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1,334→84、支出 7,902→3,566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同样单调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3D3C3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74920" y="1188720"/>
            <a:ext cx="9144" cy="402336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42432" y="1188720"/>
            <a:ext cx="5870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表2：各总额度区间 × 价值分箱的 3M30 逾期率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42432" y="1444752"/>
          <a:ext cx="587044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总额度区间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有效样本数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4.37%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7.47%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12.22%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20.59%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5,769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5.73%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10.94%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20.14%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3,748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10.76%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13.55%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16.84%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37.88%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1,254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8.84%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12.08%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17.17%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24.71%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28.12%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2,181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12,988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42432" y="2834640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注：500–1000 段价值2/3 有轻微倒挂（8.04% vs 7.47%），上屏引用「首尾方向全部正确」，不写「全部严格单调」。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352724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表1：各申请金额区间 ×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价值分箱的平均收入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42432" y="3785615"/>
          <a:ext cx="5669278" cy="1828800"/>
        </p:xfrm>
        <a:graphic>
          <a:graphicData uri="http://schemas.openxmlformats.org/drawingml/2006/table">
            <a:tbl>
              <a:tblPr/>
              <a:tblGrid>
                <a:gridCol w="72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9,559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6,926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6,081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5,518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3,857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8,596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6,850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5,446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8,829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7,103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6,186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5,535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9,891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7,258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6,465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5,826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4,028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9,288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7,454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6,374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5,467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3,965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10,388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7,849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6,768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3,891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9,611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7,284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6,366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5,682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3,924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额度决定价值释放的上限，价值决定额度投向哪里；「额度贡献了多少价值」属因果问题，历史数据无法拆分，留待增量额度试点实验回答（方案另行汇报）。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" y="3529584"/>
            <a:ext cx="442569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表3：各申请金额区间 × 价值分箱的平均可支配盈余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3785615"/>
          <a:ext cx="4425695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1,106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763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793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287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940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685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731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603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1,096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798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729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608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1,708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737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828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−154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1,196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569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1,488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931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989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1,010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−353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1,334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745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598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761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5687568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注：盈余＝收入−支出（可支配余量）；按「价值1最高、价值5最低」首尾判读，中间档并非严格单调；价值5在2000–2500与5000+两段转负（入不敷出）。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效果：跨时间稳定，分箱单调，交叉分化清晰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风险与价值两个维度各自排序成立，交叉后两端分化近 5 倍——联合分层具备数据基础。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0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AUC（OOT）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0.7294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INS 0.7015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552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KS（OOT）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0.3467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INS 0.2939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52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984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Top10% 弱价值率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63.00%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Lift 2.45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984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41664" y="1207008"/>
            <a:ext cx="2633472" cy="89611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bIns="54864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Bottom10%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7.30%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高分 vs 低分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1664" y="1207008"/>
            <a:ext cx="263347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2064" y="2267712"/>
            <a:ext cx="10899648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模型概况：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新客价值模型 1.0，LightGBM 二分类，17 个银行流水特征，建模样本 56,330（成交客户，2024-04 起）；目标=「3 个月利息收入低于 160」的弱价值标记（占比 27.12%）；原始分越高=弱价值概率越高，对外价值 1（最好）→ 5（最弱）。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分箱单调：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申请样本 151,579，价值 1→5：收入 9,611→3,924、通过率 41.04%→6.57%、3M30 逾期率 7.05%→22.90%，逐档单调、无倒挂。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风险模型对照：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风险 1→5，3M30 逾期率 5.92%→22.02%、通过率 32.91%→7.49%，排序清晰、无倒挂——两个维度各自成立，联合分层成立。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交叉结果与使用边界：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申请样本 157,741，最好格「风险1×价值1」5.74%、最差格「风险5×价值5」27.05%；样本集中于最差格（46,235，29.3%），价值5档占 46.45%。预测性模型回答「当前策略下谁更可能贡献价值」，OOT 弱价值概率低估约 2.15pp，适合排序分层，概率阈值/定价需先校准。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767328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表4：风险 × 价值 3M30 人数逾期率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4023360"/>
          <a:ext cx="10899644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 \ 风险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5.74%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5.99%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10.57%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10.55%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10.42%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9.69%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14.34%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6.35%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10.78%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11.76%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8.15%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14.88%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16.80%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20.27%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11.54%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10.83%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13.31%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19.28%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27.05%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5.92%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7.79%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11.70%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15.16%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22.02%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13.19%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5413248"/>
            <a:ext cx="1089964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注：价值1×风险5（96 个观察）、价值5×风险1（26 个观察）样本不足 100，上屏时在热力矩阵中淡化处理，不单独引用。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模型适用于排序分层；OOT 弱价值概率存在约 2.15 个百分点的低估（实际 25.75% vs 预测 23.60%），用于概率阈值或定价前需先完成校准。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064" y="256032"/>
            <a:ext cx="73152" cy="219456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四类客群矩阵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0ACEA40-6C8F-4FC4-AFD8-F307344D520F}"/>
              </a:ext>
            </a:extLst>
          </p:cNvPr>
          <p:cNvGrpSpPr/>
          <p:nvPr/>
        </p:nvGrpSpPr>
        <p:grpSpPr>
          <a:xfrm>
            <a:off x="481724" y="1115253"/>
            <a:ext cx="5394960" cy="2418588"/>
            <a:chOff x="512064" y="658368"/>
            <a:chExt cx="5394960" cy="2962656"/>
          </a:xfrm>
        </p:grpSpPr>
        <p:sp>
          <p:nvSpPr>
            <p:cNvPr id="4" name="Rounded Rectangle 3"/>
            <p:cNvSpPr/>
            <p:nvPr/>
          </p:nvSpPr>
          <p:spPr>
            <a:xfrm>
              <a:off x="512064" y="658368"/>
              <a:ext cx="5394960" cy="2962656"/>
            </a:xfrm>
            <a:prstGeom prst="roundRect">
              <a:avLst>
                <a:gd name="adj" fmla="val 3500"/>
              </a:avLst>
            </a:prstGeom>
            <a:solidFill>
              <a:srgbClr val="EEF6F0"/>
            </a:solidFill>
            <a:ln w="19050">
              <a:solidFill>
                <a:srgbClr val="3E7A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76656" y="786384"/>
              <a:ext cx="1428749" cy="237744"/>
            </a:xfrm>
            <a:prstGeom prst="roundRect">
              <a:avLst>
                <a:gd name="adj" fmla="val 50000"/>
              </a:avLst>
            </a:prstGeom>
            <a:solidFill>
              <a:srgbClr val="EEF6F0"/>
            </a:solidFill>
            <a:ln w="12700">
              <a:solidFill>
                <a:srgbClr val="3E7A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</a:t>
              </a: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1-2 × </a:t>
              </a:r>
              <a:r>
                <a:rPr kumimoji="0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价值</a:t>
              </a: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1-2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196846" y="786384"/>
              <a:ext cx="1181862" cy="237744"/>
            </a:xfrm>
            <a:prstGeom prst="roundRect">
              <a:avLst>
                <a:gd name="adj" fmla="val 50000"/>
              </a:avLst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价值好 × 风险好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76656" y="1078992"/>
              <a:ext cx="5084064" cy="2743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6656" y="1078992"/>
              <a:ext cx="5084064" cy="29260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优先经营客群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76656" y="1408176"/>
              <a:ext cx="5084064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3E7A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6384" y="1435607"/>
              <a:ext cx="4864608" cy="256032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5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对应产品  </a:t>
              </a:r>
              <a:r>
                <a:rPr kumimoji="0" sz="950" b="1" i="0" u="none" strike="noStrike" kern="1200" cap="none" spc="0" normalizeH="0" baseline="0" noProof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3000-5000 优质 MACC / LACC 候选池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76656" y="1792224"/>
              <a:ext cx="5084064" cy="6400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D3C3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风险低、价值好，适合作为重点经营客群。当前优先承接 3000-5000 优质 MACC，后续可从中筛选更优质、更稳定人群，作为 LACC / 循环贷的扩展候选。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76656" y="2542032"/>
              <a:ext cx="1658112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样本数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18,934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6656" y="2542032"/>
              <a:ext cx="1658112" cy="41148"/>
            </a:xfrm>
            <a:prstGeom prst="rect">
              <a:avLst/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389632" y="2542032"/>
              <a:ext cx="1658112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样本占比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12.00%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389632" y="2542032"/>
              <a:ext cx="1658112" cy="41148"/>
            </a:xfrm>
            <a:prstGeom prst="rect">
              <a:avLst/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102607" y="2542032"/>
              <a:ext cx="1658112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3M30人数逾期率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6.30%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02607" y="2542032"/>
              <a:ext cx="1658112" cy="41148"/>
            </a:xfrm>
            <a:prstGeom prst="rect">
              <a:avLst/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76656" y="2962656"/>
              <a:ext cx="5084064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3M30金额逾期率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3E7A55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3.00%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76656" y="2962656"/>
              <a:ext cx="5084064" cy="41148"/>
            </a:xfrm>
            <a:prstGeom prst="rect">
              <a:avLst/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76656" y="3383280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优先经营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393951" y="3383280"/>
              <a:ext cx="705104" cy="219456"/>
            </a:xfrm>
            <a:prstGeom prst="roundRect">
              <a:avLst>
                <a:gd name="adj" fmla="val 50000"/>
              </a:avLst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优质 MACC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172207" y="3383280"/>
              <a:ext cx="705104" cy="219456"/>
            </a:xfrm>
            <a:prstGeom prst="roundRect">
              <a:avLst>
                <a:gd name="adj" fmla="val 50000"/>
              </a:avLst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LACC 候选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950463" y="3383280"/>
              <a:ext cx="745744" cy="219456"/>
            </a:xfrm>
            <a:prstGeom prst="roundRect">
              <a:avLst>
                <a:gd name="adj" fmla="val 50000"/>
              </a:avLst>
            </a:prstGeom>
            <a:solidFill>
              <a:srgbClr val="3E7A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循环贷候选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8FD3A381-182F-4E99-A561-1621AF5DE9F3}"/>
              </a:ext>
            </a:extLst>
          </p:cNvPr>
          <p:cNvGrpSpPr/>
          <p:nvPr/>
        </p:nvGrpSpPr>
        <p:grpSpPr>
          <a:xfrm>
            <a:off x="6089904" y="1115252"/>
            <a:ext cx="5138928" cy="2505771"/>
            <a:chOff x="6089904" y="658368"/>
            <a:chExt cx="5394960" cy="2962656"/>
          </a:xfrm>
        </p:grpSpPr>
        <p:sp>
          <p:nvSpPr>
            <p:cNvPr id="24" name="Rounded Rectangle 23"/>
            <p:cNvSpPr/>
            <p:nvPr/>
          </p:nvSpPr>
          <p:spPr>
            <a:xfrm>
              <a:off x="6089904" y="658368"/>
              <a:ext cx="5394960" cy="2962656"/>
            </a:xfrm>
            <a:prstGeom prst="roundRect">
              <a:avLst>
                <a:gd name="adj" fmla="val 3500"/>
              </a:avLst>
            </a:prstGeom>
            <a:solidFill>
              <a:srgbClr val="FBF4E2"/>
            </a:solidFill>
            <a:ln w="19050">
              <a:solidFill>
                <a:srgbClr val="B886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54496" y="786384"/>
              <a:ext cx="1428749" cy="237744"/>
            </a:xfrm>
            <a:prstGeom prst="roundRect">
              <a:avLst>
                <a:gd name="adj" fmla="val 50000"/>
              </a:avLst>
            </a:prstGeom>
            <a:solidFill>
              <a:srgbClr val="FBF4E2"/>
            </a:solidFill>
            <a:ln w="12700">
              <a:solidFill>
                <a:srgbClr val="B886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B886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 4-5 × 价值 1-2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774686" y="786384"/>
              <a:ext cx="1181862" cy="237744"/>
            </a:xfrm>
            <a:prstGeom prst="roundRect">
              <a:avLst>
                <a:gd name="adj" fmla="val 50000"/>
              </a:avLst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价值好 × 风险差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54496" y="1078992"/>
              <a:ext cx="5084064" cy="2743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54496" y="1078992"/>
              <a:ext cx="5084064" cy="29260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B886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谨慎经营客群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254496" y="1408176"/>
              <a:ext cx="5084064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B8860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64224" y="1435607"/>
              <a:ext cx="4864608" cy="256032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5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对应产品  </a:t>
              </a:r>
              <a:r>
                <a:rPr kumimoji="0" sz="950" b="1" i="0" u="none" strike="noStrike" kern="1200" cap="none" spc="0" normalizeH="0" baseline="0" noProof="0">
                  <a:ln>
                    <a:noFill/>
                  </a:ln>
                  <a:solidFill>
                    <a:srgbClr val="B886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EWA / 超短期产品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254496" y="1792224"/>
              <a:ext cx="5084064" cy="6400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D3C3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客户具备一定经营价值，但风险压力已经抬升。不适合直接放款大额度或期限，更适合通过短期、小额、即时周转产品承接需求，并控制风险暴露。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54496" y="2542032"/>
              <a:ext cx="2514600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定位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B886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有价值但风险高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54496" y="2542032"/>
              <a:ext cx="2514600" cy="41148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823960" y="2542032"/>
              <a:ext cx="2514600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3M30人数逾期率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B8860B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12.90%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823960" y="2542032"/>
              <a:ext cx="2514600" cy="41148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254496" y="3383280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短期承接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971792" y="3383280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小额控制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689088" y="3383280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即时周转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406384" y="3383280"/>
              <a:ext cx="847344" cy="219456"/>
            </a:xfrm>
            <a:prstGeom prst="roundRect">
              <a:avLst>
                <a:gd name="adj" fmla="val 50000"/>
              </a:avLst>
            </a:prstGeom>
            <a:solidFill>
              <a:srgbClr val="B886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风险暴露控制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151ECCA-90F1-41F3-82D5-17EE173BC590}"/>
              </a:ext>
            </a:extLst>
          </p:cNvPr>
          <p:cNvGrpSpPr/>
          <p:nvPr/>
        </p:nvGrpSpPr>
        <p:grpSpPr>
          <a:xfrm>
            <a:off x="482494" y="3748110"/>
            <a:ext cx="5364620" cy="2816186"/>
            <a:chOff x="512064" y="3730752"/>
            <a:chExt cx="5394960" cy="2962656"/>
          </a:xfrm>
        </p:grpSpPr>
        <p:sp>
          <p:nvSpPr>
            <p:cNvPr id="40" name="Rounded Rectangle 39"/>
            <p:cNvSpPr/>
            <p:nvPr/>
          </p:nvSpPr>
          <p:spPr>
            <a:xfrm>
              <a:off x="512064" y="3730752"/>
              <a:ext cx="5394960" cy="2962656"/>
            </a:xfrm>
            <a:prstGeom prst="roundRect">
              <a:avLst>
                <a:gd name="adj" fmla="val 3500"/>
              </a:avLst>
            </a:prstGeom>
            <a:solidFill>
              <a:srgbClr val="EFF4FA"/>
            </a:solidFill>
            <a:ln w="19050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76656" y="3858768"/>
              <a:ext cx="1428749" cy="237744"/>
            </a:xfrm>
            <a:prstGeom prst="roundRect">
              <a:avLst>
                <a:gd name="adj" fmla="val 50000"/>
              </a:avLst>
            </a:prstGeom>
            <a:solidFill>
              <a:srgbClr val="EFF4FA"/>
            </a:solidFill>
            <a:ln w="12700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 1-2 × 价值 4-5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2196846" y="3858768"/>
              <a:ext cx="1181862" cy="237744"/>
            </a:xfrm>
            <a:prstGeom prst="roundRect">
              <a:avLst>
                <a:gd name="adj" fmla="val 50000"/>
              </a:avLst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价值差 × 风险好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6656" y="4151376"/>
              <a:ext cx="5084064" cy="2743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6656" y="4151376"/>
              <a:ext cx="5084064" cy="29260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收益验证客群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76656" y="4480560"/>
              <a:ext cx="5084064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86384" y="4507992"/>
              <a:ext cx="4864608" cy="256032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5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对应产品  </a:t>
              </a:r>
              <a:r>
                <a:rPr kumimoji="0" sz="950" b="1" i="0" u="none" strike="noStrike" kern="1200" cap="none" spc="0" normalizeH="0" baseline="0" noProof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低额度 Personal Loan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76656" y="4864608"/>
              <a:ext cx="5084064" cy="6400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D3C3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风险相对可控，但收入、额度承接和转化能力偏弱。不适合作为强经营客群，可通过低额度 Personal Loan 验证稳定需求、复贷表现和真实贡献。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76656" y="5614416"/>
              <a:ext cx="2514600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定位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低风险但价值弱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76656" y="5614416"/>
              <a:ext cx="2514600" cy="41148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246120" y="5614416"/>
              <a:ext cx="2514600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观察重点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稳定需求 / 复贷 / 真实贡献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246120" y="5614416"/>
              <a:ext cx="2514600" cy="41148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676656" y="6455664"/>
              <a:ext cx="745744" cy="219456"/>
            </a:xfrm>
            <a:prstGeom prst="roundRect">
              <a:avLst>
                <a:gd name="adj" fmla="val 50000"/>
              </a:avLst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低额度验证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495552" y="6455664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收益观察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212848" y="6455664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复贷跟踪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2930144" y="6455664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贡献评估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D00019A-C337-4A3E-B9C7-14C5C90C9F99}"/>
              </a:ext>
            </a:extLst>
          </p:cNvPr>
          <p:cNvGrpSpPr/>
          <p:nvPr/>
        </p:nvGrpSpPr>
        <p:grpSpPr>
          <a:xfrm>
            <a:off x="6072484" y="3713829"/>
            <a:ext cx="5138928" cy="2597621"/>
            <a:chOff x="6089904" y="3730752"/>
            <a:chExt cx="5394960" cy="2962656"/>
          </a:xfrm>
        </p:grpSpPr>
        <p:sp>
          <p:nvSpPr>
            <p:cNvPr id="56" name="Rounded Rectangle 55"/>
            <p:cNvSpPr/>
            <p:nvPr/>
          </p:nvSpPr>
          <p:spPr>
            <a:xfrm>
              <a:off x="6089904" y="3730752"/>
              <a:ext cx="5394960" cy="2962656"/>
            </a:xfrm>
            <a:prstGeom prst="roundRect">
              <a:avLst>
                <a:gd name="adj" fmla="val 3500"/>
              </a:avLst>
            </a:prstGeom>
            <a:solidFill>
              <a:srgbClr val="F9ECE9"/>
            </a:solidFill>
            <a:ln w="19050">
              <a:solidFill>
                <a:srgbClr val="A944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254496" y="3858768"/>
              <a:ext cx="1428749" cy="237744"/>
            </a:xfrm>
            <a:prstGeom prst="roundRect">
              <a:avLst>
                <a:gd name="adj" fmla="val 50000"/>
              </a:avLst>
            </a:prstGeom>
            <a:solidFill>
              <a:srgbClr val="F9ECE9"/>
            </a:solidFill>
            <a:ln w="12700">
              <a:solidFill>
                <a:srgbClr val="A944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风险 4-5 × 价值 4-5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774686" y="3858768"/>
              <a:ext cx="1181862" cy="237744"/>
            </a:xfrm>
            <a:prstGeom prst="roundRect">
              <a:avLst>
                <a:gd name="adj" fmla="val 50000"/>
              </a:avLst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价值差 × 风险差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54496" y="4151376"/>
              <a:ext cx="5084064" cy="2743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254496" y="4151376"/>
              <a:ext cx="5084064" cy="29260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优先风险控制客群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254496" y="4480560"/>
              <a:ext cx="5084064" cy="31089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A944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64224" y="4507992"/>
              <a:ext cx="4864608" cy="256032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5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对应产品  </a:t>
              </a:r>
              <a:r>
                <a:rPr kumimoji="0" sz="95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原则上不重点承接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254496" y="4864608"/>
              <a:ext cx="5084064" cy="6400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>
                  <a:ln>
                    <a:noFill/>
                  </a:ln>
                  <a:solidFill>
                    <a:srgbClr val="3D3C3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同时处在高风险、弱价值位置，风险暴露明显。该客群不建议绑定扩展型产品，重点应放在限额、提价、人工审核和谨慎准入。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254496" y="5614416"/>
              <a:ext cx="1658112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样本数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77,057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254496" y="5614416"/>
              <a:ext cx="1658112" cy="41148"/>
            </a:xfrm>
            <a:prstGeom prst="rect">
              <a:avLst/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967472" y="5614416"/>
              <a:ext cx="1658112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样本占比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48.85%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967472" y="5614416"/>
              <a:ext cx="1658112" cy="41148"/>
            </a:xfrm>
            <a:prstGeom prst="rect">
              <a:avLst/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680448" y="5614416"/>
              <a:ext cx="1658112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3M30人数逾期率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22.25%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680448" y="5614416"/>
              <a:ext cx="1658112" cy="41148"/>
            </a:xfrm>
            <a:prstGeom prst="rect">
              <a:avLst/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254496" y="6035040"/>
              <a:ext cx="5084064" cy="3657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73152" rIns="54864" bIns="1828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3M30金额逾期率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A94434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15.38%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254496" y="6035040"/>
              <a:ext cx="5084064" cy="41148"/>
            </a:xfrm>
            <a:prstGeom prst="rect">
              <a:avLst/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6254496" y="6455664"/>
              <a:ext cx="440944" cy="219456"/>
            </a:xfrm>
            <a:prstGeom prst="roundRect">
              <a:avLst>
                <a:gd name="adj" fmla="val 50000"/>
              </a:avLst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限额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6768592" y="6455664"/>
              <a:ext cx="440944" cy="219456"/>
            </a:xfrm>
            <a:prstGeom prst="roundRect">
              <a:avLst>
                <a:gd name="adj" fmla="val 50000"/>
              </a:avLst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提价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7282688" y="6455664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人工审核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7999984" y="6455664"/>
              <a:ext cx="644144" cy="219456"/>
            </a:xfrm>
            <a:prstGeom prst="roundRect">
              <a:avLst>
                <a:gd name="adj" fmla="val 50000"/>
              </a:avLst>
            </a:prstGeom>
            <a:solidFill>
              <a:srgbClr val="A944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54864" tIns="0" rIns="54864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谨慎准入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价值画像由收入体量、工资连续性与职业可识别性共同决定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价值差更像「职业现金流弱」，并非负债更重或多头更多。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高收入体量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4188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工资更连续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主业更清晰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8436" y="1188720"/>
            <a:ext cx="10561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福利收入依赖低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表5：画像对比（价值 1/2 档 vs 4/5 档）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" y="1865376"/>
          <a:ext cx="10899648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画像维度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价值好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画像解读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41,139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11,130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价值好约为 3.7 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140,807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59,771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整体资金体量更高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工资入账次数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20.5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10.6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工资现金流更连续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主行业入账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40,916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16,067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职业主收入更强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Centrelink 收入占比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14.6%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价值差更依赖福利收入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发薪周期标准差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2.72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3.79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价值差发薪更不稳定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行业识别缺失率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30.7%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价值差职业信息更弱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可支配盈余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1,334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价值差可支配空间有限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2064" y="4389120"/>
            <a:ext cx="1089964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结构补充：价值好人群 couple 占比更高（43.8% vs 29.1%），Lead Partner / Owned Channels 占比也更高；该差异仅作结构描述，不解释为因果。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信贷还款金额与次数在价值差人群中反而更低（5,963 / 13.5 vs 20,439 / 29.4），当前数据不支持「价值差 = 高负债 / 多头更多」。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高价值但高风险：收入更高，但资金波动与风险消费同步放大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这类客户的价值来自收入端，风险则来自高支出、高波动和账户异常。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高收入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5588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高支出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高赌博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2636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高波动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表6：画像对比（价值好且风险好 vs 价值好但风险差）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" y="1865376"/>
          <a:ext cx="10899648" cy="23591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画像维度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价值好且风险好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价值好但风险差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风险信号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34,024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50,253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收入能力并不弱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96,943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191,383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资金体量约 2 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92,348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193,711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收支几乎打平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赌博支出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2,398 / 2.5%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7,416 / 5.2%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金额与占比同时升高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余额波动标准差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4,947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8,442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账户波动显著放大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余额异常天数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5.13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账户异常更多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收入波动 CV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1.83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2.10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收入稳定性更弱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2064" y="4389120"/>
            <a:ext cx="1089964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注：赌博支出为金额 / 占比。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不宜因价值高直接扩额；优先用小额、短期产品承接，并持续观察赌博支出、余额异常和收入波动。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低价值但低风险：收入偏弱，但支出克制、账户稳定、还款更活跃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这类客户不是高收入客群，而是行为更保守、风险相对可控的低收入客群。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2064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低收入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5588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低支出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低赌博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2636" y="1188720"/>
            <a:ext cx="5989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低波动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827532" cy="256032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 w="1270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有还款活动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表7：画像对比（价值差但风险好 vs 价值差且风险差）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2064" y="1865376"/>
          <a:ext cx="10899648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画像维度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价值差但风险好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价值差且风险差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风险信号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8,750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13,314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低风险并非来自高收入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Centrelink 收入占比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22.1%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5.9%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收入结构偏福利类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总支出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43,062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75,496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支出更克制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赌博支出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531.7 / 1.3%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2,067 / 3.7%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风险消费更低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余额波动标准差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478.1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1,181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账户波动更小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余额异常天数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3.45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5.22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账户异常更少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信贷还款金额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7,582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4,133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还款活动更活跃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贷款还款次数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10.8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606060"/>
                          </a:solidFill>
                          <a:latin typeface="微软雅黑"/>
                          <a:ea typeface="微软雅黑"/>
                        </a:rPr>
                        <a:t>还款活动相对更多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2064" y="4389120"/>
            <a:ext cx="1089964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注：赌博支出为金额 / 占比。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不宜因价值弱一刀切拒绝；可用低额度 Personal Loan 验证其额度使用、复贷与真实贡献。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模型由收入、现金流、负债与支出等多类变量共同驱动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Top 3 均为收入与现金流特征，重要度合计 51.08%。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1591056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表8：入模变量重要度 Top10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064" y="1865376"/>
          <a:ext cx="10899648" cy="23774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变量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重要度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bank_txn_income_wages_sum_182d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182 天工资收入汇总金额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20.25%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bank_txn_income_global_mean_56d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56 天收入均值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15.60%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bank_txn_balance_debit_mean_168d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168 天借方金额均值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15.23%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bank_txn_lender_repay_bnpl_amount_sum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先买后付（BNPL）还款金额总和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6.98%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bank_txn_category_cluster_transfers_share_28d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28 天转账簇金额占比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6.32%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bank_txn_lender_repay_loan_count_max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个人贷款还款单机构最大累计笔数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4.98%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bank_txn_balance_cv_56d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56 天余额变异系数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4.91%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bank_txn_lender_disburse_loan_amount_avg_l168d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168 天个人贷款放款金额均值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4.75%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bank_txn_category_insurance_debit_amt_14d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近 14 天保险出账金额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4.56%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bank_txn_category_cluster_debt_avg_ticket_168d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债务支出簇近 168 天平均客单价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3.60%</a:t>
                      </a:r>
                    </a:p>
                  </a:txBody>
                  <a:tcPr marL="36576" marR="36576" marT="0" marB="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画像用于解释分层，不替代风险判断；地域、渠道、具体行业与余额绝对值仅作结构补充，不直接形成强干预结论。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1350</Words>
  <Application>Microsoft Office PowerPoint</Application>
  <PresentationFormat>宽屏</PresentationFormat>
  <Paragraphs>463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微软雅黑</vt:lpstr>
      <vt:lpstr>等线</vt:lpstr>
      <vt:lpstr>等线 Light</vt:lpstr>
      <vt:lpstr>Arial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2</cp:revision>
  <dcterms:created xsi:type="dcterms:W3CDTF">2026-08-31T05:46:19Z</dcterms:created>
  <dcterms:modified xsi:type="dcterms:W3CDTF">2026-08-31T05:49:12Z</dcterms:modified>
</cp:coreProperties>
</file>