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69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基本盘及汇总" id="{C6715D47-869E-44D0-B78F-B43D1D3129E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远状" initials="李远状" lastIdx="11" clrIdx="0">
    <p:extLst>
      <p:ext uri="{19B8F6BF-5375-455C-9EA6-DF929625EA0E}">
        <p15:presenceInfo xmlns:p15="http://schemas.microsoft.com/office/powerpoint/2012/main" userId="S::liyuanzhuang@xinye.com::db9f9e9b-a157-475d-a894-1fe03fbdbde7" providerId="AD"/>
      </p:ext>
    </p:extLst>
  </p:cmAuthor>
  <p:cmAuthor id="2" name="张陈斌" initials="张陈斌" lastIdx="8" clrIdx="1">
    <p:extLst>
      <p:ext uri="{19B8F6BF-5375-455C-9EA6-DF929625EA0E}">
        <p15:presenceInfo xmlns:p15="http://schemas.microsoft.com/office/powerpoint/2012/main" userId="S-1-5-21-3445162623-3638367897-1248422002-13226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E79"/>
    <a:srgbClr val="D6A000"/>
    <a:srgbClr val="E3EBF4"/>
    <a:srgbClr val="4D6688"/>
    <a:srgbClr val="FFF4DE"/>
    <a:srgbClr val="CF3E50"/>
    <a:srgbClr val="526B8C"/>
    <a:srgbClr val="FFFFFF"/>
    <a:srgbClr val="183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987E84-919A-4E68-92C1-3D5B3E32CEA5}" type="datetimeFigureOut">
              <a:rPr lang="zh-CN" altLang="en-US" smtClean="0"/>
              <a:t>2026/8/30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BEC5A-A40F-4930-BA30-B74E54E9FB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936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6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1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31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357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1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2026/8/30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1226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74" r:id="rId4"/>
    <p:sldLayoutId id="214748366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体系规划</a:t>
            </a:r>
            <a:r>
              <a:rPr lang="en-US" altLang="zh-CN" sz="2000" b="1" dirty="0">
                <a:solidFill>
                  <a:srgbClr val="0A0A0A"/>
                </a:solidFill>
                <a:latin typeface="微软雅黑"/>
                <a:ea typeface="微软雅黑"/>
              </a:rPr>
              <a:t>:</a:t>
            </a: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四项目标</a:t>
            </a:r>
            <a:r>
              <a:rPr lang="en-US" altLang="zh-CN" sz="2000" b="1" dirty="0">
                <a:solidFill>
                  <a:srgbClr val="0A0A0A"/>
                </a:solidFill>
                <a:latin typeface="微软雅黑"/>
                <a:ea typeface="微软雅黑"/>
              </a:rPr>
              <a:t>,</a:t>
            </a: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一个底座</a:t>
            </a:r>
            <a:r>
              <a:rPr lang="en-US" altLang="zh-CN" sz="2000" b="1" dirty="0">
                <a:solidFill>
                  <a:srgbClr val="0A0A0A"/>
                </a:solidFill>
                <a:latin typeface="微软雅黑"/>
                <a:ea typeface="微软雅黑"/>
              </a:rPr>
              <a:t>,</a:t>
            </a:r>
            <a:r>
              <a:rPr lang="zh-CN" altLang="en-US" sz="2000" b="1" dirty="0">
                <a:solidFill>
                  <a:srgbClr val="0A0A0A"/>
                </a:solidFill>
                <a:latin typeface="微软雅黑"/>
                <a:ea typeface="微软雅黑"/>
              </a:rPr>
              <a:t>三大领域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2096798B-B135-4C44-B77C-94985B52657C}"/>
              </a:ext>
            </a:extLst>
          </p:cNvPr>
          <p:cNvSpPr txBox="1"/>
          <p:nvPr/>
        </p:nvSpPr>
        <p:spPr>
          <a:xfrm>
            <a:off x="603504" y="210312"/>
            <a:ext cx="888796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 dirty="0" err="1">
                <a:solidFill>
                  <a:srgbClr val="0A0A0A"/>
                </a:solidFill>
                <a:latin typeface="微软雅黑"/>
                <a:ea typeface="微软雅黑"/>
              </a:rPr>
              <a:t>体系规划:四项目标,一个底座,三大领域</a:t>
            </a:r>
            <a:endParaRPr sz="20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319678CB-8E7F-488B-A3CD-4463BC189998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 dirty="0" err="1">
                <a:solidFill>
                  <a:srgbClr val="606060"/>
                </a:solidFill>
                <a:latin typeface="微软雅黑"/>
                <a:ea typeface="微软雅黑"/>
              </a:rPr>
              <a:t>规模、结构、质量、效率四项目标并重;数据基建打底,投放、运营、风险三大领域共享同一分层体系</a:t>
            </a:r>
            <a:r>
              <a:rPr sz="1800" b="0" dirty="0">
                <a:solidFill>
                  <a:srgbClr val="606060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250454-BFCA-4E1B-992D-3B2D8D9C2FF2}"/>
              </a:ext>
            </a:extLst>
          </p:cNvPr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EC5B08CD-1287-4235-B316-50C5D13F7410}"/>
              </a:ext>
            </a:extLst>
          </p:cNvPr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392BE699-6C38-498C-9C9A-CE38B718C728}"/>
              </a:ext>
            </a:extLst>
          </p:cNvPr>
          <p:cNvSpPr txBox="1"/>
          <p:nvPr/>
        </p:nvSpPr>
        <p:spPr>
          <a:xfrm>
            <a:off x="640080" y="117043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四项目标:规模 · 结构 · 质量 · 效率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4566B3E-7E2A-45FE-AFD7-C393585CCF0C}"/>
              </a:ext>
            </a:extLst>
          </p:cNvPr>
          <p:cNvSpPr/>
          <p:nvPr/>
        </p:nvSpPr>
        <p:spPr>
          <a:xfrm>
            <a:off x="512064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拓展 APP、新渠道与复贷</a:t>
            </a:r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31590DBD-B04D-4967-8C2D-D2622818954C}"/>
              </a:ext>
            </a:extLst>
          </p:cNvPr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C4AE971E-C2C0-4B49-85EB-BC4D5AFBDE73}"/>
              </a:ext>
            </a:extLst>
          </p:cNvPr>
          <p:cNvSpPr/>
          <p:nvPr/>
        </p:nvSpPr>
        <p:spPr>
          <a:xfrm>
            <a:off x="3291840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CDF80DEF-E436-4BF9-8530-4C23C7B3CC3E}"/>
              </a:ext>
            </a:extLst>
          </p:cNvPr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77591C11-2152-45DC-9076-E928E007A992}"/>
              </a:ext>
            </a:extLst>
          </p:cNvPr>
          <p:cNvSpPr/>
          <p:nvPr/>
        </p:nvSpPr>
        <p:spPr>
          <a:xfrm>
            <a:off x="6071616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 ≤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38097190-FB31-4028-BAA3-2FCC32D25383}"/>
              </a:ext>
            </a:extLst>
          </p:cNvPr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A619135E-B486-4A84-8B9F-FDF63F21247C}"/>
              </a:ext>
            </a:extLst>
          </p:cNvPr>
          <p:cNvSpPr/>
          <p:nvPr/>
        </p:nvSpPr>
        <p:spPr>
          <a:xfrm>
            <a:off x="8851392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LTV 统筹经营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统筹获客、额度、定价、权益</a:t>
            </a:r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CCDD6742-AF3A-4F28-BA32-3966F1BED965}"/>
              </a:ext>
            </a:extLst>
          </p:cNvPr>
          <p:cNvSpPr/>
          <p:nvPr/>
        </p:nvSpPr>
        <p:spPr>
          <a:xfrm>
            <a:off x="8851392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D9A96881-A0A7-4404-A29C-9F72A7B4B680}"/>
              </a:ext>
            </a:extLst>
          </p:cNvPr>
          <p:cNvSpPr/>
          <p:nvPr/>
        </p:nvSpPr>
        <p:spPr>
          <a:xfrm>
            <a:off x="512064" y="2670048"/>
            <a:ext cx="10899648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182880" bIns="54864" rtlCol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1F4E79"/>
                </a:solidFill>
                <a:latin typeface="微软雅黑"/>
                <a:ea typeface="微软雅黑"/>
              </a:rPr>
              <a:t>数据基建 · 一个底座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  自主流水识别 + 统一数据底座,为模型、策略与归因提供一致口径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风险决策 → 人工复核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商户 / 类别知识库智能体</a:t>
            </a:r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98592C1C-BE2E-42A8-9FC4-3615C1AA0A80}"/>
              </a:ext>
            </a:extLst>
          </p:cNvPr>
          <p:cNvSpPr/>
          <p:nvPr/>
        </p:nvSpPr>
        <p:spPr>
          <a:xfrm>
            <a:off x="512064" y="2670048"/>
            <a:ext cx="108996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007C5F1-651D-49E8-ACCB-06E12F18A3D5}"/>
              </a:ext>
            </a:extLst>
          </p:cNvPr>
          <p:cNvSpPr/>
          <p:nvPr/>
        </p:nvSpPr>
        <p:spPr>
          <a:xfrm>
            <a:off x="512064" y="3767327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7">
            <a:extLst>
              <a:ext uri="{FF2B5EF4-FFF2-40B4-BE49-F238E27FC236}">
                <a16:creationId xmlns:a16="http://schemas.microsoft.com/office/drawing/2014/main" id="{5C4EB545-A783-426C-8186-A719EEFFCCC7}"/>
              </a:ext>
            </a:extLst>
          </p:cNvPr>
          <p:cNvSpPr txBox="1"/>
          <p:nvPr/>
        </p:nvSpPr>
        <p:spPr>
          <a:xfrm>
            <a:off x="640080" y="3749039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三大领域:共享同一分层体系</a:t>
            </a:r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1EF1F9D8-8F0B-4EE2-B52B-04BADE8943A2}"/>
              </a:ext>
            </a:extLst>
          </p:cNvPr>
          <p:cNvSpPr/>
          <p:nvPr/>
        </p:nvSpPr>
        <p:spPr>
          <a:xfrm>
            <a:off x="512064" y="4041648"/>
            <a:ext cx="3538728" cy="2039112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9144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投放归因基建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回传监控基建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92B0A974-6BD4-4737-8595-CED5933C53BD}"/>
              </a:ext>
            </a:extLst>
          </p:cNvPr>
          <p:cNvSpPr/>
          <p:nvPr/>
        </p:nvSpPr>
        <p:spPr>
          <a:xfrm>
            <a:off x="512064" y="4041648"/>
            <a:ext cx="35387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0A2B91B9-D84D-4E60-98BD-9AD6CD657208}"/>
              </a:ext>
            </a:extLst>
          </p:cNvPr>
          <p:cNvSpPr/>
          <p:nvPr/>
        </p:nvSpPr>
        <p:spPr>
          <a:xfrm>
            <a:off x="658368" y="4206240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EDDFBB8C-8F9A-45A2-A926-D8FB6CB97D39}"/>
              </a:ext>
            </a:extLst>
          </p:cNvPr>
          <p:cNvSpPr/>
          <p:nvPr/>
        </p:nvSpPr>
        <p:spPr>
          <a:xfrm>
            <a:off x="4197096" y="4041648"/>
            <a:ext cx="3538728" cy="2039112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9144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运营监控 AI 智能体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沉睡客户识别唤醒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竞品经营洞察 AI 智能体</a:t>
            </a:r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76DDCA5-29A7-49BB-9E9C-CDFAA8E06709}"/>
              </a:ext>
            </a:extLst>
          </p:cNvPr>
          <p:cNvSpPr/>
          <p:nvPr/>
        </p:nvSpPr>
        <p:spPr>
          <a:xfrm>
            <a:off x="4197096" y="4041648"/>
            <a:ext cx="35387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3A8BF65A-0E95-4A9C-A1C4-7270AA902213}"/>
              </a:ext>
            </a:extLst>
          </p:cNvPr>
          <p:cNvSpPr/>
          <p:nvPr/>
        </p:nvSpPr>
        <p:spPr>
          <a:xfrm>
            <a:off x="4343400" y="4206240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BA730DCE-496A-4811-A15E-8FC2476C5A9C}"/>
              </a:ext>
            </a:extLst>
          </p:cNvPr>
          <p:cNvSpPr/>
          <p:nvPr/>
        </p:nvSpPr>
        <p:spPr>
          <a:xfrm>
            <a:off x="7882128" y="4041648"/>
            <a:ext cx="3538728" cy="2039112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128016" bIns="9144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模型迭代:增强头尾区分,平衡通过率、客群结构与风险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0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价值联合额度策略:多模型交叉分箱自动寻优,输出最优额度提升客群与产品承接矩阵标签</a:t>
            </a:r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EC39853C-2920-480C-9EF2-C38B227ED0A5}"/>
              </a:ext>
            </a:extLst>
          </p:cNvPr>
          <p:cNvSpPr/>
          <p:nvPr/>
        </p:nvSpPr>
        <p:spPr>
          <a:xfrm>
            <a:off x="7882128" y="4041648"/>
            <a:ext cx="35387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6">
            <a:extLst>
              <a:ext uri="{FF2B5EF4-FFF2-40B4-BE49-F238E27FC236}">
                <a16:creationId xmlns:a16="http://schemas.microsoft.com/office/drawing/2014/main" id="{6D533152-AB68-4116-9B63-B0AC72A41611}"/>
              </a:ext>
            </a:extLst>
          </p:cNvPr>
          <p:cNvSpPr/>
          <p:nvPr/>
        </p:nvSpPr>
        <p:spPr>
          <a:xfrm>
            <a:off x="8028432" y="4206240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C2AA76F5-3990-48BF-BB5D-0439F409A254}"/>
              </a:ext>
            </a:extLst>
          </p:cNvPr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四项目标统领全局——数据基建打底,投放、运营、风险三大领域在统一数据与分层体系上协同建设。</a:t>
            </a:r>
          </a:p>
        </p:txBody>
      </p:sp>
      <p:sp>
        <p:nvSpPr>
          <p:cNvPr id="30" name="Rectangle 28">
            <a:extLst>
              <a:ext uri="{FF2B5EF4-FFF2-40B4-BE49-F238E27FC236}">
                <a16:creationId xmlns:a16="http://schemas.microsoft.com/office/drawing/2014/main" id="{A694BE8D-DACD-4C4E-BD23-ED6F3577EC26}"/>
              </a:ext>
            </a:extLst>
          </p:cNvPr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760</TotalTime>
  <Words>187</Words>
  <Application>Microsoft Office PowerPoint</Application>
  <PresentationFormat>宽屏</PresentationFormat>
  <Paragraphs>42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等线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张昱良-Eliam</dc:creator>
  <cp:lastModifiedBy>昱良</cp:lastModifiedBy>
  <cp:revision>15</cp:revision>
  <dcterms:created xsi:type="dcterms:W3CDTF">2026-08-11T03:11:10Z</dcterms:created>
  <dcterms:modified xsi:type="dcterms:W3CDTF">2026-08-30T08:55:07Z</dcterms:modified>
</cp:coreProperties>
</file>