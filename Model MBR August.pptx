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型规划" id="{C6715D47-869E-44D0-B78F-B43D1D3129E5}">
          <p14:sldIdLst>
            <p14:sldId id="269"/>
          </p14:sldIdLst>
        </p14:section>
        <p14:section name="价值模型" id="{FCDB1B79-23DC-4AE2-A85A-0A162791C9E3}">
          <p14:sldIdLst>
            <p14:sldId id="270"/>
            <p14:sldId id="271"/>
            <p14:sldId id="272"/>
            <p14:sldId id="273"/>
          </p14:sldIdLst>
        </p14:section>
        <p14:section name="分类模型" id="{8E957497-B430-415D-84AE-94DE7350E81B}">
          <p14:sldIdLst>
            <p14:sldId id="274"/>
            <p14:sldId id="275"/>
          </p14:sldIdLst>
        </p14:section>
        <p14:section name="默认节" id="{FA382578-AE29-457B-AC8F-BA47EF07C7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1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0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0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63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6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9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1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9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65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1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8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体系规划:四项目标,四大领域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规模、结构、质量、效率四项目标并重;数据基建、投放、运营、风险四大领域共享同一分层体系。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2064" y="1188720"/>
            <a:ext cx="64008" cy="20116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四项目标:规模 · 结构 · 质量 · 效率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2606040" cy="98755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规模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支撑放款增长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拓展 APP、新渠道与复贷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606040" cy="98755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结构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NON SAAC 全年 ≥ 40%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非 SACC 产品占比目标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71616" y="1463040"/>
            <a:ext cx="2606040" cy="98755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质量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风险表现控制在 7.1%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整体风险水平控制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51392" y="1463040"/>
            <a:ext cx="2606040" cy="98755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效率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提升转化率与投放 ROI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以 LTV 统筹获客、额度、定价、权益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1392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2670048"/>
            <a:ext cx="64008" cy="20116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四大领域:共享同一分层体系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926080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数据基建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流水识别与统一底座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BS-CAT 生产化与并行验证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打通 IDP2 全链路:IDA → IDP → BS-CAT → S-CALC → 落库 → 人工复核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商户 / 类别知识库智能体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归因基建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投放归因与回传:渠道/Campaign overlap、Web 追踪、回传质量监控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触达归因与效果监控:短信/邮件/Push/APP 曝光 → 放款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926080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072384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926080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投放市场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人群圈选:风险 × 意愿 × 价值分层输出人群包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Lead Partner 线索评估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边际 CPS 与扩量决策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Campaign 早期质量预测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2926080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072384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" y="4626864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用户运营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客户价值与定价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盈利性评估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自动寻优定价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Fundo Score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触达与智能经营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触达策略与人群编排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运营监控 AI 智能体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结清客户复贷召回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沉睡客户识别唤醒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竞品经营洞察 AI 智能体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62686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4773168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25896" y="4626864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风险管理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新老客 PD 模型迭代:增强头尾区分,平衡通过率与风险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风险 × 价值联合额度策略:交叉分箱自动寻优,输出最优额度与承接标签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25896" y="462686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773168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四项目标统领全局——数据基建打底,投放、运营、风险四大领域在统一数据与分层体系上协同建设。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042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A0A0A"/>
                </a:solidFill>
                <a:latin typeface="微软雅黑"/>
                <a:ea typeface="微软雅黑"/>
              </a:rPr>
              <a:t>价值模型：</a:t>
            </a:r>
            <a:r>
              <a:rPr sz="2000" b="1" dirty="0" err="1">
                <a:solidFill>
                  <a:srgbClr val="0A0A0A"/>
                </a:solidFill>
                <a:latin typeface="微软雅黑"/>
                <a:ea typeface="微软雅黑"/>
              </a:rPr>
              <a:t>模型识别的是客户价值，不是历史额度策略</a:t>
            </a:r>
            <a:endParaRPr sz="20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控制额度后，模型仍能稳定区分客户表现——价值信号存在于额度之外。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88720"/>
            <a:ext cx="4425696" cy="2240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直接回答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额度在先、利息收入在后；但同等额度能否转化为收入，取决于客户的收入、现金流与履约能力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——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模型识别的是客户本身的价值潜力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为什么必须检验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利息收入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≈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在贷余额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×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利率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×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用款时长，与额度机械关联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；「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高额度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=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高价值」的质疑仅凭论证无法排除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决定性检验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——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同额度分层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收入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6 个申请金额区间全部单调（5000+ 档：</a:t>
            </a:r>
            <a:r>
              <a:rPr sz="900" b="1" dirty="0">
                <a:solidFill>
                  <a:srgbClr val="1F4E79"/>
                </a:solidFill>
                <a:latin typeface="微软雅黑"/>
                <a:ea typeface="微软雅黑"/>
              </a:rPr>
              <a:t>10,388 vs 3,891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）；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逾期率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4 个总额度区间首尾方向全部随价值变差上升（</a:t>
            </a:r>
            <a:r>
              <a:rPr sz="900" b="1" dirty="0">
                <a:solidFill>
                  <a:srgbClr val="1F4E79"/>
                </a:solidFill>
                <a:latin typeface="微软雅黑"/>
                <a:ea typeface="微软雅黑"/>
              </a:rPr>
              <a:t>4.37% vs 20.59%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）；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盈余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1,334→84、支出 7,902→3,566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同样单调</a:t>
            </a:r>
            <a:endParaRPr sz="90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74920" y="1188720"/>
            <a:ext cx="9144" cy="40233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42432" y="1188720"/>
            <a:ext cx="5870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表2：各总额度区间 × 价值分箱的 3M30 逾期率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42432" y="1444752"/>
          <a:ext cx="587044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总额度区间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有效样本数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4.37%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7.47%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12.22%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20.59%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5,769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10.94%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20.14%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3,748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37.88%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1,254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12.08%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17.17%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24.71%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28.12%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2,181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12,988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42432" y="283464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注：500–1000 段价值2/3 有轻微倒挂（8.04% vs 7.47%），上屏引用「首尾方向全部正确」，不写「全部严格单调」。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352724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0A0A0A"/>
                </a:solidFill>
                <a:latin typeface="微软雅黑"/>
                <a:ea typeface="微软雅黑"/>
              </a:rPr>
              <a:t>表1：各申请金额区间 × </a:t>
            </a:r>
            <a:r>
              <a:rPr sz="1050" b="1" dirty="0" err="1">
                <a:solidFill>
                  <a:srgbClr val="0A0A0A"/>
                </a:solidFill>
                <a:latin typeface="微软雅黑"/>
                <a:ea typeface="微软雅黑"/>
              </a:rPr>
              <a:t>价值分箱的平均收入</a:t>
            </a:r>
            <a:endParaRPr sz="105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351611"/>
              </p:ext>
            </p:extLst>
          </p:nvPr>
        </p:nvGraphicFramePr>
        <p:xfrm>
          <a:off x="5742432" y="3785615"/>
          <a:ext cx="5669278" cy="1828800"/>
        </p:xfrm>
        <a:graphic>
          <a:graphicData uri="http://schemas.openxmlformats.org/drawingml/2006/table">
            <a:tbl>
              <a:tblPr/>
              <a:tblGrid>
                <a:gridCol w="72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9,559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6,926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6,081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5,518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3,857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8,596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6,850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8,829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7,103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6,186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5,535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7,258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6,465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5,826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4,028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7,454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6,374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5,467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10,388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7,849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6,768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9,611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6,366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5,682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额度决定价值释放的上限，价值决定额度投向哪里；「额度贡献了多少价值」属因果问题，历史数据无法拆分，留待增量额度试点实验回答（方案另行汇报）。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3529584"/>
            <a:ext cx="4425696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表3：各申请金额区间 × 价值分箱的平均可支配盈余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3785615"/>
          <a:ext cx="4425695" cy="1828800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647395"/>
                <a:gridCol w="647395"/>
                <a:gridCol w="647395"/>
                <a:gridCol w="647395"/>
                <a:gridCol w="647395"/>
              </a:tblGrid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1,106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940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1,708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−154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1,488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989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−353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745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687568"/>
            <a:ext cx="442569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注：盈余＝收入−支出（可支配余量）；按「价值1最高、价值5最低」首尾判读，中间档并非严格单调；价值5在2000–2500与5000+两段转负（入不敷出）。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效果：跨时间稳定，分箱单调，交叉分化清晰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风险与价值两个维度各自排序成立，交叉后两端分化近 5 倍——联合分层具备数据基础。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20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AUC（OOT）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0.7294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INS 0.7015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552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KS（OOT）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0.3467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INS 0.2939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52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Top10% 弱价值率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63.00%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Lift 2.45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984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416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Bottom10%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7.30%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高分 vs 低分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267712"/>
            <a:ext cx="10899648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模型概况：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新客价值模型 1.0，LightGBM 二分类，17 个银行流水特征，建模样本 56,330（成交客户，2024-04 起）；目标=「3 个月利息收入低于 160」的弱价值标记（占比 27.12%）；原始分越高=弱价值概率越高，对外价值 1（最好）→ 5（最弱）。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分箱单调：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申请样本 151,579，价值 1→5：收入 9,611→3,924、通过率 41.04%→6.57%、3M30 逾期率 7.05%→22.90%，逐档单调、无倒挂。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风险模型对照：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风险 1→5，3M30 逾期率 5.92%→22.02%、通过率 32.91%→7.49%，排序清晰、无倒挂——两个维度各自成立，联合分层成立。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交叉结果与使用边界：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申请样本 157,741，最好格「风险1×价值1」5.74%、最差格「风险5×价值5」27.05%；样本集中于最差格（46,235，29.3%），价值5档占 46.45%。预测性模型回答「当前策略下谁更可能贡献价值」，OOT 弱价值概率低估约 2.15pp，适合排序分层，概率阈值/定价需先校准。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767328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表4：风险 × 价值 3M30 人数逾期率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4023360"/>
          <a:ext cx="10899644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 \ 风险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10.42%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9.69%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14.34%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8.15%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20.27%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11.54%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10.83%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13.31%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19.28%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7.79%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15.16%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22.02%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13.19%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413248"/>
            <a:ext cx="1089964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注：价值1×风险5（96 个观察）、价值5×风险1（26 个观察）样本不足 100，上屏时在热力矩阵中淡化处理，不单独引用。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模型适用于排序分层；OOT 弱价值概率存在约 2.15 个百分点的低估（实际 25.75% vs 预测 23.60%），用于概率阈值或定价前需先完成校准。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应用：风险 × 价值联合决策，价值扩张以风险预算为上限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价值扩张以风险预算为上限，在风险约束下优化组合收益，而非单纯提高额度。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88720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应用原则：</a:t>
            </a:r>
            <a:r>
              <a:rPr sz="950" b="0">
                <a:solidFill>
                  <a:srgbClr val="3D3C3A"/>
                </a:solidFill>
                <a:latin typeface="微软雅黑"/>
                <a:ea typeface="微软雅黑"/>
              </a:rPr>
              <a:t>额度总量受风险预算约束时，经营问题的本质是「有限额度如何分配」；离线 Lift 已证明模型排序能力，「差异化额度优于一刀切」仍需随机试验或准实验验证增量收益。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664208"/>
            <a:ext cx="5367528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0A0A0A"/>
                </a:solidFill>
                <a:latin typeface="微软雅黑"/>
                <a:ea typeface="微软雅黑"/>
              </a:rPr>
              <a:t>优先经营客群（高价值 × 低风险 · 风险1-2 × 价值1-2）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样本 18,934、占比 12%，3M30 逾期率 6.30%（金额口径 3.00%）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提升额度扩大价值捕获；承接 3000–5000 优质 MACC / LACC 候选池，后续筛选为循环贷扩展候选。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664208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25896" y="1664208"/>
            <a:ext cx="5367528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0A0A0A"/>
                </a:solidFill>
                <a:latin typeface="微软雅黑"/>
                <a:ea typeface="微软雅黑"/>
              </a:rPr>
              <a:t>谨慎经营客群（高价值 × 高风险 · 风险4-5 × 价值1-2）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3M30 逾期率 12.90%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有价值但风险高——不直接放大额度；通过 EWA / 超短期、小额、即时周转产品承接，控制风险暴露。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5896" y="1664208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2064" y="3986784"/>
            <a:ext cx="5367528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0A0A0A"/>
                </a:solidFill>
                <a:latin typeface="微软雅黑"/>
                <a:ea typeface="微软雅黑"/>
              </a:rPr>
              <a:t>收益验证客群（低价值 × 低风险 · 风险1-2 × 价值4-5）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低风险但价值弱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通过低额度 Personal Loan 验证稳定需求、复贷表现与真实贡献。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98678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25896" y="3986784"/>
            <a:ext cx="5367528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0A0A0A"/>
                </a:solidFill>
                <a:latin typeface="微软雅黑"/>
                <a:ea typeface="微软雅黑"/>
              </a:rPr>
              <a:t>优先风险控制客群（低价值 × 高风险 · 风险4-5 × 价值4-5）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样本 77,057、占比 48.85%，3M30 逾期率 22.25%（金额口径 15.38%）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限额、提价、人工审核、谨慎准入。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5896" y="398678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额度总量受风险预算约束，经营问题的本质是「有限额度如何分配」；离线 Lift 已证明模型的排序能力，差异化额度的增量收益仍需实验验证。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画像：价值看职业现金流，风险看行为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价值由收入与职业现金流决定，风险由支出、赌博与波动等行为特征决定——价值好 ≠ 风险好。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108996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入模变量（17 个银行流水特征、六类）：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收入能力（工资收入、收入均值）、现金流活跃度（借方金额均值 / 频率）、余额稳定性（余额变异系数）、负债行为（BNPL 还款、贷款还款笔数）、转账行为（转账簇占比）、支出结构（保险支出、债务客单价）；Top 3 重要度均为收入与现金流特征、合计 51%。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783080"/>
            <a:ext cx="9144" cy="40233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81051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收入与现金流（价值1/2档 vs 4/5档）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工资收入 41,139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 vs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11,130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（近4倍）；总收入 140,807 vs 59,771；工资入账 20.5 vs 10.6 次；主行业入账 40,916 vs 16,067；行业识别缺失率 3.5% vs 30.7%；Centrelink 2.1% vs 14.6%（价值5档 32.9%）；发薪周期标准差 2.72 vs 3.79。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862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支出、盈余与负债反证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总支出 139,715 vs 58,603、可支配盈余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1,334 vs 84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（差人群支出占收入近九成）；信贷还款 20,439 vs 5,963、29.4 vs 13.5 次——差人群信贷活动规模反而更小，不支持「价值差 = 负债更重 / 多头更多」。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95935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家庭与渠道（结构性差异，不作因果解读）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couple 家庭 43.8% vs 29.1%；Lead Partner 19.3% vs 11.6%、Owned Channels 11.8% vs 7.9%；差人群 Google 57.4%、Organic 21.5% 占比更高；平均年龄 37.6 vs 35.3。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432" y="181051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0448" y="1783080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价值 ≠ 风险的证据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工资收入随价值变差下降（41,139 → 11,130），随风险变差反而上升（风险好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20,922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 vs 风险差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30,752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）——两个模型看的是不同的东西。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26334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0448" y="2606040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价值好但风险差（收入端强、行为端弱）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总收入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191,383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，高于「价值好且风险好」的 96,943；总支出 193,711、收支几乎打平；赌博支出占比 5.2% vs 2.5%（金额 7,416 vs 2,398）；余额异常天数 5.13 vs 3.82；收入波动 CV 2.10 vs 1.83。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2432" y="37764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3749039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价值差但风险好（低收入但克制保守）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工资收入仅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8,750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，Centrelink 占比 22.1%；总支出 43,062，明显低于「价值差且风险差」的 75,496；赌博占比 1.3%、余额波动 478；还款活动反而更活跃（还款金额 7,582 vs 4,133，次数 15.9 vs 10.8）。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507492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表5：入模变量重要度 Top10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12064" y="5330952"/>
          <a:ext cx="5394960" cy="15087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重要度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182 天工资收入汇总金额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20.25%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天收入均值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天借方金额均值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15.23%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先买后付（BNPL）还款金额总和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28 天转账簇金额占比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6.32%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个人贷款还款单机构最大累计笔数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天余额变异系数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天个人贷款放款金额均值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4.75%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14 天保险出账金额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4.56%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债务支出簇近 168 天平均客单价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99632" y="5330952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注：Top 3 均为收入与现金流特征（合计 51%），第 4–10 名为负债与支出类，与「价值看收入端、风险看行为端」的核心观点一致。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两类错配人群应单独观察其真实逾期率、额度使用率与复贷表现后再定策略，不宜仅按价值或风险单边处置。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把原始流水翻译成财务画像：输入与输出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银行流水是信审最重要的原料，但原料没有标签；模型把每笔交易翻译成收入与负债，支撑信审决策。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4920" y="1207008"/>
            <a:ext cx="9144" cy="484632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1234440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为什么重要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澳洲 Responsible Lending 监管下，信审必须核实客户财务状况，核心公式 Serviceability = 收入 − 必要支出 − 负债还款；新客价值模型最重要的特征全部来自流水，老客风险模型里流水子模型占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68.25%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 权重——流水翻译的质量，决定上层模型的天花板。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1305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输入是什么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一个申请名下的全部银行流水。每笔交易只有 4 个信息——时间、金额、收支方向、一段文字描述（如 PAYROLL ACME PTY LTD、BILL PAY Fair Go Finance），没有任何现成的「这是工资 / 这是贷款」标签。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906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输出是什么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① 每笔交易打上分类标签 + 交易对手（共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35 个类别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，如 Wages / SACC Loans / 消费）；② 收入流（月收入估算、预计下次发薪日）；③ 负债流——把外部金融机构的放款与还款交易，聚合成一条条「贷款档案」；④ 分类汇总成客户财务画像，下游据此计算可支配盈余、完成信审。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2793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4297680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翻译示例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PAYROLL ACME PTY LTD → ACME 公司发放的工资，归入收入流；BILL PAY Fair Go Finance → 偿还 Fair Go Finance 的 SACC 贷款，归入负债流。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1234440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1207008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输出示例——收入流（演示数据，非真实客户）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同一雇主的连续发薪被串成一条收入流——ACME 公司每两周发薪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A$2,600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，月收入估算约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A$5,600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，预计下次发薪 9 月 11 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1305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2103120"/>
            <a:ext cx="5742432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输出示例——负债流，核心能力（演示数据，非真实客户）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银行流水可以还原客户在外部机构的完整多头负债档案。例如 MoneySpot 给该客户发过 3 笔贷款——A$1,200（3月，已结清）、A$1,500（6月，已结清）、A$1,500（7月，在贷）；在贷这笔按 8 期计划、每期约 A$255，推算含费成本率约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36%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，属 SACC 高成本产品档。汇总到客户级：外部机构 3 家、在贷 3 笔（SACC 2 笔 + BNPL 1 笔）、近 90 天新借款 A$2,300。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09651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4069080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指标体系的丰富性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定价档位（从放款与还款节奏推算利率）、多头与负债压力（机构数、借款频率、剩余期数）、还款能力（月还款 / 月收入）、资金饥渴度（近 90 天新增借款）等，全部由流水客观还原，不依赖客户自报。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49194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0448" y="4892040"/>
            <a:ext cx="5742432" cy="4057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在链路中的位置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IDA 发起申请 → IDP 调度 → 流水模型（BS-CAT）→ S-CALC 计算可支配盈余 → 风险模型与信审决策。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从流水还原收入与负债，把信审核实从「客户自报」升级为「流水客观还原」。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模型怎么工作、怎么运维：9 个工位的流水线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架构的本质，是把专家经验变成可改、可查、可回滚的规则资产——模型越用越准，而非交付后冻结。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1089964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架构——9 个工位依次过一遍流水：</a:t>
            </a:r>
            <a:r>
              <a:rPr sz="950" b="0">
                <a:solidFill>
                  <a:srgbClr val="3D3C3A"/>
                </a:solidFill>
                <a:latin typeface="微软雅黑"/>
                <a:ea typeface="微软雅黑"/>
              </a:rPr>
              <a:t>每笔交易按顺序经过各工位，被最合适的工位认领并打上标签；收入、负债两个工位再把认领结果串成「流」。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700784"/>
            <a:ext cx="10899648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810512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原始流水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83156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63624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① 商户识别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0708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51176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② 转账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58260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8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③ 拒付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45812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④ 收入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33364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13832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⑤ 负债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20916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1384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⑥ 其他进账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08468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88936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⑦ 费用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96020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76488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⑧ 房租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83572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4040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⑨ 兜底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71124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51592" y="1810512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分类结果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收入/负债流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2560320"/>
            <a:ext cx="9144" cy="246888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56032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设计思考①：为什么用「规则 + 知识库」，而不是训练一个算法模型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信贷场景的刚需是可解释、可审计：每一笔交易为什么这样分类，都能指到具体规则，被拒客户申诉与监管检查都需要；变更成本极低：改一条规则就是改一行 Excel，不用重新训练、重新部署；能力随业务累积：商户库已滚到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87.6 万家</a:t>
            </a: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，模型随使用越滚越强。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977639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设计思考②：为什么拆成 9 个工位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职责单一，问题能定位到具体工位；互不干扰：改负债规则不会误伤收入识别；类别冲突靠「顺序 + 保护规则」解决：收入是信审最重要的信号，规则上保护它不被其他工位覆盖；每个工位独立测试、独立迭代，回归检查精确到工位层。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2432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70448" y="2560320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设计思考③：为什么做四层基线回归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「最终结果没变」不等于「没影响」：某工位改了规则但没当上最终赢家，最终结果看不出变化，隐患会在未来爆发；四层回归（最终结果 / 各工位认领 / 配置指纹 / 汇总指标）让任何调整都可追溯、可回滚；这也是敢高频更新知识库的前提——更新便宜且安全。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2432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70448" y="3977639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设计思考④：知识库就是这些 Excel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全部规则外置在 24 张规则表中，业务同事可以直接打开修改——最大的「商户库」已收录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87.6 万家</a:t>
            </a: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澳洲商户，每行是「商户名 + 关键词变体 + 分类」；收入表定义工资识别模式；负债表收录贷款机构与产品类型；房租规则带置信度评分。改表即改规则，不用动代码。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51937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66360"/>
            <a:ext cx="52120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怎么运维：「2 人 + 1 个 AI 助手」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模型团队同学负责主动运维（质检监控、分类漂移与模型波动），并处理人审团队以 ticket 反馈的 case，给出解决方案与代码修改；AI 助手负责两类监测：分类异常波动与大量缺失的主动提示、市面上新商户的新增监测。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1616" y="51937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9631" y="5166360"/>
            <a:ext cx="5212080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相对 illion 的收益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逻辑透明、问题可定位；粒度可控（SACC / Non-SACC / BNPL / LOC / EWA 可拆分）；口径可配置；Open Banking 等新数据源可直接接入。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架构的每一项取舍都指向同一件事——让规则资产可持续演进：改得动、看得清、回得去。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1882</Words>
  <Application>Microsoft Office PowerPoint</Application>
  <PresentationFormat>宽屏</PresentationFormat>
  <Paragraphs>330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6</cp:revision>
  <dcterms:created xsi:type="dcterms:W3CDTF">2026-08-31T03:24:07Z</dcterms:created>
  <dcterms:modified xsi:type="dcterms:W3CDTF">2026-08-31T03:40:05Z</dcterms:modified>
</cp:coreProperties>
</file>