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0"/>
  </p:notesMasterIdLst>
  <p:handoutMasterIdLst>
    <p:handoutMasterId r:id="rId11"/>
  </p:handoutMasterIdLst>
  <p:sldIdLst>
    <p:sldId id="329" r:id="rId2"/>
    <p:sldId id="324" r:id="rId3"/>
    <p:sldId id="326" r:id="rId4"/>
    <p:sldId id="327" r:id="rId5"/>
    <p:sldId id="328" r:id="rId6"/>
    <p:sldId id="325" r:id="rId7"/>
    <p:sldId id="321" r:id="rId8"/>
    <p:sldId id="32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329"/>
            <p14:sldId id="324"/>
            <p14:sldId id="326"/>
            <p14:sldId id="327"/>
            <p14:sldId id="328"/>
            <p14:sldId id="325"/>
            <p14:sldId id="321"/>
            <p14:sldId id="322"/>
          </p14:sldIdLst>
        </p14:section>
        <p14:section name="draft" id="{1710DB59-4D14-4C6A-836A-4DDB51400A00}">
          <p14:sldIdLst/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107" autoAdjust="0"/>
  </p:normalViewPr>
  <p:slideViewPr>
    <p:cSldViewPr snapToGrid="0" showGuides="1">
      <p:cViewPr varScale="1">
        <p:scale>
          <a:sx n="114" d="100"/>
          <a:sy n="114" d="100"/>
        </p:scale>
        <p:origin x="205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2" d="100"/>
          <a:sy n="122" d="100"/>
        </p:scale>
        <p:origin x="4998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38C634A-05D6-48C6-AF4A-8DAD34AD1B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218664-019E-469E-9271-B1829CA3EA7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E6B91-E7E4-4B75-90D9-2FB3CA9CE892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16920E2-FA83-42AB-8A5F-6FDAA1596C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19BFE5-CA82-4598-A86A-A53537E257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E6AA9-5D91-42CC-9FA9-4CD3BB1FF8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4909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46072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zh-CN" altLang="en-US" b="1" dirty="0"/>
              <a:t>主模型建设</a:t>
            </a:r>
            <a:br>
              <a:rPr lang="zh-CN" altLang="en-US" dirty="0"/>
            </a:br>
            <a:r>
              <a:rPr lang="zh-CN" altLang="en-US" dirty="0"/>
              <a:t>共完成 </a:t>
            </a:r>
            <a:r>
              <a:rPr lang="en-US" altLang="zh-CN" b="1" dirty="0"/>
              <a:t>5 </a:t>
            </a:r>
            <a:r>
              <a:rPr lang="zh-CN" altLang="en-US" b="1" dirty="0"/>
              <a:t>个主模型</a:t>
            </a:r>
            <a:r>
              <a:rPr lang="zh-CN" altLang="en-US" dirty="0"/>
              <a:t>。新客、老客 </a:t>
            </a:r>
            <a:r>
              <a:rPr lang="en-US" altLang="zh-CN" dirty="0"/>
              <a:t>1.0 </a:t>
            </a:r>
            <a:r>
              <a:rPr lang="zh-CN" altLang="en-US" dirty="0"/>
              <a:t>风险模型已上线，最新月份表现持续稳定，整体风险可控。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结清模型</a:t>
            </a:r>
            <a:br>
              <a:rPr lang="zh-CN" altLang="en-US" dirty="0"/>
            </a:br>
            <a:r>
              <a:rPr lang="en-US" altLang="zh-CN" dirty="0"/>
              <a:t>2026 </a:t>
            </a:r>
            <a:r>
              <a:rPr lang="zh-CN" altLang="en-US" dirty="0"/>
              <a:t>年 </a:t>
            </a:r>
            <a:r>
              <a:rPr lang="en-US" altLang="zh-CN" dirty="0"/>
              <a:t>1 </a:t>
            </a:r>
            <a:r>
              <a:rPr lang="zh-CN" altLang="en-US" dirty="0"/>
              <a:t>月上线，目前以</a:t>
            </a:r>
            <a:r>
              <a:rPr lang="zh-CN" altLang="en-US" b="1" dirty="0"/>
              <a:t>定期名单 </a:t>
            </a:r>
            <a:r>
              <a:rPr lang="en-US" altLang="zh-CN" b="1" dirty="0"/>
              <a:t>+ </a:t>
            </a:r>
            <a:r>
              <a:rPr lang="zh-CN" altLang="en-US" b="1" dirty="0"/>
              <a:t>老客发券</a:t>
            </a:r>
            <a:r>
              <a:rPr lang="zh-CN" altLang="en-US" dirty="0"/>
              <a:t>为主。暂未实时化，主要因为当前结清客群仍采用全量短信营销。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即将上线模型</a:t>
            </a:r>
            <a:br>
              <a:rPr lang="zh-CN" altLang="en-US" dirty="0"/>
            </a:br>
            <a:r>
              <a:rPr lang="zh-CN" altLang="en-US" dirty="0"/>
              <a:t>老客风险模型、价值模型即将上线，目前空跑效果保持稳定。后面会有专题，重点介绍这两类模型的应用。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下半年规划</a:t>
            </a:r>
            <a:br>
              <a:rPr lang="zh-CN" altLang="en-US" dirty="0"/>
            </a:br>
            <a:r>
              <a:rPr lang="zh-CN" altLang="en-US" dirty="0"/>
              <a:t>围绕</a:t>
            </a:r>
            <a:r>
              <a:rPr lang="zh-CN" altLang="en-US" b="1" dirty="0"/>
              <a:t>规模增长</a:t>
            </a:r>
            <a:r>
              <a:rPr lang="zh-CN" altLang="en-US" dirty="0"/>
              <a:t>展开，重点推进三块：</a:t>
            </a:r>
            <a:r>
              <a:rPr lang="zh-CN" altLang="en-US" b="1" dirty="0"/>
              <a:t>基建、投放、风险</a:t>
            </a:r>
            <a:r>
              <a:rPr lang="zh-CN" alt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288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zh-CN" altLang="en-US" b="1" dirty="0"/>
              <a:t>价值好和风险好，是两类非常不同的人群</a:t>
            </a:r>
            <a:br>
              <a:rPr lang="zh-CN" altLang="en-US" dirty="0"/>
            </a:br>
            <a:r>
              <a:rPr lang="zh-CN" altLang="en-US" dirty="0"/>
              <a:t>两个模型筛出来的客群画像差异很鲜明，关注的本质并不一样。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价值模型更关注“有没有钱”</a:t>
            </a:r>
            <a:br>
              <a:rPr lang="zh-CN" altLang="en-US" dirty="0"/>
            </a:br>
            <a:r>
              <a:rPr lang="zh-CN" altLang="en-US" dirty="0"/>
              <a:t>收入、余额、可支配盈余对价值模型贡献很强；但这些指标在风险模型里并不敏感，</a:t>
            </a:r>
            <a:r>
              <a:rPr lang="zh-CN" altLang="en-US" b="1" dirty="0"/>
              <a:t>收入高，不代表风险一定低</a:t>
            </a:r>
            <a:r>
              <a:rPr lang="zh-CN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风险模型更关注“资金稳不稳、履约好不好”</a:t>
            </a:r>
            <a:br>
              <a:rPr lang="zh-CN" altLang="en-US" dirty="0"/>
            </a:br>
            <a:r>
              <a:rPr lang="zh-CN" altLang="en-US" dirty="0"/>
              <a:t>风险侧更看重债务压力、余额波动和违约行为。一个比较典型的现象是：</a:t>
            </a:r>
            <a:r>
              <a:rPr lang="zh-CN" altLang="en-US" b="1" dirty="0"/>
              <a:t>价值好的人群，余额波动反而更大，违约次数也可能更多</a:t>
            </a:r>
            <a:r>
              <a:rPr lang="zh-CN" altLang="en-US" dirty="0"/>
              <a:t>，所以“高价值”和“低风险”不能直接画等号。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46072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zh-CN" altLang="en-US" b="1" dirty="0"/>
              <a:t>额度排序：价值和风险都有效，但逻辑不同</a:t>
            </a:r>
            <a:br>
              <a:rPr lang="zh-CN" altLang="en-US" dirty="0"/>
            </a:br>
            <a:r>
              <a:rPr lang="zh-CN" altLang="en-US" dirty="0"/>
              <a:t>成交额度上，价值和风险都能形成排序。当前澳洲额度主要基于</a:t>
            </a:r>
            <a:r>
              <a:rPr lang="zh-CN" altLang="en-US" b="1" dirty="0"/>
              <a:t>银行卡盈余</a:t>
            </a:r>
            <a:r>
              <a:rPr lang="zh-CN" altLang="en-US" dirty="0"/>
              <a:t>来给；风险之所以也能形成排序，主要是因为</a:t>
            </a:r>
            <a:r>
              <a:rPr lang="zh-CN" altLang="en-US" b="1" dirty="0"/>
              <a:t>额度盖帽本身与风险评级挂钩</a:t>
            </a:r>
            <a:r>
              <a:rPr lang="zh-CN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风险评级无法直接代表用户资质，这也是价值模型存在的原因</a:t>
            </a:r>
            <a:br>
              <a:rPr lang="zh-CN" altLang="en-US" dirty="0"/>
            </a:br>
            <a:r>
              <a:rPr lang="zh-CN" altLang="en-US" dirty="0"/>
              <a:t>风险评级和盈余之间并没有明显正向排序，部分情况下甚至会出现倒序。原因是风险模型学习的是“谁更安全”，会把一些</a:t>
            </a:r>
            <a:r>
              <a:rPr lang="zh-CN" altLang="en-US" b="1" dirty="0"/>
              <a:t>盈余不高但风险较低</a:t>
            </a:r>
            <a:r>
              <a:rPr lang="zh-CN" altLang="en-US" dirty="0"/>
              <a:t>的客户排到前面。</a:t>
            </a:r>
            <a:br>
              <a:rPr lang="zh-CN" altLang="en-US" dirty="0"/>
            </a:br>
            <a:r>
              <a:rPr lang="zh-CN" altLang="en-US" dirty="0"/>
              <a:t>所以我们需要一套价值评级，真正反映客户的</a:t>
            </a:r>
            <a:r>
              <a:rPr lang="zh-CN" altLang="en-US" b="1" dirty="0"/>
              <a:t>收入、盈余和额度承接能力</a:t>
            </a:r>
            <a:r>
              <a:rPr lang="zh-CN" altLang="en-US" dirty="0"/>
              <a:t>。如果后续用价值模型指导额度策略，老客规模还有比较明显的提升空间。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价值 </a:t>
            </a:r>
            <a:r>
              <a:rPr lang="en-US" altLang="zh-CN" b="1" dirty="0"/>
              <a:t>× </a:t>
            </a:r>
            <a:r>
              <a:rPr lang="zh-CN" altLang="en-US" b="1" dirty="0"/>
              <a:t>风险交叉，可以同时兼顾规模和质量</a:t>
            </a:r>
            <a:br>
              <a:rPr lang="zh-CN" altLang="en-US" dirty="0"/>
            </a:br>
            <a:r>
              <a:rPr lang="zh-CN" altLang="en-US" dirty="0"/>
              <a:t>在价值和风险的两端交叉后，可以筛出一批</a:t>
            </a:r>
            <a:r>
              <a:rPr lang="zh-CN" altLang="en-US" b="1" dirty="0"/>
              <a:t>高价值、低风险</a:t>
            </a:r>
            <a:r>
              <a:rPr lang="zh-CN" altLang="en-US" dirty="0"/>
              <a:t>的优质客群，实现</a:t>
            </a:r>
            <a:r>
              <a:rPr lang="zh-CN" altLang="en-US" b="1" dirty="0"/>
              <a:t>额度提升 </a:t>
            </a:r>
            <a:r>
              <a:rPr lang="en-US" altLang="zh-CN" b="1" dirty="0"/>
              <a:t>+ </a:t>
            </a:r>
            <a:r>
              <a:rPr lang="zh-CN" altLang="en-US" b="1" dirty="0"/>
              <a:t>风险压降</a:t>
            </a:r>
            <a:r>
              <a:rPr lang="zh-CN" altLang="en-US" dirty="0"/>
              <a:t>。</a:t>
            </a:r>
            <a:br>
              <a:rPr lang="zh-CN" altLang="en-US" dirty="0"/>
            </a:br>
            <a:r>
              <a:rPr lang="zh-CN" altLang="en-US" dirty="0"/>
              <a:t>这一点在澳洲尤其重要：目前</a:t>
            </a:r>
            <a:r>
              <a:rPr lang="zh-CN" altLang="en-US" b="1" dirty="0"/>
              <a:t>笔数逾期率明显高于金额逾期率</a:t>
            </a:r>
            <a:r>
              <a:rPr lang="zh-CN" altLang="en-US" dirty="0"/>
              <a:t>，说明高额度客户并不一定带来更高的金额风险，也进一步支持我们按照客户盈余和价值能力去做差异化额度。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最终目标：用价值模型把规模空间打开</a:t>
            </a:r>
            <a:br>
              <a:rPr lang="zh-CN" altLang="en-US" dirty="0"/>
            </a:br>
            <a:r>
              <a:rPr lang="zh-CN" altLang="en-US" dirty="0"/>
              <a:t>后续通过价值模型逐步优化额度分配，让</a:t>
            </a:r>
            <a:r>
              <a:rPr lang="zh-CN" altLang="en-US" b="1" dirty="0"/>
              <a:t>风险模型负责守底线，价值模型负责找空间</a:t>
            </a:r>
            <a:r>
              <a:rPr lang="zh-CN" altLang="en-US" dirty="0"/>
              <a:t>，在风险可控的前提下进一步打开规模。</a:t>
            </a:r>
            <a:endParaRPr lang="en-US" altLang="zh-CN" dirty="0"/>
          </a:p>
          <a:p>
            <a:pPr>
              <a:buFont typeface="+mj-lt"/>
              <a:buAutoNum type="arabicPeriod"/>
            </a:pP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规模上 金额降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0009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向往高处走，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3770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zh-CN" altLang="en-US" b="1" dirty="0"/>
              <a:t>价值好和风险好，是两类非常不同的人群</a:t>
            </a:r>
            <a:br>
              <a:rPr lang="zh-CN" altLang="en-US" dirty="0"/>
            </a:br>
            <a:r>
              <a:rPr lang="zh-CN" altLang="en-US" dirty="0"/>
              <a:t>两个模型筛出来的客群画像差异很鲜明，关注的本质并不一样。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价值模型更关注“有没有钱”</a:t>
            </a:r>
            <a:br>
              <a:rPr lang="zh-CN" altLang="en-US" dirty="0"/>
            </a:br>
            <a:r>
              <a:rPr lang="zh-CN" altLang="en-US" dirty="0"/>
              <a:t>收入、余额、可支配盈余对价值模型贡献很强；但这些指标在风险模型里并不敏感，</a:t>
            </a:r>
            <a:r>
              <a:rPr lang="zh-CN" altLang="en-US" b="1" dirty="0"/>
              <a:t>收入高，不代表风险一定低</a:t>
            </a:r>
            <a:r>
              <a:rPr lang="zh-CN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风险模型更关注“资金稳不稳、履约好不好”</a:t>
            </a:r>
            <a:br>
              <a:rPr lang="zh-CN" altLang="en-US" dirty="0"/>
            </a:br>
            <a:r>
              <a:rPr lang="zh-CN" altLang="en-US" dirty="0"/>
              <a:t>风险侧更看重债务压力、余额波动和违约行为。一个比较典型的现象是：</a:t>
            </a:r>
            <a:r>
              <a:rPr lang="zh-CN" altLang="en-US" b="1" dirty="0"/>
              <a:t>价值好的人群，余额波动反而更大，违约次数也可能更多</a:t>
            </a:r>
            <a:r>
              <a:rPr lang="zh-CN" altLang="en-US" dirty="0"/>
              <a:t>，所以“高价值”和“低风险”不能直接画等号。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4607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zh-CN" altLang="en-US" b="1" dirty="0"/>
              <a:t>额度排序：价值和风险都有效，但逻辑不同</a:t>
            </a:r>
            <a:br>
              <a:rPr lang="zh-CN" altLang="en-US" dirty="0"/>
            </a:br>
            <a:r>
              <a:rPr lang="zh-CN" altLang="en-US" dirty="0"/>
              <a:t>成交额度上，价值和风险都能形成排序。当前澳洲额度主要基于</a:t>
            </a:r>
            <a:r>
              <a:rPr lang="zh-CN" altLang="en-US" b="1" dirty="0"/>
              <a:t>银行卡盈余</a:t>
            </a:r>
            <a:r>
              <a:rPr lang="zh-CN" altLang="en-US" dirty="0"/>
              <a:t>来给；风险之所以也能形成排序，主要是因为</a:t>
            </a:r>
            <a:r>
              <a:rPr lang="zh-CN" altLang="en-US" b="1" dirty="0"/>
              <a:t>额度盖帽本身与风险评级挂钩</a:t>
            </a:r>
            <a:r>
              <a:rPr lang="zh-CN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风险评级无法直接代表用户资质，这也是价值模型存在的原因</a:t>
            </a:r>
            <a:br>
              <a:rPr lang="zh-CN" altLang="en-US" dirty="0"/>
            </a:br>
            <a:r>
              <a:rPr lang="zh-CN" altLang="en-US" dirty="0"/>
              <a:t>风险评级和盈余之间并没有明显正向排序，部分情况下甚至会出现倒序。原因是风险模型学习的是“谁更安全”，会把一些</a:t>
            </a:r>
            <a:r>
              <a:rPr lang="zh-CN" altLang="en-US" b="1" dirty="0"/>
              <a:t>盈余不高但风险较低</a:t>
            </a:r>
            <a:r>
              <a:rPr lang="zh-CN" altLang="en-US" dirty="0"/>
              <a:t>的客户排到前面。</a:t>
            </a:r>
            <a:br>
              <a:rPr lang="zh-CN" altLang="en-US" dirty="0"/>
            </a:br>
            <a:r>
              <a:rPr lang="zh-CN" altLang="en-US" dirty="0"/>
              <a:t>所以我们需要一套价值评级，真正反映客户的</a:t>
            </a:r>
            <a:r>
              <a:rPr lang="zh-CN" altLang="en-US" b="1" dirty="0"/>
              <a:t>收入、盈余和额度承接能力</a:t>
            </a:r>
            <a:r>
              <a:rPr lang="zh-CN" altLang="en-US" dirty="0"/>
              <a:t>。如果后续用价值模型指导额度策略，老客规模还有比较明显的提升空间。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价值 </a:t>
            </a:r>
            <a:r>
              <a:rPr lang="en-US" altLang="zh-CN" b="1" dirty="0"/>
              <a:t>× </a:t>
            </a:r>
            <a:r>
              <a:rPr lang="zh-CN" altLang="en-US" b="1" dirty="0"/>
              <a:t>风险交叉，可以同时兼顾规模和质量</a:t>
            </a:r>
            <a:br>
              <a:rPr lang="zh-CN" altLang="en-US" dirty="0"/>
            </a:br>
            <a:r>
              <a:rPr lang="zh-CN" altLang="en-US" dirty="0"/>
              <a:t>在价值和风险的两端交叉后，可以筛出一批</a:t>
            </a:r>
            <a:r>
              <a:rPr lang="zh-CN" altLang="en-US" b="1" dirty="0"/>
              <a:t>高价值、低风险</a:t>
            </a:r>
            <a:r>
              <a:rPr lang="zh-CN" altLang="en-US" dirty="0"/>
              <a:t>的优质客群，实现</a:t>
            </a:r>
            <a:r>
              <a:rPr lang="zh-CN" altLang="en-US" b="1" dirty="0"/>
              <a:t>额度提升 </a:t>
            </a:r>
            <a:r>
              <a:rPr lang="en-US" altLang="zh-CN" b="1" dirty="0"/>
              <a:t>+ </a:t>
            </a:r>
            <a:r>
              <a:rPr lang="zh-CN" altLang="en-US" b="1" dirty="0"/>
              <a:t>风险压降</a:t>
            </a:r>
            <a:r>
              <a:rPr lang="zh-CN" altLang="en-US" dirty="0"/>
              <a:t>。</a:t>
            </a:r>
            <a:br>
              <a:rPr lang="zh-CN" altLang="en-US" dirty="0"/>
            </a:br>
            <a:r>
              <a:rPr lang="zh-CN" altLang="en-US" dirty="0"/>
              <a:t>这一点在澳洲尤其重要：目前</a:t>
            </a:r>
            <a:r>
              <a:rPr lang="zh-CN" altLang="en-US" b="1" dirty="0"/>
              <a:t>笔数逾期率明显高于金额逾期率</a:t>
            </a:r>
            <a:r>
              <a:rPr lang="zh-CN" altLang="en-US" dirty="0"/>
              <a:t>，说明高额度客户并不一定带来更高的金额风险，也进一步支持我们按照客户盈余和价值能力去做差异化额度。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最终目标：用价值模型把规模空间打开</a:t>
            </a:r>
            <a:br>
              <a:rPr lang="zh-CN" altLang="en-US" dirty="0"/>
            </a:br>
            <a:r>
              <a:rPr lang="zh-CN" altLang="en-US" dirty="0"/>
              <a:t>后续通过价值模型逐步优化额度分配，让</a:t>
            </a:r>
            <a:r>
              <a:rPr lang="zh-CN" altLang="en-US" b="1" dirty="0"/>
              <a:t>风险模型负责守底线，价值模型负责找空间</a:t>
            </a:r>
            <a:r>
              <a:rPr lang="zh-CN" altLang="en-US" dirty="0"/>
              <a:t>，在风险可控的前提下进一步打开规模。</a:t>
            </a:r>
            <a:endParaRPr lang="en-US" altLang="zh-CN" dirty="0"/>
          </a:p>
          <a:p>
            <a:pPr>
              <a:buFont typeface="+mj-lt"/>
              <a:buAutoNum type="arabicPeriod"/>
            </a:pP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规模上 金额降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0009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向往高处走，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9672A-4FCD-4626-A8DC-612F10E6BE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3770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0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206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08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237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0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2026/9/3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07835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9" r:id="rId4"/>
    <p:sldLayoutId id="2147483677" r:id="rId5"/>
    <p:sldLayoutId id="2147483678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36220"/>
            <a:ext cx="9418320" cy="31803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5233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价值好和风险好，是两类不同的识别人群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94801"/>
            <a:ext cx="10424160" cy="27186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申请样本：价值好 </a:t>
            </a:r>
            <a:r>
              <a:rPr kumimoji="0" lang="af-ZA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Top20 vs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风险好 </a:t>
            </a:r>
            <a:r>
              <a:rPr kumimoji="0" lang="af-ZA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Top20 ｜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模型相关性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0.5818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 样本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157,741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A747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2025.10–2026.05.20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1343" y="1110904"/>
            <a:ext cx="11109960" cy="9144"/>
          </a:xfrm>
          <a:prstGeom prst="rect">
            <a:avLst/>
          </a:prstGeom>
          <a:solidFill>
            <a:srgbClr val="DC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216264"/>
            <a:ext cx="11201400" cy="384048"/>
          </a:xfrm>
          <a:prstGeom prst="roundRect">
            <a:avLst/>
          </a:prstGeom>
          <a:solidFill>
            <a:srgbClr val="F5F8FB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C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价值模型更偏收入、消费、余额与可支配空间；风险模型更偏稳定性与履约表现。</a:t>
            </a: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C224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高价值不完全等于低风险，额度策略需要价值 </a:t>
            </a:r>
            <a:r>
              <a:rPr kumimoji="0" lang="en-US" altLang="zh-CN" sz="1000" b="1" i="0" u="none" strike="noStrike" kern="1200" cap="none" spc="0" normalizeH="0" baseline="0" noProof="0" dirty="0">
                <a:ln>
                  <a:noFill/>
                </a:ln>
                <a:solidFill>
                  <a:srgbClr val="C224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× </a:t>
            </a: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C224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风险交叉使用。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854635"/>
              </p:ext>
            </p:extLst>
          </p:nvPr>
        </p:nvGraphicFramePr>
        <p:xfrm>
          <a:off x="502920" y="1830272"/>
          <a:ext cx="112014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风险好</a:t>
                      </a:r>
                      <a:endParaRPr lang="zh-CN" altLang="en-US" sz="1000" b="1" dirty="0">
                        <a:solidFill>
                          <a:srgbClr val="FFFF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价值好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差异</a:t>
                      </a:r>
                      <a:r>
                        <a:rPr lang="en-US" altLang="zh-CN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变化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差异解读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天余额标准差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2,688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6,360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+136.6%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价值侧反映资金活跃度；风险侧更关注波动稳定性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天总支出金额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66,684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139,715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+109.5%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价值侧识别消费能力；风险侧更关注支出压力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天工资收入总额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20,922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41,139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+96.6%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价值侧捕捉收入能力；风险侧不等同于高收入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近180天Centrelink占比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10.2%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-8.1pp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价值侧更偏自主收入；风险侧需结合履约与负债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天历史信贷还款金额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15,780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20,439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+29.5%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价值侧体现信贷承载力；风险侧评估偿债压力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天银行卡余额平均值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2,633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3,920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+48.9%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价值侧看资金沉淀；风险侧关注资金稳定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近</a:t>
                      </a: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180</a:t>
                      </a: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天银行卡盈余平均值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-42.67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1,333.55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+1,376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价值侧直接刻画可支配空间，补齐风险评级盲区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平均年龄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31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+4</a:t>
                      </a:r>
                      <a:r>
                        <a:rPr lang="zh-CN" altLang="en-US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岁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价值客群更成熟；风险不由年龄单独决定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违约次数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+2.1</a:t>
                      </a:r>
                      <a:r>
                        <a:rPr lang="zh-CN" altLang="en-US" sz="10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次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000" b="0" dirty="0">
                          <a:solidFill>
                            <a:srgbClr val="1C262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高价值不等于低风险，必须与风险模型交叉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7598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ounded Rectangle 89"/>
          <p:cNvSpPr/>
          <p:nvPr/>
        </p:nvSpPr>
        <p:spPr>
          <a:xfrm>
            <a:off x="463600" y="4590288"/>
            <a:ext cx="3337560" cy="1417320"/>
          </a:xfrm>
          <a:prstGeom prst="roundRect">
            <a:avLst/>
          </a:prstGeom>
          <a:solidFill>
            <a:srgbClr val="F7FAFD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804672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澳大利亚下半年增长主线：规模扩张 × 客群价值提升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5488" y="1042415"/>
            <a:ext cx="11173968" cy="0"/>
          </a:xfrm>
          <a:prstGeom prst="line">
            <a:avLst/>
          </a:prstGeom>
          <a:ln w="8890">
            <a:solidFill>
              <a:srgbClr val="D2D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75488" y="1307592"/>
            <a:ext cx="41148" cy="192024"/>
          </a:xfrm>
          <a:prstGeom prst="rect">
            <a:avLst/>
          </a:prstGeom>
          <a:solidFill>
            <a:srgbClr val="0B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56032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3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模型现状（主模型 5 个）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59536" y="1901952"/>
            <a:ext cx="10387584" cy="0"/>
          </a:xfrm>
          <a:prstGeom prst="line">
            <a:avLst/>
          </a:prstGeom>
          <a:ln w="12700">
            <a:solidFill>
              <a:srgbClr val="AEBF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0120" y="1581912"/>
            <a:ext cx="1005840" cy="29260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2025 年 9 月</a:t>
            </a:r>
          </a:p>
        </p:txBody>
      </p:sp>
      <p:sp>
        <p:nvSpPr>
          <p:cNvPr id="10" name="Oval 9"/>
          <p:cNvSpPr/>
          <p:nvPr/>
        </p:nvSpPr>
        <p:spPr>
          <a:xfrm>
            <a:off x="1421892" y="1860804"/>
            <a:ext cx="82296" cy="82296"/>
          </a:xfrm>
          <a:prstGeom prst="ellipse">
            <a:avLst/>
          </a:prstGeom>
          <a:solidFill>
            <a:srgbClr val="4CA33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23625" y="1581912"/>
            <a:ext cx="1005840" cy="29260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2025 年 11 月</a:t>
            </a:r>
          </a:p>
        </p:txBody>
      </p:sp>
      <p:sp>
        <p:nvSpPr>
          <p:cNvPr id="12" name="Oval 11"/>
          <p:cNvSpPr/>
          <p:nvPr/>
        </p:nvSpPr>
        <p:spPr>
          <a:xfrm>
            <a:off x="4085396" y="1860804"/>
            <a:ext cx="82296" cy="82296"/>
          </a:xfrm>
          <a:prstGeom prst="ellipse">
            <a:avLst/>
          </a:prstGeom>
          <a:solidFill>
            <a:srgbClr val="4CA33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91931" y="1581912"/>
            <a:ext cx="1005840" cy="29260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 年</a:t>
            </a:r>
            <a:br>
              <a:rPr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月</a:t>
            </a:r>
          </a:p>
        </p:txBody>
      </p:sp>
      <p:sp>
        <p:nvSpPr>
          <p:cNvPr id="14" name="Oval 13"/>
          <p:cNvSpPr/>
          <p:nvPr/>
        </p:nvSpPr>
        <p:spPr>
          <a:xfrm>
            <a:off x="6153703" y="1860804"/>
            <a:ext cx="82296" cy="82296"/>
          </a:xfrm>
          <a:prstGeom prst="ellipse">
            <a:avLst/>
          </a:prstGeom>
          <a:solidFill>
            <a:srgbClr val="818A9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854696" y="1581912"/>
            <a:ext cx="1005840" cy="29260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 年 3 月</a:t>
            </a:r>
          </a:p>
        </p:txBody>
      </p:sp>
      <p:sp>
        <p:nvSpPr>
          <p:cNvPr id="16" name="Oval 15"/>
          <p:cNvSpPr/>
          <p:nvPr/>
        </p:nvSpPr>
        <p:spPr>
          <a:xfrm>
            <a:off x="8316468" y="1860804"/>
            <a:ext cx="82296" cy="82296"/>
          </a:xfrm>
          <a:prstGeom prst="ellipse">
            <a:avLst/>
          </a:prstGeom>
          <a:solidFill>
            <a:srgbClr val="E85B1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140696" y="1581912"/>
            <a:ext cx="1005840" cy="29260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5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 年 6 月</a:t>
            </a:r>
          </a:p>
        </p:txBody>
      </p:sp>
      <p:sp>
        <p:nvSpPr>
          <p:cNvPr id="18" name="Oval 17"/>
          <p:cNvSpPr/>
          <p:nvPr/>
        </p:nvSpPr>
        <p:spPr>
          <a:xfrm>
            <a:off x="10602468" y="1860804"/>
            <a:ext cx="82296" cy="82296"/>
          </a:xfrm>
          <a:prstGeom prst="ellipse">
            <a:avLst/>
          </a:prstGeom>
          <a:solidFill>
            <a:srgbClr val="E85B1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75488" y="2084831"/>
            <a:ext cx="1993392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92124" y="2194560"/>
            <a:ext cx="960120" cy="256032"/>
          </a:xfrm>
          <a:prstGeom prst="roundRect">
            <a:avLst/>
          </a:prstGeom>
          <a:solidFill>
            <a:srgbClr val="4CA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已上线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587752"/>
            <a:ext cx="1773936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老客风险主模型 1.0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871215"/>
            <a:ext cx="1481328" cy="246888"/>
          </a:xfrm>
          <a:prstGeom prst="rect">
            <a:avLst/>
          </a:prstGeom>
          <a:solidFill>
            <a:srgbClr val="2F6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Y标：3M30+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18211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/ OOS 0.72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36499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最新月 AUC 0.67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38993" y="2084831"/>
            <a:ext cx="1993392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655629" y="2194560"/>
            <a:ext cx="960120" cy="256032"/>
          </a:xfrm>
          <a:prstGeom prst="roundRect">
            <a:avLst/>
          </a:prstGeom>
          <a:solidFill>
            <a:srgbClr val="4CA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已上线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8721" y="2587752"/>
            <a:ext cx="1773936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新客风险主模型 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5025" y="2871215"/>
            <a:ext cx="1481328" cy="246888"/>
          </a:xfrm>
          <a:prstGeom prst="rect">
            <a:avLst/>
          </a:prstGeom>
          <a:solidFill>
            <a:srgbClr val="2F6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Y标：3M30+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03585" y="318211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/ OOS 0.69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03585" y="336499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最新月 AUC 0.66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10219" y="2084831"/>
            <a:ext cx="960120" cy="1874517"/>
          </a:xfrm>
          <a:prstGeom prst="roundRect">
            <a:avLst/>
          </a:prstGeom>
          <a:solidFill>
            <a:srgbClr val="FBFCFE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83955" y="2286000"/>
            <a:ext cx="612648" cy="246888"/>
          </a:xfrm>
          <a:prstGeom prst="roundRect">
            <a:avLst/>
          </a:prstGeom>
          <a:solidFill>
            <a:srgbClr val="81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手工名单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83371" y="2770632"/>
            <a:ext cx="813816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88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结清复购意愿</a:t>
            </a:r>
            <a:b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sz="88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r>
              <a:rPr sz="880" b="1" dirty="0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74810" y="3255264"/>
            <a:ext cx="630936" cy="438912"/>
          </a:xfrm>
          <a:prstGeom prst="rect">
            <a:avLst/>
          </a:prstGeom>
          <a:solidFill>
            <a:srgbClr val="2F6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819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Y标：结清</a:t>
            </a:r>
            <a:b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sz="81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7天内</a:t>
            </a:r>
            <a:r>
              <a:rPr lang="zh-CN" altLang="en-US" sz="81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复购</a:t>
            </a:r>
            <a:endParaRPr sz="81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783371" y="3758184"/>
            <a:ext cx="813816" cy="1371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680" b="1">
                <a:solidFill>
                  <a:srgbClr val="818A9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定期名单驱动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60920" y="2084831"/>
            <a:ext cx="1993392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877556" y="2194560"/>
            <a:ext cx="960120" cy="256032"/>
          </a:xfrm>
          <a:prstGeom prst="roundRect">
            <a:avLst/>
          </a:prstGeom>
          <a:solidFill>
            <a:srgbClr val="E85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即将上线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70648" y="2587752"/>
            <a:ext cx="1773936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老客风险主模型 2.0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16952" y="2871215"/>
            <a:ext cx="1481328" cy="246888"/>
          </a:xfrm>
          <a:prstGeom prst="rect">
            <a:avLst/>
          </a:prstGeom>
          <a:solidFill>
            <a:srgbClr val="2F6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Y标：3M30+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25512" y="318211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/ OOS 0.71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25512" y="336499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最新月 AUC 0.69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46920" y="2084831"/>
            <a:ext cx="1993392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10163556" y="2194560"/>
            <a:ext cx="960120" cy="256032"/>
          </a:xfrm>
          <a:prstGeom prst="roundRect">
            <a:avLst/>
          </a:prstGeom>
          <a:solidFill>
            <a:srgbClr val="E85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即将上线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56648" y="2587752"/>
            <a:ext cx="1773936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价值模型 1.0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02952" y="2871215"/>
            <a:ext cx="1481328" cy="246888"/>
          </a:xfrm>
          <a:prstGeom prst="rect">
            <a:avLst/>
          </a:prstGeom>
          <a:solidFill>
            <a:srgbClr val="2F6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9144" rIns="18288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Y标：3M 利息收入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11512" y="318211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/ OOS 0.69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11512" y="3364991"/>
            <a:ext cx="1664208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730" b="1">
                <a:solidFill>
                  <a:srgbClr val="53627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上线8个月 AUC 0.66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" y="4288536"/>
            <a:ext cx="41148" cy="192024"/>
          </a:xfrm>
          <a:prstGeom prst="rect">
            <a:avLst/>
          </a:prstGeom>
          <a:solidFill>
            <a:srgbClr val="0B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94360" y="4261104"/>
            <a:ext cx="256032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3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模型主线规划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5343" y="4754879"/>
            <a:ext cx="2825496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3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AI+基建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5343" y="5111496"/>
            <a:ext cx="566928" cy="22860"/>
          </a:xfrm>
          <a:prstGeom prst="rect">
            <a:avLst/>
          </a:prstGeom>
          <a:solidFill>
            <a:srgbClr val="1D6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801065" y="5291633"/>
            <a:ext cx="43891" cy="43891"/>
          </a:xfrm>
          <a:prstGeom prst="ellipse">
            <a:avLst/>
          </a:prstGeom>
          <a:solidFill>
            <a:srgbClr val="1D6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56513" y="5259629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银行流水分类模型：构建自主交易分类能力</a:t>
            </a:r>
            <a:endParaRPr sz="1000" b="1" dirty="0">
              <a:solidFill>
                <a:srgbClr val="0B2E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801065" y="5529377"/>
            <a:ext cx="43891" cy="43891"/>
          </a:xfrm>
          <a:prstGeom prst="ellipse">
            <a:avLst/>
          </a:prstGeom>
          <a:solidFill>
            <a:srgbClr val="1D6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956513" y="5497373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人群画像</a:t>
            </a:r>
            <a:r>
              <a:rPr sz="1000" b="1" dirty="0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AI </a:t>
            </a:r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智能体：实时追踪竞品要素</a:t>
            </a:r>
            <a:endParaRPr sz="1000" b="1" dirty="0">
              <a:solidFill>
                <a:srgbClr val="0B2E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801065" y="5767121"/>
            <a:ext cx="43891" cy="43891"/>
          </a:xfrm>
          <a:prstGeom prst="ellipse">
            <a:avLst/>
          </a:prstGeom>
          <a:solidFill>
            <a:srgbClr val="1D6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956513" y="5735116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贷中流水查询：贷中运营</a:t>
            </a:r>
            <a:r>
              <a:rPr sz="1000" b="1" dirty="0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贷后扣款重要基建</a:t>
            </a:r>
            <a:endParaRPr sz="1000" b="1" dirty="0">
              <a:solidFill>
                <a:srgbClr val="0B2E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425696" y="4590288"/>
            <a:ext cx="3337560" cy="1417320"/>
          </a:xfrm>
          <a:prstGeom prst="roundRect">
            <a:avLst/>
          </a:prstGeom>
          <a:solidFill>
            <a:srgbClr val="F7FAFD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681728" y="4754879"/>
            <a:ext cx="2825496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3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投放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681728" y="5111496"/>
            <a:ext cx="566928" cy="22860"/>
          </a:xfrm>
          <a:prstGeom prst="rect">
            <a:avLst/>
          </a:prstGeom>
          <a:solidFill>
            <a:srgbClr val="C78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4681728" y="5408676"/>
            <a:ext cx="43891" cy="43891"/>
          </a:xfrm>
          <a:prstGeom prst="ellipse">
            <a:avLst/>
          </a:prstGeom>
          <a:solidFill>
            <a:srgbClr val="C78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837176" y="5376672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高价值人群圈选</a:t>
            </a:r>
            <a:r>
              <a:rPr sz="1000" b="1" dirty="0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sz="1000" b="1" dirty="0" err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回传：推动优质人群上浮</a:t>
            </a:r>
            <a:endParaRPr sz="1000" b="1" dirty="0">
              <a:solidFill>
                <a:srgbClr val="0B2E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4681728" y="5646420"/>
            <a:ext cx="43891" cy="43891"/>
          </a:xfrm>
          <a:prstGeom prst="ellipse">
            <a:avLst/>
          </a:prstGeom>
          <a:solidFill>
            <a:srgbClr val="C78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4837176" y="5614416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回传效果归因工具：衡量真实转化与投放价值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93024" y="4590288"/>
            <a:ext cx="3337560" cy="1417320"/>
          </a:xfrm>
          <a:prstGeom prst="roundRect">
            <a:avLst/>
          </a:prstGeom>
          <a:solidFill>
            <a:srgbClr val="F7FAFD"/>
          </a:solidFill>
          <a:ln w="13970">
            <a:solidFill>
              <a:srgbClr val="D8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449056" y="4754879"/>
            <a:ext cx="2825496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3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风险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449056" y="5111496"/>
            <a:ext cx="566928" cy="22860"/>
          </a:xfrm>
          <a:prstGeom prst="rect">
            <a:avLst/>
          </a:prstGeom>
          <a:solidFill>
            <a:srgbClr val="D73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8449056" y="5408676"/>
            <a:ext cx="43891" cy="43891"/>
          </a:xfrm>
          <a:prstGeom prst="ellipse">
            <a:avLst/>
          </a:prstGeom>
          <a:solidFill>
            <a:srgbClr val="D73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8604504" y="5376672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风险 × 价值模型：识别提额与风险压降机会</a:t>
            </a:r>
          </a:p>
        </p:txBody>
      </p:sp>
      <p:sp>
        <p:nvSpPr>
          <p:cNvPr id="111" name="Oval 110"/>
          <p:cNvSpPr/>
          <p:nvPr/>
        </p:nvSpPr>
        <p:spPr>
          <a:xfrm>
            <a:off x="8449056" y="5646420"/>
            <a:ext cx="43891" cy="43891"/>
          </a:xfrm>
          <a:prstGeom prst="ellipse">
            <a:avLst/>
          </a:prstGeom>
          <a:solidFill>
            <a:srgbClr val="D73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8604504" y="5614416"/>
            <a:ext cx="2660904" cy="1463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000" b="1">
                <a:solidFill>
                  <a:srgbClr val="0B2E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Non-SACC：作为增长与压降核心抓手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75488" y="6565392"/>
            <a:ext cx="11173968" cy="0"/>
          </a:xfrm>
          <a:prstGeom prst="line">
            <a:avLst/>
          </a:prstGeom>
          <a:ln w="8890">
            <a:solidFill>
              <a:srgbClr val="D2D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795488" y="3695000"/>
            <a:ext cx="1355000" cy="120000"/>
          </a:xfrm>
          <a:custGeom>
            <a:avLst/>
            <a:gdLst/>
            <a:ahLst/>
            <a:cxnLst/>
            <a:rect l="l" t="t" r="r" b="b"/>
            <a:pathLst>
              <a:path w="1355000" h="120000">
                <a:moveTo>
                  <a:pt x="0" y="28000"/>
                </a:moveTo>
                <a:lnTo>
                  <a:pt x="150000" y="22000"/>
                </a:lnTo>
                <a:lnTo>
                  <a:pt x="300000" y="30000"/>
                </a:lnTo>
                <a:lnTo>
                  <a:pt x="470000" y="25000"/>
                </a:lnTo>
                <a:lnTo>
                  <a:pt x="650000" y="42000"/>
                </a:lnTo>
                <a:lnTo>
                  <a:pt x="830000" y="36000"/>
                </a:lnTo>
                <a:lnTo>
                  <a:pt x="1010000" y="52000"/>
                </a:lnTo>
                <a:lnTo>
                  <a:pt x="1180000" y="47000"/>
                </a:lnTo>
                <a:lnTo>
                  <a:pt x="1355000" y="65000"/>
                </a:lnTo>
              </a:path>
            </a:pathLst>
          </a:custGeom>
          <a:noFill/>
          <a:ln w="19685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2136488" y="3736000"/>
            <a:ext cx="28000" cy="28000"/>
          </a:xfrm>
          <a:prstGeom prst="rect">
            <a:avLst/>
          </a:prstGeom>
          <a:solidFill>
            <a:srgbClr val="C67E00"/>
          </a:solidFill>
          <a:ln w="2540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3458993" y="3695000"/>
            <a:ext cx="1355000" cy="120000"/>
          </a:xfrm>
          <a:custGeom>
            <a:avLst/>
            <a:gdLst/>
            <a:ahLst/>
            <a:cxnLst/>
            <a:rect l="l" t="t" r="r" b="b"/>
            <a:pathLst>
              <a:path w="1355000" h="120000">
                <a:moveTo>
                  <a:pt x="0" y="24000"/>
                </a:moveTo>
                <a:lnTo>
                  <a:pt x="170000" y="26000"/>
                </a:lnTo>
                <a:lnTo>
                  <a:pt x="340000" y="23000"/>
                </a:lnTo>
                <a:lnTo>
                  <a:pt x="520000" y="30000"/>
                </a:lnTo>
                <a:lnTo>
                  <a:pt x="700000" y="34000"/>
                </a:lnTo>
                <a:lnTo>
                  <a:pt x="880000" y="32000"/>
                </a:lnTo>
                <a:lnTo>
                  <a:pt x="1060000" y="45000"/>
                </a:lnTo>
                <a:lnTo>
                  <a:pt x="1210000" y="50000"/>
                </a:lnTo>
                <a:lnTo>
                  <a:pt x="1355000" y="76000"/>
                </a:lnTo>
              </a:path>
            </a:pathLst>
          </a:custGeom>
          <a:noFill/>
          <a:ln w="19685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799993" y="3736000"/>
            <a:ext cx="28000" cy="28000"/>
          </a:xfrm>
          <a:prstGeom prst="rect">
            <a:avLst/>
          </a:prstGeom>
          <a:solidFill>
            <a:srgbClr val="C67E00"/>
          </a:solidFill>
          <a:ln w="2540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7680920" y="3695000"/>
            <a:ext cx="1355000" cy="120000"/>
          </a:xfrm>
          <a:custGeom>
            <a:avLst/>
            <a:gdLst/>
            <a:ahLst/>
            <a:cxnLst/>
            <a:rect l="l" t="t" r="r" b="b"/>
            <a:pathLst>
              <a:path w="1355000" h="120000">
                <a:moveTo>
                  <a:pt x="0" y="46000"/>
                </a:moveTo>
                <a:lnTo>
                  <a:pt x="170000" y="38000"/>
                </a:lnTo>
                <a:lnTo>
                  <a:pt x="340000" y="26000"/>
                </a:lnTo>
                <a:lnTo>
                  <a:pt x="520000" y="34000"/>
                </a:lnTo>
                <a:lnTo>
                  <a:pt x="700000" y="28000"/>
                </a:lnTo>
                <a:lnTo>
                  <a:pt x="880000" y="47000"/>
                </a:lnTo>
                <a:lnTo>
                  <a:pt x="1040000" y="56000"/>
                </a:lnTo>
                <a:lnTo>
                  <a:pt x="1200000" y="64000"/>
                </a:lnTo>
                <a:lnTo>
                  <a:pt x="1355000" y="72000"/>
                </a:lnTo>
              </a:path>
            </a:pathLst>
          </a:custGeom>
          <a:noFill/>
          <a:ln w="19685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9021920" y="3736000"/>
            <a:ext cx="28000" cy="28000"/>
          </a:xfrm>
          <a:prstGeom prst="rect">
            <a:avLst/>
          </a:prstGeom>
          <a:solidFill>
            <a:srgbClr val="C67E00"/>
          </a:solidFill>
          <a:ln w="2540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9966920" y="3695000"/>
            <a:ext cx="1355000" cy="120000"/>
          </a:xfrm>
          <a:custGeom>
            <a:avLst/>
            <a:gdLst/>
            <a:ahLst/>
            <a:cxnLst/>
            <a:rect l="l" t="t" r="r" b="b"/>
            <a:pathLst>
              <a:path w="1355000" h="120000">
                <a:moveTo>
                  <a:pt x="0" y="22000"/>
                </a:moveTo>
                <a:lnTo>
                  <a:pt x="170000" y="32000"/>
                </a:lnTo>
                <a:lnTo>
                  <a:pt x="340000" y="20000"/>
                </a:lnTo>
                <a:lnTo>
                  <a:pt x="520000" y="36000"/>
                </a:lnTo>
                <a:lnTo>
                  <a:pt x="700000" y="27000"/>
                </a:lnTo>
                <a:lnTo>
                  <a:pt x="880000" y="52000"/>
                </a:lnTo>
                <a:lnTo>
                  <a:pt x="1050000" y="41000"/>
                </a:lnTo>
                <a:lnTo>
                  <a:pt x="1210000" y="62000"/>
                </a:lnTo>
                <a:lnTo>
                  <a:pt x="1355000" y="84000"/>
                </a:lnTo>
              </a:path>
            </a:pathLst>
          </a:custGeom>
          <a:noFill/>
          <a:ln w="19685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11307920" y="3736000"/>
            <a:ext cx="28000" cy="28000"/>
          </a:xfrm>
          <a:prstGeom prst="rect">
            <a:avLst/>
          </a:prstGeom>
          <a:solidFill>
            <a:srgbClr val="C67E00"/>
          </a:solidFill>
          <a:ln w="2540"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05444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256032"/>
          </a:xfrm>
          <a:prstGeom prst="rect">
            <a:avLst/>
          </a:prstGeom>
          <a:solidFill>
            <a:srgbClr val="C2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41832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2338"/>
                </a:solidFill>
                <a:latin typeface="Noto Sans CJK SC"/>
              </a:rPr>
              <a:t>价值好和风险好，是两类不同的识别人群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42416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dirty="0" err="1">
                <a:solidFill>
                  <a:srgbClr val="6A747E"/>
                </a:solidFill>
                <a:latin typeface="Noto Sans CJK SC"/>
              </a:rPr>
              <a:t>申请样本：价值好</a:t>
            </a:r>
            <a:r>
              <a:rPr sz="850" b="0" dirty="0">
                <a:solidFill>
                  <a:srgbClr val="6A747E"/>
                </a:solidFill>
                <a:latin typeface="Noto Sans CJK SC"/>
              </a:rPr>
              <a:t> Top20 vs </a:t>
            </a:r>
            <a:r>
              <a:rPr sz="850" b="0" dirty="0" err="1">
                <a:solidFill>
                  <a:srgbClr val="6A747E"/>
                </a:solidFill>
                <a:latin typeface="Noto Sans CJK SC"/>
              </a:rPr>
              <a:t>风险好</a:t>
            </a:r>
            <a:r>
              <a:rPr sz="850" b="0" dirty="0">
                <a:solidFill>
                  <a:srgbClr val="6A747E"/>
                </a:solidFill>
                <a:latin typeface="Noto Sans CJK SC"/>
              </a:rPr>
              <a:t> Top20 ｜ </a:t>
            </a:r>
            <a:r>
              <a:rPr sz="850" b="0" dirty="0" err="1">
                <a:solidFill>
                  <a:srgbClr val="6A747E"/>
                </a:solidFill>
                <a:latin typeface="Noto Sans CJK SC"/>
              </a:rPr>
              <a:t>模型相关性</a:t>
            </a:r>
            <a:r>
              <a:rPr sz="850" b="0" dirty="0">
                <a:solidFill>
                  <a:srgbClr val="6A747E"/>
                </a:solidFill>
                <a:latin typeface="Noto Sans CJK SC"/>
              </a:rPr>
              <a:t> 0.5818 ｜ </a:t>
            </a:r>
            <a:r>
              <a:rPr sz="850" b="0" dirty="0" err="1">
                <a:solidFill>
                  <a:srgbClr val="6A747E"/>
                </a:solidFill>
                <a:latin typeface="Noto Sans CJK SC"/>
              </a:rPr>
              <a:t>样本</a:t>
            </a:r>
            <a:r>
              <a:rPr sz="850" b="0" dirty="0">
                <a:solidFill>
                  <a:srgbClr val="6A747E"/>
                </a:solidFill>
                <a:latin typeface="Noto Sans CJK SC"/>
              </a:rPr>
              <a:t> 157,741 ｜ 2025.10–2026.05.20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50392"/>
            <a:ext cx="11109960" cy="9144"/>
          </a:xfrm>
          <a:prstGeom prst="rect">
            <a:avLst/>
          </a:prstGeom>
          <a:solidFill>
            <a:srgbClr val="DC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11201400" cy="384048"/>
          </a:xfrm>
          <a:prstGeom prst="roundRect">
            <a:avLst/>
          </a:prstGeom>
          <a:solidFill>
            <a:srgbClr val="F5F8FB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860" b="1" dirty="0" err="1">
                <a:solidFill>
                  <a:srgbClr val="052338"/>
                </a:solidFill>
                <a:latin typeface="Noto Sans CJK SC"/>
              </a:rPr>
              <a:t>核心结论：</a:t>
            </a:r>
            <a:r>
              <a:rPr sz="860" b="0" dirty="0" err="1">
                <a:solidFill>
                  <a:srgbClr val="1C262E"/>
                </a:solidFill>
                <a:latin typeface="Noto Sans CJK SC"/>
              </a:rPr>
              <a:t>价值模型更偏收入、消费、余额与可支配空间；风险模型更偏稳定性与履约表现。</a:t>
            </a:r>
            <a:r>
              <a:rPr sz="860" b="1" dirty="0" err="1">
                <a:solidFill>
                  <a:srgbClr val="C22430"/>
                </a:solidFill>
                <a:latin typeface="Noto Sans CJK SC"/>
              </a:rPr>
              <a:t>高价值不</a:t>
            </a:r>
            <a:r>
              <a:rPr lang="zh-CN" altLang="en-US" sz="860" b="1">
                <a:solidFill>
                  <a:srgbClr val="C22430"/>
                </a:solidFill>
                <a:latin typeface="Noto Sans CJK SC"/>
              </a:rPr>
              <a:t>完全</a:t>
            </a:r>
            <a:r>
              <a:rPr sz="860" b="1">
                <a:solidFill>
                  <a:srgbClr val="C22430"/>
                </a:solidFill>
                <a:latin typeface="Noto Sans CJK SC"/>
              </a:rPr>
              <a:t>等于低风险，额度策略需要价值</a:t>
            </a:r>
            <a:r>
              <a:rPr sz="860" b="1" dirty="0">
                <a:solidFill>
                  <a:srgbClr val="C22430"/>
                </a:solidFill>
                <a:latin typeface="Noto Sans CJK SC"/>
              </a:rPr>
              <a:t> × </a:t>
            </a:r>
            <a:r>
              <a:rPr sz="860" b="1" dirty="0" err="1">
                <a:solidFill>
                  <a:srgbClr val="C22430"/>
                </a:solidFill>
                <a:latin typeface="Noto Sans CJK SC"/>
              </a:rPr>
              <a:t>风险交叉使用</a:t>
            </a:r>
            <a:r>
              <a:rPr sz="860" b="1" dirty="0">
                <a:solidFill>
                  <a:srgbClr val="C22430"/>
                </a:solidFill>
                <a:latin typeface="Noto Sans CJK SC"/>
              </a:rPr>
              <a:t>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81328"/>
          <a:ext cx="112014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Noto Sans CJK SC"/>
                        </a:rPr>
                        <a:t>指标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Noto Sans CJK SC"/>
                        </a:rPr>
                        <a:t>风险好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Noto Sans CJK SC"/>
                        </a:rPr>
                        <a:t>价值好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Noto Sans CJK SC"/>
                        </a:rPr>
                        <a:t>差异/变化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Noto Sans CJK SC"/>
                        </a:rPr>
                        <a:t>差异解读</a:t>
                      </a:r>
                    </a:p>
                  </a:txBody>
                  <a:tcPr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近180天余额标准差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2,688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6,360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F371E"/>
                          </a:solidFill>
                          <a:latin typeface="Noto Sans CJK SC"/>
                        </a:rPr>
                        <a:t>+136.6%</a:t>
                      </a:r>
                    </a:p>
                  </a:txBody>
                  <a:tcPr anchor="ctr">
                    <a:solidFill>
                      <a:srgbClr val="FF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价值侧反映资金活跃度；风险侧更关注波动稳定性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近180天总支出金额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66,684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139,715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F371E"/>
                          </a:solidFill>
                          <a:latin typeface="Noto Sans CJK SC"/>
                        </a:rPr>
                        <a:t>+109.5%</a:t>
                      </a:r>
                    </a:p>
                  </a:txBody>
                  <a:tcPr anchor="ctr">
                    <a:solidFill>
                      <a:srgbClr val="FF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价值侧识别消费能力；风险侧更关注支出压力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近180天工资收入总额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20,922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41,139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F371E"/>
                          </a:solidFill>
                          <a:latin typeface="Noto Sans CJK SC"/>
                        </a:rPr>
                        <a:t>+96.6%</a:t>
                      </a:r>
                    </a:p>
                  </a:txBody>
                  <a:tcPr anchor="ctr">
                    <a:solidFill>
                      <a:srgbClr val="FF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价值侧捕捉收入能力；风险侧不等同于高收入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近180天Centrelink占比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10.2%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2.1%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005880"/>
                          </a:solidFill>
                          <a:latin typeface="Noto Sans CJK SC"/>
                        </a:rPr>
                        <a:t>-79.4%</a:t>
                      </a:r>
                    </a:p>
                  </a:txBody>
                  <a:tcPr anchor="ctr">
                    <a:solidFill>
                      <a:srgbClr val="E5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价值侧更偏自主收入；风险侧需结合履约与负债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近180天历史信贷还款金额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15,780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20,439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0690A"/>
                          </a:solidFill>
                          <a:latin typeface="Noto Sans CJK SC"/>
                        </a:rPr>
                        <a:t>+29.5%</a:t>
                      </a:r>
                    </a:p>
                  </a:txBody>
                  <a:tcPr anchor="ctr">
                    <a:solidFill>
                      <a:srgbClr val="FFF4D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价值侧体现信贷承载力；风险侧评估偿债压力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近180天银行卡余额平均值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2,633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3,920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0690A"/>
                          </a:solidFill>
                          <a:latin typeface="Noto Sans CJK SC"/>
                        </a:rPr>
                        <a:t>+48.9%</a:t>
                      </a:r>
                    </a:p>
                  </a:txBody>
                  <a:tcPr anchor="ctr">
                    <a:solidFill>
                      <a:srgbClr val="FFF4D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价值侧看资金沉淀；风险侧关注资金稳定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近180天银行卡盈余平均值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-42.67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1,333.55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0690A"/>
                          </a:solidFill>
                          <a:latin typeface="Noto Sans CJK SC"/>
                        </a:rPr>
                        <a:t>+1,376</a:t>
                      </a:r>
                    </a:p>
                  </a:txBody>
                  <a:tcPr anchor="ctr">
                    <a:solidFill>
                      <a:srgbClr val="FFF4D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价值侧直接刻画可支配空间，补齐风险评级盲区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平均年龄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31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35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0690A"/>
                          </a:solidFill>
                          <a:latin typeface="Noto Sans CJK SC"/>
                        </a:rPr>
                        <a:t>+12.9%</a:t>
                      </a:r>
                    </a:p>
                  </a:txBody>
                  <a:tcPr anchor="ctr">
                    <a:solidFill>
                      <a:srgbClr val="FFF4D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价值客群更成熟；风险不由年龄单独决定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1C262E"/>
                          </a:solidFill>
                          <a:latin typeface="Noto Sans CJK SC"/>
                        </a:rPr>
                        <a:t>违约次数</a:t>
                      </a:r>
                    </a:p>
                  </a:txBody>
                  <a:tcPr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1.8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0">
                          <a:solidFill>
                            <a:srgbClr val="1C262E"/>
                          </a:solidFill>
                          <a:latin typeface="Noto Sans CJK SC"/>
                        </a:rPr>
                        <a:t>3.9</a:t>
                      </a:r>
                    </a:p>
                  </a:txBody>
                  <a:tcPr anchor="ctr">
                    <a:solidFill>
                      <a:srgbClr val="F9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740" b="1">
                          <a:solidFill>
                            <a:srgbClr val="AF371E"/>
                          </a:solidFill>
                          <a:latin typeface="Noto Sans CJK SC"/>
                        </a:rPr>
                        <a:t>+116.7%</a:t>
                      </a:r>
                    </a:p>
                  </a:txBody>
                  <a:tcPr anchor="ctr">
                    <a:solidFill>
                      <a:srgbClr val="FF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1C262E"/>
                          </a:solidFill>
                          <a:latin typeface="Noto Sans CJK SC"/>
                        </a:rPr>
                        <a:t>高价值不等于低风险，必须与风险模型交叉</a:t>
                      </a:r>
                    </a:p>
                  </a:txBody>
                  <a:tcPr anchor="ctr">
                    <a:solidFill>
                      <a:srgbClr val="FF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" y="5797296"/>
            <a:ext cx="10515600" cy="2011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6A747E"/>
                </a:solidFill>
                <a:latin typeface="Noto Sans CJK SC"/>
              </a:rPr>
              <a:t>注：差异按（价值好 - 风险好）/ 风险好计算；银行卡盈余平均值因风险好基准为负，保留绝对差值。</a:t>
            </a:r>
          </a:p>
        </p:txBody>
      </p:sp>
    </p:spTree>
    <p:extLst>
      <p:ext uri="{BB962C8B-B14F-4D97-AF65-F5344CB8AC3E}">
        <p14:creationId xmlns:p14="http://schemas.microsoft.com/office/powerpoint/2010/main" val="4170137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1" y="240860"/>
            <a:ext cx="9589123" cy="307777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400" b="1">
                <a:solidFill>
                  <a:srgbClr val="052338"/>
                </a:solidFill>
                <a:latin typeface="Noto Sans CJK SC"/>
              </a:rPr>
              <a:t>价值评级补齐风险评级的盈余盲区：刻画客户额度承接力，实现规模与风险双重排序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E04376B-CF00-4A4B-B63F-97F41060BA5D}"/>
              </a:ext>
            </a:extLst>
          </p:cNvPr>
          <p:cNvSpPr txBox="1"/>
          <p:nvPr/>
        </p:nvSpPr>
        <p:spPr>
          <a:xfrm>
            <a:off x="6338819" y="3694181"/>
            <a:ext cx="542643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860" b="1">
                <a:solidFill>
                  <a:srgbClr val="1C262E"/>
                </a:solidFill>
                <a:latin typeface="Noto Sans CJK SC"/>
              </a:rPr>
              <a:t>金额逾期3M30+：整体低于笔数逾期，支持差异化提额</a:t>
            </a:r>
            <a:endParaRPr kumimoji="0" lang="en-US" altLang="zh-CN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0EC827E5-EB82-4A44-9412-286F79E78DF8}"/>
              </a:ext>
            </a:extLst>
          </p:cNvPr>
          <p:cNvSpPr txBox="1"/>
          <p:nvPr/>
        </p:nvSpPr>
        <p:spPr>
          <a:xfrm>
            <a:off x="426751" y="3630173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860" b="1">
                <a:solidFill>
                  <a:srgbClr val="1C262E"/>
                </a:solidFill>
                <a:latin typeface="Noto Sans CJK SC"/>
              </a:rPr>
              <a:t>笔数逾期3M30+：双优最低、双差最高，风险分层有效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C2D757A3-6CEA-49CF-9AB5-BD83DED627DD}"/>
              </a:ext>
            </a:extLst>
          </p:cNvPr>
          <p:cNvSpPr txBox="1"/>
          <p:nvPr/>
        </p:nvSpPr>
        <p:spPr>
          <a:xfrm>
            <a:off x="486659" y="840062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860" b="1">
                <a:solidFill>
                  <a:srgbClr val="1C262E"/>
                </a:solidFill>
                <a:latin typeface="Noto Sans CJK SC"/>
              </a:rPr>
              <a:t>成交件均：价值与风险均能排序，但驱动逻辑不同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472D56FA-F578-45D1-9A31-47225E4B78B4}"/>
              </a:ext>
            </a:extLst>
          </p:cNvPr>
          <p:cNvSpPr txBox="1"/>
          <p:nvPr/>
        </p:nvSpPr>
        <p:spPr>
          <a:xfrm>
            <a:off x="6338819" y="792621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860" b="1">
                <a:solidFill>
                  <a:srgbClr val="1C262E"/>
                </a:solidFill>
                <a:latin typeface="Noto Sans CJK SC"/>
              </a:rPr>
              <a:t>可支配盈余：价值评级呈清晰梯度，补齐风险盲区</a:t>
            </a:r>
            <a:endParaRPr kumimoji="0" lang="zh-CN" altLang="en-US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1371600"/>
          <a:ext cx="5230364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9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7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1,626.88</a:t>
                      </a:r>
                    </a:p>
                  </a:txBody>
                  <a:tcPr marL="18288" marR="18288" marT="9144" marB="9144" anchor="ctr">
                    <a:solidFill>
                      <a:srgbClr val="EBAA3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1,436.99</a:t>
                      </a:r>
                    </a:p>
                  </a:txBody>
                  <a:tcPr marL="18288" marR="18288" marT="9144" marB="9144" anchor="ctr">
                    <a:solidFill>
                      <a:srgbClr val="EEB6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1,326.28</a:t>
                      </a:r>
                    </a:p>
                  </a:txBody>
                  <a:tcPr marL="18288" marR="18288" marT="9144" marB="9144" anchor="ctr">
                    <a:solidFill>
                      <a:srgbClr val="F0BE6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1,347.15</a:t>
                      </a:r>
                    </a:p>
                  </a:txBody>
                  <a:tcPr marL="18288" marR="18288" marT="9144" marB="9144" anchor="ctr">
                    <a:solidFill>
                      <a:srgbClr val="EFBC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1,449.17</a:t>
                      </a:r>
                    </a:p>
                  </a:txBody>
                  <a:tcPr marL="18288" marR="18288" marT="9144" marB="9144" anchor="ctr">
                    <a:solidFill>
                      <a:srgbClr val="EDB54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1,511.18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1,357.29</a:t>
                      </a:r>
                    </a:p>
                  </a:txBody>
                  <a:tcPr marL="18288" marR="18288" marT="9144" marB="9144" anchor="ctr">
                    <a:solidFill>
                      <a:srgbClr val="EFBC5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1,251.73</a:t>
                      </a:r>
                    </a:p>
                  </a:txBody>
                  <a:tcPr marL="18288" marR="18288" marT="9144" marB="9144" anchor="ctr">
                    <a:solidFill>
                      <a:srgbClr val="F1C36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1,136.60</a:t>
                      </a:r>
                    </a:p>
                  </a:txBody>
                  <a:tcPr marL="18288" marR="18288" marT="9144" marB="9144" anchor="ctr">
                    <a:solidFill>
                      <a:srgbClr val="F3CC8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1,128.42</a:t>
                      </a:r>
                    </a:p>
                  </a:txBody>
                  <a:tcPr marL="18288" marR="18288" marT="9144" marB="9144" anchor="ctr">
                    <a:solidFill>
                      <a:srgbClr val="F3CD8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1,277.57</a:t>
                      </a:r>
                    </a:p>
                  </a:txBody>
                  <a:tcPr marL="18288" marR="18288" marT="9144" marB="9144" anchor="ctr">
                    <a:solidFill>
                      <a:srgbClr val="F0C16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1,239.72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1,253.35</a:t>
                      </a:r>
                    </a:p>
                  </a:txBody>
                  <a:tcPr marL="18288" marR="18288" marT="9144" marB="9144" anchor="ctr">
                    <a:solidFill>
                      <a:srgbClr val="F1C36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1,074.20</a:t>
                      </a:r>
                    </a:p>
                  </a:txBody>
                  <a:tcPr marL="18288" marR="18288" marT="9144" marB="9144" anchor="ctr">
                    <a:solidFill>
                      <a:srgbClr val="F4D18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1,009.51</a:t>
                      </a:r>
                    </a:p>
                  </a:txBody>
                  <a:tcPr marL="18288" marR="18288" marT="9144" marB="9144" anchor="ctr">
                    <a:solidFill>
                      <a:srgbClr val="F6D69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970.82</a:t>
                      </a:r>
                    </a:p>
                  </a:txBody>
                  <a:tcPr marL="18288" marR="18288" marT="9144" marB="9144" anchor="ctr">
                    <a:solidFill>
                      <a:srgbClr val="F7DAA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1,134.62</a:t>
                      </a:r>
                    </a:p>
                  </a:txBody>
                  <a:tcPr marL="18288" marR="18288" marT="9144" marB="9144" anchor="ctr">
                    <a:solidFill>
                      <a:srgbClr val="F3CC8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1,068.63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1,107.44</a:t>
                      </a:r>
                    </a:p>
                  </a:txBody>
                  <a:tcPr marL="18288" marR="18288" marT="9144" marB="9144" anchor="ctr">
                    <a:solidFill>
                      <a:srgbClr val="F4CE8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987.53</a:t>
                      </a:r>
                    </a:p>
                  </a:txBody>
                  <a:tcPr marL="18288" marR="18288" marT="9144" marB="9144" anchor="ctr">
                    <a:solidFill>
                      <a:srgbClr val="F6D89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870.72</a:t>
                      </a:r>
                    </a:p>
                  </a:txBody>
                  <a:tcPr marL="18288" marR="18288" marT="9144" marB="9144" anchor="ctr">
                    <a:solidFill>
                      <a:srgbClr val="F9E3B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824.45</a:t>
                      </a:r>
                    </a:p>
                  </a:txBody>
                  <a:tcPr marL="18288" marR="18288" marT="9144" marB="9144" anchor="ctr">
                    <a:solidFill>
                      <a:srgbClr val="FAE8C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947.39</a:t>
                      </a:r>
                    </a:p>
                  </a:txBody>
                  <a:tcPr marL="18288" marR="18288" marT="9144" marB="9144" anchor="ctr">
                    <a:solidFill>
                      <a:srgbClr val="F7DCA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909.91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973.39</a:t>
                      </a:r>
                    </a:p>
                  </a:txBody>
                  <a:tcPr marL="18288" marR="18288" marT="9144" marB="9144" anchor="ctr">
                    <a:solidFill>
                      <a:srgbClr val="F6D9A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802.18</a:t>
                      </a:r>
                    </a:p>
                  </a:txBody>
                  <a:tcPr marL="18288" marR="18288" marT="9144" marB="9144" anchor="ctr">
                    <a:solidFill>
                      <a:srgbClr val="FBEAC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745.08</a:t>
                      </a:r>
                    </a:p>
                  </a:txBody>
                  <a:tcPr marL="18288" marR="18288" marT="9144" marB="9144" anchor="ctr">
                    <a:solidFill>
                      <a:srgbClr val="FCF1D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698.93</a:t>
                      </a:r>
                    </a:p>
                  </a:txBody>
                  <a:tcPr marL="18288" marR="18288" marT="9144" marB="9144" anchor="ctr">
                    <a:solidFill>
                      <a:srgbClr val="FFFA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760.29</a:t>
                      </a:r>
                    </a:p>
                  </a:txBody>
                  <a:tcPr marL="18288" marR="18288" marT="9144" marB="9144" anchor="ctr">
                    <a:solidFill>
                      <a:srgbClr val="FCEF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747.20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1,459.16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1,187.15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1,011.81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912.93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9</a:t>
                      </a:r>
                      <a:r>
                        <a:rPr lang="en-US"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0</a:t>
                      </a: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2.74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1,105.17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63640" y="1307592"/>
          <a:ext cx="5285232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4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1,602.39</a:t>
                      </a:r>
                    </a:p>
                  </a:txBody>
                  <a:tcPr marL="18288" marR="18288" marT="9144" marB="9144" anchor="ctr">
                    <a:solidFill>
                      <a:srgbClr val="F4D09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1,980.21</a:t>
                      </a:r>
                    </a:p>
                  </a:txBody>
                  <a:tcPr marL="18288" marR="18288" marT="9144" marB="9144" anchor="ctr">
                    <a:solidFill>
                      <a:srgbClr val="F2C98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2,358.63</a:t>
                      </a:r>
                    </a:p>
                  </a:txBody>
                  <a:tcPr marL="18288" marR="18288" marT="9144" marB="9144" anchor="ctr">
                    <a:solidFill>
                      <a:srgbClr val="F0C37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3,531.84</a:t>
                      </a:r>
                    </a:p>
                  </a:txBody>
                  <a:tcPr marL="18288" marR="18288" marT="9144" marB="9144" anchor="ctr">
                    <a:solidFill>
                      <a:srgbClr val="ECB25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4,106.40</a:t>
                      </a:r>
                    </a:p>
                  </a:txBody>
                  <a:tcPr marL="18288" marR="18288" marT="9144" marB="9144" anchor="ctr">
                    <a:solidFill>
                      <a:srgbClr val="EAAA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2,032.22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1,069.64</a:t>
                      </a:r>
                    </a:p>
                  </a:txBody>
                  <a:tcPr marL="18288" marR="18288" marT="9144" marB="9144" anchor="ctr">
                    <a:solidFill>
                      <a:srgbClr val="F6DA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1,370.52</a:t>
                      </a:r>
                    </a:p>
                  </a:txBody>
                  <a:tcPr marL="18288" marR="18288" marT="9144" marB="9144" anchor="ctr">
                    <a:solidFill>
                      <a:srgbClr val="F5D49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1,660.97</a:t>
                      </a:r>
                    </a:p>
                  </a:txBody>
                  <a:tcPr marL="18288" marR="18288" marT="9144" marB="9144" anchor="ctr">
                    <a:solidFill>
                      <a:srgbClr val="F3CF9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2,200.43</a:t>
                      </a:r>
                    </a:p>
                  </a:txBody>
                  <a:tcPr marL="18288" marR="18288" marT="9144" marB="9144" anchor="ctr">
                    <a:solidFill>
                      <a:srgbClr val="F1C67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2,723.21</a:t>
                      </a:r>
                    </a:p>
                  </a:txBody>
                  <a:tcPr marL="18288" marR="18288" marT="9144" marB="9144" anchor="ctr">
                    <a:solidFill>
                      <a:srgbClr val="EFBD6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1,568.16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875.76</a:t>
                      </a:r>
                    </a:p>
                  </a:txBody>
                  <a:tcPr marL="18288" marR="18288" marT="9144" marB="9144" anchor="ctr">
                    <a:solidFill>
                      <a:srgbClr val="F7DEB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1,099.73</a:t>
                      </a:r>
                    </a:p>
                  </a:txBody>
                  <a:tcPr marL="18288" marR="18288" marT="9144" marB="9144" anchor="ctr">
                    <a:solidFill>
                      <a:srgbClr val="F6DAA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1,313.17</a:t>
                      </a:r>
                    </a:p>
                  </a:txBody>
                  <a:tcPr marL="18288" marR="18288" marT="9144" marB="9144" anchor="ctr">
                    <a:solidFill>
                      <a:srgbClr val="F5D5A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1,616.41</a:t>
                      </a:r>
                    </a:p>
                  </a:txBody>
                  <a:tcPr marL="18288" marR="18288" marT="9144" marB="9144" anchor="ctr">
                    <a:solidFill>
                      <a:srgbClr val="F4D09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2,086.93</a:t>
                      </a:r>
                    </a:p>
                  </a:txBody>
                  <a:tcPr marL="18288" marR="18288" marT="9144" marB="9144" anchor="ctr">
                    <a:solidFill>
                      <a:srgbClr val="F1C88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1,358.43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845.45</a:t>
                      </a:r>
                    </a:p>
                  </a:txBody>
                  <a:tcPr marL="18288" marR="18288" marT="9144" marB="9144" anchor="ctr">
                    <a:solidFill>
                      <a:srgbClr val="F8DFB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927.10</a:t>
                      </a:r>
                    </a:p>
                  </a:txBody>
                  <a:tcPr marL="18288" marR="18288" marT="9144" marB="9144" anchor="ctr">
                    <a:solidFill>
                      <a:srgbClr val="F7DDB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1,145.75</a:t>
                      </a:r>
                    </a:p>
                  </a:txBody>
                  <a:tcPr marL="18288" marR="18288" marT="9144" marB="9144" anchor="ctr">
                    <a:solidFill>
                      <a:srgbClr val="F6D9A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1,446.75</a:t>
                      </a:r>
                    </a:p>
                  </a:txBody>
                  <a:tcPr marL="18288" marR="18288" marT="9144" marB="9144" anchor="ctr">
                    <a:solidFill>
                      <a:srgbClr val="F4D39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1,738.43</a:t>
                      </a:r>
                    </a:p>
                  </a:txBody>
                  <a:tcPr marL="18288" marR="18288" marT="9144" marB="9144" anchor="ctr">
                    <a:solidFill>
                      <a:srgbClr val="F3CE9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1,308.91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674.40</a:t>
                      </a:r>
                    </a:p>
                  </a:txBody>
                  <a:tcPr marL="18288" marR="18288" marT="9144" marB="9144" anchor="ctr">
                    <a:solidFill>
                      <a:srgbClr val="F9E3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835.56</a:t>
                      </a:r>
                    </a:p>
                  </a:txBody>
                  <a:tcPr marL="18288" marR="18288" marT="9144" marB="9144" anchor="ctr">
                    <a:solidFill>
                      <a:srgbClr val="F8DFB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979.01</a:t>
                      </a:r>
                    </a:p>
                  </a:txBody>
                  <a:tcPr marL="18288" marR="18288" marT="9144" marB="9144" anchor="ctr">
                    <a:solidFill>
                      <a:srgbClr val="F7DCA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1,161.22</a:t>
                      </a:r>
                    </a:p>
                  </a:txBody>
                  <a:tcPr marL="18288" marR="18288" marT="9144" marB="9144" anchor="ctr">
                    <a:solidFill>
                      <a:srgbClr val="F6D8A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1,432.11</a:t>
                      </a:r>
                    </a:p>
                  </a:txBody>
                  <a:tcPr marL="18288" marR="18288" marT="9144" marB="9144" anchor="ctr">
                    <a:solidFill>
                      <a:srgbClr val="F4D39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1,231.61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1,294.81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1,355.75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1,450.93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1,687.52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1,785.77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1,507.53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11480" y="4050791"/>
          <a:ext cx="5230364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9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7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 dirty="0" err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</a:t>
                      </a:r>
                      <a:r>
                        <a:rPr sz="520" b="1" dirty="0">
                          <a:solidFill>
                            <a:srgbClr val="FFFFFF"/>
                          </a:solidFill>
                          <a:latin typeface="Noto Sans CJK SC"/>
                        </a:rPr>
                        <a:t> \ </a:t>
                      </a:r>
                      <a:r>
                        <a:rPr sz="520" b="1" dirty="0" err="1">
                          <a:solidFill>
                            <a:srgbClr val="FFFFFF"/>
                          </a:solidFill>
                          <a:latin typeface="Noto Sans CJK SC"/>
                        </a:rPr>
                        <a:t>风险分箱</a:t>
                      </a:r>
                      <a:endParaRPr sz="59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5.74%</a:t>
                      </a:r>
                    </a:p>
                  </a:txBody>
                  <a:tcPr marL="18288" marR="18288" marT="9144" marB="9144" anchor="ctr">
                    <a:solidFill>
                      <a:srgbClr val="FDF2E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5.99%</a:t>
                      </a:r>
                    </a:p>
                  </a:txBody>
                  <a:tcPr marL="18288" marR="18288" marT="9144" marB="9144" anchor="ctr">
                    <a:solidFill>
                      <a:srgbClr val="FDEEE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10.57%</a:t>
                      </a:r>
                    </a:p>
                  </a:txBody>
                  <a:tcPr marL="18288" marR="18288" marT="9144" marB="9144" anchor="ctr">
                    <a:solidFill>
                      <a:srgbClr val="F4C1B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10.55%</a:t>
                      </a:r>
                    </a:p>
                  </a:txBody>
                  <a:tcPr marL="18288" marR="18288" marT="9144" marB="9144" anchor="ctr">
                    <a:solidFill>
                      <a:srgbClr val="F4C1B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10.42%</a:t>
                      </a:r>
                    </a:p>
                  </a:txBody>
                  <a:tcPr marL="18288" marR="18288" marT="9144" marB="9144" anchor="ctr">
                    <a:solidFill>
                      <a:srgbClr val="F4C2B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7.05%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5.46%</a:t>
                      </a:r>
                    </a:p>
                  </a:txBody>
                  <a:tcPr marL="18288" marR="18288" marT="9144" marB="9144" anchor="ctr">
                    <a:solidFill>
                      <a:srgbClr val="FFF9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8.38%</a:t>
                      </a:r>
                    </a:p>
                  </a:txBody>
                  <a:tcPr marL="18288" marR="18288" marT="9144" marB="9144" anchor="ctr">
                    <a:solidFill>
                      <a:srgbClr val="F7D4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9.69%</a:t>
                      </a:r>
                    </a:p>
                  </a:txBody>
                  <a:tcPr marL="18288" marR="18288" marT="9144" marB="9144" anchor="ctr">
                    <a:solidFill>
                      <a:srgbClr val="F5C8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13.80%</a:t>
                      </a:r>
                    </a:p>
                  </a:txBody>
                  <a:tcPr marL="18288" marR="18288" marT="9144" marB="9144" anchor="ctr">
                    <a:solidFill>
                      <a:srgbClr val="EFA8A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14.34%</a:t>
                      </a:r>
                    </a:p>
                  </a:txBody>
                  <a:tcPr marL="18288" marR="18288" marT="9144" marB="9144" anchor="ctr">
                    <a:solidFill>
                      <a:srgbClr val="EEA4A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9.46%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6.35%</a:t>
                      </a:r>
                    </a:p>
                  </a:txBody>
                  <a:tcPr marL="18288" marR="18288" marT="9144" marB="9144"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8.38%</a:t>
                      </a:r>
                    </a:p>
                  </a:txBody>
                  <a:tcPr marL="18288" marR="18288" marT="9144" marB="9144" anchor="ctr">
                    <a:solidFill>
                      <a:srgbClr val="F7D4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10.78%</a:t>
                      </a:r>
                    </a:p>
                  </a:txBody>
                  <a:tcPr marL="18288" marR="18288" marT="9144" marB="9144" anchor="ctr">
                    <a:solidFill>
                      <a:srgbClr val="F3BFB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11.76%</a:t>
                      </a:r>
                    </a:p>
                  </a:txBody>
                  <a:tcPr marL="18288" marR="18288" marT="9144" marB="9144" anchor="ctr">
                    <a:solidFill>
                      <a:srgbClr val="F2B7B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14.61%</a:t>
                      </a:r>
                    </a:p>
                  </a:txBody>
                  <a:tcPr marL="18288" marR="18288" marT="9144" marB="9144" anchor="ctr">
                    <a:solidFill>
                      <a:srgbClr val="EEA29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10.61%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8.04%</a:t>
                      </a:r>
                    </a:p>
                  </a:txBody>
                  <a:tcPr marL="18288" marR="18288" marT="9144" marB="9144" anchor="ctr">
                    <a:solidFill>
                      <a:srgbClr val="F8D7C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8.15%</a:t>
                      </a:r>
                    </a:p>
                  </a:txBody>
                  <a:tcPr marL="18288" marR="18288" marT="9144" marB="9144" anchor="ctr">
                    <a:solidFill>
                      <a:srgbClr val="F8D6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14.88%</a:t>
                      </a:r>
                    </a:p>
                  </a:txBody>
                  <a:tcPr marL="18288" marR="18288" marT="9144" marB="9144" anchor="ctr">
                    <a:solidFill>
                      <a:srgbClr val="EDA09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16.80%</a:t>
                      </a:r>
                    </a:p>
                  </a:txBody>
                  <a:tcPr marL="18288" marR="18288" marT="9144" marB="9144" anchor="ctr">
                    <a:solidFill>
                      <a:srgbClr val="EB939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20.27%</a:t>
                      </a:r>
                    </a:p>
                  </a:txBody>
                  <a:tcPr marL="18288" marR="18288" marT="9144" marB="9144" anchor="ctr">
                    <a:solidFill>
                      <a:srgbClr val="E67D7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15.91%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11.54%</a:t>
                      </a:r>
                    </a:p>
                  </a:txBody>
                  <a:tcPr marL="18288" marR="18288" marT="9144" marB="9144" anchor="ctr">
                    <a:solidFill>
                      <a:srgbClr val="F2B9B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10.83%</a:t>
                      </a:r>
                    </a:p>
                  </a:txBody>
                  <a:tcPr marL="18288" marR="18288" marT="9144" marB="9144" anchor="ctr">
                    <a:solidFill>
                      <a:srgbClr val="F3BFB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13.31%</a:t>
                      </a:r>
                    </a:p>
                  </a:txBody>
                  <a:tcPr marL="18288" marR="18288" marT="9144" marB="9144" anchor="ctr">
                    <a:solidFill>
                      <a:srgbClr val="F0ACA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19.28%</a:t>
                      </a:r>
                    </a:p>
                  </a:txBody>
                  <a:tcPr marL="18288" marR="18288" marT="9144" marB="9144" anchor="ctr">
                    <a:solidFill>
                      <a:srgbClr val="E8838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27.05%</a:t>
                      </a:r>
                    </a:p>
                  </a:txBody>
                  <a:tcPr marL="18288" marR="18288" marT="9144" marB="9144" anchor="ctr">
                    <a:solidFill>
                      <a:srgbClr val="DF555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22.90%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5.92%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7.79%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11.70%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15.16%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22.02%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13.19%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3640" y="4014215"/>
          <a:ext cx="5285232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4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2.62%</a:t>
                      </a:r>
                    </a:p>
                  </a:txBody>
                  <a:tcPr marL="18288" marR="18288" marT="9144" marB="9144" anchor="ctr">
                    <a:solidFill>
                      <a:srgbClr val="FCEDE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2.95%</a:t>
                      </a:r>
                    </a:p>
                  </a:txBody>
                  <a:tcPr marL="18288" marR="18288" marT="9144" marB="9144" anchor="ctr">
                    <a:solidFill>
                      <a:srgbClr val="FBE8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5.31%</a:t>
                      </a:r>
                    </a:p>
                  </a:txBody>
                  <a:tcPr marL="18288" marR="18288" marT="9144" marB="9144" anchor="ctr">
                    <a:solidFill>
                      <a:srgbClr val="F6CDC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5.91%</a:t>
                      </a:r>
                    </a:p>
                  </a:txBody>
                  <a:tcPr marL="18288" marR="18288" marT="9144" marB="9144" anchor="ctr">
                    <a:solidFill>
                      <a:srgbClr val="F5C7C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7.96%</a:t>
                      </a:r>
                    </a:p>
                  </a:txBody>
                  <a:tcPr marL="18288" marR="18288" marT="9144" marB="9144" anchor="ctr">
                    <a:solidFill>
                      <a:srgbClr val="F1B4A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3.35%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2.48%</a:t>
                      </a:r>
                    </a:p>
                  </a:txBody>
                  <a:tcPr marL="18288" marR="18288" marT="9144" marB="9144" anchor="ctr">
                    <a:solidFill>
                      <a:srgbClr val="FDE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4.45%</a:t>
                      </a:r>
                    </a:p>
                  </a:txBody>
                  <a:tcPr marL="18288" marR="18288" marT="9144" marB="9144" anchor="ctr">
                    <a:solidFill>
                      <a:srgbClr val="F8D6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5.66%</a:t>
                      </a:r>
                    </a:p>
                  </a:txBody>
                  <a:tcPr marL="18288" marR="18288" marT="9144" marB="9144" anchor="ctr">
                    <a:solidFill>
                      <a:srgbClr val="F5C9C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8.65%</a:t>
                      </a:r>
                    </a:p>
                  </a:txBody>
                  <a:tcPr marL="18288" marR="18288" marT="9144" marB="9144" anchor="ctr">
                    <a:solidFill>
                      <a:srgbClr val="F0AEA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11.52%</a:t>
                      </a:r>
                    </a:p>
                  </a:txBody>
                  <a:tcPr marL="18288" marR="18288" marT="9144" marB="9144" anchor="ctr">
                    <a:solidFill>
                      <a:srgbClr val="EB969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5.11%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2.85%</a:t>
                      </a:r>
                    </a:p>
                  </a:txBody>
                  <a:tcPr marL="18288" marR="18288" marT="9144" marB="9144"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3.72%</a:t>
                      </a:r>
                    </a:p>
                  </a:txBody>
                  <a:tcPr marL="18288" marR="18288" marT="9144" marB="9144" anchor="ctr">
                    <a:solidFill>
                      <a:srgbClr val="F9DED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6.47%</a:t>
                      </a:r>
                    </a:p>
                  </a:txBody>
                  <a:tcPr marL="18288" marR="18288" marT="9144" marB="9144" anchor="ctr">
                    <a:solidFill>
                      <a:srgbClr val="F4C1B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8.28%</a:t>
                      </a:r>
                    </a:p>
                  </a:txBody>
                  <a:tcPr marL="18288" marR="18288" marT="9144" marB="9144" anchor="ctr">
                    <a:solidFill>
                      <a:srgbClr val="F1B1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10.38%</a:t>
                      </a:r>
                    </a:p>
                  </a:txBody>
                  <a:tcPr marL="18288" marR="18288" marT="9144" marB="9144" anchor="ctr">
                    <a:solidFill>
                      <a:srgbClr val="ED9F9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5.95%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2.07%</a:t>
                      </a:r>
                    </a:p>
                  </a:txBody>
                  <a:tcPr marL="18288" marR="18288" marT="9144" marB="9144" anchor="ctr">
                    <a:solidFill>
                      <a:srgbClr val="FFF9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4.45%</a:t>
                      </a:r>
                    </a:p>
                  </a:txBody>
                  <a:tcPr marL="18288" marR="18288" marT="9144" marB="9144" anchor="ctr">
                    <a:solidFill>
                      <a:srgbClr val="F8D6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7.26%</a:t>
                      </a:r>
                    </a:p>
                  </a:txBody>
                  <a:tcPr marL="18288" marR="18288" marT="9144" marB="9144" anchor="ctr">
                    <a:solidFill>
                      <a:srgbClr val="F2BAB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10.59%</a:t>
                      </a:r>
                    </a:p>
                  </a:txBody>
                  <a:tcPr marL="18288" marR="18288" marT="9144" marB="9144" anchor="ctr">
                    <a:solidFill>
                      <a:srgbClr val="ED9E9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15.71%</a:t>
                      </a:r>
                    </a:p>
                  </a:txBody>
                  <a:tcPr marL="18288" marR="18288" marT="9144" marB="9144" anchor="ctr">
                    <a:solidFill>
                      <a:srgbClr val="E5777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9.10%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5.21%</a:t>
                      </a:r>
                    </a:p>
                  </a:txBody>
                  <a:tcPr marL="18288" marR="18288" marT="9144" marB="9144" anchor="ctr">
                    <a:solidFill>
                      <a:srgbClr val="F6CEC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3.89%</a:t>
                      </a:r>
                    </a:p>
                  </a:txBody>
                  <a:tcPr marL="18288" marR="18288" marT="9144" marB="9144" anchor="ctr">
                    <a:solidFill>
                      <a:srgbClr val="F9DC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5.83%</a:t>
                      </a:r>
                    </a:p>
                  </a:txBody>
                  <a:tcPr marL="18288" marR="18288" marT="9144" marB="9144" anchor="ctr">
                    <a:solidFill>
                      <a:srgbClr val="F5C7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11.08%</a:t>
                      </a:r>
                    </a:p>
                  </a:txBody>
                  <a:tcPr marL="18288" marR="18288" marT="9144" marB="9144" anchor="ctr">
                    <a:solidFill>
                      <a:srgbClr val="EC9A9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20.82%</a:t>
                      </a:r>
                    </a:p>
                  </a:txBody>
                  <a:tcPr marL="18288" marR="18288" marT="9144" marB="9144" anchor="ctr">
                    <a:solidFill>
                      <a:srgbClr val="DF555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14.13%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marL="18288" marR="18288" marT="9144" marB="9144"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2.61%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3.79%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6.15%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9.21%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16.04%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6.54%</a:t>
                      </a:r>
                    </a:p>
                  </a:txBody>
                  <a:tcPr marL="18288" marR="18288" marT="9144" marB="9144"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0715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201168"/>
            <a:ext cx="9875520" cy="502920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1800" b="1">
                <a:solidFill>
                  <a:srgbClr val="052338"/>
                </a:solidFill>
                <a:latin typeface="Noto Sans CJK SC"/>
              </a:rPr>
              <a:t>投放人群上浮：圈选高收入、高通过、高盈余客群</a:t>
            </a:r>
            <a:endParaRPr sz="2200" b="1" dirty="0">
              <a:solidFill>
                <a:srgbClr val="0E2841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9144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06984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860" b="1">
                <a:solidFill>
                  <a:srgbClr val="1C262E"/>
                </a:solidFill>
                <a:latin typeface="Noto Sans CJK SC"/>
              </a:rPr>
              <a:t>申请样本数：样本集中在低价值/高风险尾部，投放需向高价值上浮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141732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6,544</a:t>
                      </a:r>
                    </a:p>
                  </a:txBody>
                  <a:tcPr anchor="ctr">
                    <a:solidFill>
                      <a:srgbClr val="FAE8C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3,615</a:t>
                      </a:r>
                    </a:p>
                  </a:txBody>
                  <a:tcPr anchor="ctr">
                    <a:solidFill>
                      <a:srgbClr val="FCEF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1,948</a:t>
                      </a:r>
                    </a:p>
                  </a:txBody>
                  <a:tcPr anchor="ctr">
                    <a:solidFill>
                      <a:srgbClr val="FDF4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1,095</a:t>
                      </a:r>
                    </a:p>
                  </a:txBody>
                  <a:tcPr anchor="ctr">
                    <a:solidFill>
                      <a:srgbClr val="FEF7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527</a:t>
                      </a:r>
                    </a:p>
                  </a:txBody>
                  <a:tcPr anchor="ctr">
                    <a:solidFill>
                      <a:srgbClr val="FFFA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13,838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4,403</a:t>
                      </a:r>
                    </a:p>
                  </a:txBody>
                  <a:tcPr anchor="ctr">
                    <a:solidFill>
                      <a:srgbClr val="FBED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4,372</a:t>
                      </a:r>
                    </a:p>
                  </a:txBody>
                  <a:tcPr anchor="ctr">
                    <a:solidFill>
                      <a:srgbClr val="FBED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3,598</a:t>
                      </a:r>
                    </a:p>
                  </a:txBody>
                  <a:tcPr anchor="ctr">
                    <a:solidFill>
                      <a:srgbClr val="FCEF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2,594</a:t>
                      </a:r>
                    </a:p>
                  </a:txBody>
                  <a:tcPr anchor="ctr"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1,621</a:t>
                      </a:r>
                    </a:p>
                  </a:txBody>
                  <a:tcPr anchor="ctr">
                    <a:solidFill>
                      <a:srgbClr val="FDF5E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16,729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2,875</a:t>
                      </a:r>
                    </a:p>
                  </a:txBody>
                  <a:tcPr anchor="ctr">
                    <a:solidFill>
                      <a:srgbClr val="FCF1D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4,630</a:t>
                      </a:r>
                    </a:p>
                  </a:txBody>
                  <a:tcPr anchor="ctr"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4,723</a:t>
                      </a:r>
                    </a:p>
                  </a:txBody>
                  <a:tcPr anchor="ctr">
                    <a:solidFill>
                      <a:srgbClr val="FBEC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4,604</a:t>
                      </a:r>
                    </a:p>
                  </a:txBody>
                  <a:tcPr anchor="ctr"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3,931</a:t>
                      </a:r>
                    </a:p>
                  </a:txBody>
                  <a:tcPr anchor="ctr">
                    <a:solidFill>
                      <a:srgbClr val="FCEED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20,966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1,851</a:t>
                      </a:r>
                    </a:p>
                  </a:txBody>
                  <a:tcPr anchor="ctr">
                    <a:solidFill>
                      <a:srgbClr val="FDF4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3,823</a:t>
                      </a:r>
                    </a:p>
                  </a:txBody>
                  <a:tcPr anchor="ctr">
                    <a:solidFill>
                      <a:srgbClr val="FCEED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5,259</a:t>
                      </a:r>
                    </a:p>
                  </a:txBody>
                  <a:tcPr anchor="ctr">
                    <a:solidFill>
                      <a:srgbClr val="FBEB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7,037</a:t>
                      </a:r>
                    </a:p>
                  </a:txBody>
                  <a:tcPr anchor="ctr">
                    <a:solidFill>
                      <a:srgbClr val="FAE7C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8,500</a:t>
                      </a:r>
                    </a:p>
                  </a:txBody>
                  <a:tcPr anchor="ctr">
                    <a:solidFill>
                      <a:srgbClr val="F9E4B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26,778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985</a:t>
                      </a:r>
                    </a:p>
                  </a:txBody>
                  <a:tcPr anchor="ctr">
                    <a:solidFill>
                      <a:srgbClr val="FEF7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3,193</a:t>
                      </a:r>
                    </a:p>
                  </a:txBody>
                  <a:tcPr anchor="ctr">
                    <a:solidFill>
                      <a:srgbClr val="FCF0D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6,782</a:t>
                      </a:r>
                    </a:p>
                  </a:txBody>
                  <a:tcPr anchor="ctr">
                    <a:solidFill>
                      <a:srgbClr val="FAE8C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15,285</a:t>
                      </a:r>
                    </a:p>
                  </a:txBody>
                  <a:tcPr anchor="ctr">
                    <a:solidFill>
                      <a:srgbClr val="F6D79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232323"/>
                          </a:solidFill>
                          <a:latin typeface="Noto Sans CJK SC"/>
                        </a:rPr>
                        <a:t>46,235</a:t>
                      </a:r>
                    </a:p>
                  </a:txBody>
                  <a:tcPr anchor="ctr">
                    <a:solidFill>
                      <a:srgbClr val="EBAA3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73,270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16,683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19,660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22,342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30,660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60,891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157,741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36208" y="106984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860" b="1">
                <a:solidFill>
                  <a:srgbClr val="1C262E"/>
                </a:solidFill>
                <a:latin typeface="Noto Sans CJK SC"/>
              </a:rPr>
              <a:t>人均收入：价值1显著高于价值5，模型能识别高收入客群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36208" y="141732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8,351.09</a:t>
                      </a:r>
                    </a:p>
                  </a:txBody>
                  <a:tcPr anchor="ctr">
                    <a:solidFill>
                      <a:srgbClr val="F6D89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9,059.92</a:t>
                      </a:r>
                    </a:p>
                  </a:txBody>
                  <a:tcPr anchor="ctr">
                    <a:solidFill>
                      <a:srgbClr val="F5D49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10,050.63</a:t>
                      </a:r>
                    </a:p>
                  </a:txBody>
                  <a:tcPr anchor="ctr">
                    <a:solidFill>
                      <a:srgbClr val="F4D0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13,479.42</a:t>
                      </a:r>
                    </a:p>
                  </a:txBody>
                  <a:tcPr anchor="ctr">
                    <a:solidFill>
                      <a:srgbClr val="F0C16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19,425.10</a:t>
                      </a:r>
                    </a:p>
                  </a:txBody>
                  <a:tcPr anchor="ctr">
                    <a:solidFill>
                      <a:srgbClr val="EBAA3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9,611.45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6,159.43</a:t>
                      </a:r>
                    </a:p>
                  </a:txBody>
                  <a:tcPr anchor="ctr">
                    <a:solidFill>
                      <a:srgbClr val="F9E3B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6,669.10</a:t>
                      </a:r>
                    </a:p>
                  </a:txBody>
                  <a:tcPr anchor="ctr">
                    <a:solidFill>
                      <a:srgbClr val="F8E1B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7,216.02</a:t>
                      </a:r>
                    </a:p>
                  </a:txBody>
                  <a:tcPr anchor="ctr">
                    <a:solidFill>
                      <a:srgbClr val="F8DE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8,370.26</a:t>
                      </a:r>
                    </a:p>
                  </a:txBody>
                  <a:tcPr anchor="ctr">
                    <a:solidFill>
                      <a:srgbClr val="F6D89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10,388.78</a:t>
                      </a:r>
                    </a:p>
                  </a:txBody>
                  <a:tcPr anchor="ctr">
                    <a:solidFill>
                      <a:srgbClr val="F4CE8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7,284.21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5,059.43</a:t>
                      </a:r>
                    </a:p>
                  </a:txBody>
                  <a:tcPr anchor="ctr">
                    <a:solidFill>
                      <a:srgbClr val="FBEAC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5,581.24</a:t>
                      </a:r>
                    </a:p>
                  </a:txBody>
                  <a:tcPr anchor="ctr">
                    <a:solidFill>
                      <a:srgbClr val="FAE7C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6,002.29</a:t>
                      </a:r>
                    </a:p>
                  </a:txBody>
                  <a:tcPr anchor="ctr">
                    <a:solidFill>
                      <a:srgbClr val="F9E4B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6,610.18</a:t>
                      </a:r>
                    </a:p>
                  </a:txBody>
                  <a:tcPr anchor="ctr">
                    <a:solidFill>
                      <a:srgbClr val="F8E1B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8,395.64</a:t>
                      </a:r>
                    </a:p>
                  </a:txBody>
                  <a:tcPr anchor="ctr">
                    <a:solidFill>
                      <a:srgbClr val="F6D89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6,365.85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4,208.44</a:t>
                      </a:r>
                    </a:p>
                  </a:txBody>
                  <a:tcPr anchor="ctr">
                    <a:solidFill>
                      <a:srgbClr val="FCF0D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4,494.39</a:t>
                      </a:r>
                    </a:p>
                  </a:txBody>
                  <a:tcPr anchor="ctr">
                    <a:solidFill>
                      <a:srgbClr val="FCEED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5,001.28</a:t>
                      </a:r>
                    </a:p>
                  </a:txBody>
                  <a:tcPr anchor="ctr">
                    <a:solidFill>
                      <a:srgbClr val="FBEA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5,514.35</a:t>
                      </a:r>
                    </a:p>
                  </a:txBody>
                  <a:tcPr anchor="ctr">
                    <a:solidFill>
                      <a:srgbClr val="FAE7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7,102.55</a:t>
                      </a:r>
                    </a:p>
                  </a:txBody>
                  <a:tcPr anchor="ctr">
                    <a:solidFill>
                      <a:srgbClr val="F8DE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5,681.64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3,264.66</a:t>
                      </a:r>
                    </a:p>
                  </a:txBody>
                  <a:tcPr anchor="ctr">
                    <a:solidFill>
                      <a:srgbClr val="FFFA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3,373.50</a:t>
                      </a:r>
                    </a:p>
                  </a:txBody>
                  <a:tcPr anchor="ctr">
                    <a:solidFill>
                      <a:srgbClr val="FEF8E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3,451.16</a:t>
                      </a:r>
                    </a:p>
                  </a:txBody>
                  <a:tcPr anchor="ctr">
                    <a:solidFill>
                      <a:srgbClr val="FEF7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3,615.17</a:t>
                      </a:r>
                    </a:p>
                  </a:txBody>
                  <a:tcPr anchor="ctr">
                    <a:solidFill>
                      <a:srgbClr val="FDF5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4,152.63</a:t>
                      </a:r>
                    </a:p>
                  </a:txBody>
                  <a:tcPr anchor="ctr">
                    <a:solidFill>
                      <a:srgbClr val="FCF0D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3,924.40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6,442.75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5,894.10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5,540.59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5,261.06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5,138.09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5,271.98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76732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860" b="1">
                <a:solidFill>
                  <a:srgbClr val="1C262E"/>
                </a:solidFill>
                <a:latin typeface="Noto Sans CJK SC"/>
              </a:rPr>
              <a:t>完件给额率：高价值通过率显著更高，风险分层继续控质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411480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42.76%</a:t>
                      </a:r>
                    </a:p>
                  </a:txBody>
                  <a:tcPr anchor="ctr">
                    <a:solidFill>
                      <a:srgbClr val="4F9CB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41.16%</a:t>
                      </a:r>
                    </a:p>
                  </a:txBody>
                  <a:tcPr anchor="ctr">
                    <a:solidFill>
                      <a:srgbClr val="549EC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40.71%</a:t>
                      </a:r>
                    </a:p>
                  </a:txBody>
                  <a:tcPr anchor="ctr">
                    <a:solidFill>
                      <a:srgbClr val="559F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37.81%</a:t>
                      </a:r>
                    </a:p>
                  </a:txBody>
                  <a:tcPr anchor="ctr">
                    <a:solidFill>
                      <a:srgbClr val="5FA5C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26.94%</a:t>
                      </a:r>
                    </a:p>
                  </a:txBody>
                  <a:tcPr anchor="ctr">
                    <a:solidFill>
                      <a:srgbClr val="85BA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41.04%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34.61%</a:t>
                      </a:r>
                    </a:p>
                  </a:txBody>
                  <a:tcPr anchor="ctr">
                    <a:solidFill>
                      <a:srgbClr val="6AAB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36.12%</a:t>
                      </a:r>
                    </a:p>
                  </a:txBody>
                  <a:tcPr anchor="ctr">
                    <a:solidFill>
                      <a:srgbClr val="64A8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232323"/>
                          </a:solidFill>
                          <a:latin typeface="Noto Sans CJK SC"/>
                        </a:rPr>
                        <a:t>39.08%</a:t>
                      </a:r>
                    </a:p>
                  </a:txBody>
                  <a:tcPr anchor="ctr">
                    <a:solidFill>
                      <a:srgbClr val="5BA2C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31.53%</a:t>
                      </a:r>
                    </a:p>
                  </a:txBody>
                  <a:tcPr anchor="ctr">
                    <a:solidFill>
                      <a:srgbClr val="74B1C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22.83%</a:t>
                      </a:r>
                    </a:p>
                  </a:txBody>
                  <a:tcPr anchor="ctr">
                    <a:solidFill>
                      <a:srgbClr val="94C3D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34.40%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26.47%</a:t>
                      </a:r>
                    </a:p>
                  </a:txBody>
                  <a:tcPr anchor="ctr">
                    <a:solidFill>
                      <a:srgbClr val="86BB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30.69%</a:t>
                      </a:r>
                    </a:p>
                  </a:txBody>
                  <a:tcPr anchor="ctr">
                    <a:solidFill>
                      <a:srgbClr val="77B3C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32.10%</a:t>
                      </a:r>
                    </a:p>
                  </a:txBody>
                  <a:tcPr anchor="ctr">
                    <a:solidFill>
                      <a:srgbClr val="72B0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27.72%</a:t>
                      </a:r>
                    </a:p>
                  </a:txBody>
                  <a:tcPr anchor="ctr">
                    <a:solidFill>
                      <a:srgbClr val="82B9D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16.46%</a:t>
                      </a:r>
                    </a:p>
                  </a:txBody>
                  <a:tcPr anchor="ctr">
                    <a:solidFill>
                      <a:srgbClr val="AED2E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27.08%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17.77%</a:t>
                      </a:r>
                    </a:p>
                  </a:txBody>
                  <a:tcPr anchor="ctr">
                    <a:solidFill>
                      <a:srgbClr val="A9CFE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23.44%</a:t>
                      </a:r>
                    </a:p>
                  </a:txBody>
                  <a:tcPr anchor="ctr">
                    <a:solidFill>
                      <a:srgbClr val="92C2D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26.83%</a:t>
                      </a:r>
                    </a:p>
                  </a:txBody>
                  <a:tcPr anchor="ctr">
                    <a:solidFill>
                      <a:srgbClr val="85BB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21.06%</a:t>
                      </a:r>
                    </a:p>
                  </a:txBody>
                  <a:tcPr anchor="ctr">
                    <a:solidFill>
                      <a:srgbClr val="9BC7D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13.76%</a:t>
                      </a:r>
                    </a:p>
                  </a:txBody>
                  <a:tcPr anchor="ctr">
                    <a:solidFill>
                      <a:srgbClr val="BAD9E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19.97%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7.01%</a:t>
                      </a:r>
                    </a:p>
                  </a:txBody>
                  <a:tcPr anchor="ctr">
                    <a:solidFill>
                      <a:srgbClr val="DEEE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10.27%</a:t>
                      </a:r>
                    </a:p>
                  </a:txBody>
                  <a:tcPr anchor="ctr">
                    <a:solidFill>
                      <a:srgbClr val="CCE3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11.49%</a:t>
                      </a:r>
                    </a:p>
                  </a:txBody>
                  <a:tcPr anchor="ctr">
                    <a:solidFill>
                      <a:srgbClr val="C5DF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8.75%</a:t>
                      </a:r>
                    </a:p>
                  </a:txBody>
                  <a:tcPr anchor="ctr">
                    <a:solidFill>
                      <a:srgbClr val="D4E8F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4.83%</a:t>
                      </a:r>
                    </a:p>
                  </a:txBody>
                  <a:tcPr anchor="ctr">
                    <a:solidFill>
                      <a:srgbClr val="F2F9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6.57%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 dirty="0" err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  <a:endParaRPr sz="67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32.91%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29.12%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26.47%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17.40%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7.49%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17.32%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236208" y="376732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860" b="1">
                <a:solidFill>
                  <a:srgbClr val="1C262E"/>
                </a:solidFill>
                <a:latin typeface="Noto Sans CJK SC"/>
              </a:rPr>
              <a:t>可支配盈余：价值分层呈清晰盈余梯度，支持价值导向提额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36208" y="411480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价值分箱 \ 风险分箱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风险1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风险2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风险3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风险4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风险5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FFFFFF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052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价值1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216.95</a:t>
                      </a:r>
                    </a:p>
                  </a:txBody>
                  <a:tcPr anchor="ctr">
                    <a:solidFill>
                      <a:srgbClr val="FDF4E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410.19</a:t>
                      </a:r>
                    </a:p>
                  </a:txBody>
                  <a:tcPr anchor="ctr">
                    <a:solidFill>
                      <a:srgbClr val="FCF1D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2,002.47</a:t>
                      </a:r>
                    </a:p>
                  </a:txBody>
                  <a:tcPr anchor="ctr">
                    <a:solidFill>
                      <a:srgbClr val="F8E1B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5,333.05</a:t>
                      </a:r>
                    </a:p>
                  </a:txBody>
                  <a:tcPr anchor="ctr">
                    <a:solidFill>
                      <a:srgbClr val="F2C88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10,619.66</a:t>
                      </a:r>
                    </a:p>
                  </a:txBody>
                  <a:tcPr anchor="ctr">
                    <a:solidFill>
                      <a:srgbClr val="EAAA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1,333.55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价值2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2.13</a:t>
                      </a:r>
                    </a:p>
                  </a:txBody>
                  <a:tcPr anchor="ctr">
                    <a:solidFill>
                      <a:srgbClr val="FEF9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-92.57</a:t>
                      </a:r>
                    </a:p>
                  </a:txBody>
                  <a:tcPr anchor="ctr">
                    <a:solidFill>
                      <a:srgbClr val="FBFD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826.31</a:t>
                      </a:r>
                    </a:p>
                  </a:txBody>
                  <a:tcPr anchor="ctr">
                    <a:solidFill>
                      <a:srgbClr val="FBECD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1,834.58</a:t>
                      </a:r>
                    </a:p>
                  </a:txBody>
                  <a:tcPr anchor="ctr">
                    <a:solidFill>
                      <a:srgbClr val="F8E2B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3,052.31</a:t>
                      </a:r>
                    </a:p>
                  </a:txBody>
                  <a:tcPr anchor="ctr">
                    <a:solidFill>
                      <a:srgbClr val="F6D8A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745.29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价值3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 dirty="0">
                          <a:solidFill>
                            <a:srgbClr val="1C262E"/>
                          </a:solidFill>
                          <a:latin typeface="Noto Sans CJK SC"/>
                        </a:rPr>
                        <a:t>-275.88</a:t>
                      </a:r>
                    </a:p>
                  </a:txBody>
                  <a:tcPr anchor="ctr">
                    <a:solidFill>
                      <a:srgbClr val="F5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81.90</a:t>
                      </a:r>
                    </a:p>
                  </a:txBody>
                  <a:tcPr anchor="ctr">
                    <a:solidFill>
                      <a:srgbClr val="FEF7E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238.32</a:t>
                      </a:r>
                    </a:p>
                  </a:txBody>
                  <a:tcPr anchor="ctr">
                    <a:solidFill>
                      <a:srgbClr val="FDF4E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978.22</a:t>
                      </a:r>
                    </a:p>
                  </a:txBody>
                  <a:tcPr anchor="ctr">
                    <a:solidFill>
                      <a:srgbClr val="FBEAC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1,792.00</a:t>
                      </a:r>
                    </a:p>
                  </a:txBody>
                  <a:tcPr anchor="ctr">
                    <a:solidFill>
                      <a:srgbClr val="F8E2B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597.67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价值4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-343.75</a:t>
                      </a:r>
                    </a:p>
                  </a:txBody>
                  <a:tcPr anchor="ctr">
                    <a:solidFill>
                      <a:srgbClr val="F3F9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-104.97</a:t>
                      </a:r>
                    </a:p>
                  </a:txBody>
                  <a:tcPr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227.01</a:t>
                      </a:r>
                    </a:p>
                  </a:txBody>
                  <a:tcPr anchor="ctr">
                    <a:solidFill>
                      <a:srgbClr val="FDF4E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721.61</a:t>
                      </a:r>
                    </a:p>
                  </a:txBody>
                  <a:tcPr anchor="ctr">
                    <a:solidFill>
                      <a:srgbClr val="FBEDD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1,752.21</a:t>
                      </a:r>
                    </a:p>
                  </a:txBody>
                  <a:tcPr anchor="ctr">
                    <a:solidFill>
                      <a:srgbClr val="F9E3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760.52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价值5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-718.56</a:t>
                      </a:r>
                    </a:p>
                  </a:txBody>
                  <a:tcPr anchor="ctr">
                    <a:solidFill>
                      <a:srgbClr val="EAF5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-1,238.29</a:t>
                      </a:r>
                    </a:p>
                  </a:txBody>
                  <a:tcPr anchor="ctr">
                    <a:solidFill>
                      <a:srgbClr val="E0F0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-348.42</a:t>
                      </a:r>
                    </a:p>
                  </a:txBody>
                  <a:tcPr anchor="ctr">
                    <a:solidFill>
                      <a:srgbClr val="F3F9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-78.75</a:t>
                      </a:r>
                    </a:p>
                  </a:txBody>
                  <a:tcPr anchor="ctr">
                    <a:solidFill>
                      <a:srgbClr val="FBFDF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0">
                          <a:solidFill>
                            <a:srgbClr val="1C262E"/>
                          </a:solidFill>
                          <a:latin typeface="Noto Sans CJK SC"/>
                        </a:rPr>
                        <a:t>308.28</a:t>
                      </a:r>
                    </a:p>
                  </a:txBody>
                  <a:tcPr anchor="ctr">
                    <a:solidFill>
                      <a:srgbClr val="FDF3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84.15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合计</a:t>
                      </a:r>
                    </a:p>
                  </a:txBody>
                  <a:tcPr anchor="ctr"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-42.67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-146.65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306.06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622.97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>
                          <a:solidFill>
                            <a:srgbClr val="052338"/>
                          </a:solidFill>
                          <a:latin typeface="Noto Sans CJK SC"/>
                        </a:rPr>
                        <a:t>768.15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520" b="1" dirty="0">
                          <a:solidFill>
                            <a:srgbClr val="052338"/>
                          </a:solidFill>
                          <a:latin typeface="Noto Sans CJK SC"/>
                        </a:rPr>
                        <a:t>393.70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7184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66928" y="246888"/>
            <a:ext cx="5486400" cy="402336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2200" b="1" dirty="0" err="1">
                <a:solidFill>
                  <a:srgbClr val="0E2841"/>
                </a:solidFill>
                <a:latin typeface="Microsoft YaHei"/>
              </a:rPr>
              <a:t>价值好</a:t>
            </a:r>
            <a:r>
              <a:rPr lang="zh-CN" altLang="en-US" sz="2200" b="1" dirty="0">
                <a:solidFill>
                  <a:srgbClr val="0E2841"/>
                </a:solidFill>
                <a:latin typeface="Microsoft YaHei"/>
              </a:rPr>
              <a:t>和风险好为两种不同的识别人群</a:t>
            </a:r>
            <a:endParaRPr sz="2200" b="1" dirty="0">
              <a:solidFill>
                <a:srgbClr val="0E2841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19" y="815332"/>
            <a:ext cx="11155680" cy="9144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02919" y="1185062"/>
            <a:ext cx="4573781" cy="280077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1400" b="1" dirty="0" err="1">
                <a:solidFill>
                  <a:srgbClr val="0E2841"/>
                </a:solidFill>
                <a:latin typeface="Microsoft YaHei"/>
              </a:rPr>
              <a:t>一、申请样本：价值好</a:t>
            </a:r>
            <a:r>
              <a:rPr sz="1400" b="1" dirty="0">
                <a:solidFill>
                  <a:srgbClr val="0E2841"/>
                </a:solidFill>
                <a:latin typeface="Microsoft YaHei"/>
              </a:rPr>
              <a:t> Top20 vs </a:t>
            </a:r>
            <a:r>
              <a:rPr sz="1400" b="1" dirty="0" err="1">
                <a:solidFill>
                  <a:srgbClr val="0E2841"/>
                </a:solidFill>
                <a:latin typeface="Microsoft YaHei"/>
              </a:rPr>
              <a:t>风险好</a:t>
            </a:r>
            <a:r>
              <a:rPr sz="1400" b="1" dirty="0">
                <a:solidFill>
                  <a:srgbClr val="0E2841"/>
                </a:solidFill>
                <a:latin typeface="Microsoft YaHei"/>
              </a:rPr>
              <a:t> Top20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1021" y="1151364"/>
            <a:ext cx="2331720" cy="347472"/>
          </a:xfrm>
          <a:prstGeom prst="roundRect">
            <a:avLst/>
          </a:prstGeom>
          <a:solidFill>
            <a:srgbClr val="4574BF"/>
          </a:solidFill>
          <a:ln>
            <a:solidFill>
              <a:srgbClr val="2D5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27432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YaHei"/>
              </a:rPr>
              <a:t>模型相关性</a:t>
            </a:r>
            <a:r>
              <a:rPr sz="1500" b="1" dirty="0">
                <a:solidFill>
                  <a:srgbClr val="FFFFFF"/>
                </a:solidFill>
                <a:latin typeface="Microsoft YaHei"/>
              </a:rPr>
              <a:t> 0.5818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517" y="5544969"/>
            <a:ext cx="283464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27432" rtlCol="0" anchor="ctr"/>
          <a:lstStyle/>
          <a:p>
            <a:pPr algn="ctr"/>
            <a:r>
              <a:rPr sz="1200" b="1" dirty="0" err="1">
                <a:solidFill>
                  <a:srgbClr val="0E2841"/>
                </a:solidFill>
                <a:latin typeface="Microsoft YaHei"/>
              </a:rPr>
              <a:t>样本量</a:t>
            </a:r>
            <a:r>
              <a:rPr lang="zh-CN" altLang="en-US" sz="1200" b="1" dirty="0">
                <a:solidFill>
                  <a:srgbClr val="0E2841"/>
                </a:solidFill>
                <a:latin typeface="Microsoft YaHei"/>
              </a:rPr>
              <a:t>申请</a:t>
            </a:r>
            <a:r>
              <a:rPr sz="1200" b="1" dirty="0">
                <a:solidFill>
                  <a:srgbClr val="0E2841"/>
                </a:solidFill>
                <a:latin typeface="Microsoft YaHei"/>
              </a:rPr>
              <a:t> 157,741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43597" y="5544969"/>
            <a:ext cx="1847088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27432" rtlCol="0" anchor="ctr"/>
          <a:lstStyle/>
          <a:p>
            <a:pPr algn="ctr"/>
            <a:r>
              <a:rPr sz="1100" b="1" dirty="0">
                <a:solidFill>
                  <a:srgbClr val="0E2841"/>
                </a:solidFill>
                <a:latin typeface="Microsoft YaHei"/>
              </a:rPr>
              <a:t>2025.10–2026.05.20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674088"/>
          <a:ext cx="1113739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  <a:endParaRPr sz="10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风险好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价值好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差异/变化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差异解读</a:t>
                      </a:r>
                      <a:endParaRPr sz="10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CB9E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余额标准差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02034"/>
                          </a:solidFill>
                          <a:latin typeface="Microsoft YaHei"/>
                        </a:rPr>
                        <a:t>2,688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102034"/>
                          </a:solidFill>
                          <a:latin typeface="Microsoft YaHei"/>
                        </a:rPr>
                        <a:t>6,360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0000"/>
                          </a:solidFill>
                          <a:latin typeface="Microsoft YaHei"/>
                        </a:rPr>
                        <a:t>+136.6%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价值看资金活跃度，风险更关注波动稳定性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总支出金额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66,684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139,715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0000"/>
                          </a:solidFill>
                          <a:latin typeface="Microsoft YaHei"/>
                        </a:rPr>
                        <a:t>+109.5%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价值看消费能力，风险更关注支出压力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工资收入总额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20,922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41,139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B050"/>
                          </a:solidFill>
                          <a:latin typeface="Microsoft YaHei"/>
                        </a:rPr>
                        <a:t>+96.6%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价值看收入能力，风险对高收入并不敏感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</a:t>
                      </a:r>
                      <a:r>
                        <a:rPr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Centrelink 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占比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10.2%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2.1%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B050"/>
                          </a:solidFill>
                          <a:latin typeface="Microsoft YaHei"/>
                        </a:rPr>
                        <a:t>-79.4%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价值更偏自主收入，风险并非单看福利依赖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历史信贷还款金额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15,780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20,439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B050"/>
                          </a:solidFill>
                          <a:latin typeface="Microsoft YaHei"/>
                        </a:rPr>
                        <a:t>+29.5%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价值看信贷承载力，风险更关注还款压力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天银行卡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余额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平均值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2,633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3,920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B050"/>
                          </a:solidFill>
                          <a:latin typeface="Microsoft YaHei"/>
                        </a:rPr>
                        <a:t>+48.9%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价值看资金沉淀，风险更关注资金稳定性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近</a:t>
                      </a:r>
                      <a:r>
                        <a:rPr lang="en-US" altLang="zh-CN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180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天银行卡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盈余</a:t>
                      </a:r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平均值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02034"/>
                          </a:solidFill>
                          <a:latin typeface="Microsoft YaHei"/>
                        </a:rPr>
                        <a:t>-42.67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02034"/>
                          </a:solidFill>
                          <a:latin typeface="Microsoft YaHei"/>
                        </a:rPr>
                        <a:t>1,333.55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B050"/>
                          </a:solidFill>
                          <a:latin typeface="Microsoft YaHei"/>
                        </a:rPr>
                        <a:t>+1,376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价值看可支配空间，风险对此区分有限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平均</a:t>
                      </a:r>
                      <a:r>
                        <a:rPr sz="95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年龄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02034"/>
                          </a:solidFill>
                          <a:latin typeface="Microsoft YaHei"/>
                        </a:rPr>
                        <a:t>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102034"/>
                          </a:solidFill>
                          <a:latin typeface="Microsoft YaHei"/>
                        </a:rPr>
                        <a:t>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chemeClr val="tx2"/>
                          </a:solidFill>
                          <a:latin typeface="Microsoft YaHei"/>
                        </a:rPr>
                        <a:t>+12.9%</a:t>
                      </a: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价值客群更成熟，风险并不单看年龄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5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违约次数</a:t>
                      </a:r>
                      <a:endParaRPr sz="95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rgbClr val="102034"/>
                          </a:solidFill>
                          <a:latin typeface="Microsoft YaHei"/>
                        </a:rPr>
                        <a:t>1.8</a:t>
                      </a:r>
                      <a:endParaRPr sz="1050" b="0" dirty="0">
                        <a:solidFill>
                          <a:srgbClr val="102034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102034"/>
                          </a:solidFill>
                          <a:latin typeface="Microsoft YaHei"/>
                        </a:rPr>
                        <a:t>3.9</a:t>
                      </a:r>
                      <a:endParaRPr sz="1050" b="1" dirty="0">
                        <a:solidFill>
                          <a:srgbClr val="102034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Microsoft YaHei"/>
                        </a:rPr>
                        <a:t>+100%</a:t>
                      </a:r>
                      <a:endParaRPr sz="1050" b="1" dirty="0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A4B00"/>
                          </a:solidFill>
                          <a:latin typeface="Microsoft YaHei"/>
                        </a:rPr>
                        <a:t>价值高不等于风险低，风险更关注履约表现</a:t>
                      </a:r>
                      <a:endParaRPr sz="1050" b="1" dirty="0">
                        <a:solidFill>
                          <a:srgbClr val="6A4B00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FF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0256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5492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1" y="240860"/>
            <a:ext cx="9589123" cy="307777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dirty="0"/>
              <a:t>价值评级补齐风险评级的盈余盲区：有效刻画客户盈余，实现盈余与风险双重排序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E04376B-CF00-4A4B-B63F-97F41060BA5D}"/>
              </a:ext>
            </a:extLst>
          </p:cNvPr>
          <p:cNvSpPr txBox="1"/>
          <p:nvPr/>
        </p:nvSpPr>
        <p:spPr>
          <a:xfrm>
            <a:off x="6338819" y="3694181"/>
            <a:ext cx="542643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金额逾期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3m30+: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两倍小于笔数逾期，差异化额度下有望进一步下降</a:t>
            </a:r>
            <a:endParaRPr kumimoji="0" lang="en-US" altLang="zh-CN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0EC827E5-EB82-4A44-9412-286F79E78DF8}"/>
              </a:ext>
            </a:extLst>
          </p:cNvPr>
          <p:cNvSpPr txBox="1"/>
          <p:nvPr/>
        </p:nvSpPr>
        <p:spPr>
          <a:xfrm>
            <a:off x="426751" y="3630173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笔数逾期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3m30+:</a:t>
            </a:r>
            <a:r>
              <a:rPr lang="zh-CN" altLang="en-US" sz="1400" dirty="0"/>
              <a:t>双优提额，双差压降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C2D757A3-6CEA-49CF-9AB5-BD83DED627DD}"/>
              </a:ext>
            </a:extLst>
          </p:cNvPr>
          <p:cNvSpPr txBox="1"/>
          <p:nvPr/>
        </p:nvSpPr>
        <p:spPr>
          <a:xfrm>
            <a:off x="486659" y="840062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dirty="0"/>
              <a:t>成交件均：价值越高，风险越高，平均成交金额越高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472D56FA-F578-45D1-9A31-47225E4B78B4}"/>
              </a:ext>
            </a:extLst>
          </p:cNvPr>
          <p:cNvSpPr txBox="1"/>
          <p:nvPr/>
        </p:nvSpPr>
        <p:spPr>
          <a:xfrm>
            <a:off x="6338819" y="792621"/>
            <a:ext cx="4389120" cy="215444"/>
          </a:xfrm>
          <a:prstGeom prst="rect">
            <a:avLst/>
          </a:prstGeom>
          <a:noFill/>
        </p:spPr>
        <p:txBody>
          <a:bodyPr wrap="square" lIns="0" tIns="0" rIns="36576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可支配盈余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20262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: </a:t>
            </a:r>
            <a:r>
              <a:rPr lang="zh-CN" altLang="en-US" sz="1400" dirty="0"/>
              <a:t>价值评级对盈余呈现清晰排序</a:t>
            </a:r>
            <a:endParaRPr kumimoji="0" lang="zh-CN" altLang="en-US" sz="1250" b="1" i="0" u="none" strike="noStrike" kern="1200" cap="none" spc="0" normalizeH="0" baseline="0" noProof="0" dirty="0">
              <a:ln>
                <a:noFill/>
              </a:ln>
              <a:solidFill>
                <a:srgbClr val="20262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094436"/>
              </p:ext>
            </p:extLst>
          </p:nvPr>
        </p:nvGraphicFramePr>
        <p:xfrm>
          <a:off x="411480" y="1371600"/>
          <a:ext cx="5230364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9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7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 marL="18288" marR="18288" marT="9144" marB="9144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 marL="18288" marR="18288" marT="9144" marB="9144">
                    <a:solidFill>
                      <a:srgbClr val="0F37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 marL="18288" marR="18288" marT="9144" marB="9144">
                    <a:solidFill>
                      <a:srgbClr val="0F44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 marL="18288" marR="18288" marT="9144" marB="9144">
                    <a:solidFill>
                      <a:srgbClr val="0F52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 marL="18288" marR="18288" marT="9144" marB="9144">
                    <a:solidFill>
                      <a:srgbClr val="0F5F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 marL="18288" marR="18288" marT="9144" marB="9144">
                    <a:solidFill>
                      <a:srgbClr val="0F6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0F7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1,626.88</a:t>
                      </a:r>
                    </a:p>
                  </a:txBody>
                  <a:tcPr marL="18288" marR="18288" marT="9144" marB="9144">
                    <a:solidFill>
                      <a:srgbClr val="F2D8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1,436.99</a:t>
                      </a:r>
                    </a:p>
                  </a:txBody>
                  <a:tcPr marL="18288" marR="18288" marT="9144" marB="9144">
                    <a:solidFill>
                      <a:srgbClr val="F4D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1,326.28</a:t>
                      </a:r>
                    </a:p>
                  </a:txBody>
                  <a:tcPr marL="18288" marR="18288" marT="9144" marB="9144">
                    <a:solidFill>
                      <a:srgbClr val="F6E3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1,347.15</a:t>
                      </a:r>
                    </a:p>
                  </a:txBody>
                  <a:tcPr marL="18288" marR="18288" marT="9144" marB="9144">
                    <a:solidFill>
                      <a:srgbClr val="F5E3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1,449.17</a:t>
                      </a:r>
                    </a:p>
                  </a:txBody>
                  <a:tcPr marL="18288" marR="18288" marT="9144" marB="9144">
                    <a:solidFill>
                      <a:srgbClr val="F4DF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1,511.18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1,357.29</a:t>
                      </a:r>
                    </a:p>
                  </a:txBody>
                  <a:tcPr marL="18288" marR="18288" marT="9144" marB="9144">
                    <a:solidFill>
                      <a:srgbClr val="F5E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1,251.73</a:t>
                      </a:r>
                    </a:p>
                  </a:txBody>
                  <a:tcPr marL="18288" marR="18288" marT="9144" marB="9144">
                    <a:solidFill>
                      <a:srgbClr val="F7E6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1,136.60</a:t>
                      </a:r>
                    </a:p>
                  </a:txBody>
                  <a:tcPr marL="18288" marR="18288" marT="9144" marB="9144">
                    <a:solidFill>
                      <a:srgbClr val="F8EB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1,128.42</a:t>
                      </a:r>
                    </a:p>
                  </a:txBody>
                  <a:tcPr marL="18288" marR="18288" marT="9144" marB="9144">
                    <a:solidFill>
                      <a:srgbClr val="F8EB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1,277.57</a:t>
                      </a:r>
                    </a:p>
                  </a:txBody>
                  <a:tcPr marL="18288" marR="18288" marT="9144" marB="9144">
                    <a:solidFill>
                      <a:srgbClr val="F6E5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1,239.72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805200"/>
                          </a:solidFill>
                          <a:latin typeface="Microsoft YaHei"/>
                        </a:rPr>
                        <a:t>1,253.35</a:t>
                      </a:r>
                    </a:p>
                  </a:txBody>
                  <a:tcPr marL="18288" marR="18288" marT="9144" marB="9144">
                    <a:solidFill>
                      <a:srgbClr val="F7E6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1,074.20</a:t>
                      </a:r>
                    </a:p>
                  </a:txBody>
                  <a:tcPr marL="18288" marR="18288" marT="9144" marB="9144">
                    <a:solidFill>
                      <a:srgbClr val="F9EE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805200"/>
                          </a:solidFill>
                          <a:latin typeface="Microsoft YaHei"/>
                        </a:rPr>
                        <a:t>1,009.51</a:t>
                      </a:r>
                    </a:p>
                  </a:txBody>
                  <a:tcPr marL="18288" marR="18288" marT="9144" marB="9144">
                    <a:solidFill>
                      <a:srgbClr val="FAF0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805200"/>
                          </a:solidFill>
                          <a:latin typeface="Microsoft YaHei"/>
                        </a:rPr>
                        <a:t>970.82</a:t>
                      </a:r>
                    </a:p>
                  </a:txBody>
                  <a:tcPr marL="18288" marR="18288" marT="9144" marB="9144">
                    <a:solidFill>
                      <a:srgbClr val="FBF2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1,134.62</a:t>
                      </a:r>
                    </a:p>
                  </a:txBody>
                  <a:tcPr marL="18288" marR="18288" marT="9144" marB="9144">
                    <a:solidFill>
                      <a:srgbClr val="F8EB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1,068.63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1,107.44</a:t>
                      </a:r>
                    </a:p>
                  </a:txBody>
                  <a:tcPr marL="18288" marR="18288" marT="9144" marB="9144">
                    <a:solidFill>
                      <a:srgbClr val="F9EC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987.53</a:t>
                      </a:r>
                    </a:p>
                  </a:txBody>
                  <a:tcPr marL="18288" marR="18288" marT="9144" marB="9144">
                    <a:solidFill>
                      <a:srgbClr val="FAF1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870.72</a:t>
                      </a:r>
                    </a:p>
                  </a:txBody>
                  <a:tcPr marL="18288" marR="18288" marT="9144" marB="9144">
                    <a:solidFill>
                      <a:srgbClr val="FC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805200"/>
                          </a:solidFill>
                          <a:latin typeface="Microsoft YaHei"/>
                        </a:rPr>
                        <a:t>824.45</a:t>
                      </a:r>
                    </a:p>
                  </a:txBody>
                  <a:tcPr marL="18288" marR="18288" marT="9144" marB="9144">
                    <a:solidFill>
                      <a:srgbClr val="FD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947.39</a:t>
                      </a:r>
                    </a:p>
                  </a:txBody>
                  <a:tcPr marL="18288" marR="18288" marT="9144" marB="9144">
                    <a:solidFill>
                      <a:srgbClr val="FBF3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909.91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973.39</a:t>
                      </a:r>
                    </a:p>
                  </a:txBody>
                  <a:tcPr marL="18288" marR="18288" marT="9144" marB="9144">
                    <a:solidFill>
                      <a:srgbClr val="FBF2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802.18</a:t>
                      </a:r>
                    </a:p>
                  </a:txBody>
                  <a:tcPr marL="18288" marR="18288" marT="9144" marB="9144">
                    <a:solidFill>
                      <a:srgbClr val="FDF8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745.08</a:t>
                      </a:r>
                    </a:p>
                  </a:txBody>
                  <a:tcPr marL="18288" marR="18288" marT="9144" marB="9144">
                    <a:solidFill>
                      <a:srgbClr val="FEF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805200"/>
                          </a:solidFill>
                          <a:latin typeface="Microsoft YaHei"/>
                        </a:rPr>
                        <a:t>698.93</a:t>
                      </a:r>
                    </a:p>
                  </a:txBody>
                  <a:tcPr marL="18288" marR="18288" marT="9144" marB="9144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805200"/>
                          </a:solidFill>
                          <a:latin typeface="Microsoft YaHei"/>
                        </a:rPr>
                        <a:t>760.29</a:t>
                      </a:r>
                    </a:p>
                  </a:txBody>
                  <a:tcPr marL="18288" marR="18288" marT="9144" marB="9144">
                    <a:solidFill>
                      <a:srgbClr val="FEFA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747.20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1,459.16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1,187.15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1,011.81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912.93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9</a:t>
                      </a:r>
                      <a:r>
                        <a:rPr lang="en-US"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0</a:t>
                      </a:r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2.74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1,105.17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63640" y="1307592"/>
          <a:ext cx="5285232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4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 marL="18288" marR="18288" marT="9144" marB="9144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 marL="18288" marR="18288" marT="9144" marB="9144">
                    <a:solidFill>
                      <a:srgbClr val="0F37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 marL="18288" marR="18288" marT="9144" marB="9144">
                    <a:solidFill>
                      <a:srgbClr val="0F44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 marL="18288" marR="18288" marT="9144" marB="9144">
                    <a:solidFill>
                      <a:srgbClr val="0F52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 marL="18288" marR="18288" marT="9144" marB="9144">
                    <a:solidFill>
                      <a:srgbClr val="0F5F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 marL="18288" marR="18288" marT="9144" marB="9144">
                    <a:solidFill>
                      <a:srgbClr val="0F6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0F7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1,602.39</a:t>
                      </a:r>
                    </a:p>
                  </a:txBody>
                  <a:tcPr marL="18288" marR="18288" marT="9144" marB="9144">
                    <a:solidFill>
                      <a:srgbClr val="E4EF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1,980.21</a:t>
                      </a:r>
                    </a:p>
                  </a:txBody>
                  <a:tcPr marL="18288" marR="18288" marT="9144" marB="9144">
                    <a:solidFill>
                      <a:srgbClr val="DD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2,358.63</a:t>
                      </a:r>
                    </a:p>
                  </a:txBody>
                  <a:tcPr marL="18288" marR="18288" marT="9144" marB="9144">
                    <a:solidFill>
                      <a:srgbClr val="D6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3,531.84</a:t>
                      </a:r>
                    </a:p>
                  </a:txBody>
                  <a:tcPr marL="18288" marR="18288" marT="9144" marB="9144">
                    <a:solidFill>
                      <a:srgbClr val="C0D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4,106.40</a:t>
                      </a:r>
                    </a:p>
                  </a:txBody>
                  <a:tcPr marL="18288" marR="18288" marT="9144" marB="9144">
                    <a:solidFill>
                      <a:srgbClr val="B6D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2,032.22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1,069.64</a:t>
                      </a:r>
                    </a:p>
                  </a:txBody>
                  <a:tcPr marL="18288" marR="18288" marT="9144" marB="9144">
                    <a:solidFill>
                      <a:srgbClr val="EE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1,370.52</a:t>
                      </a:r>
                    </a:p>
                  </a:txBody>
                  <a:tcPr marL="18288" marR="18288" marT="9144" marB="9144">
                    <a:solidFill>
                      <a:srgbClr val="E9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1,660.97</a:t>
                      </a:r>
                    </a:p>
                  </a:txBody>
                  <a:tcPr marL="18288" marR="18288" marT="9144" marB="9144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2,200.43</a:t>
                      </a:r>
                    </a:p>
                  </a:txBody>
                  <a:tcPr marL="18288" marR="18288" marT="9144" marB="9144"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2,723.21</a:t>
                      </a:r>
                    </a:p>
                  </a:txBody>
                  <a:tcPr marL="18288" marR="18288" marT="9144" marB="9144">
                    <a:solidFill>
                      <a:srgbClr val="CFE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1,568.16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875.76</a:t>
                      </a:r>
                    </a:p>
                  </a:txBody>
                  <a:tcPr marL="18288" marR="18288" marT="9144" marB="9144">
                    <a:solidFill>
                      <a:srgbClr val="F2F7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1,099.73</a:t>
                      </a:r>
                    </a:p>
                  </a:txBody>
                  <a:tcPr marL="18288" marR="18288" marT="9144" marB="9144">
                    <a:solidFill>
                      <a:srgbClr val="EE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1,313.17</a:t>
                      </a:r>
                    </a:p>
                  </a:txBody>
                  <a:tcPr marL="18288" marR="18288" marT="9144" marB="9144"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1,616.41</a:t>
                      </a:r>
                    </a:p>
                  </a:txBody>
                  <a:tcPr marL="18288" marR="18288" marT="9144" marB="9144">
                    <a:solidFill>
                      <a:srgbClr val="E4EF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2,086.93</a:t>
                      </a:r>
                    </a:p>
                  </a:txBody>
                  <a:tcPr marL="18288" marR="18288" marT="9144" marB="9144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1,358.43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845.45</a:t>
                      </a:r>
                    </a:p>
                  </a:txBody>
                  <a:tcPr marL="18288" marR="18288" marT="9144" marB="9144">
                    <a:solidFill>
                      <a:srgbClr val="F2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927.10</a:t>
                      </a:r>
                    </a:p>
                  </a:txBody>
                  <a:tcPr marL="18288" marR="18288" marT="9144" marB="9144">
                    <a:solidFill>
                      <a:srgbClr val="F1F7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1,145.75</a:t>
                      </a:r>
                    </a:p>
                  </a:txBody>
                  <a:tcPr marL="18288" marR="18288" marT="9144" marB="9144">
                    <a:solidFill>
                      <a:srgbClr val="ED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1,446.75</a:t>
                      </a:r>
                    </a:p>
                  </a:txBody>
                  <a:tcPr marL="18288" marR="18288" marT="9144" marB="9144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1,738.43</a:t>
                      </a:r>
                    </a:p>
                  </a:txBody>
                  <a:tcPr marL="18288" marR="18288" marT="9144" marB="9144">
                    <a:solidFill>
                      <a:srgbClr val="E2E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1,308.91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674.40</a:t>
                      </a:r>
                    </a:p>
                  </a:txBody>
                  <a:tcPr marL="18288" marR="18288" marT="9144" marB="9144">
                    <a:solidFill>
                      <a:srgbClr val="F6FA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835.56</a:t>
                      </a:r>
                    </a:p>
                  </a:txBody>
                  <a:tcPr marL="18288" marR="18288" marT="9144" marB="9144">
                    <a:solidFill>
                      <a:srgbClr val="F2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979.01</a:t>
                      </a:r>
                    </a:p>
                  </a:txBody>
                  <a:tcPr marL="18288" marR="18288" marT="9144" marB="9144"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1,161.22</a:t>
                      </a:r>
                    </a:p>
                  </a:txBody>
                  <a:tcPr marL="18288" marR="18288" marT="9144" marB="9144">
                    <a:solidFill>
                      <a:srgbClr val="EC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63E63"/>
                          </a:solidFill>
                          <a:latin typeface="Microsoft YaHei"/>
                        </a:rPr>
                        <a:t>1,432.11</a:t>
                      </a:r>
                    </a:p>
                  </a:txBody>
                  <a:tcPr marL="18288" marR="18288" marT="9144" marB="9144">
                    <a:solidFill>
                      <a:srgbClr val="E7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0E304A"/>
                          </a:solidFill>
                          <a:latin typeface="Microsoft YaHei"/>
                        </a:rPr>
                        <a:t>1,231.61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1,294.81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1,355.75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1,450.93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1,687.52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1,785.77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1,507.53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11480" y="4050791"/>
          <a:ext cx="5230364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9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7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/>
                      <a:r>
                        <a:rPr sz="59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价值分箱</a:t>
                      </a:r>
                      <a:r>
                        <a:rPr sz="59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 \ </a:t>
                      </a:r>
                      <a:r>
                        <a:rPr sz="59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风险分箱</a:t>
                      </a:r>
                      <a:endParaRPr sz="59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marL="18288" marR="18288" marT="9144" marB="9144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 marL="18288" marR="18288" marT="9144" marB="9144">
                    <a:solidFill>
                      <a:srgbClr val="0F37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 marL="18288" marR="18288" marT="9144" marB="9144">
                    <a:solidFill>
                      <a:srgbClr val="0F44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 marL="18288" marR="18288" marT="9144" marB="9144">
                    <a:solidFill>
                      <a:srgbClr val="0F52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 marL="18288" marR="18288" marT="9144" marB="9144">
                    <a:solidFill>
                      <a:srgbClr val="0F5F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 marL="18288" marR="18288" marT="9144" marB="9144">
                    <a:solidFill>
                      <a:srgbClr val="0F6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0F7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9C2F43"/>
                          </a:solidFill>
                          <a:latin typeface="Microsoft YaHei"/>
                        </a:rPr>
                        <a:t>5.74%</a:t>
                      </a:r>
                    </a:p>
                  </a:txBody>
                  <a:tcPr marL="18288" marR="18288" marT="9144" marB="9144">
                    <a:solidFill>
                      <a:srgbClr val="FE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5.99%</a:t>
                      </a:r>
                    </a:p>
                  </a:txBody>
                  <a:tcPr marL="18288" marR="18288" marT="9144" marB="9144">
                    <a:solidFill>
                      <a:srgbClr val="FE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10.57%</a:t>
                      </a:r>
                    </a:p>
                  </a:txBody>
                  <a:tcPr marL="18288" marR="18288" marT="9144" marB="9144">
                    <a:solidFill>
                      <a:srgbClr val="FB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10.55%</a:t>
                      </a:r>
                    </a:p>
                  </a:txBody>
                  <a:tcPr marL="18288" marR="18288" marT="9144" marB="9144">
                    <a:solidFill>
                      <a:srgbClr val="FB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10.42%</a:t>
                      </a:r>
                    </a:p>
                  </a:txBody>
                  <a:tcPr marL="18288" marR="18288" marT="9144" marB="9144">
                    <a:solidFill>
                      <a:srgbClr val="FB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7.05%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5.46%</a:t>
                      </a:r>
                    </a:p>
                  </a:txBody>
                  <a:tcPr marL="18288" marR="18288" marT="9144" marB="9144"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8.38%</a:t>
                      </a:r>
                    </a:p>
                  </a:txBody>
                  <a:tcPr marL="18288" marR="18288" marT="9144" marB="9144">
                    <a:solidFill>
                      <a:srgbClr val="FC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9.69%</a:t>
                      </a:r>
                    </a:p>
                  </a:txBody>
                  <a:tcPr marL="18288" marR="18288" marT="9144" marB="9144">
                    <a:solidFill>
                      <a:srgbClr val="FCEA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13.80%</a:t>
                      </a:r>
                    </a:p>
                  </a:txBody>
                  <a:tcPr marL="18288" marR="18288" marT="9144" marB="9144">
                    <a:solidFill>
                      <a:srgbClr val="F9DD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14.34%</a:t>
                      </a:r>
                    </a:p>
                  </a:txBody>
                  <a:tcPr marL="18288" marR="18288" marT="9144" marB="9144">
                    <a:solidFill>
                      <a:srgbClr val="F8DB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9.46%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6.35%</a:t>
                      </a:r>
                    </a:p>
                  </a:txBody>
                  <a:tcPr marL="18288" marR="18288" marT="9144" marB="9144">
                    <a:solidFill>
                      <a:srgbClr val="FE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8.38%</a:t>
                      </a:r>
                    </a:p>
                  </a:txBody>
                  <a:tcPr marL="18288" marR="18288" marT="9144" marB="9144">
                    <a:solidFill>
                      <a:srgbClr val="FC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10.78%</a:t>
                      </a:r>
                    </a:p>
                  </a:txBody>
                  <a:tcPr marL="18288" marR="18288" marT="9144" marB="9144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11.76%</a:t>
                      </a:r>
                    </a:p>
                  </a:txBody>
                  <a:tcPr marL="18288" marR="18288" marT="9144" marB="9144">
                    <a:solidFill>
                      <a:srgbClr val="FAE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14.61%</a:t>
                      </a:r>
                    </a:p>
                  </a:txBody>
                  <a:tcPr marL="18288" marR="18288" marT="9144" marB="9144">
                    <a:solidFill>
                      <a:srgbClr val="F8D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10.61%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8.04%</a:t>
                      </a:r>
                    </a:p>
                  </a:txBody>
                  <a:tcPr marL="18288" marR="18288" marT="9144" marB="9144">
                    <a:solidFill>
                      <a:srgbClr val="FDEF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8.15%</a:t>
                      </a:r>
                    </a:p>
                  </a:txBody>
                  <a:tcPr marL="18288" marR="18288" marT="9144" marB="9144">
                    <a:solidFill>
                      <a:srgbClr val="FDEF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14.88%</a:t>
                      </a:r>
                    </a:p>
                  </a:txBody>
                  <a:tcPr marL="18288" marR="18288" marT="9144" marB="9144">
                    <a:solidFill>
                      <a:srgbClr val="F8D9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16.80%</a:t>
                      </a:r>
                    </a:p>
                  </a:txBody>
                  <a:tcPr marL="18288" marR="18288" marT="9144" marB="9144">
                    <a:solidFill>
                      <a:srgbClr val="F7D3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20.27%</a:t>
                      </a:r>
                    </a:p>
                  </a:txBody>
                  <a:tcPr marL="18288" marR="18288" marT="9144" marB="9144">
                    <a:solidFill>
                      <a:srgbClr val="F4C8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15.91%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11.54%</a:t>
                      </a:r>
                    </a:p>
                  </a:txBody>
                  <a:tcPr marL="18288" marR="18288" marT="9144" marB="9144">
                    <a:solidFill>
                      <a:srgbClr val="FA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10.83%</a:t>
                      </a:r>
                    </a:p>
                  </a:txBody>
                  <a:tcPr marL="18288" marR="18288" marT="9144" marB="9144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13.31%</a:t>
                      </a:r>
                    </a:p>
                  </a:txBody>
                  <a:tcPr marL="18288" marR="18288" marT="9144" marB="9144">
                    <a:solidFill>
                      <a:srgbClr val="F9D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19.28%</a:t>
                      </a:r>
                    </a:p>
                  </a:txBody>
                  <a:tcPr marL="18288" marR="18288" marT="9144" marB="9144">
                    <a:solidFill>
                      <a:srgbClr val="F5CB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27.05%</a:t>
                      </a:r>
                    </a:p>
                  </a:txBody>
                  <a:tcPr marL="18288" marR="18288" marT="9144" marB="9144">
                    <a:solidFill>
                      <a:srgbClr val="F0B3B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22.90%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5.92%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7.79%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11.70%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15.16%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22.02%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13.19%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3640" y="4014215"/>
          <a:ext cx="5285232" cy="1856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53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4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6996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 marL="18288" marR="18288" marT="9144" marB="9144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 marL="18288" marR="18288" marT="9144" marB="9144">
                    <a:solidFill>
                      <a:srgbClr val="0F37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 marL="18288" marR="18288" marT="9144" marB="9144">
                    <a:solidFill>
                      <a:srgbClr val="0F44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 marL="18288" marR="18288" marT="9144" marB="9144">
                    <a:solidFill>
                      <a:srgbClr val="0F52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 marL="18288" marR="18288" marT="9144" marB="9144">
                    <a:solidFill>
                      <a:srgbClr val="0F5F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 marL="18288" marR="18288" marT="9144" marB="9144">
                    <a:solidFill>
                      <a:srgbClr val="0F6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0F7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2.62%</a:t>
                      </a:r>
                    </a:p>
                  </a:txBody>
                  <a:tcPr marL="18288" marR="18288" marT="9144" marB="9144">
                    <a:solidFill>
                      <a:srgbClr val="FE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2.95%</a:t>
                      </a:r>
                    </a:p>
                  </a:txBody>
                  <a:tcPr marL="18288" marR="18288" marT="9144" marB="9144">
                    <a:solidFill>
                      <a:srgbClr val="F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5.31%</a:t>
                      </a:r>
                    </a:p>
                  </a:txBody>
                  <a:tcPr marL="18288" marR="18288" marT="9144" marB="9144">
                    <a:solidFill>
                      <a:srgbClr val="FCEC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5.91%</a:t>
                      </a:r>
                    </a:p>
                  </a:txBody>
                  <a:tcPr marL="18288" marR="18288" marT="9144" marB="9144">
                    <a:solidFill>
                      <a:srgbClr val="FBE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7.96%</a:t>
                      </a:r>
                    </a:p>
                  </a:txBody>
                  <a:tcPr marL="18288" marR="18288" marT="9144" marB="9144">
                    <a:solidFill>
                      <a:srgbClr val="FAE2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3.35%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2.48%</a:t>
                      </a:r>
                    </a:p>
                  </a:txBody>
                  <a:tcPr marL="18288" marR="18288" marT="9144" marB="9144">
                    <a:solidFill>
                      <a:srgbClr val="FE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4.45%</a:t>
                      </a:r>
                    </a:p>
                  </a:txBody>
                  <a:tcPr marL="18288" marR="18288" marT="9144" marB="9144">
                    <a:solidFill>
                      <a:srgbClr val="FDEF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5.66%</a:t>
                      </a:r>
                    </a:p>
                  </a:txBody>
                  <a:tcPr marL="18288" marR="18288" marT="9144" marB="9144">
                    <a:solidFill>
                      <a:srgbClr val="FCEA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8.65%</a:t>
                      </a:r>
                    </a:p>
                  </a:txBody>
                  <a:tcPr marL="18288" marR="18288" marT="9144" marB="9144">
                    <a:solidFill>
                      <a:srgbClr val="F9DF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11.52%</a:t>
                      </a:r>
                    </a:p>
                  </a:txBody>
                  <a:tcPr marL="18288" marR="18288" marT="9144" marB="9144">
                    <a:solidFill>
                      <a:srgbClr val="F7D5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5.11%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2.85%</a:t>
                      </a:r>
                    </a:p>
                  </a:txBody>
                  <a:tcPr marL="18288" marR="18288" marT="9144" marB="9144">
                    <a:solidFill>
                      <a:srgbClr val="FE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9C2F43"/>
                          </a:solidFill>
                          <a:latin typeface="Microsoft YaHei"/>
                        </a:rPr>
                        <a:t>3.72%</a:t>
                      </a:r>
                    </a:p>
                  </a:txBody>
                  <a:tcPr marL="18288" marR="18288" marT="9144" marB="9144">
                    <a:solidFill>
                      <a:srgbClr val="FD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6.47%</a:t>
                      </a:r>
                    </a:p>
                  </a:txBody>
                  <a:tcPr marL="18288" marR="18288" marT="9144" marB="9144">
                    <a:solidFill>
                      <a:srgbClr val="FB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 dirty="0">
                          <a:solidFill>
                            <a:srgbClr val="9C2F43"/>
                          </a:solidFill>
                          <a:latin typeface="Microsoft YaHei"/>
                        </a:rPr>
                        <a:t>8.28%</a:t>
                      </a:r>
                    </a:p>
                  </a:txBody>
                  <a:tcPr marL="18288" marR="18288" marT="9144" marB="9144">
                    <a:solidFill>
                      <a:srgbClr val="FAE1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10.38%</a:t>
                      </a:r>
                    </a:p>
                  </a:txBody>
                  <a:tcPr marL="18288" marR="18288" marT="9144" marB="9144">
                    <a:solidFill>
                      <a:srgbClr val="F8D9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5.95%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2.07%</a:t>
                      </a:r>
                    </a:p>
                  </a:txBody>
                  <a:tcPr marL="18288" marR="18288" marT="9144" marB="9144"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4.45%</a:t>
                      </a:r>
                    </a:p>
                  </a:txBody>
                  <a:tcPr marL="18288" marR="18288" marT="9144" marB="9144">
                    <a:solidFill>
                      <a:srgbClr val="FDEF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7.26%</a:t>
                      </a:r>
                    </a:p>
                  </a:txBody>
                  <a:tcPr marL="18288" marR="18288" marT="9144" marB="9144">
                    <a:solidFill>
                      <a:srgbClr val="FAE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10.59%</a:t>
                      </a:r>
                    </a:p>
                  </a:txBody>
                  <a:tcPr marL="18288" marR="18288" marT="9144" marB="9144">
                    <a:solidFill>
                      <a:srgbClr val="F8D8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15.71%</a:t>
                      </a:r>
                    </a:p>
                  </a:txBody>
                  <a:tcPr marL="18288" marR="18288" marT="9144" marB="9144">
                    <a:solidFill>
                      <a:srgbClr val="F4C5C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9.10%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l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 marL="18288" marR="18288" marT="9144" marB="9144"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5.21%</a:t>
                      </a:r>
                    </a:p>
                  </a:txBody>
                  <a:tcPr marL="18288" marR="18288" marT="9144" marB="9144">
                    <a:solidFill>
                      <a:srgbClr val="FCEC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3.89%</a:t>
                      </a:r>
                    </a:p>
                  </a:txBody>
                  <a:tcPr marL="18288" marR="18288" marT="9144" marB="9144">
                    <a:solidFill>
                      <a:srgbClr val="FD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5.83%</a:t>
                      </a:r>
                    </a:p>
                  </a:txBody>
                  <a:tcPr marL="18288" marR="18288" marT="9144" marB="9144">
                    <a:solidFill>
                      <a:srgbClr val="FBEA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11.08%</a:t>
                      </a:r>
                    </a:p>
                  </a:txBody>
                  <a:tcPr marL="18288" marR="18288" marT="9144" marB="9144">
                    <a:solidFill>
                      <a:srgbClr val="F7D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9C2F43"/>
                          </a:solidFill>
                          <a:latin typeface="Microsoft YaHei"/>
                        </a:rPr>
                        <a:t>20.82%</a:t>
                      </a:r>
                    </a:p>
                  </a:txBody>
                  <a:tcPr marL="18288" marR="18288" marT="9144" marB="9144">
                    <a:solidFill>
                      <a:srgbClr val="F0B3B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0">
                          <a:solidFill>
                            <a:srgbClr val="0E304A"/>
                          </a:solidFill>
                          <a:latin typeface="Microsoft YaHei"/>
                        </a:rPr>
                        <a:t>14.13%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72"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2.61%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3.79%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6.15%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>
                          <a:solidFill>
                            <a:srgbClr val="0E304A"/>
                          </a:solidFill>
                          <a:latin typeface="Microsoft YaHei"/>
                        </a:rPr>
                        <a:t>9.21%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16.04%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90" b="1" dirty="0">
                          <a:solidFill>
                            <a:srgbClr val="0E304A"/>
                          </a:solidFill>
                          <a:latin typeface="Microsoft YaHei"/>
                        </a:rPr>
                        <a:t>6.54%</a:t>
                      </a:r>
                    </a:p>
                  </a:txBody>
                  <a:tcPr marL="18288" marR="18288" marT="9144" marB="9144"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179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210068"/>
            <a:ext cx="5486400" cy="402336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lang="zh-CN" altLang="en-US" sz="2200" b="1" dirty="0">
                <a:solidFill>
                  <a:srgbClr val="0E2841"/>
                </a:solidFill>
                <a:latin typeface="Microsoft YaHei"/>
              </a:rPr>
              <a:t>投放人群目标人群</a:t>
            </a:r>
            <a:endParaRPr sz="2200" b="1" dirty="0">
              <a:solidFill>
                <a:srgbClr val="0E2841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9144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06984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1300" b="1" dirty="0" err="1">
                <a:solidFill>
                  <a:srgbClr val="102034"/>
                </a:solidFill>
                <a:latin typeface="Microsoft YaHei"/>
              </a:rPr>
              <a:t>申请样本数</a:t>
            </a:r>
            <a:r>
              <a:rPr lang="en-US" sz="1300" b="1" dirty="0">
                <a:solidFill>
                  <a:srgbClr val="102034"/>
                </a:solidFill>
                <a:latin typeface="Microsoft YaHei"/>
              </a:rPr>
              <a:t>: </a:t>
            </a:r>
            <a:r>
              <a:rPr lang="zh-CN" altLang="en-US" sz="1300" b="1" dirty="0">
                <a:solidFill>
                  <a:srgbClr val="102034"/>
                </a:solidFill>
                <a:latin typeface="Microsoft YaHei"/>
              </a:rPr>
              <a:t>大部分用户集中在尾部，必须人群上浮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141732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>
                    <a:solidFill>
                      <a:srgbClr val="1641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6,544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3,615</a:t>
                      </a:r>
                    </a:p>
                  </a:txBody>
                  <a:tcPr>
                    <a:solidFill>
                      <a:srgbClr val="FAF5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1,948</a:t>
                      </a:r>
                    </a:p>
                  </a:txBody>
                  <a:tcPr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1,095</a:t>
                      </a:r>
                    </a:p>
                  </a:txBody>
                  <a:tcPr>
                    <a:solidFill>
                      <a:srgbClr val="FAF6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527</a:t>
                      </a:r>
                    </a:p>
                  </a:txBody>
                  <a:tcPr>
                    <a:solidFill>
                      <a:srgbClr val="FBF7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13,838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4,403</a:t>
                      </a:r>
                    </a:p>
                  </a:txBody>
                  <a:tcPr>
                    <a:solidFill>
                      <a:srgbClr val="F9F4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4,372</a:t>
                      </a:r>
                    </a:p>
                  </a:txBody>
                  <a:tcPr>
                    <a:solidFill>
                      <a:srgbClr val="F9F4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3,598</a:t>
                      </a:r>
                    </a:p>
                  </a:txBody>
                  <a:tcPr>
                    <a:solidFill>
                      <a:srgbClr val="FAF5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2,594</a:t>
                      </a:r>
                    </a:p>
                  </a:txBody>
                  <a:tcPr>
                    <a:solidFill>
                      <a:srgbClr val="FAF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1,621</a:t>
                      </a:r>
                    </a:p>
                  </a:txBody>
                  <a:tcPr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16,729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2,875</a:t>
                      </a:r>
                    </a:p>
                  </a:txBody>
                  <a:tcPr>
                    <a:solidFill>
                      <a:srgbClr val="FAF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4,630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4,723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4,604</a:t>
                      </a:r>
                    </a:p>
                  </a:txBody>
                  <a:tcPr>
                    <a:solidFill>
                      <a:srgbClr val="F9F4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3,931</a:t>
                      </a:r>
                    </a:p>
                  </a:txBody>
                  <a:tcPr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20,966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1,851</a:t>
                      </a:r>
                    </a:p>
                  </a:txBody>
                  <a:tcPr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3,823</a:t>
                      </a:r>
                    </a:p>
                  </a:txBody>
                  <a:tcPr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5,259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7,037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8,500</a:t>
                      </a:r>
                    </a:p>
                  </a:txBody>
                  <a:tcPr>
                    <a:solidFill>
                      <a:srgbClr val="F8F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26,778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985</a:t>
                      </a:r>
                    </a:p>
                  </a:txBody>
                  <a:tcPr>
                    <a:solidFill>
                      <a:srgbClr val="FAF6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3,193</a:t>
                      </a:r>
                    </a:p>
                  </a:txBody>
                  <a:tcPr>
                    <a:solidFill>
                      <a:srgbClr val="FAF5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6,782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15,285</a:t>
                      </a:r>
                    </a:p>
                  </a:txBody>
                  <a:tcPr>
                    <a:solidFill>
                      <a:srgbClr val="F6EE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 dirty="0">
                          <a:solidFill>
                            <a:srgbClr val="653E00"/>
                          </a:solidFill>
                          <a:latin typeface="Microsoft YaHei"/>
                        </a:rPr>
                        <a:t>46,235</a:t>
                      </a:r>
                    </a:p>
                  </a:txBody>
                  <a:tcPr>
                    <a:solidFill>
                      <a:srgbClr val="EEDDB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73,270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16,683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19,660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22,342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30,660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60,891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157,741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36208" y="106984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lang="zh-CN" altLang="en-US" sz="1300" b="1" dirty="0">
                <a:solidFill>
                  <a:srgbClr val="102034"/>
                </a:solidFill>
                <a:latin typeface="Microsoft YaHei"/>
              </a:rPr>
              <a:t>人均</a:t>
            </a:r>
            <a:r>
              <a:rPr sz="1300" b="1" dirty="0" err="1">
                <a:solidFill>
                  <a:srgbClr val="102034"/>
                </a:solidFill>
                <a:latin typeface="Microsoft YaHei"/>
              </a:rPr>
              <a:t>收入</a:t>
            </a:r>
            <a:r>
              <a:rPr lang="zh-CN" altLang="en-US" sz="1300" b="1" dirty="0">
                <a:solidFill>
                  <a:srgbClr val="102034"/>
                </a:solidFill>
                <a:latin typeface="Microsoft YaHei"/>
              </a:rPr>
              <a:t>：价值模型筛选出更高收入人群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36208" y="141732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>
                    <a:solidFill>
                      <a:srgbClr val="1641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8,351.09</a:t>
                      </a:r>
                    </a:p>
                  </a:txBody>
                  <a:tcPr>
                    <a:solidFill>
                      <a:srgbClr val="F6EE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9,059.92</a:t>
                      </a:r>
                    </a:p>
                  </a:txBody>
                  <a:tcPr>
                    <a:solidFill>
                      <a:srgbClr val="F6ED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10,050.63</a:t>
                      </a:r>
                    </a:p>
                  </a:txBody>
                  <a:tcPr>
                    <a:solidFill>
                      <a:srgbClr val="F5ECD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13,479.42</a:t>
                      </a:r>
                    </a:p>
                  </a:txBody>
                  <a:tcPr>
                    <a:solidFill>
                      <a:srgbClr val="F2E6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19,425.10</a:t>
                      </a:r>
                    </a:p>
                  </a:txBody>
                  <a:tcPr>
                    <a:solidFill>
                      <a:srgbClr val="EEDDB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9,611.45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6,159.43</a:t>
                      </a:r>
                    </a:p>
                  </a:txBody>
                  <a:tcPr>
                    <a:solidFill>
                      <a:srgbClr val="F8F2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6,669.10</a:t>
                      </a:r>
                    </a:p>
                  </a:txBody>
                  <a:tcPr>
                    <a:solidFill>
                      <a:srgbClr val="F8F1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7,216.02</a:t>
                      </a:r>
                    </a:p>
                  </a:txBody>
                  <a:tcPr>
                    <a:solidFill>
                      <a:srgbClr val="F7F0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8,370.26</a:t>
                      </a:r>
                    </a:p>
                  </a:txBody>
                  <a:tcPr>
                    <a:solidFill>
                      <a:srgbClr val="F6EE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10,388.78</a:t>
                      </a:r>
                    </a:p>
                  </a:txBody>
                  <a:tcPr>
                    <a:solidFill>
                      <a:srgbClr val="F5EBD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7,284.21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5,059.43</a:t>
                      </a:r>
                    </a:p>
                  </a:txBody>
                  <a:tcPr>
                    <a:solidFill>
                      <a:srgbClr val="F9F4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5,581.24</a:t>
                      </a:r>
                    </a:p>
                  </a:txBody>
                  <a:tcPr>
                    <a:solidFill>
                      <a:srgbClr val="F9F3E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6,002.29</a:t>
                      </a:r>
                    </a:p>
                  </a:txBody>
                  <a:tcPr>
                    <a:solidFill>
                      <a:srgbClr val="F8F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6,610.18</a:t>
                      </a:r>
                    </a:p>
                  </a:txBody>
                  <a:tcPr>
                    <a:solidFill>
                      <a:srgbClr val="F8F1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8,395.64</a:t>
                      </a:r>
                    </a:p>
                  </a:txBody>
                  <a:tcPr>
                    <a:solidFill>
                      <a:srgbClr val="F6EE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6,365.85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4,208.44</a:t>
                      </a:r>
                    </a:p>
                  </a:txBody>
                  <a:tcPr>
                    <a:solidFill>
                      <a:srgbClr val="FAF5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4,494.39</a:t>
                      </a:r>
                    </a:p>
                  </a:txBody>
                  <a:tcPr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5,001.28</a:t>
                      </a:r>
                    </a:p>
                  </a:txBody>
                  <a:tcPr>
                    <a:solidFill>
                      <a:srgbClr val="F9F4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5,514.35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7,102.55</a:t>
                      </a:r>
                    </a:p>
                  </a:txBody>
                  <a:tcPr>
                    <a:solidFill>
                      <a:srgbClr val="F7F0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5,681.64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3,264.66</a:t>
                      </a:r>
                    </a:p>
                  </a:txBody>
                  <a:tcPr>
                    <a:solidFill>
                      <a:srgbClr val="FBF7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3,373.50</a:t>
                      </a:r>
                    </a:p>
                  </a:txBody>
                  <a:tcPr>
                    <a:solidFill>
                      <a:srgbClr val="FAF6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3,451.16</a:t>
                      </a:r>
                    </a:p>
                  </a:txBody>
                  <a:tcPr>
                    <a:solidFill>
                      <a:srgbClr val="FAF6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3,615.17</a:t>
                      </a:r>
                    </a:p>
                  </a:txBody>
                  <a:tcPr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4,152.63</a:t>
                      </a:r>
                    </a:p>
                  </a:txBody>
                  <a:tcPr>
                    <a:solidFill>
                      <a:srgbClr val="FAF5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3,924.40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6,442.75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5,894.10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5,540.59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5,261.06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5,138.09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5,271.98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76732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sz="1300" b="1" dirty="0" err="1">
                <a:solidFill>
                  <a:srgbClr val="102034"/>
                </a:solidFill>
                <a:latin typeface="Microsoft YaHei"/>
              </a:rPr>
              <a:t>完件给额率</a:t>
            </a:r>
            <a:r>
              <a:rPr sz="1300" b="1" dirty="0">
                <a:solidFill>
                  <a:srgbClr val="102034"/>
                </a:solidFill>
                <a:latin typeface="Microsoft YaHei"/>
              </a:rPr>
              <a:t>：</a:t>
            </a:r>
            <a:r>
              <a:rPr lang="zh-CN" altLang="en-US" sz="1300" b="1" dirty="0">
                <a:solidFill>
                  <a:srgbClr val="102034"/>
                </a:solidFill>
                <a:latin typeface="Microsoft YaHei"/>
              </a:rPr>
              <a:t>高价值人群通过率显著更高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411480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>
                    <a:solidFill>
                      <a:srgbClr val="1641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42.76%</a:t>
                      </a:r>
                    </a:p>
                  </a:txBody>
                  <a:tcPr>
                    <a:solidFill>
                      <a:srgbClr val="BAD2E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41.16%</a:t>
                      </a:r>
                    </a:p>
                  </a:txBody>
                  <a:tcPr>
                    <a:solidFill>
                      <a:srgbClr val="BCD3E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40.71%</a:t>
                      </a:r>
                    </a:p>
                  </a:txBody>
                  <a:tcPr>
                    <a:solidFill>
                      <a:srgbClr val="BDD4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37.81%</a:t>
                      </a:r>
                    </a:p>
                  </a:txBody>
                  <a:tcPr>
                    <a:solidFill>
                      <a:srgbClr val="C1D6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26.94%</a:t>
                      </a:r>
                    </a:p>
                  </a:txBody>
                  <a:tcPr>
                    <a:solidFill>
                      <a:srgbClr val="D2E1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41.04%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34.61%</a:t>
                      </a:r>
                    </a:p>
                  </a:txBody>
                  <a:tcPr>
                    <a:solidFill>
                      <a:srgbClr val="C6DA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36.12%</a:t>
                      </a:r>
                    </a:p>
                  </a:txBody>
                  <a:tcPr>
                    <a:solidFill>
                      <a:srgbClr val="C4D8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39.08%</a:t>
                      </a:r>
                    </a:p>
                  </a:txBody>
                  <a:tcPr>
                    <a:solidFill>
                      <a:srgbClr val="BFD5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31.53%</a:t>
                      </a:r>
                    </a:p>
                  </a:txBody>
                  <a:tcPr>
                    <a:solidFill>
                      <a:srgbClr val="CBDD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22.83%</a:t>
                      </a:r>
                    </a:p>
                  </a:txBody>
                  <a:tcPr>
                    <a:solidFill>
                      <a:srgbClr val="D9E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34.40%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26.47%</a:t>
                      </a:r>
                    </a:p>
                  </a:txBody>
                  <a:tcPr>
                    <a:solidFill>
                      <a:srgbClr val="D3E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30.69%</a:t>
                      </a:r>
                    </a:p>
                  </a:txBody>
                  <a:tcPr>
                    <a:solidFill>
                      <a:srgbClr val="CCDE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32.10%</a:t>
                      </a:r>
                    </a:p>
                  </a:txBody>
                  <a:tcPr>
                    <a:solidFill>
                      <a:srgbClr val="CAD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27.72%</a:t>
                      </a:r>
                    </a:p>
                  </a:txBody>
                  <a:tcPr>
                    <a:solidFill>
                      <a:srgbClr val="D1E1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16.46%</a:t>
                      </a:r>
                    </a:p>
                  </a:txBody>
                  <a:tcPr>
                    <a:solidFill>
                      <a:srgbClr val="E2EC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27.08%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 dirty="0">
                          <a:solidFill>
                            <a:srgbClr val="00426E"/>
                          </a:solidFill>
                          <a:latin typeface="Microsoft YaHei"/>
                        </a:rPr>
                        <a:t>17.77%</a:t>
                      </a:r>
                    </a:p>
                  </a:txBody>
                  <a:tcPr>
                    <a:solidFill>
                      <a:srgbClr val="E0EB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23.44%</a:t>
                      </a:r>
                    </a:p>
                  </a:txBody>
                  <a:tcPr>
                    <a:solidFill>
                      <a:srgbClr val="D8E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26.83%</a:t>
                      </a:r>
                    </a:p>
                  </a:txBody>
                  <a:tcPr>
                    <a:solidFill>
                      <a:srgbClr val="D2E1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21.06%</a:t>
                      </a:r>
                    </a:p>
                  </a:txBody>
                  <a:tcPr>
                    <a:solidFill>
                      <a:srgbClr val="DBE7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13.76%</a:t>
                      </a:r>
                    </a:p>
                  </a:txBody>
                  <a:tcPr>
                    <a:solidFill>
                      <a:srgbClr val="E7EF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19.97%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7.01%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10.27%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11.49%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8.75%</a:t>
                      </a:r>
                    </a:p>
                  </a:txBody>
                  <a:tcPr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00426E"/>
                          </a:solidFill>
                          <a:latin typeface="Microsoft YaHei"/>
                        </a:rPr>
                        <a:t>4.83%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6.57%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 dirty="0" err="1">
                          <a:solidFill>
                            <a:srgbClr val="0E2841"/>
                          </a:solidFill>
                          <a:latin typeface="Microsoft YaHei"/>
                        </a:rPr>
                        <a:t>合计</a:t>
                      </a:r>
                      <a:endParaRPr sz="670" b="1" dirty="0">
                        <a:solidFill>
                          <a:srgbClr val="0E2841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32.91%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29.12%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26.47%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17.40%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7.49%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17.32%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236208" y="3767328"/>
            <a:ext cx="5349240" cy="264688"/>
          </a:xfrm>
          <a:prstGeom prst="rect">
            <a:avLst/>
          </a:prstGeom>
          <a:noFill/>
        </p:spPr>
        <p:txBody>
          <a:bodyPr wrap="square" lIns="73152" tIns="36576" rIns="73152" bIns="27432">
            <a:spAutoFit/>
          </a:bodyPr>
          <a:lstStyle/>
          <a:p>
            <a:pPr algn="l"/>
            <a:r>
              <a:rPr lang="zh-CN" altLang="en-US" sz="1300" b="1" dirty="0">
                <a:solidFill>
                  <a:srgbClr val="102034"/>
                </a:solidFill>
                <a:latin typeface="Microsoft YaHei"/>
              </a:rPr>
              <a:t>可支配</a:t>
            </a:r>
            <a:r>
              <a:rPr sz="1300" b="1" dirty="0" err="1">
                <a:solidFill>
                  <a:srgbClr val="102034"/>
                </a:solidFill>
                <a:latin typeface="Microsoft YaHei"/>
              </a:rPr>
              <a:t>盈余</a:t>
            </a:r>
            <a:r>
              <a:rPr sz="1300" b="1" dirty="0">
                <a:solidFill>
                  <a:srgbClr val="102034"/>
                </a:solidFill>
                <a:latin typeface="Microsoft YaHei"/>
              </a:rPr>
              <a:t>：</a:t>
            </a:r>
            <a:r>
              <a:rPr lang="zh-CN" altLang="en-US" sz="1200" dirty="0"/>
              <a:t>价值评级对盈余呈现清晰排序</a:t>
            </a:r>
            <a:endParaRPr sz="1300" b="1" dirty="0">
              <a:solidFill>
                <a:srgbClr val="102034"/>
              </a:solidFill>
              <a:latin typeface="Microsoft YaHei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36208" y="4114800"/>
          <a:ext cx="5349237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5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4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价值分箱 \ 风险分箱</a:t>
                      </a:r>
                    </a:p>
                  </a:txBody>
                  <a:tcPr>
                    <a:solidFill>
                      <a:srgbClr val="1641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风险1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风险2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风险3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风险4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风险5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216.95</a:t>
                      </a:r>
                    </a:p>
                  </a:txBody>
                  <a:tcPr>
                    <a:solidFill>
                      <a:srgbClr val="F9F3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410.19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2,002.47</a:t>
                      </a:r>
                    </a:p>
                  </a:txBody>
                  <a:tcPr>
                    <a:solidFill>
                      <a:srgbClr val="F7EFE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5,333.05</a:t>
                      </a:r>
                    </a:p>
                  </a:txBody>
                  <a:tcPr>
                    <a:solidFill>
                      <a:srgbClr val="F3E8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10,619.66</a:t>
                      </a:r>
                    </a:p>
                  </a:txBody>
                  <a:tcPr>
                    <a:solidFill>
                      <a:srgbClr val="EEDDB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1,333.55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价值2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2.13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-92.57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826.31</a:t>
                      </a:r>
                    </a:p>
                  </a:txBody>
                  <a:tcPr>
                    <a:solidFill>
                      <a:srgbClr val="F8F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1,834.58</a:t>
                      </a:r>
                    </a:p>
                  </a:txBody>
                  <a:tcPr>
                    <a:solidFill>
                      <a:srgbClr val="F7F0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3,052.31</a:t>
                      </a:r>
                    </a:p>
                  </a:txBody>
                  <a:tcPr>
                    <a:solidFill>
                      <a:srgbClr val="F6ED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745.29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 dirty="0">
                          <a:solidFill>
                            <a:srgbClr val="653E00"/>
                          </a:solidFill>
                          <a:latin typeface="Microsoft YaHei"/>
                        </a:rPr>
                        <a:t>-275.88</a:t>
                      </a:r>
                    </a:p>
                  </a:txBody>
                  <a:tcPr>
                    <a:solidFill>
                      <a:srgbClr val="F9F4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81.90</a:t>
                      </a:r>
                    </a:p>
                  </a:txBody>
                  <a:tcPr>
                    <a:solidFill>
                      <a:srgbClr val="F9F4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238.32</a:t>
                      </a:r>
                    </a:p>
                  </a:txBody>
                  <a:tcPr>
                    <a:solidFill>
                      <a:srgbClr val="F9F3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978.22</a:t>
                      </a:r>
                    </a:p>
                  </a:txBody>
                  <a:tcPr>
                    <a:solidFill>
                      <a:srgbClr val="F8F2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1,792.00</a:t>
                      </a:r>
                    </a:p>
                  </a:txBody>
                  <a:tcPr>
                    <a:solidFill>
                      <a:srgbClr val="F7F0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597.67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价值4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-343.75</a:t>
                      </a:r>
                    </a:p>
                  </a:txBody>
                  <a:tcPr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-104.97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227.01</a:t>
                      </a:r>
                    </a:p>
                  </a:txBody>
                  <a:tcPr>
                    <a:solidFill>
                      <a:srgbClr val="F9F3E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721.61</a:t>
                      </a:r>
                    </a:p>
                  </a:txBody>
                  <a:tcPr>
                    <a:solidFill>
                      <a:srgbClr val="F8F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1,752.21</a:t>
                      </a:r>
                    </a:p>
                  </a:txBody>
                  <a:tcPr>
                    <a:solidFill>
                      <a:srgbClr val="F7F0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760.52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价值5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-718.56</a:t>
                      </a:r>
                    </a:p>
                  </a:txBody>
                  <a:tcPr>
                    <a:solidFill>
                      <a:srgbClr val="FAF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-1,238.29</a:t>
                      </a:r>
                    </a:p>
                  </a:txBody>
                  <a:tcPr>
                    <a:solidFill>
                      <a:srgbClr val="FBF7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-348.42</a:t>
                      </a:r>
                    </a:p>
                  </a:txBody>
                  <a:tcPr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-78.75</a:t>
                      </a:r>
                    </a:p>
                  </a:txBody>
                  <a:tcPr>
                    <a:solidFill>
                      <a:srgbClr val="F9F4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0">
                          <a:solidFill>
                            <a:srgbClr val="653E00"/>
                          </a:solidFill>
                          <a:latin typeface="Microsoft YaHei"/>
                        </a:rPr>
                        <a:t>308.28</a:t>
                      </a:r>
                    </a:p>
                  </a:txBody>
                  <a:tcPr>
                    <a:solidFill>
                      <a:srgbClr val="F9F3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84.15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6FA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-42.67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-146.65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306.06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622.97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>
                          <a:solidFill>
                            <a:srgbClr val="0E2841"/>
                          </a:solidFill>
                          <a:latin typeface="Microsoft YaHei"/>
                        </a:rPr>
                        <a:t>768.15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70" b="1" dirty="0">
                          <a:solidFill>
                            <a:srgbClr val="0E2841"/>
                          </a:solidFill>
                          <a:latin typeface="Microsoft YaHei"/>
                        </a:rPr>
                        <a:t>393.70</a:t>
                      </a:r>
                    </a:p>
                  </a:txBody>
                  <a:tcPr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9380564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2282</TotalTime>
  <Words>3116</Words>
  <Application>Microsoft Office PowerPoint</Application>
  <PresentationFormat>宽屏</PresentationFormat>
  <Paragraphs>1040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Noto Sans CJK SC</vt:lpstr>
      <vt:lpstr>微软雅黑</vt:lpstr>
      <vt:lpstr>微软雅黑</vt:lpstr>
      <vt:lpstr>微软雅黑 Light</vt:lpstr>
      <vt:lpstr>等线</vt:lpstr>
      <vt:lpstr>Arial</vt:lpstr>
      <vt:lpstr>2_Office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张昱良-Eliam</cp:lastModifiedBy>
  <cp:revision>230</cp:revision>
  <dcterms:created xsi:type="dcterms:W3CDTF">2026-08-31T12:17:08Z</dcterms:created>
  <dcterms:modified xsi:type="dcterms:W3CDTF">2026-09-02T23:35:08Z</dcterms:modified>
</cp:coreProperties>
</file>