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notesMasterIdLst>
    <p:notesMasterId r:id="rId6"/>
  </p:notesMasterIdLst>
  <p:handoutMasterIdLst>
    <p:handoutMasterId r:id="rId7"/>
  </p:handoutMasterIdLst>
  <p:sldIdLst>
    <p:sldId id="294" r:id="rId3"/>
    <p:sldId id="295" r:id="rId4"/>
    <p:sldId id="296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9091D931-C6EF-4AAA-8AF6-ED6BA379CE5A}">
          <p14:sldIdLst>
            <p14:sldId id="294"/>
            <p14:sldId id="295"/>
            <p14:sldId id="296"/>
          </p14:sldIdLst>
        </p14:section>
        <p14:section name="draft" id="{4A55A2FB-9C68-4E40-8234-62AC1197D950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7419" autoAdjust="0"/>
  </p:normalViewPr>
  <p:slideViewPr>
    <p:cSldViewPr snapToGrid="0" showGuides="1">
      <p:cViewPr varScale="1">
        <p:scale>
          <a:sx n="161" d="100"/>
          <a:sy n="161" d="100"/>
        </p:scale>
        <p:origin x="2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22" d="100"/>
          <a:sy n="122" d="100"/>
        </p:scale>
        <p:origin x="499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38C634A-05D6-48C6-AF4A-8DAD34AD1B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C218664-019E-469E-9271-B1829CA3EA7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E6B91-E7E4-4B75-90D9-2FB3CA9CE892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16920E2-FA83-42AB-8A5F-6FDAA1596C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A19BFE5-CA82-4598-A86A-A53537E257A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CE6AA9-5D91-42CC-9FA9-4CD3BB1FF8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49098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D1ABA1-3A8B-4F78-8FC2-CC35DC6ACD02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F9672A-4FCD-4626-A8DC-612F10E6B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525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为什么要做价值模型：识别出风险以外的信息，找到最有价值的地方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可以用在两个方向：提额、投放</a:t>
            </a:r>
            <a:endParaRPr lang="en-US" altLang="zh-CN" dirty="0"/>
          </a:p>
          <a:p>
            <a:pPr marL="228600" indent="-228600">
              <a:buAutoNum type="arabicPeriod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F9672A-4FCD-4626-A8DC-612F10E6BE2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2445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B8EBA2-80EF-4252-8597-048A45E2E1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B21FC56-6680-4AD6-82E5-88A11AFC2C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7AA0C1-447C-4AEA-81FA-9EB45857E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CC9B75-A23F-4BC0-AF10-8E3B6D59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F3BAF1-849E-4CFB-97FB-462B79C53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4570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348D98-575F-4B86-853A-5626FCCE7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1CB4C6-859B-47BA-B600-73580410D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1BEAC3-78C5-45B7-A23B-249EC15E9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9A1087-075F-407E-BB28-CDF217CD0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DC62BF-1010-4F72-A364-4192F2116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9754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4CBB0-B952-49F8-A1B8-3979F30A3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EC5F22-E42C-4263-A574-0CF3FB326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779609-2E9A-498F-932D-68BAA7EBB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99CF08-A439-43B3-A3F9-168D0F5CD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FEC39-07FE-47BE-B8DE-2AFAE3D5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013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E2E4F4-0D12-4C67-A2DE-5D38CFD33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EAA503-16B9-4CA8-8AA5-603157897F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8D83A5-8A38-40E5-AB3E-D4138C5D5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0B2CC2-A96A-41D7-A4D7-A284B7D5A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BBF648-B851-4DA5-953B-86578FBD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CC2EA2-1228-4FAF-B547-0D8F31FE6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2993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7E7825-95FC-4C1A-AF5F-E36B597AB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F39FAA-4C36-4CB6-A320-3DAC54092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B609A8-1E92-437D-B0B0-6111310F1D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94226CF-A2B3-4B4E-9300-5E028ABA71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BB10009-1111-457E-B430-65E1C279A3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67E8ED2-908F-4B1A-8AE5-D192B1A89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49F550B-0F48-4318-996D-4884DECB1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28EED0F-6559-4C6F-9CA7-7770DD3D1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9807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16F64B-E647-4104-B1ED-F93F843D4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1D34E7-F38A-4F82-9AB6-F8589C899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B3AE06E-5BC2-49FC-AFDD-93822814B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F46D1A6-6F30-4369-886C-0B9A8E4C5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8969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99A4833-036F-41C6-B817-DBAF5E3F3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1AA5643-CE71-4F55-8C58-D1337D393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6E3F4D-D0ED-4973-9E9A-D6287B443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2870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F3B291-4439-45D3-BCEE-846EEECB6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A73331-4FF4-49B6-A023-F72C49367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FA3C987-2276-42A0-A1E7-E0606F374A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22F0A1-047D-4CAC-9C15-FF066542E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2EAEBB-7478-4902-AB86-AE45AA28F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A46412-6586-483A-ABB0-E712F839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6500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320C44-3AFF-45CD-9780-0D2FBCA44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793764D-8357-41AF-8664-BADF71EFE1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68CC22-900C-4216-BFAA-893CFBCC43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52A649-1B04-42E5-84B4-2A037C732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ACB251-B513-433D-A8AC-3FA74F8D4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7EE6DA-2AE9-4C28-B829-F80EA98E4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6462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022334-2A6B-4387-80FD-70E1F1E0E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7C5D0A-2D53-4144-B690-6C700F742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50CEC7-6E44-43BF-A36B-7D08A2F5C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AE63B3-0B50-4DF9-8F0E-79A5D7184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1FEAD4-D222-409F-A809-BD5B97867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4886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E48EF8A-FDFA-4016-9979-C8C5B09F32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8B09383-AF7E-4FF6-9616-02B3620BC3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39486C-99DC-445E-A433-3EDCCFF51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26F166-1825-4F9D-89FB-66C38CDA1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C0A879-DDC9-44A8-97E4-649A0365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676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7AD42BD-1FBD-44F7-9A13-C1B5CA8D05F7}"/>
              </a:ext>
            </a:extLst>
          </p:cNvPr>
          <p:cNvSpPr/>
          <p:nvPr userDrawn="1"/>
        </p:nvSpPr>
        <p:spPr>
          <a:xfrm>
            <a:off x="284672" y="204548"/>
            <a:ext cx="129692" cy="369332"/>
          </a:xfrm>
          <a:prstGeom prst="rect">
            <a:avLst/>
          </a:pr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5455C4-DFF3-49B3-A21F-FE65974F3D07}"/>
              </a:ext>
            </a:extLst>
          </p:cNvPr>
          <p:cNvSpPr/>
          <p:nvPr userDrawn="1"/>
        </p:nvSpPr>
        <p:spPr>
          <a:xfrm>
            <a:off x="284672" y="627089"/>
            <a:ext cx="129017" cy="369332"/>
          </a:xfrm>
          <a:prstGeom prst="rect">
            <a:avLst/>
          </a:prstGeom>
          <a:solidFill>
            <a:srgbClr val="576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637A9E-CBFD-49AA-A280-5A41FC63490E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D0922C-CCA6-4F43-A0D1-C4E56DE4F58F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0D58DD0-4F1D-47D9-A6E6-4433202EB9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195922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009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24"/>
          <p:cNvSpPr/>
          <p:nvPr userDrawn="1"/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rgbClr val="555E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微软雅黑" panose="020B0503020204020204" pitchFamily="3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3" hasCustomPrompt="1"/>
          </p:nvPr>
        </p:nvSpPr>
        <p:spPr>
          <a:xfrm>
            <a:off x="281657" y="4103406"/>
            <a:ext cx="11008067" cy="644301"/>
          </a:xfrm>
        </p:spPr>
        <p:txBody>
          <a:bodyPr/>
          <a:lstStyle>
            <a:lvl1pPr marL="0" indent="0">
              <a:buFontTx/>
              <a:buNone/>
              <a:defRPr kumimoji="1" lang="zh-CN" altLang="en-US" sz="4400" kern="12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zh-CN" altLang="en-US" dirty="0"/>
              <a:t>课件标题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06895" y="4877649"/>
            <a:ext cx="9144000" cy="425221"/>
          </a:xfrm>
        </p:spPr>
        <p:txBody>
          <a:bodyPr/>
          <a:lstStyle>
            <a:lvl1pPr marL="0" indent="0" algn="l">
              <a:buFontTx/>
              <a:buNone/>
              <a:defRPr lang="zh-CN" altLang="en-US" sz="2800" kern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indent="0">
              <a:buFontTx/>
              <a:buNone/>
            </a:pPr>
            <a:r>
              <a:rPr lang="zh-CN" altLang="en-US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副标题：副标题副标题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4" hasCustomPrompt="1"/>
          </p:nvPr>
        </p:nvSpPr>
        <p:spPr>
          <a:xfrm>
            <a:off x="334327" y="6162648"/>
            <a:ext cx="7553198" cy="324196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1" lang="zh-CN" altLang="en-US" sz="1800" kern="12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来自部门：</a:t>
            </a: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XXXXX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分享人：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XXX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endParaRPr kumimoji="1"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13" name="直接连接符 23"/>
          <p:cNvCxnSpPr/>
          <p:nvPr userDrawn="1"/>
        </p:nvCxnSpPr>
        <p:spPr>
          <a:xfrm flipH="1">
            <a:off x="338667" y="5912442"/>
            <a:ext cx="11514666" cy="0"/>
          </a:xfrm>
          <a:prstGeom prst="line">
            <a:avLst/>
          </a:prstGeom>
          <a:ln w="9525">
            <a:solidFill>
              <a:schemeClr val="bg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741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图片占位符 33"/>
          <p:cNvSpPr>
            <a:spLocks noGrp="1"/>
          </p:cNvSpPr>
          <p:nvPr>
            <p:ph type="pic" sz="quarter" idx="14"/>
          </p:nvPr>
        </p:nvSpPr>
        <p:spPr>
          <a:xfrm>
            <a:off x="0" y="-1588"/>
            <a:ext cx="12192000" cy="41132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kumimoji="1"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20" name="Прямоугольник 20"/>
          <p:cNvSpPr/>
          <p:nvPr userDrawn="1"/>
        </p:nvSpPr>
        <p:spPr>
          <a:xfrm>
            <a:off x="-369" y="-1756"/>
            <a:ext cx="12191382" cy="4112997"/>
          </a:xfrm>
          <a:prstGeom prst="rect">
            <a:avLst/>
          </a:prstGeom>
          <a:solidFill>
            <a:srgbClr val="555E6B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 dirty="0">
              <a:latin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 flipH="1">
            <a:off x="338667" y="6374454"/>
            <a:ext cx="1151466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8841" y="1762188"/>
            <a:ext cx="10515600" cy="1325563"/>
          </a:xfrm>
        </p:spPr>
        <p:txBody>
          <a:bodyPr>
            <a:normAutofit/>
          </a:bodyPr>
          <a:lstStyle>
            <a:lvl1pPr>
              <a:defRPr sz="33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2" name="内容占位符 31"/>
          <p:cNvSpPr>
            <a:spLocks noGrp="1"/>
          </p:cNvSpPr>
          <p:nvPr>
            <p:ph sz="quarter" idx="13" hasCustomPrompt="1"/>
          </p:nvPr>
        </p:nvSpPr>
        <p:spPr>
          <a:xfrm>
            <a:off x="1078841" y="1456274"/>
            <a:ext cx="9317228" cy="59372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2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38" name="文本占位符 35"/>
          <p:cNvSpPr>
            <a:spLocks noGrp="1"/>
          </p:cNvSpPr>
          <p:nvPr>
            <p:ph type="body" sz="quarter" idx="16" hasCustomPrompt="1"/>
          </p:nvPr>
        </p:nvSpPr>
        <p:spPr>
          <a:xfrm>
            <a:off x="7062258" y="6437312"/>
            <a:ext cx="4791075" cy="420688"/>
          </a:xfrm>
        </p:spPr>
        <p:txBody>
          <a:bodyPr/>
          <a:lstStyle>
            <a:lvl1pPr marL="0" indent="0" algn="r">
              <a:buNone/>
              <a:defRPr kumimoji="1"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indent="0">
              <a:buNone/>
            </a:pPr>
            <a:r>
              <a:rPr kumimoji="1"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01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205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4"/>
          <p:cNvSpPr/>
          <p:nvPr userDrawn="1"/>
        </p:nvSpPr>
        <p:spPr>
          <a:xfrm>
            <a:off x="0" y="0"/>
            <a:ext cx="239045" cy="367749"/>
          </a:xfrm>
          <a:custGeom>
            <a:avLst/>
            <a:gdLst>
              <a:gd name="connsiteX0" fmla="*/ 0 w 239045"/>
              <a:gd name="connsiteY0" fmla="*/ 0 h 360000"/>
              <a:gd name="connsiteX1" fmla="*/ 239045 w 239045"/>
              <a:gd name="connsiteY1" fmla="*/ 0 h 360000"/>
              <a:gd name="connsiteX2" fmla="*/ 239045 w 239045"/>
              <a:gd name="connsiteY2" fmla="*/ 360000 h 360000"/>
              <a:gd name="connsiteX3" fmla="*/ 0 w 239045"/>
              <a:gd name="connsiteY3" fmla="*/ 360000 h 360000"/>
              <a:gd name="connsiteX4" fmla="*/ 0 w 239045"/>
              <a:gd name="connsiteY4" fmla="*/ 0 h 360000"/>
              <a:gd name="connsiteX0-1" fmla="*/ 0 w 239045"/>
              <a:gd name="connsiteY0-2" fmla="*/ 0 h 367749"/>
              <a:gd name="connsiteX1-3" fmla="*/ 239045 w 239045"/>
              <a:gd name="connsiteY1-4" fmla="*/ 0 h 367749"/>
              <a:gd name="connsiteX2-5" fmla="*/ 122808 w 239045"/>
              <a:gd name="connsiteY2-6" fmla="*/ 367749 h 367749"/>
              <a:gd name="connsiteX3-7" fmla="*/ 0 w 239045"/>
              <a:gd name="connsiteY3-8" fmla="*/ 360000 h 367749"/>
              <a:gd name="connsiteX4-9" fmla="*/ 0 w 239045"/>
              <a:gd name="connsiteY4-10" fmla="*/ 0 h 3677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39045" h="367749">
                <a:moveTo>
                  <a:pt x="0" y="0"/>
                </a:moveTo>
                <a:lnTo>
                  <a:pt x="239045" y="0"/>
                </a:lnTo>
                <a:lnTo>
                  <a:pt x="122808" y="367749"/>
                </a:lnTo>
                <a:lnTo>
                  <a:pt x="0" y="360000"/>
                </a:lnTo>
                <a:lnTo>
                  <a:pt x="0" y="0"/>
                </a:lnTo>
                <a:close/>
              </a:path>
            </a:pathLst>
          </a:cu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49131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2069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7AD42BD-1FBD-44F7-9A13-C1B5CA8D05F7}"/>
              </a:ext>
            </a:extLst>
          </p:cNvPr>
          <p:cNvSpPr/>
          <p:nvPr userDrawn="1"/>
        </p:nvSpPr>
        <p:spPr>
          <a:xfrm>
            <a:off x="284672" y="204548"/>
            <a:ext cx="129692" cy="369332"/>
          </a:xfrm>
          <a:prstGeom prst="rect">
            <a:avLst/>
          </a:pr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637A9E-CBFD-49AA-A280-5A41FC63490E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D0922C-CCA6-4F43-A0D1-C4E56DE4F58F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0D58DD0-4F1D-47D9-A6E6-4433202EB9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195922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608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7AD42BD-1FBD-44F7-9A13-C1B5CA8D05F7}"/>
              </a:ext>
            </a:extLst>
          </p:cNvPr>
          <p:cNvSpPr/>
          <p:nvPr userDrawn="1"/>
        </p:nvSpPr>
        <p:spPr>
          <a:xfrm>
            <a:off x="284672" y="204548"/>
            <a:ext cx="129692" cy="369332"/>
          </a:xfrm>
          <a:prstGeom prst="rect">
            <a:avLst/>
          </a:pr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5455C4-DFF3-49B3-A21F-FE65974F3D07}"/>
              </a:ext>
            </a:extLst>
          </p:cNvPr>
          <p:cNvSpPr/>
          <p:nvPr userDrawn="1"/>
        </p:nvSpPr>
        <p:spPr>
          <a:xfrm>
            <a:off x="284672" y="627089"/>
            <a:ext cx="129017" cy="369332"/>
          </a:xfrm>
          <a:prstGeom prst="rect">
            <a:avLst/>
          </a:prstGeom>
          <a:solidFill>
            <a:srgbClr val="576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637A9E-CBFD-49AA-A280-5A41FC63490E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D0922C-CCA6-4F43-A0D1-C4E56DE4F58F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0D58DD0-4F1D-47D9-A6E6-4433202EB9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195922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237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49131"/>
            <a:ext cx="660090" cy="421200"/>
          </a:xfrm>
          <a:prstGeom prst="rect">
            <a:avLst/>
          </a:prstGeom>
        </p:spPr>
      </p:pic>
      <p:sp>
        <p:nvSpPr>
          <p:cNvPr id="6" name="Прямоугольник 24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555E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06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0B64D2A-B4A2-4991-8631-34442C84D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B2BE11-2F72-49B2-9898-38081781B5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DFEC2A-8966-4520-BDC5-D824E43289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38E0C-70A7-465C-B390-CC20D1E8458E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AAC27E-A6AB-47AB-8662-4EC357CAD7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2857CC-AAF6-440B-A91D-E387063E6C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4533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B68A51D-33DD-5B4A-A86B-549782FCD6DF}" type="datetimeFigureOut">
              <a:rPr kumimoji="1" lang="zh-CN" altLang="en-US" smtClean="0"/>
              <a:pPr/>
              <a:t>2026/9/1</a:t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DA5CA41-69F7-7948-A690-E401A3852CA3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07835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9" r:id="rId4"/>
    <p:sldLayoutId id="2147483677" r:id="rId5"/>
    <p:sldLayoutId id="2147483678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12064" y="283464"/>
            <a:ext cx="2460674" cy="325474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100" b="1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澳大利亚现状、规划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4924" y="740533"/>
            <a:ext cx="2585708" cy="18659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0" dirty="0" err="1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规模增长</a:t>
            </a:r>
            <a:r>
              <a:rPr sz="1150" b="0" dirty="0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NON SACC </a:t>
            </a:r>
            <a:r>
              <a:rPr sz="1150" b="0" dirty="0" err="1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占比</a:t>
            </a:r>
            <a:r>
              <a:rPr sz="1150" b="0" dirty="0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150" b="0" dirty="0" err="1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风险维稳</a:t>
            </a:r>
            <a:endParaRPr sz="1150" b="0" dirty="0">
              <a:solidFill>
                <a:srgbClr val="5A677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12064" y="1014984"/>
            <a:ext cx="10716768" cy="0"/>
          </a:xfrm>
          <a:prstGeom prst="line">
            <a:avLst/>
          </a:prstGeom>
          <a:ln w="9525">
            <a:solidFill>
              <a:srgbClr val="DA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12064" y="1220579"/>
            <a:ext cx="45720" cy="182880"/>
          </a:xfrm>
          <a:prstGeom prst="rect">
            <a:avLst/>
          </a:prstGeom>
          <a:solidFill>
            <a:srgbClr val="0A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1792" y="1205023"/>
            <a:ext cx="3215689" cy="23044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50" b="1" dirty="0" err="1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模型现状（主模型</a:t>
            </a:r>
            <a:r>
              <a:rPr sz="1450" b="1" dirty="0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sz="1450" b="1" dirty="0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sz="1450" b="1" dirty="0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个</a:t>
            </a:r>
            <a:r>
              <a:rPr lang="zh-CN" altLang="en-US" sz="1450" b="1" dirty="0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，子模型</a:t>
            </a:r>
            <a:r>
              <a:rPr lang="en-US" altLang="zh-CN" sz="1450" b="1" dirty="0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450" b="1" dirty="0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sz="1450" b="1" dirty="0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8680" y="1929384"/>
            <a:ext cx="10451592" cy="0"/>
          </a:xfrm>
          <a:prstGeom prst="line">
            <a:avLst/>
          </a:prstGeom>
          <a:ln w="15240">
            <a:solidFill>
              <a:srgbClr val="C6D1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26002" y="1627632"/>
            <a:ext cx="1074076" cy="21582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50" b="1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 年 9 月</a:t>
            </a:r>
          </a:p>
        </p:txBody>
      </p:sp>
      <p:sp>
        <p:nvSpPr>
          <p:cNvPr id="12" name="Oval 11"/>
          <p:cNvSpPr/>
          <p:nvPr/>
        </p:nvSpPr>
        <p:spPr>
          <a:xfrm>
            <a:off x="1412748" y="1879092"/>
            <a:ext cx="100584" cy="100584"/>
          </a:xfrm>
          <a:prstGeom prst="ellipse">
            <a:avLst/>
          </a:prstGeom>
          <a:solidFill>
            <a:srgbClr val="5CA84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7200" y="2121408"/>
            <a:ext cx="2011680" cy="13533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69264" y="2172708"/>
            <a:ext cx="987552" cy="246888"/>
          </a:xfrm>
          <a:prstGeom prst="roundRect">
            <a:avLst/>
          </a:prstGeom>
          <a:solidFill>
            <a:srgbClr val="5C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已上线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285" y="2530189"/>
            <a:ext cx="1284069" cy="41319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</a:pPr>
            <a:r>
              <a:rPr sz="900" b="1" dirty="0" err="1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老客风险主模型</a:t>
            </a:r>
            <a:r>
              <a:rPr sz="900" b="1" dirty="0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1.0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900" b="1" dirty="0" err="1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老客银行流水子模型</a:t>
            </a:r>
            <a:r>
              <a:rPr sz="900" b="1" dirty="0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1.0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900" b="1" dirty="0" err="1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老客行为子模型</a:t>
            </a:r>
            <a:r>
              <a:rPr sz="900" b="1" dirty="0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1.0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3044952"/>
            <a:ext cx="1609344" cy="0"/>
          </a:xfrm>
          <a:prstGeom prst="line">
            <a:avLst/>
          </a:prstGeom>
          <a:ln w="7620">
            <a:solidFill>
              <a:srgbClr val="E6EB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25627" y="3090672"/>
            <a:ext cx="1474827" cy="252377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00" b="1" dirty="0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OOT </a:t>
            </a:r>
            <a:r>
              <a:rPr sz="800" b="1" dirty="0" err="1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效果稳定，OOS</a:t>
            </a:r>
            <a:r>
              <a:rPr sz="800" b="1" dirty="0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0.69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00" b="1" dirty="0" err="1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上线</a:t>
            </a:r>
            <a:r>
              <a:rPr sz="800" b="1" dirty="0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10 </a:t>
            </a:r>
            <a:r>
              <a:rPr sz="800" b="1" dirty="0" err="1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个月</a:t>
            </a:r>
            <a:r>
              <a:rPr sz="800" b="1" dirty="0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AUC </a:t>
            </a:r>
            <a:r>
              <a:rPr sz="800" b="1" dirty="0" err="1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维持到</a:t>
            </a:r>
            <a:r>
              <a:rPr sz="800" b="1" dirty="0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0.66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4021" y="1627632"/>
            <a:ext cx="1181477" cy="21582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50" b="1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 年 11 月</a:t>
            </a:r>
          </a:p>
        </p:txBody>
      </p:sp>
      <p:sp>
        <p:nvSpPr>
          <p:cNvPr id="19" name="Oval 18"/>
          <p:cNvSpPr/>
          <p:nvPr/>
        </p:nvSpPr>
        <p:spPr>
          <a:xfrm>
            <a:off x="3744468" y="1879092"/>
            <a:ext cx="100584" cy="100584"/>
          </a:xfrm>
          <a:prstGeom prst="ellipse">
            <a:avLst/>
          </a:prstGeom>
          <a:solidFill>
            <a:srgbClr val="5CA84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788920" y="2121408"/>
            <a:ext cx="2011680" cy="13533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300984" y="2172708"/>
            <a:ext cx="987552" cy="246888"/>
          </a:xfrm>
          <a:prstGeom prst="roundRect">
            <a:avLst/>
          </a:prstGeom>
          <a:solidFill>
            <a:srgbClr val="5C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已上线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54513" y="2603341"/>
            <a:ext cx="1080489" cy="152862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</a:pPr>
            <a:r>
              <a:rPr sz="900" b="1" dirty="0" err="1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新客风险主模型</a:t>
            </a:r>
            <a:r>
              <a:rPr sz="900" b="1" dirty="0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1.0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990088" y="3044952"/>
            <a:ext cx="1609344" cy="0"/>
          </a:xfrm>
          <a:prstGeom prst="line">
            <a:avLst/>
          </a:prstGeom>
          <a:ln w="7620">
            <a:solidFill>
              <a:srgbClr val="E6EB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088605" y="3090672"/>
            <a:ext cx="1412310" cy="252377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00" b="1" dirty="0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OOT </a:t>
            </a:r>
            <a:r>
              <a:rPr sz="800" b="1" dirty="0" err="1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效果稳定，OOS</a:t>
            </a:r>
            <a:r>
              <a:rPr sz="800" b="1" dirty="0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0.69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00" b="1" dirty="0" err="1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上线</a:t>
            </a:r>
            <a:r>
              <a:rPr sz="800" b="1" dirty="0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8 </a:t>
            </a:r>
            <a:r>
              <a:rPr sz="800" b="1" dirty="0" err="1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个月</a:t>
            </a:r>
            <a:r>
              <a:rPr sz="800" b="1" dirty="0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AUC </a:t>
            </a:r>
            <a:r>
              <a:rPr sz="800" b="1" dirty="0" err="1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维持到</a:t>
            </a:r>
            <a:r>
              <a:rPr sz="800" b="1" dirty="0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0.66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89442" y="1627632"/>
            <a:ext cx="1074076" cy="21582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50" b="1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 年 1 月</a:t>
            </a:r>
          </a:p>
        </p:txBody>
      </p:sp>
      <p:sp>
        <p:nvSpPr>
          <p:cNvPr id="26" name="Oval 25"/>
          <p:cNvSpPr/>
          <p:nvPr/>
        </p:nvSpPr>
        <p:spPr>
          <a:xfrm>
            <a:off x="6076188" y="1879092"/>
            <a:ext cx="100584" cy="100584"/>
          </a:xfrm>
          <a:prstGeom prst="ellipse">
            <a:avLst/>
          </a:prstGeom>
          <a:solidFill>
            <a:srgbClr val="7F848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120640" y="2121408"/>
            <a:ext cx="2011680" cy="13533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632704" y="2172708"/>
            <a:ext cx="987552" cy="246888"/>
          </a:xfrm>
          <a:prstGeom prst="roundRect">
            <a:avLst/>
          </a:prstGeom>
          <a:solidFill>
            <a:srgbClr val="7F8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离线跑批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26924" y="2603341"/>
            <a:ext cx="1199110" cy="152862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老客复购意愿模型 1.0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1782" y="1627632"/>
            <a:ext cx="1074076" cy="21582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50" b="1" dirty="0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 年 3 月</a:t>
            </a:r>
          </a:p>
        </p:txBody>
      </p:sp>
      <p:sp>
        <p:nvSpPr>
          <p:cNvPr id="31" name="Oval 30"/>
          <p:cNvSpPr/>
          <p:nvPr/>
        </p:nvSpPr>
        <p:spPr>
          <a:xfrm>
            <a:off x="8407908" y="1879092"/>
            <a:ext cx="100584" cy="100584"/>
          </a:xfrm>
          <a:prstGeom prst="ellipse">
            <a:avLst/>
          </a:prstGeom>
          <a:solidFill>
            <a:srgbClr val="E867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452360" y="2121408"/>
            <a:ext cx="2011680" cy="13533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964424" y="2172708"/>
            <a:ext cx="987552" cy="246888"/>
          </a:xfrm>
          <a:prstGeom prst="roundRect">
            <a:avLst/>
          </a:prstGeom>
          <a:solidFill>
            <a:srgbClr val="E86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1050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即将上线</a:t>
            </a:r>
            <a:endParaRPr sz="105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859445" y="2530189"/>
            <a:ext cx="1284069" cy="41319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老客风险主模型 2.0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老客银行流水子模型 2.0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老客行为子模型 2.0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81625" y="1627632"/>
            <a:ext cx="1074076" cy="21582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50" b="1" dirty="0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 年 6 月</a:t>
            </a:r>
          </a:p>
        </p:txBody>
      </p:sp>
      <p:sp>
        <p:nvSpPr>
          <p:cNvPr id="36" name="Oval 35"/>
          <p:cNvSpPr/>
          <p:nvPr/>
        </p:nvSpPr>
        <p:spPr>
          <a:xfrm>
            <a:off x="10739628" y="1879092"/>
            <a:ext cx="100584" cy="100584"/>
          </a:xfrm>
          <a:prstGeom prst="ellipse">
            <a:avLst/>
          </a:prstGeom>
          <a:solidFill>
            <a:srgbClr val="E8672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9784080" y="2121408"/>
            <a:ext cx="2011680" cy="13533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10296144" y="2172708"/>
            <a:ext cx="987552" cy="246888"/>
          </a:xfrm>
          <a:prstGeom prst="roundRect">
            <a:avLst/>
          </a:prstGeom>
          <a:solidFill>
            <a:srgbClr val="E86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即将上线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7608" y="2603341"/>
            <a:ext cx="724621" cy="152862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</a:pPr>
            <a:r>
              <a:rPr sz="900" b="1" dirty="0" err="1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价值模型</a:t>
            </a:r>
            <a:r>
              <a:rPr sz="900" b="1" dirty="0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1.0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2064" y="3886200"/>
            <a:ext cx="45720" cy="182880"/>
          </a:xfrm>
          <a:prstGeom prst="rect">
            <a:avLst/>
          </a:prstGeom>
          <a:solidFill>
            <a:srgbClr val="0A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21792" y="3858768"/>
            <a:ext cx="780727" cy="23044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50" b="1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模型规划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74642" y="3894033"/>
            <a:ext cx="3787960" cy="161711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80" b="0" dirty="0" err="1">
                <a:solidFill>
                  <a:srgbClr val="5A6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下阶段保持三条主线：数据能力建设、投放效率提升、风控策略联动</a:t>
            </a:r>
            <a:endParaRPr sz="980" b="0" dirty="0">
              <a:solidFill>
                <a:srgbClr val="5A677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58368" y="4297680"/>
            <a:ext cx="3419856" cy="1645920"/>
          </a:xfrm>
          <a:prstGeom prst="roundRect">
            <a:avLst/>
          </a:prstGeom>
          <a:solidFill>
            <a:srgbClr val="F6F8FB"/>
          </a:solidFill>
          <a:ln w="1143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96312" y="4493215"/>
            <a:ext cx="806375" cy="237757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500" b="1" dirty="0" err="1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数据基建</a:t>
            </a:r>
            <a:endParaRPr sz="1500" b="1" dirty="0">
              <a:solidFill>
                <a:srgbClr val="0A23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926002" y="4840687"/>
            <a:ext cx="548640" cy="27432"/>
          </a:xfrm>
          <a:prstGeom prst="rect">
            <a:avLst/>
          </a:prstGeom>
          <a:solidFill>
            <a:srgbClr val="226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932688" y="5065776"/>
            <a:ext cx="50292" cy="50292"/>
          </a:xfrm>
          <a:prstGeom prst="ellipse">
            <a:avLst/>
          </a:prstGeom>
          <a:solidFill>
            <a:srgbClr val="226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060704" y="5010912"/>
            <a:ext cx="1114151" cy="17197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lang="zh-CN" altLang="en-US" sz="1050" b="0" dirty="0">
                <a:solidFill>
                  <a:srgbClr val="20395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银行流水</a:t>
            </a:r>
            <a:r>
              <a:rPr sz="1050" b="0" dirty="0" err="1">
                <a:solidFill>
                  <a:srgbClr val="20395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分类模型</a:t>
            </a:r>
            <a:endParaRPr sz="1050" b="0" dirty="0">
              <a:solidFill>
                <a:srgbClr val="20395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932688" y="5298948"/>
            <a:ext cx="50292" cy="50292"/>
          </a:xfrm>
          <a:prstGeom prst="ellipse">
            <a:avLst/>
          </a:prstGeom>
          <a:solidFill>
            <a:srgbClr val="226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060704" y="5244084"/>
            <a:ext cx="1059649" cy="17197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0" dirty="0" err="1">
                <a:solidFill>
                  <a:srgbClr val="20395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知识库</a:t>
            </a:r>
            <a:r>
              <a:rPr sz="1050" b="0" dirty="0">
                <a:solidFill>
                  <a:srgbClr val="20395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AI </a:t>
            </a:r>
            <a:r>
              <a:rPr sz="1050" b="0" dirty="0" err="1">
                <a:solidFill>
                  <a:srgbClr val="20395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智能体</a:t>
            </a:r>
            <a:endParaRPr sz="1050" b="0" dirty="0">
              <a:solidFill>
                <a:srgbClr val="20395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932688" y="5532120"/>
            <a:ext cx="50292" cy="50292"/>
          </a:xfrm>
          <a:prstGeom prst="ellipse">
            <a:avLst/>
          </a:prstGeom>
          <a:solidFill>
            <a:srgbClr val="226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60704" y="5477256"/>
            <a:ext cx="1194301" cy="17197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0" dirty="0" err="1">
                <a:solidFill>
                  <a:srgbClr val="20395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竞品追踪</a:t>
            </a:r>
            <a:r>
              <a:rPr sz="1050" b="0" dirty="0">
                <a:solidFill>
                  <a:srgbClr val="20395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AI </a:t>
            </a:r>
            <a:r>
              <a:rPr sz="1050" b="0" dirty="0" err="1">
                <a:solidFill>
                  <a:srgbClr val="20395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智能体</a:t>
            </a:r>
            <a:endParaRPr sz="1050" b="0" dirty="0">
              <a:solidFill>
                <a:srgbClr val="20395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932688" y="5765292"/>
            <a:ext cx="50292" cy="50292"/>
          </a:xfrm>
          <a:prstGeom prst="ellipse">
            <a:avLst/>
          </a:prstGeom>
          <a:solidFill>
            <a:srgbClr val="226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060704" y="5710428"/>
            <a:ext cx="1114151" cy="17197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0" dirty="0" err="1">
                <a:solidFill>
                  <a:srgbClr val="20395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贷中银行流水查询</a:t>
            </a:r>
            <a:endParaRPr sz="1050" b="0" dirty="0">
              <a:solidFill>
                <a:srgbClr val="20395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4352544" y="4297680"/>
            <a:ext cx="3419856" cy="1645920"/>
          </a:xfrm>
          <a:prstGeom prst="roundRect">
            <a:avLst/>
          </a:prstGeom>
          <a:solidFill>
            <a:srgbClr val="F6F8FB"/>
          </a:solidFill>
          <a:ln w="1143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597174" y="4493215"/>
            <a:ext cx="806375" cy="237757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500" b="1" dirty="0" err="1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投放市场</a:t>
            </a:r>
            <a:endParaRPr sz="1500" b="1" dirty="0">
              <a:solidFill>
                <a:srgbClr val="0A23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626864" y="4840687"/>
            <a:ext cx="548640" cy="27432"/>
          </a:xfrm>
          <a:prstGeom prst="rect">
            <a:avLst/>
          </a:prstGeom>
          <a:solidFill>
            <a:srgbClr val="CB8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626864" y="5065776"/>
            <a:ext cx="50292" cy="50292"/>
          </a:xfrm>
          <a:prstGeom prst="ellipse">
            <a:avLst/>
          </a:prstGeom>
          <a:solidFill>
            <a:srgbClr val="CB8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754880" y="5010912"/>
            <a:ext cx="1114151" cy="17197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0395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高价值用户回传包</a:t>
            </a:r>
          </a:p>
        </p:txBody>
      </p:sp>
      <p:sp>
        <p:nvSpPr>
          <p:cNvPr id="61" name="Oval 60"/>
          <p:cNvSpPr/>
          <p:nvPr/>
        </p:nvSpPr>
        <p:spPr>
          <a:xfrm>
            <a:off x="4626864" y="5298948"/>
            <a:ext cx="50292" cy="50292"/>
          </a:xfrm>
          <a:prstGeom prst="ellipse">
            <a:avLst/>
          </a:prstGeom>
          <a:solidFill>
            <a:srgbClr val="CB8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754880" y="5244084"/>
            <a:ext cx="1114151" cy="17197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0395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投放归因追踪监控</a:t>
            </a:r>
          </a:p>
        </p:txBody>
      </p:sp>
      <p:sp>
        <p:nvSpPr>
          <p:cNvPr id="63" name="Oval 62"/>
          <p:cNvSpPr/>
          <p:nvPr/>
        </p:nvSpPr>
        <p:spPr>
          <a:xfrm>
            <a:off x="4626864" y="5532120"/>
            <a:ext cx="50292" cy="50292"/>
          </a:xfrm>
          <a:prstGeom prst="ellipse">
            <a:avLst/>
          </a:prstGeom>
          <a:solidFill>
            <a:srgbClr val="CB8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754880" y="5477256"/>
            <a:ext cx="1114151" cy="17197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0395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预算分配决策工具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046720" y="4297680"/>
            <a:ext cx="3419856" cy="1645920"/>
          </a:xfrm>
          <a:prstGeom prst="roundRect">
            <a:avLst/>
          </a:prstGeom>
          <a:solidFill>
            <a:srgbClr val="F6F8FB"/>
          </a:solidFill>
          <a:ln w="1143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291350" y="4493215"/>
            <a:ext cx="806375" cy="237757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500" b="1" dirty="0" err="1">
                <a:solidFill>
                  <a:srgbClr val="0A2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风险管理</a:t>
            </a:r>
            <a:endParaRPr sz="1500" b="1" dirty="0">
              <a:solidFill>
                <a:srgbClr val="0A23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8321040" y="4840687"/>
            <a:ext cx="548640" cy="27432"/>
          </a:xfrm>
          <a:prstGeom prst="rect">
            <a:avLst/>
          </a:prstGeom>
          <a:solidFill>
            <a:srgbClr val="CD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8321040" y="5065776"/>
            <a:ext cx="50292" cy="50292"/>
          </a:xfrm>
          <a:prstGeom prst="ellipse">
            <a:avLst/>
          </a:prstGeom>
          <a:solidFill>
            <a:srgbClr val="CD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8449056" y="5010912"/>
            <a:ext cx="799963" cy="17197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0" dirty="0">
                <a:solidFill>
                  <a:srgbClr val="20395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PD </a:t>
            </a:r>
            <a:r>
              <a:rPr sz="1050" b="0" dirty="0" err="1">
                <a:solidFill>
                  <a:srgbClr val="20395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模型迭代</a:t>
            </a:r>
            <a:endParaRPr sz="1050" b="0" dirty="0">
              <a:solidFill>
                <a:srgbClr val="20395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8321040" y="5298948"/>
            <a:ext cx="50292" cy="50292"/>
          </a:xfrm>
          <a:prstGeom prst="ellipse">
            <a:avLst/>
          </a:prstGeom>
          <a:solidFill>
            <a:srgbClr val="CD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8449056" y="5244084"/>
            <a:ext cx="1562992" cy="17197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20395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 × 价值联合额度策略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512064" y="6199632"/>
            <a:ext cx="10716768" cy="0"/>
          </a:xfrm>
          <a:prstGeom prst="line">
            <a:avLst/>
          </a:prstGeom>
          <a:ln w="7620">
            <a:solidFill>
              <a:srgbClr val="EB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8760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080" y="252331"/>
            <a:ext cx="1423467" cy="284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50" b="1">
                <a:solidFill>
                  <a:srgbClr val="1F3A5B"/>
                </a:solidFill>
                <a:latin typeface="Microsoft YaHei"/>
              </a:defRPr>
            </a:pPr>
            <a:r>
              <a:rPr kumimoji="0" sz="1850" b="1" i="0" u="none" strike="noStrike" kern="1200" cap="none" spc="0" normalizeH="0" baseline="0" noProof="0" dirty="0" err="1">
                <a:ln>
                  <a:noFill/>
                </a:ln>
                <a:solidFill>
                  <a:srgbClr val="1F3A5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四类客群矩阵</a:t>
            </a:r>
            <a:endParaRPr kumimoji="0" sz="1850" b="1" i="0" u="none" strike="noStrike" kern="1200" cap="none" spc="0" normalizeH="0" baseline="0" noProof="0" dirty="0">
              <a:ln>
                <a:noFill/>
              </a:ln>
              <a:solidFill>
                <a:srgbClr val="1F3A5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12064" y="3602736"/>
            <a:ext cx="11155680" cy="0"/>
          </a:xfrm>
          <a:prstGeom prst="line">
            <a:avLst/>
          </a:prstGeom>
          <a:ln w="11430">
            <a:solidFill>
              <a:srgbClr val="7A8B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80760" y="804672"/>
            <a:ext cx="0" cy="5623560"/>
          </a:xfrm>
          <a:prstGeom prst="line">
            <a:avLst/>
          </a:prstGeom>
          <a:ln w="11430">
            <a:solidFill>
              <a:srgbClr val="7A8B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9349" y="3493008"/>
            <a:ext cx="355867" cy="1414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19" b="1">
                <a:solidFill>
                  <a:srgbClr val="1F3A5B"/>
                </a:solidFill>
                <a:latin typeface="Microsoft YaHei"/>
              </a:defRPr>
            </a:pPr>
            <a:r>
              <a:rPr kumimoji="0" sz="919" b="1" i="0" u="none" strike="noStrike" kern="1200" cap="none" spc="0" normalizeH="0" baseline="0" noProof="0">
                <a:ln>
                  <a:noFill/>
                </a:ln>
                <a:solidFill>
                  <a:srgbClr val="1F3A5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风险低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95925" y="3493008"/>
            <a:ext cx="355867" cy="1414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19" b="1">
                <a:solidFill>
                  <a:srgbClr val="1F3A5B"/>
                </a:solidFill>
                <a:latin typeface="Microsoft YaHei"/>
              </a:defRPr>
            </a:pPr>
            <a:r>
              <a:rPr kumimoji="0" sz="919" b="1" i="0" u="none" strike="noStrike" kern="1200" cap="none" spc="0" normalizeH="0" baseline="0" noProof="0">
                <a:ln>
                  <a:noFill/>
                </a:ln>
                <a:solidFill>
                  <a:srgbClr val="1F3A5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风险高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41848" y="830902"/>
            <a:ext cx="365485" cy="14619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50" b="1">
                <a:solidFill>
                  <a:srgbClr val="1F3A5B"/>
                </a:solidFill>
                <a:latin typeface="Microsoft YaHei"/>
              </a:defRPr>
            </a:pPr>
            <a:r>
              <a:rPr kumimoji="0" sz="950" b="1" i="0" u="none" strike="noStrike" kern="1200" cap="none" spc="0" normalizeH="0" baseline="0" noProof="0" dirty="0" err="1">
                <a:ln>
                  <a:noFill/>
                </a:ln>
                <a:solidFill>
                  <a:srgbClr val="1F3A5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价值高</a:t>
            </a:r>
            <a:endParaRPr kumimoji="0" sz="950" b="1" i="0" u="none" strike="noStrike" kern="1200" cap="none" spc="0" normalizeH="0" baseline="0" noProof="0" dirty="0">
              <a:ln>
                <a:noFill/>
              </a:ln>
              <a:solidFill>
                <a:srgbClr val="1F3A5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02826" y="6528816"/>
            <a:ext cx="355867" cy="1414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19" b="1">
                <a:solidFill>
                  <a:srgbClr val="1F3A5B"/>
                </a:solidFill>
                <a:latin typeface="Microsoft YaHei"/>
              </a:defRPr>
            </a:pPr>
            <a:r>
              <a:rPr kumimoji="0" sz="919" b="1" i="0" u="none" strike="noStrike" kern="1200" cap="none" spc="0" normalizeH="0" baseline="0" noProof="0">
                <a:ln>
                  <a:noFill/>
                </a:ln>
                <a:solidFill>
                  <a:srgbClr val="1F3A5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价值低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896112"/>
            <a:ext cx="708527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1">
                <a:solidFill>
                  <a:srgbClr val="68717D"/>
                </a:solidFill>
                <a:latin typeface="Microsoft YaHei"/>
              </a:defRPr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68717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价值好 × 风险好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124712"/>
            <a:ext cx="1333698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268343"/>
                </a:solidFill>
                <a:latin typeface="Microsoft YaHei"/>
              </a:defRPr>
            </a:pPr>
            <a:r>
              <a:rPr kumimoji="0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683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稳健经营型优质客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2683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58368" y="1655064"/>
            <a:ext cx="49834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8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54864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0" b="1" i="0" u="none" strike="noStrike" kern="1200" cap="none" spc="0" normalizeH="0" baseline="0" noProof="0" dirty="0">
                <a:ln>
                  <a:noFill/>
                </a:ln>
                <a:solidFill>
                  <a:srgbClr val="2683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经营策略：重点经营</a:t>
            </a:r>
            <a:r>
              <a:rPr kumimoji="0" sz="860" b="0" i="0" u="none" strike="noStrike" kern="1200" cap="none" spc="0" normalizeH="0" baseline="0" noProof="0" dirty="0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｜3000-5000 </a:t>
            </a:r>
            <a:r>
              <a:rPr kumimoji="0" sz="860" b="0" i="0" u="none" strike="noStrike" kern="1200" cap="none" spc="0" normalizeH="0" baseline="0" noProof="0" dirty="0" err="1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优质</a:t>
            </a:r>
            <a:r>
              <a:rPr kumimoji="0" sz="860" b="0" i="0" u="none" strike="noStrike" kern="1200" cap="none" spc="0" normalizeH="0" baseline="0" noProof="0" dirty="0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MACC / LACC / LOC </a:t>
            </a:r>
            <a:r>
              <a:rPr kumimoji="0" sz="860" b="0" i="0" u="none" strike="noStrike" kern="1200" cap="none" spc="0" normalizeH="0" baseline="0" noProof="0" dirty="0" err="1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候选池</a:t>
            </a:r>
            <a:endParaRPr kumimoji="0" sz="860" b="0" i="0" u="none" strike="noStrike" kern="1200" cap="none" spc="0" normalizeH="0" baseline="0" noProof="0" dirty="0">
              <a:ln>
                <a:noFill/>
              </a:ln>
              <a:solidFill>
                <a:srgbClr val="2F364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373368" y="896112"/>
            <a:ext cx="708527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1">
                <a:solidFill>
                  <a:srgbClr val="68717D"/>
                </a:solidFill>
                <a:latin typeface="Microsoft YaHei"/>
              </a:defRPr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68717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价值好 × 风险差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3368" y="1124712"/>
            <a:ext cx="1500411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B57900"/>
                </a:solidFill>
                <a:latin typeface="Microsoft YaHe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B579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高薪高波动型周转客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73368" y="1655064"/>
            <a:ext cx="49834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5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54864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0" b="1" i="0" u="none" strike="noStrike" kern="1200" cap="none" spc="0" normalizeH="0" baseline="0" noProof="0" dirty="0" err="1">
                <a:ln>
                  <a:noFill/>
                </a:ln>
                <a:solidFill>
                  <a:srgbClr val="B579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经营策略：短周期小额承接</a:t>
            </a:r>
            <a:r>
              <a:rPr kumimoji="0" sz="860" b="0" i="0" u="none" strike="noStrike" kern="1200" cap="none" spc="0" normalizeH="0" baseline="0" noProof="0" dirty="0" err="1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｜</a:t>
            </a:r>
            <a:r>
              <a:rPr kumimoji="0" lang="en-US" sz="860" b="0" i="0" u="none" strike="noStrike" kern="1200" cap="none" spc="0" normalizeH="0" baseline="0" noProof="0" dirty="0" err="1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EWA</a:t>
            </a:r>
            <a:r>
              <a:rPr kumimoji="0" lang="en-US" sz="860" b="0" i="0" u="none" strike="noStrike" kern="1200" cap="none" spc="0" normalizeH="0" baseline="0" noProof="0" dirty="0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/ </a:t>
            </a:r>
            <a:r>
              <a:rPr kumimoji="0" lang="zh-CN" altLang="en-US" sz="860" b="0" i="0" u="none" strike="noStrike" kern="1200" cap="none" spc="0" normalizeH="0" baseline="0" noProof="0" dirty="0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超短期产品</a:t>
            </a:r>
            <a:endParaRPr kumimoji="0" sz="860" b="0" i="0" u="none" strike="noStrike" kern="1200" cap="none" spc="0" normalizeH="0" baseline="0" noProof="0" dirty="0">
              <a:ln>
                <a:noFill/>
              </a:ln>
              <a:solidFill>
                <a:srgbClr val="2F364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63493" y="3750533"/>
            <a:ext cx="708527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1">
                <a:solidFill>
                  <a:srgbClr val="68717D"/>
                </a:solidFill>
                <a:latin typeface="Microsoft YaHei"/>
              </a:defRPr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68717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价值差 × 风险好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3493" y="3979133"/>
            <a:ext cx="1500411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1B5380"/>
                </a:solidFill>
                <a:latin typeface="Microsoft YaHei"/>
              </a:defRPr>
            </a:pPr>
            <a:r>
              <a:rPr kumimoji="0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1B538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低收入克制型刚需客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1B538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663493" y="4509485"/>
            <a:ext cx="49834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5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54864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0" b="1" i="0" u="none" strike="noStrike" kern="1200" cap="none" spc="0" normalizeH="0" baseline="0" noProof="0" dirty="0" err="1">
                <a:ln>
                  <a:noFill/>
                </a:ln>
                <a:solidFill>
                  <a:srgbClr val="1B538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经营策略：低额度验证</a:t>
            </a:r>
            <a:r>
              <a:rPr kumimoji="0" sz="860" b="0" i="0" u="none" strike="noStrike" kern="1200" cap="none" spc="0" normalizeH="0" baseline="0" noProof="0" dirty="0" err="1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｜</a:t>
            </a:r>
            <a:r>
              <a:rPr kumimoji="0" lang="en-US" sz="860" b="0" i="0" u="none" strike="noStrike" kern="1200" cap="none" spc="0" normalizeH="0" baseline="0" noProof="0" dirty="0" err="1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SACC</a:t>
            </a:r>
            <a:r>
              <a:rPr kumimoji="0" lang="en-US" sz="860" b="0" i="0" u="none" strike="noStrike" kern="1200" cap="none" spc="0" normalizeH="0" baseline="0" noProof="0" dirty="0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/ </a:t>
            </a:r>
            <a:r>
              <a:rPr kumimoji="0" lang="zh-CN" altLang="en-US" sz="860" b="0" i="0" u="none" strike="noStrike" kern="1200" cap="none" spc="0" normalizeH="0" baseline="0" noProof="0" dirty="0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低额 </a:t>
            </a:r>
            <a:r>
              <a:rPr kumimoji="0" lang="en-US" sz="860" b="0" i="0" u="none" strike="noStrike" kern="1200" cap="none" spc="0" normalizeH="0" baseline="0" noProof="0" dirty="0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Personal Loan</a:t>
            </a:r>
            <a:endParaRPr kumimoji="0" sz="860" b="0" i="0" u="none" strike="noStrike" kern="1200" cap="none" spc="0" normalizeH="0" baseline="0" noProof="0" dirty="0">
              <a:ln>
                <a:noFill/>
              </a:ln>
              <a:solidFill>
                <a:srgbClr val="2F364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6409765" y="3783521"/>
            <a:ext cx="708527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1">
                <a:solidFill>
                  <a:srgbClr val="68717D"/>
                </a:solidFill>
                <a:latin typeface="Microsoft YaHei"/>
              </a:defRPr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68717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价值差 × 风险差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9765" y="4012121"/>
            <a:ext cx="1500411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C83D30"/>
                </a:solidFill>
                <a:latin typeface="Microsoft YaHe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C83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现金流脆弱型谨慎客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409765" y="4542473"/>
            <a:ext cx="49834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3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54864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0" b="1" i="0" u="none" strike="noStrike" kern="1200" cap="none" spc="0" normalizeH="0" baseline="0" noProof="0">
                <a:ln>
                  <a:noFill/>
                </a:ln>
                <a:solidFill>
                  <a:srgbClr val="C83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经营策略：原则上不重点承接</a:t>
            </a:r>
            <a:r>
              <a:rPr kumimoji="0" sz="860" b="0" i="0" u="none" strike="noStrike" kern="1200" cap="none" spc="0" normalizeH="0" baseline="0" noProof="0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｜限额 / 提价 / 人工审核 / 谨慎准入</a:t>
            </a:r>
          </a:p>
        </p:txBody>
      </p:sp>
      <p:sp>
        <p:nvSpPr>
          <p:cNvPr id="116" name="Rounded Rectangle 20">
            <a:extLst>
              <a:ext uri="{FF2B5EF4-FFF2-40B4-BE49-F238E27FC236}">
                <a16:creationId xmlns:a16="http://schemas.microsoft.com/office/drawing/2014/main" id="{1ECF688C-6E3F-4C0E-ABD4-2EE749A8E409}"/>
              </a:ext>
            </a:extLst>
          </p:cNvPr>
          <p:cNvSpPr/>
          <p:nvPr/>
        </p:nvSpPr>
        <p:spPr>
          <a:xfrm>
            <a:off x="658368" y="1396118"/>
            <a:ext cx="832104" cy="20116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高收入稳现金流</a:t>
            </a:r>
          </a:p>
        </p:txBody>
      </p:sp>
      <p:sp>
        <p:nvSpPr>
          <p:cNvPr id="117" name="Rounded Rectangle 21">
            <a:extLst>
              <a:ext uri="{FF2B5EF4-FFF2-40B4-BE49-F238E27FC236}">
                <a16:creationId xmlns:a16="http://schemas.microsoft.com/office/drawing/2014/main" id="{1CBC9896-18ED-4F66-A930-AC5965EA2488}"/>
              </a:ext>
            </a:extLst>
          </p:cNvPr>
          <p:cNvSpPr/>
          <p:nvPr/>
        </p:nvSpPr>
        <p:spPr>
          <a:xfrm>
            <a:off x="1545336" y="1396118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用信成熟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18" name="Rounded Rectangle 22">
            <a:extLst>
              <a:ext uri="{FF2B5EF4-FFF2-40B4-BE49-F238E27FC236}">
                <a16:creationId xmlns:a16="http://schemas.microsoft.com/office/drawing/2014/main" id="{0EE4068E-A424-44FA-A1AE-B95E543A2B7B}"/>
              </a:ext>
            </a:extLst>
          </p:cNvPr>
          <p:cNvSpPr/>
          <p:nvPr/>
        </p:nvSpPr>
        <p:spPr>
          <a:xfrm>
            <a:off x="2231136" y="1396118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履约稳健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19" name="Rounded Rectangle 23">
            <a:extLst>
              <a:ext uri="{FF2B5EF4-FFF2-40B4-BE49-F238E27FC236}">
                <a16:creationId xmlns:a16="http://schemas.microsoft.com/office/drawing/2014/main" id="{866029C3-0908-4601-B0B5-470A21370530}"/>
              </a:ext>
            </a:extLst>
          </p:cNvPr>
          <p:cNvSpPr/>
          <p:nvPr/>
        </p:nvSpPr>
        <p:spPr>
          <a:xfrm>
            <a:off x="2916936" y="1396118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高额度诉求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25" name="Rounded Rectangle 40">
            <a:extLst>
              <a:ext uri="{FF2B5EF4-FFF2-40B4-BE49-F238E27FC236}">
                <a16:creationId xmlns:a16="http://schemas.microsoft.com/office/drawing/2014/main" id="{DF5A399C-DE9E-439B-8A34-67D4CEF4DB29}"/>
              </a:ext>
            </a:extLst>
          </p:cNvPr>
          <p:cNvSpPr/>
          <p:nvPr/>
        </p:nvSpPr>
        <p:spPr>
          <a:xfrm>
            <a:off x="6373368" y="1381193"/>
            <a:ext cx="530352" cy="20116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纸面富裕</a:t>
            </a:r>
          </a:p>
        </p:txBody>
      </p:sp>
      <p:sp>
        <p:nvSpPr>
          <p:cNvPr id="126" name="Rounded Rectangle 41">
            <a:extLst>
              <a:ext uri="{FF2B5EF4-FFF2-40B4-BE49-F238E27FC236}">
                <a16:creationId xmlns:a16="http://schemas.microsoft.com/office/drawing/2014/main" id="{D17DA79E-22C1-4DB6-92D5-E4C642F7B63C}"/>
              </a:ext>
            </a:extLst>
          </p:cNvPr>
          <p:cNvSpPr/>
          <p:nvPr/>
        </p:nvSpPr>
        <p:spPr>
          <a:xfrm>
            <a:off x="6958584" y="1381193"/>
            <a:ext cx="530352" cy="20116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现金过山车</a:t>
            </a: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27" name="Rounded Rectangle 42">
            <a:extLst>
              <a:ext uri="{FF2B5EF4-FFF2-40B4-BE49-F238E27FC236}">
                <a16:creationId xmlns:a16="http://schemas.microsoft.com/office/drawing/2014/main" id="{DC5BA0FF-6073-431A-8F9D-AB909101B25A}"/>
              </a:ext>
            </a:extLst>
          </p:cNvPr>
          <p:cNvSpPr/>
          <p:nvPr/>
        </p:nvSpPr>
        <p:spPr>
          <a:xfrm>
            <a:off x="7543800" y="1381193"/>
            <a:ext cx="731520" cy="20116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高支出高波动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28" name="Rounded Rectangle 43">
            <a:extLst>
              <a:ext uri="{FF2B5EF4-FFF2-40B4-BE49-F238E27FC236}">
                <a16:creationId xmlns:a16="http://schemas.microsoft.com/office/drawing/2014/main" id="{A4D1AD08-9A3F-4FE7-AFEC-6C25CDC8B0B8}"/>
              </a:ext>
            </a:extLst>
          </p:cNvPr>
          <p:cNvSpPr/>
          <p:nvPr/>
        </p:nvSpPr>
        <p:spPr>
          <a:xfrm>
            <a:off x="8330184" y="1381193"/>
            <a:ext cx="731520" cy="20116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周转需求强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29" name="Rounded Rectangle 44">
            <a:extLst>
              <a:ext uri="{FF2B5EF4-FFF2-40B4-BE49-F238E27FC236}">
                <a16:creationId xmlns:a16="http://schemas.microsoft.com/office/drawing/2014/main" id="{4C841FC0-EB41-4881-80AF-BA5DAF26D3A4}"/>
              </a:ext>
            </a:extLst>
          </p:cNvPr>
          <p:cNvSpPr/>
          <p:nvPr/>
        </p:nvSpPr>
        <p:spPr>
          <a:xfrm>
            <a:off x="9116568" y="1381193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高额度诉求</a:t>
            </a:r>
          </a:p>
        </p:txBody>
      </p:sp>
      <p:sp>
        <p:nvSpPr>
          <p:cNvPr id="130" name="Rounded Rectangle 62">
            <a:extLst>
              <a:ext uri="{FF2B5EF4-FFF2-40B4-BE49-F238E27FC236}">
                <a16:creationId xmlns:a16="http://schemas.microsoft.com/office/drawing/2014/main" id="{4A853437-FAF5-4581-B771-2FB269A62555}"/>
              </a:ext>
            </a:extLst>
          </p:cNvPr>
          <p:cNvSpPr/>
          <p:nvPr/>
        </p:nvSpPr>
        <p:spPr>
          <a:xfrm>
            <a:off x="663493" y="4253453"/>
            <a:ext cx="530352" cy="20116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紧预算人群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31" name="Rounded Rectangle 63">
            <a:extLst>
              <a:ext uri="{FF2B5EF4-FFF2-40B4-BE49-F238E27FC236}">
                <a16:creationId xmlns:a16="http://schemas.microsoft.com/office/drawing/2014/main" id="{94C06805-ECBB-44FD-A329-6A2418DB2A87}"/>
              </a:ext>
            </a:extLst>
          </p:cNvPr>
          <p:cNvSpPr/>
          <p:nvPr/>
        </p:nvSpPr>
        <p:spPr>
          <a:xfrm>
            <a:off x="1248709" y="4253453"/>
            <a:ext cx="731520" cy="20116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福利依赖型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32" name="Rounded Rectangle 64">
            <a:extLst>
              <a:ext uri="{FF2B5EF4-FFF2-40B4-BE49-F238E27FC236}">
                <a16:creationId xmlns:a16="http://schemas.microsoft.com/office/drawing/2014/main" id="{1AC0652A-826D-4584-B80B-12FED471DE71}"/>
              </a:ext>
            </a:extLst>
          </p:cNvPr>
          <p:cNvSpPr/>
          <p:nvPr/>
        </p:nvSpPr>
        <p:spPr>
          <a:xfrm>
            <a:off x="2035093" y="4253453"/>
            <a:ext cx="530352" cy="20116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克制过日子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33" name="Rounded Rectangle 65">
            <a:extLst>
              <a:ext uri="{FF2B5EF4-FFF2-40B4-BE49-F238E27FC236}">
                <a16:creationId xmlns:a16="http://schemas.microsoft.com/office/drawing/2014/main" id="{0EFEF779-1BA0-4BDD-9D10-3FF083279EDE}"/>
              </a:ext>
            </a:extLst>
          </p:cNvPr>
          <p:cNvSpPr/>
          <p:nvPr/>
        </p:nvSpPr>
        <p:spPr>
          <a:xfrm>
            <a:off x="2620309" y="4253453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小额刚需党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35" name="Rounded Rectangle 84">
            <a:extLst>
              <a:ext uri="{FF2B5EF4-FFF2-40B4-BE49-F238E27FC236}">
                <a16:creationId xmlns:a16="http://schemas.microsoft.com/office/drawing/2014/main" id="{8E8C2170-1413-41B3-8914-31EC5C290A85}"/>
              </a:ext>
            </a:extLst>
          </p:cNvPr>
          <p:cNvSpPr/>
          <p:nvPr/>
        </p:nvSpPr>
        <p:spPr>
          <a:xfrm>
            <a:off x="6409765" y="4253229"/>
            <a:ext cx="731520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现金告急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36" name="Rounded Rectangle 85">
            <a:extLst>
              <a:ext uri="{FF2B5EF4-FFF2-40B4-BE49-F238E27FC236}">
                <a16:creationId xmlns:a16="http://schemas.microsoft.com/office/drawing/2014/main" id="{600E8349-AFD6-46C7-B409-59612E132C5D}"/>
              </a:ext>
            </a:extLst>
          </p:cNvPr>
          <p:cNvSpPr/>
          <p:nvPr/>
        </p:nvSpPr>
        <p:spPr>
          <a:xfrm>
            <a:off x="7196149" y="4253229"/>
            <a:ext cx="731520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收支失衡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37" name="Rounded Rectangle 86">
            <a:extLst>
              <a:ext uri="{FF2B5EF4-FFF2-40B4-BE49-F238E27FC236}">
                <a16:creationId xmlns:a16="http://schemas.microsoft.com/office/drawing/2014/main" id="{44A9AC8C-29FE-4895-81FF-69BAA02B4A60}"/>
              </a:ext>
            </a:extLst>
          </p:cNvPr>
          <p:cNvSpPr/>
          <p:nvPr/>
        </p:nvSpPr>
        <p:spPr>
          <a:xfrm>
            <a:off x="7982533" y="4253229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还款乏力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38" name="Rounded Rectangle 88">
            <a:extLst>
              <a:ext uri="{FF2B5EF4-FFF2-40B4-BE49-F238E27FC236}">
                <a16:creationId xmlns:a16="http://schemas.microsoft.com/office/drawing/2014/main" id="{FB12DEF9-0204-47DE-B33B-B08A965A503D}"/>
              </a:ext>
            </a:extLst>
          </p:cNvPr>
          <p:cNvSpPr/>
          <p:nvPr/>
        </p:nvSpPr>
        <p:spPr>
          <a:xfrm>
            <a:off x="8657665" y="4253229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高危边缘客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39" name="Rounded Rectangle 138"/>
          <p:cNvSpPr/>
          <p:nvPr/>
        </p:nvSpPr>
        <p:spPr>
          <a:xfrm>
            <a:off x="676656" y="2029968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740664" y="2061972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样本占比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40664" y="2153412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4.15%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40664" y="2290572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四类中等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1865376" y="2029968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1929384" y="2061972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申请通过率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929384" y="2153412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42.76%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929384" y="2290572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四类最高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3054096" y="2029968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3118103" y="2061972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自动/人工通过率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118103" y="2153412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12.81%/29.95%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118103" y="2290572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自动/人工均高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4242816" y="2029968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4306824" y="2061972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 err="1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通过后成交率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4306824" y="2153412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83.13%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306824" y="2290572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稳定成交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76656" y="2455164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740664" y="2489799"/>
            <a:ext cx="989053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3M30人数逾期率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740664" y="257860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5.74%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40664" y="271576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四类最低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1865376" y="2455164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1929384" y="2489799"/>
            <a:ext cx="989053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3M30金额逾期率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1929384" y="257860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2.62%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929384" y="271576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四类最低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3054096" y="2455164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3118103" y="248716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平均PTI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118103" y="257860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5.13%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118103" y="271576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四类最高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4242816" y="2455164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68" name="TextBox 167"/>
          <p:cNvSpPr txBox="1"/>
          <p:nvPr/>
        </p:nvSpPr>
        <p:spPr>
          <a:xfrm>
            <a:off x="4306824" y="248716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平均收入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306824" y="257860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8,351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4306824" y="271576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偏高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676656" y="2880360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740664" y="2912364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毛/净盈余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40664" y="300380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588/217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40664" y="314096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收支为正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1865376" y="2880360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1929384" y="2912364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平均申请额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929384" y="300380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2,589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929384" y="314096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偏高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3054096" y="2880360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3118103" y="2914995"/>
            <a:ext cx="968214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 err="1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件均额度</a:t>
            </a: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/</a:t>
            </a:r>
            <a:r>
              <a:rPr kumimoji="0" sz="560" b="0" i="0" u="none" strike="noStrike" kern="1200" cap="none" spc="0" normalizeH="0" baseline="0" noProof="0" dirty="0" err="1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满足率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81" name="TextBox 180"/>
          <p:cNvSpPr txBox="1"/>
          <p:nvPr/>
        </p:nvSpPr>
        <p:spPr>
          <a:xfrm>
            <a:off x="3118103" y="300380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1,627/62.8%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3118103" y="314096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额度最高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4242816" y="2880360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4306824" y="2914995"/>
            <a:ext cx="916918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3M30观察样本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85" name="TextBox 184"/>
          <p:cNvSpPr txBox="1"/>
          <p:nvPr/>
        </p:nvSpPr>
        <p:spPr>
          <a:xfrm>
            <a:off x="4306824" y="300380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1,203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4306824" y="314096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观察样本充足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6382512" y="2029968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6446520" y="2061972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样本占比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6446520" y="2153412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90" b="1" i="0" u="none" strike="noStrike" kern="1200" cap="none" spc="0" normalizeH="0" baseline="0" noProof="0" dirty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0</a:t>
            </a:r>
            <a:r>
              <a:rPr kumimoji="0" sz="890" b="1" i="0" u="none" strike="noStrike" kern="1200" cap="none" spc="0" normalizeH="0" baseline="0" noProof="0" dirty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.</a:t>
            </a:r>
            <a:r>
              <a:rPr kumimoji="0" lang="en-US" altLang="zh-CN" sz="890" b="1" i="0" u="none" strike="noStrike" kern="1200" cap="none" spc="0" normalizeH="0" baseline="0" noProof="0" dirty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</a:t>
            </a:r>
            <a:r>
              <a:rPr kumimoji="0" sz="890" b="1" i="0" u="none" strike="noStrike" kern="1200" cap="none" spc="0" normalizeH="0" baseline="0" noProof="0" dirty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3%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446520" y="2290572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样本极少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7571232" y="2029968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92" name="TextBox 191"/>
          <p:cNvSpPr txBox="1"/>
          <p:nvPr/>
        </p:nvSpPr>
        <p:spPr>
          <a:xfrm>
            <a:off x="7635240" y="2061972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申请通过率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7635240" y="2153412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26.94%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7635240" y="2290572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次高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8759952" y="2029968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96" name="TextBox 195"/>
          <p:cNvSpPr txBox="1"/>
          <p:nvPr/>
        </p:nvSpPr>
        <p:spPr>
          <a:xfrm>
            <a:off x="8823960" y="2061972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自动/人工通过率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8823960" y="2153412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8.54%/18.41%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8823960" y="2290572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审批仍有承接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9948672" y="2029968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00" name="TextBox 199"/>
          <p:cNvSpPr txBox="1"/>
          <p:nvPr/>
        </p:nvSpPr>
        <p:spPr>
          <a:xfrm>
            <a:off x="10012680" y="2061972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通过后成交率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0012680" y="2153412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84.51%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0012680" y="2290572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偏高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6382512" y="2455164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04" name="TextBox 203"/>
          <p:cNvSpPr txBox="1"/>
          <p:nvPr/>
        </p:nvSpPr>
        <p:spPr>
          <a:xfrm>
            <a:off x="6446520" y="2489799"/>
            <a:ext cx="989053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3M30人数逾期率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05" name="TextBox 204"/>
          <p:cNvSpPr txBox="1"/>
          <p:nvPr/>
        </p:nvSpPr>
        <p:spPr>
          <a:xfrm>
            <a:off x="6446520" y="257860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10.42%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446520" y="271576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风险抬升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7571232" y="2455164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08" name="TextBox 207"/>
          <p:cNvSpPr txBox="1"/>
          <p:nvPr/>
        </p:nvSpPr>
        <p:spPr>
          <a:xfrm>
            <a:off x="7635240" y="2489799"/>
            <a:ext cx="989053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3M30金额逾期率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09" name="TextBox 208"/>
          <p:cNvSpPr txBox="1"/>
          <p:nvPr/>
        </p:nvSpPr>
        <p:spPr>
          <a:xfrm>
            <a:off x="7635240" y="257860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7.96%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7635240" y="271576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偏高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8759952" y="2455164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12" name="TextBox 211"/>
          <p:cNvSpPr txBox="1"/>
          <p:nvPr/>
        </p:nvSpPr>
        <p:spPr>
          <a:xfrm>
            <a:off x="8823960" y="248716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平均PTI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8823960" y="257860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4.36%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8823960" y="271576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中等偏低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9948672" y="2455164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16" name="TextBox 215"/>
          <p:cNvSpPr txBox="1"/>
          <p:nvPr/>
        </p:nvSpPr>
        <p:spPr>
          <a:xfrm>
            <a:off x="10012680" y="248716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平均收入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10012680" y="257860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19,425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10012680" y="271576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四类最高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6382512" y="2880360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20" name="TextBox 219"/>
          <p:cNvSpPr txBox="1"/>
          <p:nvPr/>
        </p:nvSpPr>
        <p:spPr>
          <a:xfrm>
            <a:off x="6446520" y="2912364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毛/净盈余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6446520" y="300380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11,021/10,620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6446520" y="314096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静态最佳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7571232" y="2880360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24" name="TextBox 223"/>
          <p:cNvSpPr txBox="1"/>
          <p:nvPr/>
        </p:nvSpPr>
        <p:spPr>
          <a:xfrm>
            <a:off x="7635240" y="2912364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平均申请额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7635240" y="300380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2,625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7635240" y="314096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四类最高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8759952" y="2880360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28" name="TextBox 227"/>
          <p:cNvSpPr txBox="1"/>
          <p:nvPr/>
        </p:nvSpPr>
        <p:spPr>
          <a:xfrm>
            <a:off x="8823960" y="2914995"/>
            <a:ext cx="968214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 err="1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件均额度</a:t>
            </a: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/</a:t>
            </a:r>
            <a:r>
              <a:rPr kumimoji="0" sz="560" b="0" i="0" u="none" strike="noStrike" kern="1200" cap="none" spc="0" normalizeH="0" baseline="0" noProof="0" dirty="0" err="1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满足率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29" name="TextBox 228"/>
          <p:cNvSpPr txBox="1"/>
          <p:nvPr/>
        </p:nvSpPr>
        <p:spPr>
          <a:xfrm>
            <a:off x="8823960" y="300380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1,449/55.2%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8823960" y="314096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中高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9948672" y="2880360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32" name="TextBox 231"/>
          <p:cNvSpPr txBox="1"/>
          <p:nvPr/>
        </p:nvSpPr>
        <p:spPr>
          <a:xfrm>
            <a:off x="10012680" y="2914995"/>
            <a:ext cx="916918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3M30观察样本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33" name="TextBox 232"/>
          <p:cNvSpPr txBox="1"/>
          <p:nvPr/>
        </p:nvSpPr>
        <p:spPr>
          <a:xfrm>
            <a:off x="10012680" y="300380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96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10012680" y="314096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观察样本较少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676656" y="4992624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36" name="TextBox 235"/>
          <p:cNvSpPr txBox="1"/>
          <p:nvPr/>
        </p:nvSpPr>
        <p:spPr>
          <a:xfrm>
            <a:off x="740664" y="502462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样本占比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40664" y="511606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 dirty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0.62%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40664" y="525322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样本较少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1865376" y="4992624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40" name="TextBox 239"/>
          <p:cNvSpPr txBox="1"/>
          <p:nvPr/>
        </p:nvSpPr>
        <p:spPr>
          <a:xfrm>
            <a:off x="1929384" y="502462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申请通过率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1929384" y="511606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7.01%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1929384" y="525322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偏低</a:t>
            </a:r>
          </a:p>
        </p:txBody>
      </p:sp>
      <p:sp>
        <p:nvSpPr>
          <p:cNvPr id="243" name="Rounded Rectangle 242"/>
          <p:cNvSpPr/>
          <p:nvPr/>
        </p:nvSpPr>
        <p:spPr>
          <a:xfrm>
            <a:off x="3054096" y="4992624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44" name="TextBox 243"/>
          <p:cNvSpPr txBox="1"/>
          <p:nvPr/>
        </p:nvSpPr>
        <p:spPr>
          <a:xfrm>
            <a:off x="3118103" y="502462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自动/人工通过率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3118103" y="511606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1.12%/5.89%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3118103" y="525322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审批偏弱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4242816" y="4992624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48" name="TextBox 247"/>
          <p:cNvSpPr txBox="1"/>
          <p:nvPr/>
        </p:nvSpPr>
        <p:spPr>
          <a:xfrm>
            <a:off x="4306824" y="502462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通过后成交率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4306824" y="511606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89.86%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4306824" y="525322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四类最高</a:t>
            </a:r>
          </a:p>
        </p:txBody>
      </p:sp>
      <p:sp>
        <p:nvSpPr>
          <p:cNvPr id="251" name="Rounded Rectangle 250"/>
          <p:cNvSpPr/>
          <p:nvPr/>
        </p:nvSpPr>
        <p:spPr>
          <a:xfrm>
            <a:off x="676656" y="5417820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52" name="TextBox 251"/>
          <p:cNvSpPr txBox="1"/>
          <p:nvPr/>
        </p:nvSpPr>
        <p:spPr>
          <a:xfrm>
            <a:off x="740664" y="5452455"/>
            <a:ext cx="989053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3M30人数逾期率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53" name="TextBox 252"/>
          <p:cNvSpPr txBox="1"/>
          <p:nvPr/>
        </p:nvSpPr>
        <p:spPr>
          <a:xfrm>
            <a:off x="740664" y="554126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11.54%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740664" y="567842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中等偏高</a:t>
            </a:r>
          </a:p>
        </p:txBody>
      </p:sp>
      <p:sp>
        <p:nvSpPr>
          <p:cNvPr id="255" name="Rounded Rectangle 254"/>
          <p:cNvSpPr/>
          <p:nvPr/>
        </p:nvSpPr>
        <p:spPr>
          <a:xfrm>
            <a:off x="1865376" y="5417820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56" name="TextBox 255"/>
          <p:cNvSpPr txBox="1"/>
          <p:nvPr/>
        </p:nvSpPr>
        <p:spPr>
          <a:xfrm>
            <a:off x="1929384" y="5452455"/>
            <a:ext cx="989053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3M30金额逾期率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57" name="TextBox 256"/>
          <p:cNvSpPr txBox="1"/>
          <p:nvPr/>
        </p:nvSpPr>
        <p:spPr>
          <a:xfrm>
            <a:off x="1929384" y="554126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5.21%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1929384" y="567842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中等</a:t>
            </a:r>
          </a:p>
        </p:txBody>
      </p:sp>
      <p:sp>
        <p:nvSpPr>
          <p:cNvPr id="259" name="Rounded Rectangle 258"/>
          <p:cNvSpPr/>
          <p:nvPr/>
        </p:nvSpPr>
        <p:spPr>
          <a:xfrm>
            <a:off x="3054096" y="5417820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60" name="TextBox 259"/>
          <p:cNvSpPr txBox="1"/>
          <p:nvPr/>
        </p:nvSpPr>
        <p:spPr>
          <a:xfrm>
            <a:off x="3118103" y="5449824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平均PTI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3118103" y="554126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5.07%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3118103" y="567842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偏高</a:t>
            </a:r>
          </a:p>
        </p:txBody>
      </p:sp>
      <p:sp>
        <p:nvSpPr>
          <p:cNvPr id="263" name="Rounded Rectangle 262"/>
          <p:cNvSpPr/>
          <p:nvPr/>
        </p:nvSpPr>
        <p:spPr>
          <a:xfrm>
            <a:off x="4242816" y="5417820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64" name="TextBox 263"/>
          <p:cNvSpPr txBox="1"/>
          <p:nvPr/>
        </p:nvSpPr>
        <p:spPr>
          <a:xfrm>
            <a:off x="4306824" y="5449824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平均收入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4306824" y="554126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3,265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4306824" y="567842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四类最低</a:t>
            </a:r>
          </a:p>
        </p:txBody>
      </p:sp>
      <p:sp>
        <p:nvSpPr>
          <p:cNvPr id="267" name="Rounded Rectangle 266"/>
          <p:cNvSpPr/>
          <p:nvPr/>
        </p:nvSpPr>
        <p:spPr>
          <a:xfrm>
            <a:off x="676656" y="5843016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68" name="TextBox 267"/>
          <p:cNvSpPr txBox="1"/>
          <p:nvPr/>
        </p:nvSpPr>
        <p:spPr>
          <a:xfrm>
            <a:off x="740664" y="5875020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毛/净盈余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740664" y="5966459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-425/-719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740664" y="6103620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承压明显</a:t>
            </a:r>
          </a:p>
        </p:txBody>
      </p:sp>
      <p:sp>
        <p:nvSpPr>
          <p:cNvPr id="271" name="Rounded Rectangle 270"/>
          <p:cNvSpPr/>
          <p:nvPr/>
        </p:nvSpPr>
        <p:spPr>
          <a:xfrm>
            <a:off x="1865376" y="5843016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72" name="TextBox 271"/>
          <p:cNvSpPr txBox="1"/>
          <p:nvPr/>
        </p:nvSpPr>
        <p:spPr>
          <a:xfrm>
            <a:off x="1929384" y="5875020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平均申请额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1929384" y="5966459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1,763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1929384" y="6103620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偏低</a:t>
            </a:r>
          </a:p>
        </p:txBody>
      </p:sp>
      <p:sp>
        <p:nvSpPr>
          <p:cNvPr id="275" name="Rounded Rectangle 274"/>
          <p:cNvSpPr/>
          <p:nvPr/>
        </p:nvSpPr>
        <p:spPr>
          <a:xfrm>
            <a:off x="3054096" y="5843016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76" name="TextBox 275"/>
          <p:cNvSpPr txBox="1"/>
          <p:nvPr/>
        </p:nvSpPr>
        <p:spPr>
          <a:xfrm>
            <a:off x="3118103" y="5877651"/>
            <a:ext cx="968214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 err="1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件均额度</a:t>
            </a: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/</a:t>
            </a:r>
            <a:r>
              <a:rPr kumimoji="0" sz="560" b="0" i="0" u="none" strike="noStrike" kern="1200" cap="none" spc="0" normalizeH="0" baseline="0" noProof="0" dirty="0" err="1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满足率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77" name="TextBox 276"/>
          <p:cNvSpPr txBox="1"/>
          <p:nvPr/>
        </p:nvSpPr>
        <p:spPr>
          <a:xfrm>
            <a:off x="3118103" y="5966459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973/55.2%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3118103" y="6103620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偏低</a:t>
            </a:r>
          </a:p>
        </p:txBody>
      </p:sp>
      <p:sp>
        <p:nvSpPr>
          <p:cNvPr id="279" name="Rounded Rectangle 278"/>
          <p:cNvSpPr/>
          <p:nvPr/>
        </p:nvSpPr>
        <p:spPr>
          <a:xfrm>
            <a:off x="4242816" y="5843016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80" name="TextBox 279"/>
          <p:cNvSpPr txBox="1"/>
          <p:nvPr/>
        </p:nvSpPr>
        <p:spPr>
          <a:xfrm>
            <a:off x="4306824" y="5877651"/>
            <a:ext cx="916918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3M30观察样本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81" name="TextBox 280"/>
          <p:cNvSpPr txBox="1"/>
          <p:nvPr/>
        </p:nvSpPr>
        <p:spPr>
          <a:xfrm>
            <a:off x="4306824" y="5966459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26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4306824" y="6103620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观察样本少</a:t>
            </a:r>
          </a:p>
        </p:txBody>
      </p:sp>
      <p:sp>
        <p:nvSpPr>
          <p:cNvPr id="283" name="Rounded Rectangle 282"/>
          <p:cNvSpPr/>
          <p:nvPr/>
        </p:nvSpPr>
        <p:spPr>
          <a:xfrm>
            <a:off x="6382512" y="4992624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84" name="TextBox 283"/>
          <p:cNvSpPr txBox="1"/>
          <p:nvPr/>
        </p:nvSpPr>
        <p:spPr>
          <a:xfrm>
            <a:off x="6446520" y="502462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样本占比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6446520" y="511606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29.31%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6446520" y="525322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样本最多</a:t>
            </a:r>
          </a:p>
        </p:txBody>
      </p:sp>
      <p:sp>
        <p:nvSpPr>
          <p:cNvPr id="287" name="Rounded Rectangle 286"/>
          <p:cNvSpPr/>
          <p:nvPr/>
        </p:nvSpPr>
        <p:spPr>
          <a:xfrm>
            <a:off x="7571232" y="4992624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88" name="TextBox 287"/>
          <p:cNvSpPr txBox="1"/>
          <p:nvPr/>
        </p:nvSpPr>
        <p:spPr>
          <a:xfrm>
            <a:off x="7635240" y="502462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申请通过率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7635240" y="511606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4.83%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7635240" y="525322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四类最低</a:t>
            </a:r>
          </a:p>
        </p:txBody>
      </p:sp>
      <p:sp>
        <p:nvSpPr>
          <p:cNvPr id="291" name="Rounded Rectangle 290"/>
          <p:cNvSpPr/>
          <p:nvPr/>
        </p:nvSpPr>
        <p:spPr>
          <a:xfrm>
            <a:off x="8759952" y="4992624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92" name="TextBox 291"/>
          <p:cNvSpPr txBox="1"/>
          <p:nvPr/>
        </p:nvSpPr>
        <p:spPr>
          <a:xfrm>
            <a:off x="8823960" y="502462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自动/人工通过率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8823960" y="511606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0.62%/4.21%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8823960" y="525322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自动/人工最低</a:t>
            </a:r>
          </a:p>
        </p:txBody>
      </p:sp>
      <p:sp>
        <p:nvSpPr>
          <p:cNvPr id="295" name="Rounded Rectangle 294"/>
          <p:cNvSpPr/>
          <p:nvPr/>
        </p:nvSpPr>
        <p:spPr>
          <a:xfrm>
            <a:off x="9948672" y="4992624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96" name="TextBox 295"/>
          <p:cNvSpPr txBox="1"/>
          <p:nvPr/>
        </p:nvSpPr>
        <p:spPr>
          <a:xfrm>
            <a:off x="10012680" y="502462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通过后成交率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0012680" y="511606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88.57%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10012680" y="525322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次高</a:t>
            </a:r>
          </a:p>
        </p:txBody>
      </p:sp>
      <p:sp>
        <p:nvSpPr>
          <p:cNvPr id="299" name="Rounded Rectangle 298"/>
          <p:cNvSpPr/>
          <p:nvPr/>
        </p:nvSpPr>
        <p:spPr>
          <a:xfrm>
            <a:off x="6382512" y="5417820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00" name="TextBox 299"/>
          <p:cNvSpPr txBox="1"/>
          <p:nvPr/>
        </p:nvSpPr>
        <p:spPr>
          <a:xfrm>
            <a:off x="6446520" y="5452455"/>
            <a:ext cx="1009892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3M30人数逾期率</a:t>
            </a:r>
            <a:r>
              <a:rPr kumimoji="0" 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 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301" name="TextBox 300"/>
          <p:cNvSpPr txBox="1"/>
          <p:nvPr/>
        </p:nvSpPr>
        <p:spPr>
          <a:xfrm>
            <a:off x="6446520" y="554126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27.05%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6446520" y="567842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四类最高</a:t>
            </a:r>
          </a:p>
        </p:txBody>
      </p:sp>
      <p:sp>
        <p:nvSpPr>
          <p:cNvPr id="303" name="Rounded Rectangle 302"/>
          <p:cNvSpPr/>
          <p:nvPr/>
        </p:nvSpPr>
        <p:spPr>
          <a:xfrm>
            <a:off x="7571232" y="5417820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04" name="TextBox 303"/>
          <p:cNvSpPr txBox="1"/>
          <p:nvPr/>
        </p:nvSpPr>
        <p:spPr>
          <a:xfrm>
            <a:off x="7635240" y="5452455"/>
            <a:ext cx="989053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3M30金额逾期率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305" name="TextBox 304"/>
          <p:cNvSpPr txBox="1"/>
          <p:nvPr/>
        </p:nvSpPr>
        <p:spPr>
          <a:xfrm>
            <a:off x="7635240" y="554126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20.82%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7635240" y="567842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四类最高</a:t>
            </a:r>
          </a:p>
        </p:txBody>
      </p:sp>
      <p:sp>
        <p:nvSpPr>
          <p:cNvPr id="307" name="Rounded Rectangle 306"/>
          <p:cNvSpPr/>
          <p:nvPr/>
        </p:nvSpPr>
        <p:spPr>
          <a:xfrm>
            <a:off x="8759952" y="5417820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08" name="TextBox 307"/>
          <p:cNvSpPr txBox="1"/>
          <p:nvPr/>
        </p:nvSpPr>
        <p:spPr>
          <a:xfrm>
            <a:off x="8823960" y="5449824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平均PTI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8823960" y="554126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3.72%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8823960" y="567842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四类最低</a:t>
            </a:r>
          </a:p>
        </p:txBody>
      </p:sp>
      <p:sp>
        <p:nvSpPr>
          <p:cNvPr id="311" name="Rounded Rectangle 310"/>
          <p:cNvSpPr/>
          <p:nvPr/>
        </p:nvSpPr>
        <p:spPr>
          <a:xfrm>
            <a:off x="9948672" y="5417820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12" name="TextBox 311"/>
          <p:cNvSpPr txBox="1"/>
          <p:nvPr/>
        </p:nvSpPr>
        <p:spPr>
          <a:xfrm>
            <a:off x="10012680" y="5449824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平均收入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10012680" y="554126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4,153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10012680" y="567842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偏低</a:t>
            </a:r>
          </a:p>
        </p:txBody>
      </p:sp>
      <p:sp>
        <p:nvSpPr>
          <p:cNvPr id="315" name="Rounded Rectangle 314"/>
          <p:cNvSpPr/>
          <p:nvPr/>
        </p:nvSpPr>
        <p:spPr>
          <a:xfrm>
            <a:off x="6382512" y="5843016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16" name="TextBox 315"/>
          <p:cNvSpPr txBox="1"/>
          <p:nvPr/>
        </p:nvSpPr>
        <p:spPr>
          <a:xfrm>
            <a:off x="6446520" y="5875020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毛/净盈余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6446520" y="5966459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580/308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6446520" y="6103620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净盈余偏低</a:t>
            </a:r>
          </a:p>
        </p:txBody>
      </p:sp>
      <p:sp>
        <p:nvSpPr>
          <p:cNvPr id="319" name="Rounded Rectangle 318"/>
          <p:cNvSpPr/>
          <p:nvPr/>
        </p:nvSpPr>
        <p:spPr>
          <a:xfrm>
            <a:off x="7571232" y="5843016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20" name="TextBox 319"/>
          <p:cNvSpPr txBox="1"/>
          <p:nvPr/>
        </p:nvSpPr>
        <p:spPr>
          <a:xfrm>
            <a:off x="7635240" y="5875020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平均申请额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7635240" y="5966459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1,678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7635240" y="6103620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四类最低</a:t>
            </a:r>
          </a:p>
        </p:txBody>
      </p:sp>
      <p:sp>
        <p:nvSpPr>
          <p:cNvPr id="323" name="Rounded Rectangle 322"/>
          <p:cNvSpPr/>
          <p:nvPr/>
        </p:nvSpPr>
        <p:spPr>
          <a:xfrm>
            <a:off x="8759952" y="5843016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24" name="TextBox 323"/>
          <p:cNvSpPr txBox="1"/>
          <p:nvPr/>
        </p:nvSpPr>
        <p:spPr>
          <a:xfrm>
            <a:off x="8823960" y="5877651"/>
            <a:ext cx="968214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 err="1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件均额度</a:t>
            </a: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/</a:t>
            </a:r>
            <a:r>
              <a:rPr kumimoji="0" sz="560" b="0" i="0" u="none" strike="noStrike" kern="1200" cap="none" spc="0" normalizeH="0" baseline="0" noProof="0" dirty="0" err="1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满足率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325" name="TextBox 324"/>
          <p:cNvSpPr txBox="1"/>
          <p:nvPr/>
        </p:nvSpPr>
        <p:spPr>
          <a:xfrm>
            <a:off x="8823960" y="5966459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760/45.3%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8823960" y="6103620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四类最低</a:t>
            </a:r>
          </a:p>
        </p:txBody>
      </p:sp>
      <p:sp>
        <p:nvSpPr>
          <p:cNvPr id="327" name="Rounded Rectangle 326"/>
          <p:cNvSpPr/>
          <p:nvPr/>
        </p:nvSpPr>
        <p:spPr>
          <a:xfrm>
            <a:off x="9948672" y="5843016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28" name="TextBox 327"/>
          <p:cNvSpPr txBox="1"/>
          <p:nvPr/>
        </p:nvSpPr>
        <p:spPr>
          <a:xfrm>
            <a:off x="10012680" y="5877651"/>
            <a:ext cx="916918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3M30观察样本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329" name="TextBox 328"/>
          <p:cNvSpPr txBox="1"/>
          <p:nvPr/>
        </p:nvSpPr>
        <p:spPr>
          <a:xfrm>
            <a:off x="10012680" y="5966459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1,560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10012680" y="6103620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观察样本最多</a:t>
            </a:r>
          </a:p>
        </p:txBody>
      </p:sp>
    </p:spTree>
    <p:extLst>
      <p:ext uri="{BB962C8B-B14F-4D97-AF65-F5344CB8AC3E}">
        <p14:creationId xmlns:p14="http://schemas.microsoft.com/office/powerpoint/2010/main" val="3780941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4191917" cy="3139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价值好与风险好：人群差异与模型关注点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2858218" cy="20621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价值模型在风险之外补充识别客户的经营价值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0698480" cy="9144"/>
          </a:xfrm>
          <a:prstGeom prst="rect">
            <a:avLst/>
          </a:prstGeom>
          <a:solidFill>
            <a:srgbClr val="D6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078992"/>
            <a:ext cx="10698480" cy="347472"/>
          </a:xfrm>
          <a:prstGeom prst="roundRect">
            <a:avLst/>
          </a:prstGeom>
          <a:solidFill>
            <a:srgbClr val="F3F7FB"/>
          </a:solidFill>
          <a:ln w="6350">
            <a:solidFill>
              <a:srgbClr val="CBD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201699"/>
            <a:ext cx="8019888" cy="15234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dirty="0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核心结论：价值模型看“经济基础”，风险模型看“风险迹象”。风险水平接近，收入和资金实力也可能不同；经济基础较好，也不代表没有风险行为。两者交叉，才能分层筛出不同客群。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59636"/>
            <a:ext cx="45720" cy="173736"/>
          </a:xfrm>
          <a:prstGeom prst="rect">
            <a:avLst/>
          </a:prstGeom>
          <a:solidFill>
            <a:srgbClr val="13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1627632"/>
            <a:ext cx="1883593" cy="221599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一、价值好与风险好的区别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56816"/>
            <a:ext cx="2926080" cy="237744"/>
          </a:xfrm>
          <a:prstGeom prst="roundRect">
            <a:avLst/>
          </a:prstGeom>
          <a:solidFill>
            <a:srgbClr val="EEF4FB"/>
          </a:solidFill>
          <a:ln w="5080"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54007" y="1991908"/>
            <a:ext cx="1623906" cy="14927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1">
                <a:solidFill>
                  <a:srgbClr val="2F6D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风险好：低支出 · 低波动 · 还款更可控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84448" y="1956816"/>
            <a:ext cx="2926080" cy="237744"/>
          </a:xfrm>
          <a:prstGeom prst="roundRect">
            <a:avLst/>
          </a:prstGeom>
          <a:solidFill>
            <a:srgbClr val="EEF8F2"/>
          </a:solidFill>
          <a:ln w="5080"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89047" y="1991908"/>
            <a:ext cx="1716880" cy="14927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1">
                <a:solidFill>
                  <a:srgbClr val="2E7D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价值好：高收入 · 现金流连续 · 发薪稳定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267712"/>
            <a:ext cx="3055324" cy="144655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l"/>
            <a:r>
              <a:rPr sz="700" b="1">
                <a:solidFill>
                  <a:srgbClr val="142A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风险好 vs 价值好：关键指标对比（差异=价值好相对风险好；占比类用pct）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303305"/>
              </p:ext>
            </p:extLst>
          </p:nvPr>
        </p:nvGraphicFramePr>
        <p:xfrm>
          <a:off x="502920" y="2505456"/>
          <a:ext cx="6355080" cy="336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166740190"/>
                    </a:ext>
                  </a:extLst>
                </a:gridCol>
                <a:gridCol w="2478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00" b="1" dirty="0" err="1">
                          <a:solidFill>
                            <a:srgbClr val="142A43"/>
                          </a:solidFill>
                          <a:latin typeface="Microsoft YaHei"/>
                        </a:rPr>
                        <a:t>指标</a:t>
                      </a:r>
                      <a:endParaRPr sz="900" b="1" dirty="0">
                        <a:solidFill>
                          <a:srgbClr val="142A43"/>
                        </a:solidFill>
                        <a:latin typeface="Microsoft YaHei"/>
                      </a:endParaRPr>
                    </a:p>
                  </a:txBody>
                  <a:tcPr marL="45720" marR="45720" marT="18288" marB="18288">
                    <a:solidFill>
                      <a:srgbClr val="E0E8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42A43"/>
                          </a:solidFill>
                          <a:latin typeface="Microsoft YaHei"/>
                        </a:rPr>
                        <a:t>风险好(1/2)</a:t>
                      </a:r>
                    </a:p>
                  </a:txBody>
                  <a:tcPr marL="45720" marR="45720" marT="18288" marB="18288">
                    <a:solidFill>
                      <a:srgbClr val="E0E8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42A43"/>
                          </a:solidFill>
                          <a:latin typeface="Microsoft YaHei"/>
                        </a:rPr>
                        <a:t>价值好(1/2)</a:t>
                      </a:r>
                    </a:p>
                  </a:txBody>
                  <a:tcPr marL="45720" marR="45720" marT="18288" marB="18288">
                    <a:solidFill>
                      <a:srgbClr val="E0E8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42A43"/>
                          </a:solidFill>
                          <a:latin typeface="Microsoft YaHei"/>
                        </a:rPr>
                        <a:t>差异（%/pct）</a:t>
                      </a:r>
                    </a:p>
                  </a:txBody>
                  <a:tcPr marL="45720" marR="45720" marT="18288" marB="18288">
                    <a:solidFill>
                      <a:srgbClr val="E0E8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42A43"/>
                          </a:solidFill>
                          <a:latin typeface="Microsoft YaHei"/>
                        </a:rPr>
                        <a:t>差异解读</a:t>
                      </a:r>
                    </a:p>
                  </a:txBody>
                  <a:tcPr marL="45720" marR="45720" marT="18288" marB="18288">
                    <a:solidFill>
                      <a:srgbClr val="E0E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2A43"/>
                          </a:solidFill>
                          <a:latin typeface="Microsoft YaHei"/>
                        </a:rPr>
                        <a:t>工资收入总额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42A43"/>
                          </a:solidFill>
                          <a:latin typeface="Microsoft YaHei"/>
                        </a:rPr>
                        <a:t>20,922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217441"/>
                          </a:solidFill>
                          <a:latin typeface="Microsoft YaHei"/>
                        </a:rPr>
                        <a:t>41,139</a:t>
                      </a:r>
                    </a:p>
                  </a:txBody>
                  <a:tcPr marL="45720" marR="45720" marT="18288" marB="18288">
                    <a:solidFill>
                      <a:srgbClr val="EEF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A46114"/>
                          </a:solidFill>
                          <a:latin typeface="Microsoft YaHei"/>
                        </a:rPr>
                        <a:t>+96.6%</a:t>
                      </a:r>
                    </a:p>
                  </a:txBody>
                  <a:tcPr marL="45720" marR="45720" marT="18288" marB="18288"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6566C"/>
                          </a:solidFill>
                          <a:latin typeface="Microsoft YaHei"/>
                        </a:rPr>
                        <a:t>价值好收入接近翻倍，是价值核心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2A43"/>
                          </a:solidFill>
                          <a:latin typeface="Microsoft YaHei"/>
                        </a:rPr>
                        <a:t>总收入金额</a:t>
                      </a:r>
                    </a:p>
                  </a:txBody>
                  <a:tcPr marL="45720" marR="4572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42A43"/>
                          </a:solidFill>
                          <a:latin typeface="Microsoft YaHei"/>
                        </a:rPr>
                        <a:t>70,151</a:t>
                      </a:r>
                    </a:p>
                  </a:txBody>
                  <a:tcPr marL="45720" marR="4572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17441"/>
                          </a:solidFill>
                          <a:latin typeface="Microsoft YaHei"/>
                        </a:rPr>
                        <a:t>140,807</a:t>
                      </a:r>
                    </a:p>
                  </a:txBody>
                  <a:tcPr marL="45720" marR="45720" marT="18288" marB="18288">
                    <a:solidFill>
                      <a:srgbClr val="EEF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A46114"/>
                          </a:solidFill>
                          <a:latin typeface="Microsoft YaHei"/>
                        </a:rPr>
                        <a:t>+100.7%</a:t>
                      </a:r>
                    </a:p>
                  </a:txBody>
                  <a:tcPr marL="45720" marR="45720" marT="18288" marB="18288"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6566C"/>
                          </a:solidFill>
                          <a:latin typeface="Microsoft YaHei"/>
                        </a:rPr>
                        <a:t>价值好资金体量翻倍</a:t>
                      </a:r>
                    </a:p>
                  </a:txBody>
                  <a:tcPr marL="45720" marR="45720" marT="18288" marB="18288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2A43"/>
                          </a:solidFill>
                          <a:latin typeface="Microsoft YaHei"/>
                        </a:rPr>
                        <a:t>工资入账次数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42A43"/>
                          </a:solidFill>
                          <a:latin typeface="Microsoft YaHei"/>
                        </a:rPr>
                        <a:t>13.7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17441"/>
                          </a:solidFill>
                          <a:latin typeface="Microsoft YaHei"/>
                        </a:rPr>
                        <a:t>20.5</a:t>
                      </a:r>
                    </a:p>
                  </a:txBody>
                  <a:tcPr marL="45720" marR="45720" marT="18288" marB="18288">
                    <a:solidFill>
                      <a:srgbClr val="EEF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A46114"/>
                          </a:solidFill>
                          <a:latin typeface="Microsoft YaHei"/>
                        </a:rPr>
                        <a:t>+49.6%</a:t>
                      </a:r>
                    </a:p>
                  </a:txBody>
                  <a:tcPr marL="45720" marR="45720" marT="18288" marB="18288"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6566C"/>
                          </a:solidFill>
                          <a:latin typeface="Microsoft YaHei"/>
                        </a:rPr>
                        <a:t>价值好现金流更连续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2A43"/>
                          </a:solidFill>
                          <a:latin typeface="Microsoft YaHei"/>
                        </a:rPr>
                        <a:t>主行业入账金额</a:t>
                      </a:r>
                    </a:p>
                  </a:txBody>
                  <a:tcPr marL="45720" marR="4572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42A43"/>
                          </a:solidFill>
                          <a:latin typeface="Microsoft YaHei"/>
                        </a:rPr>
                        <a:t>24,203</a:t>
                      </a:r>
                    </a:p>
                  </a:txBody>
                  <a:tcPr marL="45720" marR="4572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17441"/>
                          </a:solidFill>
                          <a:latin typeface="Microsoft YaHei"/>
                        </a:rPr>
                        <a:t>40,916</a:t>
                      </a:r>
                    </a:p>
                  </a:txBody>
                  <a:tcPr marL="45720" marR="45720" marT="18288" marB="18288">
                    <a:solidFill>
                      <a:srgbClr val="EEF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A46114"/>
                          </a:solidFill>
                          <a:latin typeface="Microsoft YaHei"/>
                        </a:rPr>
                        <a:t>+69.1%</a:t>
                      </a:r>
                    </a:p>
                  </a:txBody>
                  <a:tcPr marL="45720" marR="45720" marT="18288" marB="18288"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6566C"/>
                          </a:solidFill>
                          <a:latin typeface="Microsoft YaHei"/>
                        </a:rPr>
                        <a:t>价值好主业收入更强</a:t>
                      </a:r>
                    </a:p>
                  </a:txBody>
                  <a:tcPr marL="45720" marR="45720" marT="18288" marB="18288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2A43"/>
                          </a:solidFill>
                          <a:latin typeface="Microsoft YaHei"/>
                        </a:rPr>
                        <a:t>Centrelink 收入占比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42A43"/>
                          </a:solidFill>
                          <a:latin typeface="Microsoft YaHei"/>
                        </a:rPr>
                        <a:t>10.2%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17441"/>
                          </a:solidFill>
                          <a:latin typeface="Microsoft YaHei"/>
                        </a:rPr>
                        <a:t>2.1%</a:t>
                      </a:r>
                    </a:p>
                  </a:txBody>
                  <a:tcPr marL="45720" marR="45720" marT="18288" marB="18288">
                    <a:solidFill>
                      <a:srgbClr val="EEF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A46114"/>
                          </a:solidFill>
                          <a:latin typeface="Microsoft YaHei"/>
                        </a:rPr>
                        <a:t>-8.1pct</a:t>
                      </a:r>
                    </a:p>
                  </a:txBody>
                  <a:tcPr marL="45720" marR="45720" marT="18288" marB="18288">
                    <a:solidFill>
                      <a:srgbClr val="FF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46566C"/>
                          </a:solidFill>
                          <a:latin typeface="Microsoft YaHei"/>
                        </a:rPr>
                        <a:t>价值好福利依赖更低</a:t>
                      </a:r>
                      <a:endParaRPr sz="800" b="0" dirty="0">
                        <a:solidFill>
                          <a:srgbClr val="46566C"/>
                        </a:solidFill>
                        <a:latin typeface="Microsoft YaHei"/>
                      </a:endParaRP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2A43"/>
                          </a:solidFill>
                          <a:latin typeface="Microsoft YaHei"/>
                        </a:rPr>
                        <a:t>发薪周期标准差</a:t>
                      </a:r>
                    </a:p>
                  </a:txBody>
                  <a:tcPr marL="45720" marR="4572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42A43"/>
                          </a:solidFill>
                          <a:latin typeface="Microsoft YaHei"/>
                        </a:rPr>
                        <a:t>2.99</a:t>
                      </a:r>
                    </a:p>
                  </a:txBody>
                  <a:tcPr marL="45720" marR="4572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17441"/>
                          </a:solidFill>
                          <a:latin typeface="Microsoft YaHei"/>
                        </a:rPr>
                        <a:t>2.72</a:t>
                      </a:r>
                    </a:p>
                  </a:txBody>
                  <a:tcPr marL="45720" marR="45720" marT="18288" marB="18288">
                    <a:solidFill>
                      <a:srgbClr val="EEF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A46114"/>
                          </a:solidFill>
                          <a:latin typeface="Microsoft YaHei"/>
                        </a:rPr>
                        <a:t>-9.0%</a:t>
                      </a:r>
                    </a:p>
                  </a:txBody>
                  <a:tcPr marL="45720" marR="45720" marT="18288" marB="18288">
                    <a:solidFill>
                      <a:srgbClr val="FF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46566C"/>
                          </a:solidFill>
                          <a:latin typeface="Microsoft YaHei"/>
                        </a:rPr>
                        <a:t>价值好发薪更稳定</a:t>
                      </a:r>
                      <a:endParaRPr sz="800" b="0" dirty="0">
                        <a:solidFill>
                          <a:srgbClr val="46566C"/>
                        </a:solidFill>
                        <a:latin typeface="Microsoft YaHei"/>
                      </a:endParaRPr>
                    </a:p>
                  </a:txBody>
                  <a:tcPr marL="45720" marR="45720" marT="18288" marB="18288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2A43"/>
                          </a:solidFill>
                          <a:latin typeface="Microsoft YaHei"/>
                        </a:rPr>
                        <a:t>总支出金额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42A43"/>
                          </a:solidFill>
                          <a:latin typeface="Microsoft YaHei"/>
                        </a:rPr>
                        <a:t>66,684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17441"/>
                          </a:solidFill>
                          <a:latin typeface="Microsoft YaHei"/>
                        </a:rPr>
                        <a:t>139,715</a:t>
                      </a:r>
                    </a:p>
                  </a:txBody>
                  <a:tcPr marL="45720" marR="45720" marT="18288" marB="18288">
                    <a:solidFill>
                      <a:srgbClr val="EEF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A46114"/>
                          </a:solidFill>
                          <a:latin typeface="Microsoft YaHei"/>
                        </a:rPr>
                        <a:t>+109.5%</a:t>
                      </a:r>
                    </a:p>
                  </a:txBody>
                  <a:tcPr marL="45720" marR="45720" marT="18288" marB="18288"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46566C"/>
                          </a:solidFill>
                          <a:latin typeface="Microsoft YaHei"/>
                        </a:rPr>
                        <a:t>价值好资金进出体量更大</a:t>
                      </a:r>
                      <a:endParaRPr sz="800" b="0" dirty="0">
                        <a:solidFill>
                          <a:srgbClr val="46566C"/>
                        </a:solidFill>
                        <a:latin typeface="Microsoft YaHei"/>
                      </a:endParaRP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2A43"/>
                          </a:solidFill>
                          <a:latin typeface="Microsoft YaHei"/>
                        </a:rPr>
                        <a:t>赌博支出占比</a:t>
                      </a:r>
                    </a:p>
                  </a:txBody>
                  <a:tcPr marL="45720" marR="4572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75B9B"/>
                          </a:solidFill>
                          <a:latin typeface="Microsoft YaHei"/>
                        </a:rPr>
                        <a:t>2.0%</a:t>
                      </a:r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42A43"/>
                          </a:solidFill>
                          <a:latin typeface="Microsoft YaHei"/>
                        </a:rPr>
                        <a:t>3.8%</a:t>
                      </a:r>
                    </a:p>
                  </a:txBody>
                  <a:tcPr marL="45720" marR="4572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A46114"/>
                          </a:solidFill>
                          <a:latin typeface="Microsoft YaHei"/>
                        </a:rPr>
                        <a:t>+1.8pct</a:t>
                      </a:r>
                    </a:p>
                  </a:txBody>
                  <a:tcPr marL="45720" marR="45720" marT="18288" marB="18288"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46566C"/>
                          </a:solidFill>
                          <a:latin typeface="Microsoft YaHei"/>
                        </a:rPr>
                        <a:t>风险好消费风险偏好更低</a:t>
                      </a:r>
                      <a:endParaRPr sz="800" b="0" dirty="0">
                        <a:solidFill>
                          <a:srgbClr val="46566C"/>
                        </a:solidFill>
                        <a:latin typeface="Microsoft YaHei"/>
                      </a:endParaRPr>
                    </a:p>
                  </a:txBody>
                  <a:tcPr marL="45720" marR="45720" marT="18288" marB="18288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2A43"/>
                          </a:solidFill>
                          <a:latin typeface="Microsoft YaHei"/>
                        </a:rPr>
                        <a:t>余额波动标准差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75B9B"/>
                          </a:solidFill>
                          <a:latin typeface="Microsoft YaHei"/>
                        </a:rPr>
                        <a:t>2,688</a:t>
                      </a:r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42A43"/>
                          </a:solidFill>
                          <a:latin typeface="Microsoft YaHei"/>
                        </a:rPr>
                        <a:t>6,360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A46114"/>
                          </a:solidFill>
                          <a:latin typeface="Microsoft YaHei"/>
                        </a:rPr>
                        <a:t>+136.6%</a:t>
                      </a:r>
                    </a:p>
                  </a:txBody>
                  <a:tcPr marL="45720" marR="45720" marT="18288" marB="18288"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46566C"/>
                          </a:solidFill>
                          <a:latin typeface="Microsoft YaHei"/>
                        </a:rPr>
                        <a:t>风险好账户波动更低</a:t>
                      </a:r>
                      <a:endParaRPr sz="800" b="0" dirty="0">
                        <a:solidFill>
                          <a:srgbClr val="46566C"/>
                        </a:solidFill>
                        <a:latin typeface="Microsoft YaHei"/>
                      </a:endParaRP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2A43"/>
                          </a:solidFill>
                          <a:latin typeface="Microsoft YaHei"/>
                        </a:rPr>
                        <a:t>信贷还款金额</a:t>
                      </a:r>
                    </a:p>
                  </a:txBody>
                  <a:tcPr marL="45720" marR="4572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42A43"/>
                          </a:solidFill>
                          <a:latin typeface="Microsoft YaHei"/>
                        </a:rPr>
                        <a:t>15,780</a:t>
                      </a:r>
                    </a:p>
                  </a:txBody>
                  <a:tcPr marL="45720" marR="45720" marT="18288" marB="18288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17441"/>
                          </a:solidFill>
                          <a:latin typeface="Microsoft YaHei"/>
                        </a:rPr>
                        <a:t>20,439</a:t>
                      </a:r>
                    </a:p>
                  </a:txBody>
                  <a:tcPr marL="45720" marR="45720" marT="18288" marB="18288">
                    <a:solidFill>
                      <a:srgbClr val="EEF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A46114"/>
                          </a:solidFill>
                          <a:latin typeface="Microsoft YaHei"/>
                        </a:rPr>
                        <a:t>+29.5%</a:t>
                      </a:r>
                    </a:p>
                  </a:txBody>
                  <a:tcPr marL="45720" marR="45720" marT="18288" marB="18288"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46566C"/>
                          </a:solidFill>
                          <a:latin typeface="Microsoft YaHei"/>
                        </a:rPr>
                        <a:t>价值好还款体量更大</a:t>
                      </a:r>
                      <a:endParaRPr sz="800" b="0" dirty="0">
                        <a:solidFill>
                          <a:srgbClr val="46566C"/>
                        </a:solidFill>
                        <a:latin typeface="Microsoft YaHei"/>
                      </a:endParaRPr>
                    </a:p>
                  </a:txBody>
                  <a:tcPr marL="45720" marR="45720" marT="18288" marB="18288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2A43"/>
                          </a:solidFill>
                          <a:latin typeface="Microsoft YaHei"/>
                        </a:rPr>
                        <a:t>贷款还款次数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42A43"/>
                          </a:solidFill>
                          <a:latin typeface="Microsoft YaHei"/>
                        </a:rPr>
                        <a:t>25.3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17441"/>
                          </a:solidFill>
                          <a:latin typeface="Microsoft YaHei"/>
                        </a:rPr>
                        <a:t>29.4</a:t>
                      </a:r>
                    </a:p>
                  </a:txBody>
                  <a:tcPr marL="45720" marR="45720" marT="18288" marB="18288">
                    <a:solidFill>
                      <a:srgbClr val="EEF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A46114"/>
                          </a:solidFill>
                          <a:latin typeface="Microsoft YaHei"/>
                        </a:rPr>
                        <a:t>+16.2%</a:t>
                      </a:r>
                    </a:p>
                  </a:txBody>
                  <a:tcPr marL="45720" marR="45720" marT="18288" marB="18288"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46566C"/>
                          </a:solidFill>
                          <a:latin typeface="Microsoft YaHei"/>
                        </a:rPr>
                        <a:t>价值好还款活动更活跃</a:t>
                      </a:r>
                      <a:endParaRPr sz="800" b="0" dirty="0">
                        <a:solidFill>
                          <a:srgbClr val="46566C"/>
                        </a:solidFill>
                        <a:latin typeface="Microsoft YaHei"/>
                      </a:endParaRP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7132320" y="1659636"/>
            <a:ext cx="45720" cy="173736"/>
          </a:xfrm>
          <a:prstGeom prst="rect">
            <a:avLst/>
          </a:prstGeom>
          <a:solidFill>
            <a:srgbClr val="13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223759" y="1627632"/>
            <a:ext cx="2345257" cy="221599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二、两类模型关注的人群本质不同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67728" y="1719072"/>
            <a:ext cx="9144" cy="4480560"/>
          </a:xfrm>
          <a:prstGeom prst="rect">
            <a:avLst/>
          </a:prstGeom>
          <a:solidFill>
            <a:srgbClr val="E5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178040" y="1956816"/>
            <a:ext cx="1901952" cy="41879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342631" y="2148840"/>
            <a:ext cx="841248" cy="246888"/>
          </a:xfrm>
          <a:prstGeom prst="roundRect">
            <a:avLst/>
          </a:prstGeom>
          <a:solidFill>
            <a:srgbClr val="FFF6E6"/>
          </a:solidFill>
          <a:ln w="5080">
            <a:solidFill>
              <a:srgbClr val="EDF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574101" y="2201629"/>
            <a:ext cx="378309" cy="1138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1">
                <a:solidFill>
                  <a:srgbClr val="C98A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价值模型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19" y="2580882"/>
            <a:ext cx="1473224" cy="16004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C98A1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更关注“经济基础与资金实力”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19" y="2807208"/>
            <a:ext cx="1245597" cy="1492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这个客户的经济条件怎么样？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60919" y="3035808"/>
            <a:ext cx="1481328" cy="13716"/>
          </a:xfrm>
          <a:prstGeom prst="rect">
            <a:avLst/>
          </a:prstGeom>
          <a:solidFill>
            <a:srgbClr val="C98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42631" y="5611263"/>
            <a:ext cx="1380000" cy="252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dirty="0" err="1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识别人群：</a:t>
            </a:r>
            <a:r>
              <a:rPr sz="819" b="0" dirty="0" err="1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收入更高、资金更充足、经济基础更好</a:t>
            </a:r>
            <a:endParaRPr sz="900" b="0" dirty="0">
              <a:solidFill>
                <a:srgbClr val="132A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9189720" y="1956816"/>
            <a:ext cx="1901952" cy="41879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354312" y="2148840"/>
            <a:ext cx="841248" cy="246888"/>
          </a:xfrm>
          <a:prstGeom prst="roundRect">
            <a:avLst/>
          </a:prstGeom>
          <a:solidFill>
            <a:srgbClr val="FFF0F2"/>
          </a:solidFill>
          <a:ln w="5080">
            <a:solidFill>
              <a:srgbClr val="EDF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585781" y="2201629"/>
            <a:ext cx="378309" cy="1138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1">
                <a:solidFill>
                  <a:srgbClr val="C634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风险模型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2580882"/>
            <a:ext cx="1575816" cy="16004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C634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更关注“风险行为与资金稳定性”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2807208"/>
            <a:ext cx="1524520" cy="1492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这个客户未来出风险的可能性多大？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72600" y="3035808"/>
            <a:ext cx="1481328" cy="13716"/>
          </a:xfrm>
          <a:prstGeom prst="rect">
            <a:avLst/>
          </a:prstGeom>
          <a:solidFill>
            <a:srgbClr val="C6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355380" y="5592893"/>
            <a:ext cx="1627631" cy="252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dirty="0" err="1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识别人群：</a:t>
            </a:r>
            <a:r>
              <a:rPr sz="819" b="0" dirty="0" err="1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资金稳定性较弱、债务压力更明显、潜在风险更高</a:t>
            </a:r>
            <a:endParaRPr sz="900" b="0" dirty="0">
              <a:solidFill>
                <a:srgbClr val="132A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02920" y="5897880"/>
            <a:ext cx="2505814" cy="1723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20" b="0">
                <a:solidFill>
                  <a:srgbClr val="4656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浅绿=价值模型更能解释的价值信号；浅蓝=风险模型更能解释的稳定性信号。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60920" y="3054096"/>
            <a:ext cx="235642" cy="954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sz="620" b="1" dirty="0" err="1">
                <a:solidFill>
                  <a:srgbClr val="C98A1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Top特</a:t>
            </a:r>
            <a:endParaRPr sz="620" b="1" dirty="0">
              <a:solidFill>
                <a:srgbClr val="C98A1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360920" y="3260254"/>
            <a:ext cx="1627632" cy="22311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dirty="0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1) 近182天工资收入总额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dirty="0" err="1">
                <a:solidFill>
                  <a:srgbClr val="7A84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工资收入越稳定充足，还款能力越强</a:t>
            </a:r>
            <a:endParaRPr sz="800" b="0" dirty="0">
              <a:solidFill>
                <a:srgbClr val="7A849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800" b="0" dirty="0">
              <a:solidFill>
                <a:srgbClr val="7A849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dirty="0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2) 近56天总收入均值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dirty="0" err="1">
                <a:solidFill>
                  <a:srgbClr val="7A84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总收入水平越高，偿债能力越强</a:t>
            </a:r>
            <a:endParaRPr sz="800" b="0" dirty="0">
              <a:solidFill>
                <a:srgbClr val="7A849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800" b="0" dirty="0">
              <a:solidFill>
                <a:srgbClr val="7A849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dirty="0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3) 近168天日余额均值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dirty="0" err="1">
                <a:solidFill>
                  <a:srgbClr val="7A84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日均余额越高，资金蓄积越充足</a:t>
            </a:r>
            <a:endParaRPr sz="800" b="0" dirty="0">
              <a:solidFill>
                <a:srgbClr val="7A849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800" b="0" dirty="0">
              <a:solidFill>
                <a:srgbClr val="7A849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dirty="0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4) </a:t>
            </a:r>
            <a:r>
              <a:rPr sz="800" b="1" dirty="0" err="1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还款-先买后付-总金额</a:t>
            </a:r>
            <a:endParaRPr sz="800" b="1" dirty="0">
              <a:solidFill>
                <a:srgbClr val="132A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dirty="0" err="1">
                <a:solidFill>
                  <a:srgbClr val="7A84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先买后付还款规模越大，依赖消费信贷越重</a:t>
            </a:r>
            <a:endParaRPr sz="800" b="0" dirty="0">
              <a:solidFill>
                <a:srgbClr val="7A849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800" b="0" dirty="0">
              <a:solidFill>
                <a:srgbClr val="7A849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dirty="0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5) 近28天转账-交易份额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dirty="0" err="1">
                <a:solidFill>
                  <a:srgbClr val="7A84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转账类交易占比越高</a:t>
            </a:r>
            <a:r>
              <a:rPr sz="800" b="0" dirty="0">
                <a:solidFill>
                  <a:srgbClr val="7A84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800" b="0" dirty="0">
                <a:solidFill>
                  <a:srgbClr val="7A84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资金活跃</a:t>
            </a:r>
            <a:endParaRPr sz="800" b="0" dirty="0">
              <a:solidFill>
                <a:srgbClr val="7A849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372600" y="3054096"/>
            <a:ext cx="315792" cy="954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sz="620" b="1">
                <a:solidFill>
                  <a:srgbClr val="C634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Top特征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72600" y="3248378"/>
            <a:ext cx="1627632" cy="22311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dirty="0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1) 近182天债务-交易份额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dirty="0" err="1">
                <a:solidFill>
                  <a:srgbClr val="7A84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交易中用于债务支出的占比越大，偿债压力越重</a:t>
            </a:r>
            <a:endParaRPr sz="800" b="0" dirty="0">
              <a:solidFill>
                <a:srgbClr val="7A849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800" b="0" dirty="0">
              <a:solidFill>
                <a:srgbClr val="7A849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dirty="0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2) 近56天拒付-收入笔数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dirty="0" err="1">
                <a:solidFill>
                  <a:srgbClr val="7A84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拒付</a:t>
            </a:r>
            <a:r>
              <a:rPr sz="800" b="0" dirty="0">
                <a:solidFill>
                  <a:srgbClr val="7A84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sz="800" b="0" dirty="0" err="1">
                <a:solidFill>
                  <a:srgbClr val="7A84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退票次数越多，履约能力越差</a:t>
            </a:r>
            <a:endParaRPr sz="800" b="0" dirty="0">
              <a:solidFill>
                <a:srgbClr val="7A849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800" b="0" dirty="0">
              <a:solidFill>
                <a:srgbClr val="7A849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dirty="0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3) 近168天日余额标准差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dirty="0" err="1">
                <a:solidFill>
                  <a:srgbClr val="7A84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余额波动越大，资金稳定性越差</a:t>
            </a:r>
            <a:endParaRPr sz="800" b="0" dirty="0">
              <a:solidFill>
                <a:srgbClr val="7A849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800" b="0" dirty="0">
              <a:solidFill>
                <a:srgbClr val="7A849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dirty="0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4) </a:t>
            </a:r>
            <a:r>
              <a:rPr sz="800" b="1" dirty="0" err="1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放款-现金预支-最小单笔</a:t>
            </a:r>
            <a:endParaRPr sz="800" b="1" dirty="0">
              <a:solidFill>
                <a:srgbClr val="132A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dirty="0" err="1">
                <a:solidFill>
                  <a:srgbClr val="7A84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现金预支的单笔下限越高，小额高息借贷依赖越重</a:t>
            </a:r>
            <a:endParaRPr sz="800" b="0" dirty="0">
              <a:solidFill>
                <a:srgbClr val="7A849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800" b="0" dirty="0">
              <a:solidFill>
                <a:srgbClr val="7A849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dirty="0">
                <a:solidFill>
                  <a:srgbClr val="132A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5) 近182天余额分布峰度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dirty="0" err="1">
                <a:solidFill>
                  <a:srgbClr val="7A84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分布越尖峰厚尾，余额长期处于低位、偶发大额入账，资金蓄积不稳定</a:t>
            </a:r>
            <a:endParaRPr sz="800" b="0" dirty="0">
              <a:solidFill>
                <a:srgbClr val="7A849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微软雅黑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微软雅黑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912</TotalTime>
  <Words>836</Words>
  <Application>Microsoft Office PowerPoint</Application>
  <PresentationFormat>宽屏</PresentationFormat>
  <Paragraphs>328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Microsoft YaHei</vt:lpstr>
      <vt:lpstr>Microsoft YaHei</vt:lpstr>
      <vt:lpstr>微软雅黑 Light</vt:lpstr>
      <vt:lpstr>等线</vt:lpstr>
      <vt:lpstr>等线 Light</vt:lpstr>
      <vt:lpstr>Arial</vt:lpstr>
      <vt:lpstr>1_Office 主题​​</vt:lpstr>
      <vt:lpstr>2_Office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昱良</dc:creator>
  <cp:lastModifiedBy>昱良</cp:lastModifiedBy>
  <cp:revision>64</cp:revision>
  <dcterms:created xsi:type="dcterms:W3CDTF">2026-08-31T12:17:08Z</dcterms:created>
  <dcterms:modified xsi:type="dcterms:W3CDTF">2026-09-01T13:03:32Z</dcterms:modified>
</cp:coreProperties>
</file>