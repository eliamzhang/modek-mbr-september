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618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754DD-1CA0-4A75-84B2-EE169E6EC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995634-61EC-407C-A408-2BD9182A3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1E69A7-7FBF-4087-898A-792A21E6F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72357-8342-4800-8182-1A30D599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785A4E-2EE2-40FF-9489-F47F7C9D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032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4FFDE-E052-4236-9060-C77018DD7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3E5720-FBBD-420F-B566-BBBB02BFD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59ECFF-7ADD-4123-9721-9E89DFED0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152C86-F620-4C0F-9B09-96CC9290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9BF80E-CD12-458A-A75F-3D1F0FFC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103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B47848-0420-400B-92CA-CE3CA2A2F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E8A857-9C68-4ED9-B660-851F417AD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244B29-F52F-4A27-9B36-39DE52AC8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BAC62D-4386-493B-B93E-3F4E9D1B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13ED90-D6B7-4FCF-B99B-3EC64363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26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7D608-E42A-4583-9F42-283905895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F4B261-E093-445F-AE9E-690D40EF9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CFF082-A61F-41EB-AF5D-3A4B311E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FCB0E2-C587-4F46-9223-7344E772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020437-46FB-41AD-B7A8-1638771CD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049BEB-1C8E-4B0D-B8F9-CA1A5B20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28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B41633-C9FE-47C1-9579-E604DDAB8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4F98A3-C614-4207-B371-4F04CFD7B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B62E48-C07C-434B-AF72-9D1EBBD86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12AB08-768A-4D0F-9B5D-E9B2603AF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B53F10-2E05-43C7-9A17-7FCBDA29E7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225492-6002-4DB9-BCFA-12374BDD4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B958C05-673A-43AA-9FAA-76597C6CE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EF540D-2BFE-4D8E-BED4-E657CF06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732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A5273F-C1C6-44CA-8612-F5E12F463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F13D6F-193B-44A7-88B8-D68DED14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B0EC69-59EB-4E78-A7EF-C29A45B57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3888D5-B66F-4874-87CD-932E951F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860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C5E2D7-7471-46B2-B5F9-5A0BEED3F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67B6A3-8EA5-4D6D-8B15-034C348B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F5FE4F-CBF0-41F1-A68F-E3F72BEC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984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FD864-2D0D-46C4-AC7C-861204DB7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78E462-9F3F-4DBC-BE8D-153042AD2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64BD8A-EEA1-4BEF-A3E1-3235A9C7E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CD59C1-E4D5-4F58-82CA-65FB7CAE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C12AF2-BF3D-485A-8260-A02949451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46ABE6-2C32-44C1-B27D-D732B0B5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136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C95360-8792-41A3-98BA-F8A5FC2D1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D5EDE9-7E7A-4F80-B27B-0C6182DC0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3ACFFC-D619-4E0B-B8DD-FAF415560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2FC3CB-E6A3-4144-B33B-3470FF207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E25D13-8E55-412B-9045-4D75716C6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761A62-CFCC-4881-8162-D5803DF1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214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20327-2F3F-40D8-AB9F-4B26D74C4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0A5DCE-F139-4F94-820D-894F9429F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E1D129-17D6-43A8-9A39-5CAF1946D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5CFFFC-097D-4367-9561-3FF2B43E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FE803F-6F87-4814-B853-4C5AD319B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957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8D6441-9AFA-4027-B638-2D2500D1F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22ADC8-D6B1-4095-8E5E-F012FE471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17C8F9-802D-4D14-B964-95C044EE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29BA93-B0CA-45E0-B232-18EA3AA5B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B2F42D-B2CF-4B67-B2DB-9AE1CA60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617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8EBA2-80EF-4252-8597-048A45E2E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1FC56-6680-4AD6-82E5-88A11AFC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AA0C1-447C-4AEA-81FA-9EB4585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C9B75-A23F-4BC0-AF10-8E3B6D59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3BAF1-849E-4CFB-97FB-462B79C5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211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8D98-575F-4B86-853A-5626FCCE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CB4C6-859B-47BA-B600-73580410D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BEAC3-78C5-45B7-A23B-249EC15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A1087-075F-407E-BB28-CDF217CD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C62BF-1010-4F72-A364-4192F211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287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4CBB0-B952-49F8-A1B8-3979F30A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C5F22-E42C-4263-A574-0CF3FB32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79609-2E9A-498F-932D-68BAA7E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9CF08-A439-43B3-A3F9-168D0F5C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FEC39-07FE-47BE-B8DE-2AFAE3D5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480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2E4F4-0D12-4C67-A2DE-5D38CFD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AA503-16B9-4CA8-8AA5-603157897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D83A5-8A38-40E5-AB3E-D4138C5D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B2CC2-A96A-41D7-A4D7-A284B7D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BF648-B851-4DA5-953B-86578FBD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CC2EA2-1228-4FAF-B547-0D8F31F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672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E7825-95FC-4C1A-AF5F-E36B597A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F39FAA-4C36-4CB6-A320-3DAC5409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609A8-1E92-437D-B0B0-6111310F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4226CF-A2B3-4B4E-9300-5E028ABA7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B10009-1111-457E-B430-65E1C279A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7E8ED2-908F-4B1A-8AE5-D192B1A8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9F550B-0F48-4318-996D-4884DECB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EED0F-6559-4C6F-9CA7-7770DD3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829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6F64B-E647-4104-B1ED-F93F843D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D34E7-F38A-4F82-9AB6-F8589C89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AE06E-5BC2-49FC-AFDD-93822814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46D1A6-6F30-4369-886C-0B9A8E4C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1281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A4833-036F-41C6-B817-DBAF5E3F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A5643-CE71-4F55-8C58-D1337D39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E3F4D-D0ED-4973-9E9A-D6287B4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841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3B291-4439-45D3-BCEE-846EEECB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73331-4FF4-49B6-A023-F72C4936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A3C987-2276-42A0-A1E7-E0606F37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22F0A1-047D-4CAC-9C15-FF066542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AEBB-7478-4902-AB86-AE45AA2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46412-6586-483A-ABB0-E712F839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5721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20C44-3AFF-45CD-9780-0D2FBCA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93764D-8357-41AF-8664-BADF71EF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8CC22-900C-4216-BFAA-893CFBCC4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2A649-1B04-42E5-84B4-2A037C73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CB251-B513-433D-A8AC-3FA74F8D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EE6DA-2AE9-4C28-B829-F80EA98E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1628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22334-2A6B-4387-80FD-70E1F1E0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7C5D0A-2D53-4144-B690-6C700F742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0CEC7-6E44-43BF-A36B-7D08A2F5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E63B3-0B50-4DF9-8F0E-79A5D718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FEAD4-D222-409F-A809-BD5B9786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3042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48EF8A-FDFA-4016-9979-C8C5B09F3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09383-AF7E-4FF6-9616-02B3620BC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9486C-99DC-445E-A433-3EDCCFF5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6F166-1825-4F9D-89FB-66C38CDA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0A879-DDC9-44A8-97E4-649A0365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6257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030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EF61E3-6B03-4D97-9D40-123AD24DA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890FDA-FD28-4A8A-B706-C94FD7EBB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669FFB-6957-46C4-8D4C-4D01D3EE7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C5E6E-2C9F-4268-909B-20CBB5B5588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D48623-A6E8-415E-ACB4-18375ECEE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5201D0-BBB4-4E9D-A84E-6C0A4FB17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83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B64D2A-B4A2-4991-8631-34442C84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2BE11-2F72-49B2-9898-38081781B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FEC2A-8966-4520-BDC5-D824E4328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AC27E-A6AB-47AB-8662-4EC357CAD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857CC-AAF6-440B-A91D-E387063E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78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204007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澳大利亚模型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规划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064" y="597828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规模增长是澳大利亚主要攻坚方向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3F2EE22E-94BA-4E8D-BCFC-C8D1E970F0C3}"/>
              </a:ext>
            </a:extLst>
          </p:cNvPr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510EBFBB-1B1C-4F99-BF47-26025A7F4ECB}"/>
              </a:ext>
            </a:extLst>
          </p:cNvPr>
          <p:cNvSpPr/>
          <p:nvPr/>
        </p:nvSpPr>
        <p:spPr>
          <a:xfrm>
            <a:off x="536448" y="1318568"/>
            <a:ext cx="2606040" cy="797355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28016" bIns="73152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规模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支撑放款增长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拓展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APP、新渠道与复贷</a:t>
            </a:r>
            <a:endParaRPr kumimoji="0" sz="850" b="0" i="0" u="none" strike="noStrike" kern="1200" cap="none" spc="0" normalizeH="0" baseline="0" noProof="0" dirty="0">
              <a:ln>
                <a:noFill/>
              </a:ln>
              <a:solidFill>
                <a:srgbClr val="3D3C3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F0BA8FA2-9E35-45A6-97D7-B0D6911D26FA}"/>
              </a:ext>
            </a:extLst>
          </p:cNvPr>
          <p:cNvSpPr/>
          <p:nvPr/>
        </p:nvSpPr>
        <p:spPr>
          <a:xfrm>
            <a:off x="536448" y="1318568"/>
            <a:ext cx="2606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F8EDA392-21A4-4601-83BD-7648A8867E9C}"/>
              </a:ext>
            </a:extLst>
          </p:cNvPr>
          <p:cNvSpPr/>
          <p:nvPr/>
        </p:nvSpPr>
        <p:spPr>
          <a:xfrm>
            <a:off x="3316224" y="1318568"/>
            <a:ext cx="2606040" cy="797355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28016" bIns="73152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结构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NON SAAC 全年 ≥ 40%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非 SACC 产品占比目标</a:t>
            </a:r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91C721E9-9525-4837-80AC-EE951D015B5F}"/>
              </a:ext>
            </a:extLst>
          </p:cNvPr>
          <p:cNvSpPr/>
          <p:nvPr/>
        </p:nvSpPr>
        <p:spPr>
          <a:xfrm>
            <a:off x="3316224" y="1318568"/>
            <a:ext cx="2606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4" name="Rectangle 10">
            <a:extLst>
              <a:ext uri="{FF2B5EF4-FFF2-40B4-BE49-F238E27FC236}">
                <a16:creationId xmlns:a16="http://schemas.microsoft.com/office/drawing/2014/main" id="{F9C4BBD0-D667-41FB-9E38-00FF6E3B9A39}"/>
              </a:ext>
            </a:extLst>
          </p:cNvPr>
          <p:cNvSpPr/>
          <p:nvPr/>
        </p:nvSpPr>
        <p:spPr>
          <a:xfrm>
            <a:off x="6096000" y="1318568"/>
            <a:ext cx="2606040" cy="797355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28016" bIns="73152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质量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风险表现控制在 7.1%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整体风险水平控制</a:t>
            </a:r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EAD6DDF1-0916-4EEF-8442-C17638240FCC}"/>
              </a:ext>
            </a:extLst>
          </p:cNvPr>
          <p:cNvSpPr/>
          <p:nvPr/>
        </p:nvSpPr>
        <p:spPr>
          <a:xfrm>
            <a:off x="6096000" y="1318568"/>
            <a:ext cx="2606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6" name="Rectangle 14">
            <a:extLst>
              <a:ext uri="{FF2B5EF4-FFF2-40B4-BE49-F238E27FC236}">
                <a16:creationId xmlns:a16="http://schemas.microsoft.com/office/drawing/2014/main" id="{B822F64B-3C9E-4E3F-A42D-9F1BB3937C1D}"/>
              </a:ext>
            </a:extLst>
          </p:cNvPr>
          <p:cNvSpPr/>
          <p:nvPr/>
        </p:nvSpPr>
        <p:spPr>
          <a:xfrm>
            <a:off x="536448" y="2277868"/>
            <a:ext cx="64008" cy="20116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213463EE-99E6-43B7-B888-E8C4692F59C9}"/>
              </a:ext>
            </a:extLst>
          </p:cNvPr>
          <p:cNvSpPr txBox="1"/>
          <p:nvPr/>
        </p:nvSpPr>
        <p:spPr>
          <a:xfrm>
            <a:off x="664464" y="227849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四大领域:共享同一分层体系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8" name="Rectangle 29">
            <a:extLst>
              <a:ext uri="{FF2B5EF4-FFF2-40B4-BE49-F238E27FC236}">
                <a16:creationId xmlns:a16="http://schemas.microsoft.com/office/drawing/2014/main" id="{A7D0FAC6-5336-4DCD-BB21-14B6C0D5DDC3}"/>
              </a:ext>
            </a:extLst>
          </p:cNvPr>
          <p:cNvSpPr/>
          <p:nvPr/>
        </p:nvSpPr>
        <p:spPr>
          <a:xfrm>
            <a:off x="530352" y="2697480"/>
            <a:ext cx="5321808" cy="1609344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0">
            <a:extLst>
              <a:ext uri="{FF2B5EF4-FFF2-40B4-BE49-F238E27FC236}">
                <a16:creationId xmlns:a16="http://schemas.microsoft.com/office/drawing/2014/main" id="{9CC17D52-E32F-405C-8710-1AFA7E4D069B}"/>
              </a:ext>
            </a:extLst>
          </p:cNvPr>
          <p:cNvSpPr/>
          <p:nvPr/>
        </p:nvSpPr>
        <p:spPr>
          <a:xfrm>
            <a:off x="530352" y="2697480"/>
            <a:ext cx="5321808" cy="50292"/>
          </a:xfrm>
          <a:prstGeom prst="rect">
            <a:avLst/>
          </a:prstGeom>
          <a:solidFill>
            <a:srgbClr val="0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1">
            <a:extLst>
              <a:ext uri="{FF2B5EF4-FFF2-40B4-BE49-F238E27FC236}">
                <a16:creationId xmlns:a16="http://schemas.microsoft.com/office/drawing/2014/main" id="{5EC7364D-30D5-4698-8D79-197391F6DD78}"/>
              </a:ext>
            </a:extLst>
          </p:cNvPr>
          <p:cNvSpPr/>
          <p:nvPr/>
        </p:nvSpPr>
        <p:spPr>
          <a:xfrm>
            <a:off x="676656" y="2852928"/>
            <a:ext cx="292608" cy="22860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32">
            <a:extLst>
              <a:ext uri="{FF2B5EF4-FFF2-40B4-BE49-F238E27FC236}">
                <a16:creationId xmlns:a16="http://schemas.microsoft.com/office/drawing/2014/main" id="{48B7AC4E-A5E1-4037-B866-0C277155D0D8}"/>
              </a:ext>
            </a:extLst>
          </p:cNvPr>
          <p:cNvSpPr txBox="1"/>
          <p:nvPr/>
        </p:nvSpPr>
        <p:spPr>
          <a:xfrm>
            <a:off x="704088" y="2884932"/>
            <a:ext cx="237744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40" b="1">
                <a:solidFill>
                  <a:srgbClr val="144970"/>
                </a:solidFill>
                <a:latin typeface="Microsoft YaHei"/>
              </a:rPr>
              <a:t>01</a:t>
            </a:r>
          </a:p>
        </p:txBody>
      </p:sp>
      <p:sp>
        <p:nvSpPr>
          <p:cNvPr id="42" name="TextBox 33">
            <a:extLst>
              <a:ext uri="{FF2B5EF4-FFF2-40B4-BE49-F238E27FC236}">
                <a16:creationId xmlns:a16="http://schemas.microsoft.com/office/drawing/2014/main" id="{6C2120C2-52E0-418D-B7F8-9125C4DF35BA}"/>
              </a:ext>
            </a:extLst>
          </p:cNvPr>
          <p:cNvSpPr txBox="1"/>
          <p:nvPr/>
        </p:nvSpPr>
        <p:spPr>
          <a:xfrm>
            <a:off x="1033271" y="283464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222C38"/>
                </a:solidFill>
                <a:latin typeface="Microsoft YaHei"/>
              </a:rPr>
              <a:t>数据基建</a:t>
            </a:r>
          </a:p>
        </p:txBody>
      </p:sp>
      <p:sp>
        <p:nvSpPr>
          <p:cNvPr id="43" name="TextBox 34">
            <a:extLst>
              <a:ext uri="{FF2B5EF4-FFF2-40B4-BE49-F238E27FC236}">
                <a16:creationId xmlns:a16="http://schemas.microsoft.com/office/drawing/2014/main" id="{BDF3C074-40A8-4ABF-9131-52B64E3A0E8E}"/>
              </a:ext>
            </a:extLst>
          </p:cNvPr>
          <p:cNvSpPr txBox="1"/>
          <p:nvPr/>
        </p:nvSpPr>
        <p:spPr>
          <a:xfrm>
            <a:off x="1033271" y="3081528"/>
            <a:ext cx="4572000" cy="1184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0" dirty="0">
                <a:solidFill>
                  <a:srgbClr val="606976"/>
                </a:solidFill>
                <a:latin typeface="Microsoft YaHei"/>
              </a:rPr>
              <a:t>目标：统一流水识别、IDP2 </a:t>
            </a:r>
            <a:r>
              <a:rPr sz="770" b="0" dirty="0" err="1">
                <a:solidFill>
                  <a:srgbClr val="606976"/>
                </a:solidFill>
                <a:latin typeface="Microsoft YaHei"/>
              </a:rPr>
              <a:t>链路与</a:t>
            </a:r>
            <a:r>
              <a:rPr lang="zh-CN" altLang="en-US" sz="770" dirty="0">
                <a:solidFill>
                  <a:srgbClr val="606976"/>
                </a:solidFill>
                <a:latin typeface="Microsoft YaHei"/>
              </a:rPr>
              <a:t>涉及市场投放归因底座</a:t>
            </a:r>
            <a:endParaRPr sz="770" b="0" dirty="0">
              <a:solidFill>
                <a:srgbClr val="606976"/>
              </a:solidFill>
              <a:latin typeface="Microsoft YaHei"/>
            </a:endParaRPr>
          </a:p>
        </p:txBody>
      </p:sp>
      <p:sp>
        <p:nvSpPr>
          <p:cNvPr id="44" name="Rectangle 35">
            <a:extLst>
              <a:ext uri="{FF2B5EF4-FFF2-40B4-BE49-F238E27FC236}">
                <a16:creationId xmlns:a16="http://schemas.microsoft.com/office/drawing/2014/main" id="{A03800E2-3473-4A04-88B4-9DF8F86D45FE}"/>
              </a:ext>
            </a:extLst>
          </p:cNvPr>
          <p:cNvSpPr/>
          <p:nvPr/>
        </p:nvSpPr>
        <p:spPr>
          <a:xfrm>
            <a:off x="676656" y="3319272"/>
            <a:ext cx="5029200" cy="9144"/>
          </a:xfrm>
          <a:prstGeom prst="rect">
            <a:avLst/>
          </a:prstGeom>
          <a:solidFill>
            <a:srgbClr val="D6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36">
            <a:extLst>
              <a:ext uri="{FF2B5EF4-FFF2-40B4-BE49-F238E27FC236}">
                <a16:creationId xmlns:a16="http://schemas.microsoft.com/office/drawing/2014/main" id="{18E02B63-CB74-4815-898D-84820A39E9D5}"/>
              </a:ext>
            </a:extLst>
          </p:cNvPr>
          <p:cNvSpPr/>
          <p:nvPr/>
        </p:nvSpPr>
        <p:spPr>
          <a:xfrm>
            <a:off x="676656" y="3438144"/>
            <a:ext cx="54864" cy="118872"/>
          </a:xfrm>
          <a:prstGeom prst="rect">
            <a:avLst/>
          </a:prstGeom>
          <a:solidFill>
            <a:srgbClr val="E2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37">
            <a:extLst>
              <a:ext uri="{FF2B5EF4-FFF2-40B4-BE49-F238E27FC236}">
                <a16:creationId xmlns:a16="http://schemas.microsoft.com/office/drawing/2014/main" id="{CFE8516B-0FF5-48B0-9313-56BCD6FDC3CA}"/>
              </a:ext>
            </a:extLst>
          </p:cNvPr>
          <p:cNvSpPr txBox="1"/>
          <p:nvPr/>
        </p:nvSpPr>
        <p:spPr>
          <a:xfrm>
            <a:off x="758952" y="3432468"/>
            <a:ext cx="548640" cy="116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760" b="1" dirty="0">
                <a:solidFill>
                  <a:srgbClr val="144970"/>
                </a:solidFill>
                <a:latin typeface="Microsoft YaHei"/>
              </a:rPr>
              <a:t>信审合规</a:t>
            </a:r>
            <a:endParaRPr sz="760" b="1" dirty="0">
              <a:solidFill>
                <a:srgbClr val="144970"/>
              </a:solidFill>
              <a:latin typeface="Microsoft YaHei"/>
            </a:endParaRPr>
          </a:p>
        </p:txBody>
      </p:sp>
      <p:sp>
        <p:nvSpPr>
          <p:cNvPr id="47" name="Rectangle 38">
            <a:extLst>
              <a:ext uri="{FF2B5EF4-FFF2-40B4-BE49-F238E27FC236}">
                <a16:creationId xmlns:a16="http://schemas.microsoft.com/office/drawing/2014/main" id="{A4405221-0A3D-419D-B384-75C1DC851F18}"/>
              </a:ext>
            </a:extLst>
          </p:cNvPr>
          <p:cNvSpPr/>
          <p:nvPr/>
        </p:nvSpPr>
        <p:spPr>
          <a:xfrm>
            <a:off x="3255264" y="3438144"/>
            <a:ext cx="54864" cy="118872"/>
          </a:xfrm>
          <a:prstGeom prst="rect">
            <a:avLst/>
          </a:prstGeom>
          <a:solidFill>
            <a:srgbClr val="E2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39">
            <a:extLst>
              <a:ext uri="{FF2B5EF4-FFF2-40B4-BE49-F238E27FC236}">
                <a16:creationId xmlns:a16="http://schemas.microsoft.com/office/drawing/2014/main" id="{A87EAD18-F199-4040-8640-DC6632359901}"/>
              </a:ext>
            </a:extLst>
          </p:cNvPr>
          <p:cNvSpPr txBox="1"/>
          <p:nvPr/>
        </p:nvSpPr>
        <p:spPr>
          <a:xfrm>
            <a:off x="3337560" y="3419856"/>
            <a:ext cx="548640" cy="116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760" b="1" dirty="0">
                <a:solidFill>
                  <a:srgbClr val="144970"/>
                </a:solidFill>
                <a:latin typeface="Microsoft YaHei"/>
              </a:rPr>
              <a:t>投放运营</a:t>
            </a:r>
            <a:endParaRPr sz="760" b="1" dirty="0">
              <a:solidFill>
                <a:srgbClr val="144970"/>
              </a:solidFill>
              <a:latin typeface="Microsoft YaHei"/>
            </a:endParaRPr>
          </a:p>
        </p:txBody>
      </p:sp>
      <p:sp>
        <p:nvSpPr>
          <p:cNvPr id="49" name="TextBox 40">
            <a:extLst>
              <a:ext uri="{FF2B5EF4-FFF2-40B4-BE49-F238E27FC236}">
                <a16:creationId xmlns:a16="http://schemas.microsoft.com/office/drawing/2014/main" id="{101A6D5E-5B62-4C63-BF66-4BE55234106D}"/>
              </a:ext>
            </a:extLst>
          </p:cNvPr>
          <p:cNvSpPr txBox="1"/>
          <p:nvPr/>
        </p:nvSpPr>
        <p:spPr>
          <a:xfrm>
            <a:off x="676656" y="3639312"/>
            <a:ext cx="2578608" cy="484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  <a:defRPr sz="725">
                <a:solidFill>
                  <a:srgbClr val="222C38"/>
                </a:solidFill>
                <a:latin typeface="Microsoft YaHei"/>
              </a:defRPr>
            </a:pPr>
            <a:r>
              <a:rPr dirty="0"/>
              <a:t>★ BS-CAT </a:t>
            </a:r>
            <a:r>
              <a:rPr dirty="0" err="1"/>
              <a:t>生产化与并行验证</a:t>
            </a:r>
            <a:endParaRPr lang="en-US" dirty="0"/>
          </a:p>
          <a:p>
            <a:pPr>
              <a:spcAft>
                <a:spcPts val="100"/>
              </a:spcAft>
              <a:defRPr sz="725">
                <a:solidFill>
                  <a:srgbClr val="222C38"/>
                </a:solidFill>
                <a:latin typeface="Microsoft YaHei"/>
              </a:defRPr>
            </a:pPr>
            <a:r>
              <a:rPr lang="zh-CN" altLang="en-US" dirty="0"/>
              <a:t>知识库运维智能体</a:t>
            </a:r>
            <a:endParaRPr dirty="0"/>
          </a:p>
          <a:p>
            <a:pPr>
              <a:lnSpc>
                <a:spcPct val="100000"/>
              </a:lnSpc>
              <a:spcAft>
                <a:spcPts val="100"/>
              </a:spcAft>
              <a:defRPr sz="725">
                <a:solidFill>
                  <a:srgbClr val="222C38"/>
                </a:solidFill>
                <a:latin typeface="Microsoft YaHei"/>
              </a:defRPr>
            </a:pPr>
            <a:r>
              <a:rPr dirty="0"/>
              <a:t>IDP2 </a:t>
            </a:r>
            <a:r>
              <a:rPr dirty="0" err="1"/>
              <a:t>全链路跑通</a:t>
            </a:r>
            <a:endParaRPr lang="en-US" dirty="0"/>
          </a:p>
          <a:p>
            <a:pPr>
              <a:lnSpc>
                <a:spcPct val="100000"/>
              </a:lnSpc>
              <a:spcAft>
                <a:spcPts val="100"/>
              </a:spcAft>
              <a:defRPr sz="725">
                <a:solidFill>
                  <a:srgbClr val="222C38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50" name="TextBox 41">
            <a:extLst>
              <a:ext uri="{FF2B5EF4-FFF2-40B4-BE49-F238E27FC236}">
                <a16:creationId xmlns:a16="http://schemas.microsoft.com/office/drawing/2014/main" id="{D7E84284-5097-4F60-BF5C-C9A8900C7DB4}"/>
              </a:ext>
            </a:extLst>
          </p:cNvPr>
          <p:cNvSpPr txBox="1"/>
          <p:nvPr/>
        </p:nvSpPr>
        <p:spPr>
          <a:xfrm>
            <a:off x="3255264" y="3620394"/>
            <a:ext cx="2359152" cy="4885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725">
                <a:solidFill>
                  <a:srgbClr val="222C38"/>
                </a:solidFill>
                <a:latin typeface="Microsoft YaHei"/>
              </a:defRPr>
            </a:pPr>
            <a:r>
              <a:rPr lang="zh-CN" altLang="en-US" dirty="0"/>
              <a:t>★回传归因追踪监控</a:t>
            </a:r>
            <a:endParaRPr lang="en-US" altLang="zh-CN" dirty="0"/>
          </a:p>
          <a:p>
            <a:pPr>
              <a:spcAft>
                <a:spcPts val="100"/>
              </a:spcAft>
              <a:defRPr sz="725">
                <a:solidFill>
                  <a:srgbClr val="222C38"/>
                </a:solidFill>
                <a:latin typeface="Microsoft YaHei"/>
              </a:defRPr>
            </a:pPr>
            <a:r>
              <a:rPr lang="zh-CN" altLang="en-US" dirty="0"/>
              <a:t>投放归因监控：渠道 </a:t>
            </a:r>
            <a:r>
              <a:rPr lang="en-US" altLang="zh-CN" dirty="0"/>
              <a:t>/ Campaign overlap </a:t>
            </a:r>
            <a:r>
              <a:rPr lang="zh-CN" altLang="en-US" dirty="0"/>
              <a:t>监控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25">
                <a:solidFill>
                  <a:srgbClr val="222C38"/>
                </a:solidFill>
                <a:latin typeface="Microsoft YaHei"/>
              </a:defRPr>
            </a:pPr>
            <a:r>
              <a:rPr lang="zh-CN" altLang="en-US" dirty="0"/>
              <a:t>触达归因回传：短信 </a:t>
            </a:r>
            <a:r>
              <a:rPr lang="en-US" altLang="zh-CN" dirty="0"/>
              <a:t>/ </a:t>
            </a:r>
            <a:r>
              <a:rPr lang="zh-CN" altLang="en-US" dirty="0"/>
              <a:t>邮件 </a:t>
            </a:r>
            <a:r>
              <a:rPr lang="en-US" altLang="zh-CN" dirty="0"/>
              <a:t>/ Push / APP </a:t>
            </a:r>
            <a:r>
              <a:rPr lang="zh-CN" altLang="en-US" dirty="0"/>
              <a:t>效果监控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222C38"/>
                </a:solidFill>
                <a:latin typeface="Microsoft YaHei"/>
              </a:defRPr>
            </a:pPr>
            <a:endParaRPr lang="zh-CN" altLang="en-US" dirty="0"/>
          </a:p>
        </p:txBody>
      </p:sp>
      <p:sp>
        <p:nvSpPr>
          <p:cNvPr id="51" name="Rectangle 42">
            <a:extLst>
              <a:ext uri="{FF2B5EF4-FFF2-40B4-BE49-F238E27FC236}">
                <a16:creationId xmlns:a16="http://schemas.microsoft.com/office/drawing/2014/main" id="{4F9296D8-00BD-4ABE-8241-9D69B1651F85}"/>
              </a:ext>
            </a:extLst>
          </p:cNvPr>
          <p:cNvSpPr/>
          <p:nvPr/>
        </p:nvSpPr>
        <p:spPr>
          <a:xfrm>
            <a:off x="6016752" y="2697480"/>
            <a:ext cx="5321808" cy="1609344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43">
            <a:extLst>
              <a:ext uri="{FF2B5EF4-FFF2-40B4-BE49-F238E27FC236}">
                <a16:creationId xmlns:a16="http://schemas.microsoft.com/office/drawing/2014/main" id="{9572F32F-556C-4529-B1BB-BF51158AB8E8}"/>
              </a:ext>
            </a:extLst>
          </p:cNvPr>
          <p:cNvSpPr/>
          <p:nvPr/>
        </p:nvSpPr>
        <p:spPr>
          <a:xfrm>
            <a:off x="6016752" y="2697480"/>
            <a:ext cx="5321808" cy="50292"/>
          </a:xfrm>
          <a:prstGeom prst="rect">
            <a:avLst/>
          </a:prstGeom>
          <a:solidFill>
            <a:srgbClr val="0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44">
            <a:extLst>
              <a:ext uri="{FF2B5EF4-FFF2-40B4-BE49-F238E27FC236}">
                <a16:creationId xmlns:a16="http://schemas.microsoft.com/office/drawing/2014/main" id="{BD65F768-81F5-4839-88D7-EC505D2FA345}"/>
              </a:ext>
            </a:extLst>
          </p:cNvPr>
          <p:cNvSpPr/>
          <p:nvPr/>
        </p:nvSpPr>
        <p:spPr>
          <a:xfrm>
            <a:off x="6163056" y="2852928"/>
            <a:ext cx="292608" cy="22860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45">
            <a:extLst>
              <a:ext uri="{FF2B5EF4-FFF2-40B4-BE49-F238E27FC236}">
                <a16:creationId xmlns:a16="http://schemas.microsoft.com/office/drawing/2014/main" id="{99C344D2-D6DB-488A-B16C-3DC295E6429A}"/>
              </a:ext>
            </a:extLst>
          </p:cNvPr>
          <p:cNvSpPr txBox="1"/>
          <p:nvPr/>
        </p:nvSpPr>
        <p:spPr>
          <a:xfrm>
            <a:off x="6190488" y="2884932"/>
            <a:ext cx="237744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40" b="1">
                <a:solidFill>
                  <a:srgbClr val="144970"/>
                </a:solidFill>
                <a:latin typeface="Microsoft YaHei"/>
              </a:rPr>
              <a:t>02</a:t>
            </a:r>
          </a:p>
        </p:txBody>
      </p:sp>
      <p:sp>
        <p:nvSpPr>
          <p:cNvPr id="55" name="TextBox 46">
            <a:extLst>
              <a:ext uri="{FF2B5EF4-FFF2-40B4-BE49-F238E27FC236}">
                <a16:creationId xmlns:a16="http://schemas.microsoft.com/office/drawing/2014/main" id="{FBB73010-9F36-4BDF-9997-C2B7F1C23176}"/>
              </a:ext>
            </a:extLst>
          </p:cNvPr>
          <p:cNvSpPr txBox="1"/>
          <p:nvPr/>
        </p:nvSpPr>
        <p:spPr>
          <a:xfrm>
            <a:off x="6519672" y="283464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222C38"/>
                </a:solidFill>
                <a:latin typeface="Microsoft YaHei"/>
              </a:rPr>
              <a:t>投放市场</a:t>
            </a:r>
          </a:p>
        </p:txBody>
      </p:sp>
      <p:sp>
        <p:nvSpPr>
          <p:cNvPr id="56" name="TextBox 47">
            <a:extLst>
              <a:ext uri="{FF2B5EF4-FFF2-40B4-BE49-F238E27FC236}">
                <a16:creationId xmlns:a16="http://schemas.microsoft.com/office/drawing/2014/main" id="{D2E0C7AA-8DCA-4F50-BF0D-FF7FB300D0F0}"/>
              </a:ext>
            </a:extLst>
          </p:cNvPr>
          <p:cNvSpPr txBox="1"/>
          <p:nvPr/>
        </p:nvSpPr>
        <p:spPr>
          <a:xfrm>
            <a:off x="6519672" y="3081528"/>
            <a:ext cx="4572000" cy="1184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0" dirty="0" err="1">
                <a:solidFill>
                  <a:srgbClr val="606976"/>
                </a:solidFill>
                <a:latin typeface="Microsoft YaHei"/>
              </a:rPr>
              <a:t>目标：优质增量获取</a:t>
            </a:r>
            <a:endParaRPr sz="770" b="0" dirty="0">
              <a:solidFill>
                <a:srgbClr val="606976"/>
              </a:solidFill>
              <a:latin typeface="Microsoft YaHei"/>
            </a:endParaRPr>
          </a:p>
        </p:txBody>
      </p:sp>
      <p:sp>
        <p:nvSpPr>
          <p:cNvPr id="57" name="Rectangle 48">
            <a:extLst>
              <a:ext uri="{FF2B5EF4-FFF2-40B4-BE49-F238E27FC236}">
                <a16:creationId xmlns:a16="http://schemas.microsoft.com/office/drawing/2014/main" id="{04CDC3B3-69FE-469C-B320-23C8BE88CA38}"/>
              </a:ext>
            </a:extLst>
          </p:cNvPr>
          <p:cNvSpPr/>
          <p:nvPr/>
        </p:nvSpPr>
        <p:spPr>
          <a:xfrm>
            <a:off x="6163056" y="3319272"/>
            <a:ext cx="5029200" cy="9144"/>
          </a:xfrm>
          <a:prstGeom prst="rect">
            <a:avLst/>
          </a:prstGeom>
          <a:solidFill>
            <a:srgbClr val="D6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49">
            <a:extLst>
              <a:ext uri="{FF2B5EF4-FFF2-40B4-BE49-F238E27FC236}">
                <a16:creationId xmlns:a16="http://schemas.microsoft.com/office/drawing/2014/main" id="{863605E9-FB91-40E6-B40A-6FC10594D030}"/>
              </a:ext>
            </a:extLst>
          </p:cNvPr>
          <p:cNvSpPr/>
          <p:nvPr/>
        </p:nvSpPr>
        <p:spPr>
          <a:xfrm>
            <a:off x="6163056" y="3438144"/>
            <a:ext cx="54864" cy="118872"/>
          </a:xfrm>
          <a:prstGeom prst="rect">
            <a:avLst/>
          </a:prstGeom>
          <a:solidFill>
            <a:srgbClr val="E2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0">
            <a:extLst>
              <a:ext uri="{FF2B5EF4-FFF2-40B4-BE49-F238E27FC236}">
                <a16:creationId xmlns:a16="http://schemas.microsoft.com/office/drawing/2014/main" id="{0C04BD53-2A28-4814-A3A2-1479EF2DA9CA}"/>
              </a:ext>
            </a:extLst>
          </p:cNvPr>
          <p:cNvSpPr txBox="1"/>
          <p:nvPr/>
        </p:nvSpPr>
        <p:spPr>
          <a:xfrm>
            <a:off x="6245352" y="3419856"/>
            <a:ext cx="548640" cy="116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760" b="1" dirty="0">
                <a:solidFill>
                  <a:srgbClr val="144970"/>
                </a:solidFill>
                <a:latin typeface="Microsoft YaHei"/>
              </a:rPr>
              <a:t>人群圈选</a:t>
            </a:r>
            <a:endParaRPr sz="760" b="1" dirty="0">
              <a:solidFill>
                <a:srgbClr val="144970"/>
              </a:solidFill>
              <a:latin typeface="Microsoft YaHei"/>
            </a:endParaRPr>
          </a:p>
        </p:txBody>
      </p:sp>
      <p:sp>
        <p:nvSpPr>
          <p:cNvPr id="60" name="Rectangle 51">
            <a:extLst>
              <a:ext uri="{FF2B5EF4-FFF2-40B4-BE49-F238E27FC236}">
                <a16:creationId xmlns:a16="http://schemas.microsoft.com/office/drawing/2014/main" id="{00B7953A-7687-4E09-B3C8-E5694409BDCE}"/>
              </a:ext>
            </a:extLst>
          </p:cNvPr>
          <p:cNvSpPr/>
          <p:nvPr/>
        </p:nvSpPr>
        <p:spPr>
          <a:xfrm>
            <a:off x="8741664" y="3438144"/>
            <a:ext cx="54864" cy="118872"/>
          </a:xfrm>
          <a:prstGeom prst="rect">
            <a:avLst/>
          </a:prstGeom>
          <a:solidFill>
            <a:srgbClr val="E2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52">
            <a:extLst>
              <a:ext uri="{FF2B5EF4-FFF2-40B4-BE49-F238E27FC236}">
                <a16:creationId xmlns:a16="http://schemas.microsoft.com/office/drawing/2014/main" id="{6D827F8D-4894-4232-B860-661A6BD2DB95}"/>
              </a:ext>
            </a:extLst>
          </p:cNvPr>
          <p:cNvSpPr txBox="1"/>
          <p:nvPr/>
        </p:nvSpPr>
        <p:spPr>
          <a:xfrm>
            <a:off x="8823960" y="3438774"/>
            <a:ext cx="548640" cy="116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760" b="1" dirty="0">
                <a:solidFill>
                  <a:srgbClr val="144970"/>
                </a:solidFill>
                <a:latin typeface="Microsoft YaHei"/>
              </a:rPr>
              <a:t>出价优化</a:t>
            </a:r>
            <a:endParaRPr sz="760" b="1" dirty="0">
              <a:solidFill>
                <a:srgbClr val="144970"/>
              </a:solidFill>
              <a:latin typeface="Microsoft YaHei"/>
            </a:endParaRPr>
          </a:p>
        </p:txBody>
      </p:sp>
      <p:sp>
        <p:nvSpPr>
          <p:cNvPr id="62" name="TextBox 53">
            <a:extLst>
              <a:ext uri="{FF2B5EF4-FFF2-40B4-BE49-F238E27FC236}">
                <a16:creationId xmlns:a16="http://schemas.microsoft.com/office/drawing/2014/main" id="{054564E6-0789-45E2-8E1F-B2D53A33DF14}"/>
              </a:ext>
            </a:extLst>
          </p:cNvPr>
          <p:cNvSpPr txBox="1"/>
          <p:nvPr/>
        </p:nvSpPr>
        <p:spPr>
          <a:xfrm>
            <a:off x="6163056" y="3639312"/>
            <a:ext cx="2359152" cy="243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222C38"/>
                </a:solidFill>
                <a:latin typeface="Microsoft YaHei"/>
              </a:defRPr>
            </a:pPr>
            <a:r>
              <a:rPr dirty="0"/>
              <a:t>★</a:t>
            </a:r>
            <a:r>
              <a:rPr lang="en-US" dirty="0"/>
              <a:t> </a:t>
            </a:r>
            <a:r>
              <a:rPr lang="zh-CN" altLang="en-US" dirty="0"/>
              <a:t>高价值人群圈选</a:t>
            </a:r>
            <a:r>
              <a:rPr dirty="0"/>
              <a:t>：</a:t>
            </a:r>
            <a:r>
              <a:rPr dirty="0" err="1"/>
              <a:t>输出可</a:t>
            </a:r>
            <a:r>
              <a:rPr lang="zh-CN" altLang="en-US" dirty="0"/>
              <a:t>回传</a:t>
            </a:r>
            <a:r>
              <a:rPr dirty="0" err="1"/>
              <a:t>人群包</a:t>
            </a:r>
            <a:endParaRPr lang="en-US" dirty="0"/>
          </a:p>
          <a:p>
            <a:pPr>
              <a:spcAft>
                <a:spcPts val="100"/>
              </a:spcAft>
              <a:defRPr sz="750">
                <a:solidFill>
                  <a:srgbClr val="222C38"/>
                </a:solidFill>
                <a:latin typeface="Microsoft YaHei"/>
              </a:defRPr>
            </a:pPr>
            <a:r>
              <a:rPr lang="en-US" altLang="zh-CN" dirty="0"/>
              <a:t>Lead Partner </a:t>
            </a:r>
            <a:r>
              <a:rPr lang="zh-CN" altLang="en-US" dirty="0"/>
              <a:t>模型</a:t>
            </a:r>
          </a:p>
        </p:txBody>
      </p:sp>
      <p:sp>
        <p:nvSpPr>
          <p:cNvPr id="63" name="TextBox 54">
            <a:extLst>
              <a:ext uri="{FF2B5EF4-FFF2-40B4-BE49-F238E27FC236}">
                <a16:creationId xmlns:a16="http://schemas.microsoft.com/office/drawing/2014/main" id="{9AC1C6D8-6D5B-4F91-82B5-A750BDAA5BE0}"/>
              </a:ext>
            </a:extLst>
          </p:cNvPr>
          <p:cNvSpPr txBox="1"/>
          <p:nvPr/>
        </p:nvSpPr>
        <p:spPr>
          <a:xfrm>
            <a:off x="8741664" y="3639312"/>
            <a:ext cx="2359152" cy="243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222C38"/>
                </a:solidFill>
                <a:latin typeface="Microsoft YaHei"/>
              </a:defRPr>
            </a:pPr>
            <a:r>
              <a:rPr lang="zh-CN" altLang="en-US" dirty="0"/>
              <a:t>★ 边际 </a:t>
            </a:r>
            <a:r>
              <a:rPr lang="en-US" altLang="zh-CN" dirty="0"/>
              <a:t>CPS </a:t>
            </a:r>
            <a:r>
              <a:rPr lang="zh-CN" altLang="en-US" dirty="0"/>
              <a:t>与扩量阈值与预算分配决策工具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222C38"/>
                </a:solidFill>
                <a:latin typeface="Microsoft YaHei"/>
              </a:defRPr>
            </a:pPr>
            <a:r>
              <a:rPr lang="en-US" altLang="zh-CN" dirty="0"/>
              <a:t>Campaign </a:t>
            </a:r>
            <a:r>
              <a:rPr lang="zh-CN" altLang="en-US" dirty="0"/>
              <a:t>早期质量预测</a:t>
            </a:r>
            <a:endParaRPr lang="en-US" dirty="0"/>
          </a:p>
        </p:txBody>
      </p:sp>
      <p:sp>
        <p:nvSpPr>
          <p:cNvPr id="64" name="Rectangle 55">
            <a:extLst>
              <a:ext uri="{FF2B5EF4-FFF2-40B4-BE49-F238E27FC236}">
                <a16:creationId xmlns:a16="http://schemas.microsoft.com/office/drawing/2014/main" id="{6727FC50-B3EB-44E0-B2D6-07352E2DACBD}"/>
              </a:ext>
            </a:extLst>
          </p:cNvPr>
          <p:cNvSpPr/>
          <p:nvPr/>
        </p:nvSpPr>
        <p:spPr>
          <a:xfrm>
            <a:off x="530352" y="4636008"/>
            <a:ext cx="5321808" cy="1609344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56">
            <a:extLst>
              <a:ext uri="{FF2B5EF4-FFF2-40B4-BE49-F238E27FC236}">
                <a16:creationId xmlns:a16="http://schemas.microsoft.com/office/drawing/2014/main" id="{6991C922-BB10-43BB-A3C5-295524DD4AF1}"/>
              </a:ext>
            </a:extLst>
          </p:cNvPr>
          <p:cNvSpPr/>
          <p:nvPr/>
        </p:nvSpPr>
        <p:spPr>
          <a:xfrm>
            <a:off x="530352" y="4636008"/>
            <a:ext cx="5321808" cy="50292"/>
          </a:xfrm>
          <a:prstGeom prst="rect">
            <a:avLst/>
          </a:prstGeom>
          <a:solidFill>
            <a:srgbClr val="0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57">
            <a:extLst>
              <a:ext uri="{FF2B5EF4-FFF2-40B4-BE49-F238E27FC236}">
                <a16:creationId xmlns:a16="http://schemas.microsoft.com/office/drawing/2014/main" id="{B0EFB840-6033-4E7A-8B06-5AF80D9ACE41}"/>
              </a:ext>
            </a:extLst>
          </p:cNvPr>
          <p:cNvSpPr/>
          <p:nvPr/>
        </p:nvSpPr>
        <p:spPr>
          <a:xfrm>
            <a:off x="676656" y="4791456"/>
            <a:ext cx="292608" cy="22860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58">
            <a:extLst>
              <a:ext uri="{FF2B5EF4-FFF2-40B4-BE49-F238E27FC236}">
                <a16:creationId xmlns:a16="http://schemas.microsoft.com/office/drawing/2014/main" id="{FC6C61B2-3AC0-4FA2-BE63-82AEA6A287E2}"/>
              </a:ext>
            </a:extLst>
          </p:cNvPr>
          <p:cNvSpPr txBox="1"/>
          <p:nvPr/>
        </p:nvSpPr>
        <p:spPr>
          <a:xfrm>
            <a:off x="704088" y="4823460"/>
            <a:ext cx="237744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40" b="1">
                <a:solidFill>
                  <a:srgbClr val="144970"/>
                </a:solidFill>
                <a:latin typeface="Microsoft YaHei"/>
              </a:rPr>
              <a:t>03</a:t>
            </a:r>
          </a:p>
        </p:txBody>
      </p:sp>
      <p:sp>
        <p:nvSpPr>
          <p:cNvPr id="68" name="TextBox 59">
            <a:extLst>
              <a:ext uri="{FF2B5EF4-FFF2-40B4-BE49-F238E27FC236}">
                <a16:creationId xmlns:a16="http://schemas.microsoft.com/office/drawing/2014/main" id="{A17E72E4-6C43-4F6A-B247-2F5FE14D958C}"/>
              </a:ext>
            </a:extLst>
          </p:cNvPr>
          <p:cNvSpPr txBox="1"/>
          <p:nvPr/>
        </p:nvSpPr>
        <p:spPr>
          <a:xfrm>
            <a:off x="1033271" y="47731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222C38"/>
                </a:solidFill>
                <a:latin typeface="Microsoft YaHei"/>
              </a:rPr>
              <a:t>用户运营</a:t>
            </a:r>
          </a:p>
        </p:txBody>
      </p:sp>
      <p:sp>
        <p:nvSpPr>
          <p:cNvPr id="69" name="TextBox 60">
            <a:extLst>
              <a:ext uri="{FF2B5EF4-FFF2-40B4-BE49-F238E27FC236}">
                <a16:creationId xmlns:a16="http://schemas.microsoft.com/office/drawing/2014/main" id="{4E62C11B-8C28-4028-869A-3229B5101554}"/>
              </a:ext>
            </a:extLst>
          </p:cNvPr>
          <p:cNvSpPr txBox="1"/>
          <p:nvPr/>
        </p:nvSpPr>
        <p:spPr>
          <a:xfrm>
            <a:off x="1033271" y="5020056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0" dirty="0" err="1">
                <a:solidFill>
                  <a:srgbClr val="606976"/>
                </a:solidFill>
                <a:latin typeface="Microsoft YaHei"/>
              </a:rPr>
              <a:t>目标：围绕客户价值、定价和触达，提升复贷与经营效率</a:t>
            </a:r>
            <a:endParaRPr sz="770" b="0" dirty="0">
              <a:solidFill>
                <a:srgbClr val="606976"/>
              </a:solidFill>
              <a:latin typeface="Microsoft YaHei"/>
            </a:endParaRPr>
          </a:p>
        </p:txBody>
      </p:sp>
      <p:sp>
        <p:nvSpPr>
          <p:cNvPr id="70" name="Rectangle 61">
            <a:extLst>
              <a:ext uri="{FF2B5EF4-FFF2-40B4-BE49-F238E27FC236}">
                <a16:creationId xmlns:a16="http://schemas.microsoft.com/office/drawing/2014/main" id="{609306D9-9DCA-4A53-B78A-72D88079A5E9}"/>
              </a:ext>
            </a:extLst>
          </p:cNvPr>
          <p:cNvSpPr/>
          <p:nvPr/>
        </p:nvSpPr>
        <p:spPr>
          <a:xfrm>
            <a:off x="676656" y="5257800"/>
            <a:ext cx="5029200" cy="9144"/>
          </a:xfrm>
          <a:prstGeom prst="rect">
            <a:avLst/>
          </a:prstGeom>
          <a:solidFill>
            <a:srgbClr val="D6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62">
            <a:extLst>
              <a:ext uri="{FF2B5EF4-FFF2-40B4-BE49-F238E27FC236}">
                <a16:creationId xmlns:a16="http://schemas.microsoft.com/office/drawing/2014/main" id="{B0D5F27D-3224-417E-BA49-6E10971B5A9B}"/>
              </a:ext>
            </a:extLst>
          </p:cNvPr>
          <p:cNvSpPr/>
          <p:nvPr/>
        </p:nvSpPr>
        <p:spPr>
          <a:xfrm>
            <a:off x="3255264" y="5491930"/>
            <a:ext cx="54864" cy="118872"/>
          </a:xfrm>
          <a:prstGeom prst="rect">
            <a:avLst/>
          </a:prstGeom>
          <a:solidFill>
            <a:srgbClr val="E2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63">
            <a:extLst>
              <a:ext uri="{FF2B5EF4-FFF2-40B4-BE49-F238E27FC236}">
                <a16:creationId xmlns:a16="http://schemas.microsoft.com/office/drawing/2014/main" id="{BC781291-CC61-426B-B326-71039F24415F}"/>
              </a:ext>
            </a:extLst>
          </p:cNvPr>
          <p:cNvSpPr txBox="1"/>
          <p:nvPr/>
        </p:nvSpPr>
        <p:spPr>
          <a:xfrm>
            <a:off x="3337560" y="5473642"/>
            <a:ext cx="760844" cy="116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60" b="1" dirty="0" err="1">
                <a:solidFill>
                  <a:srgbClr val="144970"/>
                </a:solidFill>
                <a:latin typeface="Microsoft YaHei"/>
              </a:rPr>
              <a:t>客户价值与定价</a:t>
            </a:r>
            <a:endParaRPr sz="760" b="1" dirty="0">
              <a:solidFill>
                <a:srgbClr val="144970"/>
              </a:solidFill>
              <a:latin typeface="Microsoft YaHei"/>
            </a:endParaRPr>
          </a:p>
        </p:txBody>
      </p:sp>
      <p:sp>
        <p:nvSpPr>
          <p:cNvPr id="73" name="Rectangle 64">
            <a:extLst>
              <a:ext uri="{FF2B5EF4-FFF2-40B4-BE49-F238E27FC236}">
                <a16:creationId xmlns:a16="http://schemas.microsoft.com/office/drawing/2014/main" id="{B2DC9C04-4EDD-4ACA-8B3E-651D4C8B8E3F}"/>
              </a:ext>
            </a:extLst>
          </p:cNvPr>
          <p:cNvSpPr/>
          <p:nvPr/>
        </p:nvSpPr>
        <p:spPr>
          <a:xfrm>
            <a:off x="699831" y="5475837"/>
            <a:ext cx="54864" cy="118872"/>
          </a:xfrm>
          <a:prstGeom prst="rect">
            <a:avLst/>
          </a:prstGeom>
          <a:solidFill>
            <a:srgbClr val="E2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65">
            <a:extLst>
              <a:ext uri="{FF2B5EF4-FFF2-40B4-BE49-F238E27FC236}">
                <a16:creationId xmlns:a16="http://schemas.microsoft.com/office/drawing/2014/main" id="{5E7E4289-2147-435B-A952-F1819463B8E8}"/>
              </a:ext>
            </a:extLst>
          </p:cNvPr>
          <p:cNvSpPr txBox="1"/>
          <p:nvPr/>
        </p:nvSpPr>
        <p:spPr>
          <a:xfrm>
            <a:off x="782127" y="5457549"/>
            <a:ext cx="795528" cy="116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60" b="1" dirty="0" err="1">
                <a:solidFill>
                  <a:srgbClr val="144970"/>
                </a:solidFill>
                <a:latin typeface="Microsoft YaHei"/>
              </a:rPr>
              <a:t>触达与智能经营</a:t>
            </a:r>
            <a:endParaRPr sz="760" b="1" dirty="0">
              <a:solidFill>
                <a:srgbClr val="144970"/>
              </a:solidFill>
              <a:latin typeface="Microsoft YaHei"/>
            </a:endParaRPr>
          </a:p>
        </p:txBody>
      </p:sp>
      <p:sp>
        <p:nvSpPr>
          <p:cNvPr id="75" name="TextBox 66">
            <a:extLst>
              <a:ext uri="{FF2B5EF4-FFF2-40B4-BE49-F238E27FC236}">
                <a16:creationId xmlns:a16="http://schemas.microsoft.com/office/drawing/2014/main" id="{4E32CBA2-DA28-48E4-B3AD-318F0533089E}"/>
              </a:ext>
            </a:extLst>
          </p:cNvPr>
          <p:cNvSpPr txBox="1"/>
          <p:nvPr/>
        </p:nvSpPr>
        <p:spPr>
          <a:xfrm>
            <a:off x="3255264" y="5693098"/>
            <a:ext cx="235915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222C38"/>
                </a:solidFill>
                <a:latin typeface="Microsoft YaHei"/>
              </a:defRPr>
            </a:pPr>
            <a:r>
              <a:rPr dirty="0" err="1"/>
              <a:t>盈利性评估</a:t>
            </a:r>
            <a:endParaRPr dirty="0"/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222C38"/>
                </a:solidFill>
                <a:latin typeface="Microsoft YaHei"/>
              </a:defRPr>
            </a:pPr>
            <a:r>
              <a:rPr dirty="0" err="1"/>
              <a:t>自动寻优定价</a:t>
            </a:r>
            <a:endParaRPr dirty="0"/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222C38"/>
                </a:solidFill>
                <a:latin typeface="Microsoft YaHei"/>
              </a:defRPr>
            </a:pPr>
            <a:r>
              <a:rPr dirty="0"/>
              <a:t>Fundo Score</a:t>
            </a:r>
          </a:p>
        </p:txBody>
      </p:sp>
      <p:sp>
        <p:nvSpPr>
          <p:cNvPr id="76" name="TextBox 67">
            <a:extLst>
              <a:ext uri="{FF2B5EF4-FFF2-40B4-BE49-F238E27FC236}">
                <a16:creationId xmlns:a16="http://schemas.microsoft.com/office/drawing/2014/main" id="{E053EBE7-76F4-40CF-899E-97891E5DC652}"/>
              </a:ext>
            </a:extLst>
          </p:cNvPr>
          <p:cNvSpPr txBox="1"/>
          <p:nvPr/>
        </p:nvSpPr>
        <p:spPr>
          <a:xfrm>
            <a:off x="699831" y="5677005"/>
            <a:ext cx="2359152" cy="3718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222C38"/>
                </a:solidFill>
                <a:latin typeface="Microsoft YaHei"/>
              </a:defRPr>
            </a:pPr>
            <a:r>
              <a:rPr dirty="0"/>
              <a:t> </a:t>
            </a:r>
            <a:r>
              <a:rPr dirty="0" err="1"/>
              <a:t>触达策略与人群编排</a:t>
            </a:r>
            <a:endParaRPr dirty="0"/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222C38"/>
                </a:solidFill>
                <a:latin typeface="Microsoft YaHei"/>
              </a:defRPr>
            </a:pPr>
            <a:r>
              <a:rPr dirty="0"/>
              <a:t>★ </a:t>
            </a:r>
            <a:r>
              <a:rPr dirty="0" err="1"/>
              <a:t>结清客户复贷召回</a:t>
            </a:r>
            <a:endParaRPr dirty="0"/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222C38"/>
                </a:solidFill>
                <a:latin typeface="Microsoft YaHei"/>
              </a:defRPr>
            </a:pPr>
            <a:r>
              <a:rPr lang="zh-CN" altLang="en-US" dirty="0"/>
              <a:t>★</a:t>
            </a:r>
            <a:r>
              <a:rPr dirty="0" err="1"/>
              <a:t>竞品洞察</a:t>
            </a:r>
            <a:r>
              <a:rPr dirty="0"/>
              <a:t> AI </a:t>
            </a:r>
            <a:r>
              <a:rPr dirty="0" err="1"/>
              <a:t>智能体</a:t>
            </a:r>
            <a:endParaRPr dirty="0"/>
          </a:p>
        </p:txBody>
      </p:sp>
      <p:sp>
        <p:nvSpPr>
          <p:cNvPr id="77" name="Rectangle 68">
            <a:extLst>
              <a:ext uri="{FF2B5EF4-FFF2-40B4-BE49-F238E27FC236}">
                <a16:creationId xmlns:a16="http://schemas.microsoft.com/office/drawing/2014/main" id="{E2749237-B8E9-4D1E-98EC-1D745132F593}"/>
              </a:ext>
            </a:extLst>
          </p:cNvPr>
          <p:cNvSpPr/>
          <p:nvPr/>
        </p:nvSpPr>
        <p:spPr>
          <a:xfrm>
            <a:off x="6016752" y="4636008"/>
            <a:ext cx="5321808" cy="1609344"/>
          </a:xfrm>
          <a:prstGeom prst="rect">
            <a:avLst/>
          </a:prstGeom>
          <a:solidFill>
            <a:srgbClr val="FFFFFF"/>
          </a:solidFill>
          <a:ln w="762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" name="Rectangle 69">
            <a:extLst>
              <a:ext uri="{FF2B5EF4-FFF2-40B4-BE49-F238E27FC236}">
                <a16:creationId xmlns:a16="http://schemas.microsoft.com/office/drawing/2014/main" id="{B8F06AE8-B3B0-4F05-9FE8-2ADE4CB5A382}"/>
              </a:ext>
            </a:extLst>
          </p:cNvPr>
          <p:cNvSpPr/>
          <p:nvPr/>
        </p:nvSpPr>
        <p:spPr>
          <a:xfrm>
            <a:off x="6016752" y="4636008"/>
            <a:ext cx="5321808" cy="50292"/>
          </a:xfrm>
          <a:prstGeom prst="rect">
            <a:avLst/>
          </a:prstGeom>
          <a:solidFill>
            <a:srgbClr val="0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0">
            <a:extLst>
              <a:ext uri="{FF2B5EF4-FFF2-40B4-BE49-F238E27FC236}">
                <a16:creationId xmlns:a16="http://schemas.microsoft.com/office/drawing/2014/main" id="{144AFD4A-47E9-4F8E-9878-0AADEB5B4BF6}"/>
              </a:ext>
            </a:extLst>
          </p:cNvPr>
          <p:cNvSpPr/>
          <p:nvPr/>
        </p:nvSpPr>
        <p:spPr>
          <a:xfrm>
            <a:off x="6163056" y="4791456"/>
            <a:ext cx="292608" cy="22860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1">
            <a:extLst>
              <a:ext uri="{FF2B5EF4-FFF2-40B4-BE49-F238E27FC236}">
                <a16:creationId xmlns:a16="http://schemas.microsoft.com/office/drawing/2014/main" id="{214EBC0E-DC9A-484E-8333-A48A1115DCF0}"/>
              </a:ext>
            </a:extLst>
          </p:cNvPr>
          <p:cNvSpPr txBox="1"/>
          <p:nvPr/>
        </p:nvSpPr>
        <p:spPr>
          <a:xfrm>
            <a:off x="6190488" y="4823460"/>
            <a:ext cx="237744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40" b="1">
                <a:solidFill>
                  <a:srgbClr val="144970"/>
                </a:solidFill>
                <a:latin typeface="Microsoft YaHei"/>
              </a:rPr>
              <a:t>04</a:t>
            </a:r>
          </a:p>
        </p:txBody>
      </p:sp>
      <p:sp>
        <p:nvSpPr>
          <p:cNvPr id="81" name="TextBox 72">
            <a:extLst>
              <a:ext uri="{FF2B5EF4-FFF2-40B4-BE49-F238E27FC236}">
                <a16:creationId xmlns:a16="http://schemas.microsoft.com/office/drawing/2014/main" id="{185E8DBD-30BA-4DF5-8A20-1A45FB1BD964}"/>
              </a:ext>
            </a:extLst>
          </p:cNvPr>
          <p:cNvSpPr txBox="1"/>
          <p:nvPr/>
        </p:nvSpPr>
        <p:spPr>
          <a:xfrm>
            <a:off x="6519672" y="47731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1">
                <a:solidFill>
                  <a:srgbClr val="222C38"/>
                </a:solidFill>
                <a:latin typeface="Microsoft YaHei"/>
              </a:rPr>
              <a:t>风险管理</a:t>
            </a:r>
          </a:p>
        </p:txBody>
      </p:sp>
      <p:sp>
        <p:nvSpPr>
          <p:cNvPr id="82" name="TextBox 73">
            <a:extLst>
              <a:ext uri="{FF2B5EF4-FFF2-40B4-BE49-F238E27FC236}">
                <a16:creationId xmlns:a16="http://schemas.microsoft.com/office/drawing/2014/main" id="{0C4B3467-80C6-4948-A90E-C79185642C11}"/>
              </a:ext>
            </a:extLst>
          </p:cNvPr>
          <p:cNvSpPr txBox="1"/>
          <p:nvPr/>
        </p:nvSpPr>
        <p:spPr>
          <a:xfrm>
            <a:off x="6519672" y="5020056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0" dirty="0" err="1">
                <a:solidFill>
                  <a:srgbClr val="606976"/>
                </a:solidFill>
                <a:latin typeface="Microsoft YaHei"/>
              </a:rPr>
              <a:t>目标：在风险可控前提下，平衡通过率、额度与承接</a:t>
            </a:r>
            <a:endParaRPr sz="770" b="0" dirty="0">
              <a:solidFill>
                <a:srgbClr val="606976"/>
              </a:solidFill>
              <a:latin typeface="Microsoft YaHei"/>
            </a:endParaRPr>
          </a:p>
        </p:txBody>
      </p:sp>
      <p:sp>
        <p:nvSpPr>
          <p:cNvPr id="83" name="Rectangle 74">
            <a:extLst>
              <a:ext uri="{FF2B5EF4-FFF2-40B4-BE49-F238E27FC236}">
                <a16:creationId xmlns:a16="http://schemas.microsoft.com/office/drawing/2014/main" id="{5922F1E9-9B72-47EE-A585-8A4DFE5FA1FD}"/>
              </a:ext>
            </a:extLst>
          </p:cNvPr>
          <p:cNvSpPr/>
          <p:nvPr/>
        </p:nvSpPr>
        <p:spPr>
          <a:xfrm>
            <a:off x="6163056" y="5257800"/>
            <a:ext cx="5029200" cy="9144"/>
          </a:xfrm>
          <a:prstGeom prst="rect">
            <a:avLst/>
          </a:prstGeom>
          <a:solidFill>
            <a:srgbClr val="D6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75">
            <a:extLst>
              <a:ext uri="{FF2B5EF4-FFF2-40B4-BE49-F238E27FC236}">
                <a16:creationId xmlns:a16="http://schemas.microsoft.com/office/drawing/2014/main" id="{C0E99B71-2A6B-42DF-B94B-88A94F1634AF}"/>
              </a:ext>
            </a:extLst>
          </p:cNvPr>
          <p:cNvSpPr/>
          <p:nvPr/>
        </p:nvSpPr>
        <p:spPr>
          <a:xfrm>
            <a:off x="6163056" y="5376672"/>
            <a:ext cx="54864" cy="118872"/>
          </a:xfrm>
          <a:prstGeom prst="rect">
            <a:avLst/>
          </a:prstGeom>
          <a:solidFill>
            <a:srgbClr val="E2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76">
            <a:extLst>
              <a:ext uri="{FF2B5EF4-FFF2-40B4-BE49-F238E27FC236}">
                <a16:creationId xmlns:a16="http://schemas.microsoft.com/office/drawing/2014/main" id="{965B33CF-A6C0-4DA4-83A5-87E3B51E79C1}"/>
              </a:ext>
            </a:extLst>
          </p:cNvPr>
          <p:cNvSpPr txBox="1"/>
          <p:nvPr/>
        </p:nvSpPr>
        <p:spPr>
          <a:xfrm>
            <a:off x="6257964" y="5377302"/>
            <a:ext cx="548640" cy="1169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760" b="1" dirty="0">
                <a:solidFill>
                  <a:srgbClr val="144970"/>
                </a:solidFill>
                <a:latin typeface="Microsoft YaHei"/>
              </a:rPr>
              <a:t>模型迭代</a:t>
            </a:r>
            <a:endParaRPr sz="760" b="1" dirty="0">
              <a:solidFill>
                <a:srgbClr val="144970"/>
              </a:solidFill>
              <a:latin typeface="Microsoft YaHei"/>
            </a:endParaRPr>
          </a:p>
        </p:txBody>
      </p:sp>
      <p:sp>
        <p:nvSpPr>
          <p:cNvPr id="86" name="Rectangle 77">
            <a:extLst>
              <a:ext uri="{FF2B5EF4-FFF2-40B4-BE49-F238E27FC236}">
                <a16:creationId xmlns:a16="http://schemas.microsoft.com/office/drawing/2014/main" id="{A5BDB989-A8A4-439F-98E7-9A07394974C5}"/>
              </a:ext>
            </a:extLst>
          </p:cNvPr>
          <p:cNvSpPr/>
          <p:nvPr/>
        </p:nvSpPr>
        <p:spPr>
          <a:xfrm>
            <a:off x="8741664" y="5376672"/>
            <a:ext cx="54864" cy="118872"/>
          </a:xfrm>
          <a:prstGeom prst="rect">
            <a:avLst/>
          </a:prstGeom>
          <a:solidFill>
            <a:srgbClr val="E2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78">
            <a:extLst>
              <a:ext uri="{FF2B5EF4-FFF2-40B4-BE49-F238E27FC236}">
                <a16:creationId xmlns:a16="http://schemas.microsoft.com/office/drawing/2014/main" id="{2C89A044-A3A1-417D-BEF4-D2ABF4F4F524}"/>
              </a:ext>
            </a:extLst>
          </p:cNvPr>
          <p:cNvSpPr txBox="1"/>
          <p:nvPr/>
        </p:nvSpPr>
        <p:spPr>
          <a:xfrm>
            <a:off x="8823960" y="535838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60" b="1">
                <a:solidFill>
                  <a:srgbClr val="144970"/>
                </a:solidFill>
                <a:latin typeface="Microsoft YaHei"/>
              </a:rPr>
              <a:t>输出形态</a:t>
            </a:r>
          </a:p>
        </p:txBody>
      </p:sp>
      <p:sp>
        <p:nvSpPr>
          <p:cNvPr id="88" name="TextBox 79">
            <a:extLst>
              <a:ext uri="{FF2B5EF4-FFF2-40B4-BE49-F238E27FC236}">
                <a16:creationId xmlns:a16="http://schemas.microsoft.com/office/drawing/2014/main" id="{8BE92C97-D1FA-4C98-AA7F-B0C8CFDE232A}"/>
              </a:ext>
            </a:extLst>
          </p:cNvPr>
          <p:cNvSpPr txBox="1"/>
          <p:nvPr/>
        </p:nvSpPr>
        <p:spPr>
          <a:xfrm>
            <a:off x="6163056" y="5577840"/>
            <a:ext cx="2359152" cy="115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222C38"/>
                </a:solidFill>
                <a:latin typeface="Microsoft YaHei"/>
              </a:defRPr>
            </a:pPr>
            <a:r>
              <a:rPr dirty="0"/>
              <a:t>★ </a:t>
            </a:r>
            <a:r>
              <a:rPr dirty="0" err="1"/>
              <a:t>新老客</a:t>
            </a:r>
            <a:r>
              <a:rPr dirty="0"/>
              <a:t> PD </a:t>
            </a:r>
            <a:r>
              <a:rPr dirty="0" err="1"/>
              <a:t>模型迭代：增强头尾区分</a:t>
            </a:r>
            <a:endParaRPr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D4C264D2-47E5-43BE-9318-54C1B3783D95}"/>
              </a:ext>
            </a:extLst>
          </p:cNvPr>
          <p:cNvSpPr txBox="1"/>
          <p:nvPr/>
        </p:nvSpPr>
        <p:spPr>
          <a:xfrm>
            <a:off x="8677656" y="5534348"/>
            <a:ext cx="25146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750">
                <a:solidFill>
                  <a:srgbClr val="222C38"/>
                </a:solidFill>
                <a:latin typeface="Microsoft YaHei"/>
              </a:defRPr>
            </a:pPr>
            <a:r>
              <a:rPr lang="zh-CN" altLang="en-US" sz="750" dirty="0">
                <a:solidFill>
                  <a:srgbClr val="222C38"/>
                </a:solidFill>
                <a:latin typeface="Microsoft YaHei"/>
              </a:rPr>
              <a:t>★ 风险 </a:t>
            </a:r>
            <a:r>
              <a:rPr lang="en-US" altLang="zh-CN" sz="750" dirty="0">
                <a:solidFill>
                  <a:srgbClr val="222C38"/>
                </a:solidFill>
                <a:latin typeface="Microsoft YaHei"/>
              </a:rPr>
              <a:t>× </a:t>
            </a:r>
            <a:r>
              <a:rPr lang="zh-CN" altLang="en-US" sz="750" dirty="0">
                <a:solidFill>
                  <a:srgbClr val="222C38"/>
                </a:solidFill>
                <a:latin typeface="Microsoft YaHei"/>
              </a:rPr>
              <a:t>价值联合额度策略：交叉分箱自动寻优算法</a:t>
            </a:r>
          </a:p>
        </p:txBody>
      </p:sp>
    </p:spTree>
    <p:extLst>
      <p:ext uri="{BB962C8B-B14F-4D97-AF65-F5344CB8AC3E}">
        <p14:creationId xmlns:p14="http://schemas.microsoft.com/office/powerpoint/2010/main" val="932786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188</Words>
  <Application>Microsoft Office PowerPoint</Application>
  <PresentationFormat>宽屏</PresentationFormat>
  <Paragraphs>50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微软雅黑</vt:lpstr>
      <vt:lpstr>微软雅黑</vt:lpstr>
      <vt:lpstr>等线</vt:lpstr>
      <vt:lpstr>等线 Light</vt:lpstr>
      <vt:lpstr>Arial</vt:lpstr>
      <vt:lpstr>Office 主题​​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昱良</dc:creator>
  <cp:lastModifiedBy>昱良</cp:lastModifiedBy>
  <cp:revision>6</cp:revision>
  <dcterms:created xsi:type="dcterms:W3CDTF">2026-08-31T05:45:54Z</dcterms:created>
  <dcterms:modified xsi:type="dcterms:W3CDTF">2026-08-31T06:04:58Z</dcterms:modified>
</cp:coreProperties>
</file>