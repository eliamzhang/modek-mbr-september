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7"/>
  </p:notesMasterIdLst>
  <p:handoutMasterIdLst>
    <p:handoutMasterId r:id="rId8"/>
  </p:handoutMasterIdLst>
  <p:sldIdLst>
    <p:sldId id="294" r:id="rId3"/>
    <p:sldId id="295" r:id="rId4"/>
    <p:sldId id="296" r:id="rId5"/>
    <p:sldId id="29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091D931-C6EF-4AAA-8AF6-ED6BA379CE5A}">
          <p14:sldIdLst>
            <p14:sldId id="294"/>
            <p14:sldId id="295"/>
            <p14:sldId id="296"/>
          </p14:sldIdLst>
        </p14:section>
        <p14:section name="draft" id="{4A55A2FB-9C68-4E40-8234-62AC1197D950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419" autoAdjust="0"/>
  </p:normalViewPr>
  <p:slideViewPr>
    <p:cSldViewPr snapToGrid="0" showGuides="1">
      <p:cViewPr varScale="1">
        <p:scale>
          <a:sx n="161" d="100"/>
          <a:sy n="161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2" d="100"/>
          <a:sy n="122" d="100"/>
        </p:scale>
        <p:origin x="49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38C634A-05D6-48C6-AF4A-8DAD34AD1B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218664-019E-469E-9271-B1829CA3EA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E6B91-E7E4-4B75-90D9-2FB3CA9CE89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6920E2-FA83-42AB-8A5F-6FDAA1596C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19BFE5-CA82-4598-A86A-A53537E257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E6AA9-5D91-42CC-9FA9-4CD3BB1FF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09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1ABA1-3A8B-4F78-8FC2-CC35DC6ACD0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9672A-4FCD-4626-A8DC-612F10E6B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52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为什么要做价值模型：识别出风险以外的信息，找到最有价值的地方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可以用在两个方向：提额、投放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F9672A-4FCD-4626-A8DC-612F10E6BE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44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57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75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1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9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6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87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0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46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8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67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0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41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0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06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08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3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2026/9/1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783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9" r:id="rId4"/>
    <p:sldLayoutId id="2147483677" r:id="rId5"/>
    <p:sldLayoutId id="214748367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77724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澳大利亚现状、规划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686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规模增长 + NON SACC 占比 风险维稳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698480" cy="9144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02436"/>
            <a:ext cx="45720" cy="17373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3200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模型现状（主模型 9 个）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23544" y="1965189"/>
            <a:ext cx="10195560" cy="0"/>
          </a:xfrm>
          <a:prstGeom prst="line">
            <a:avLst/>
          </a:prstGeom>
          <a:ln w="1524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" y="2061972"/>
            <a:ext cx="1865376" cy="13898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1211580" y="2971800"/>
            <a:ext cx="100584" cy="100584"/>
          </a:xfrm>
          <a:prstGeom prst="ellipse">
            <a:avLst/>
          </a:prstGeom>
          <a:solidFill>
            <a:srgbClr val="2F6DA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696212"/>
            <a:ext cx="160934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2025 年 9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00884"/>
            <a:ext cx="16459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老客风险主模型 1.0</a:t>
            </a:r>
          </a:p>
          <a:p>
            <a:pPr algn="ctr">
              <a:lnSpc>
                <a:spcPct val="105000"/>
              </a:lnSpc>
            </a:pPr>
            <a:r>
              <a:rPr sz="88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银行流水子模型 1.0</a:t>
            </a:r>
          </a:p>
          <a:p>
            <a:pPr algn="ctr">
              <a:lnSpc>
                <a:spcPct val="105000"/>
              </a:lnSpc>
            </a:pPr>
            <a:r>
              <a:rPr sz="88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行为子模型 1.0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6624" y="2061972"/>
            <a:ext cx="1865376" cy="13898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89020" y="2971800"/>
            <a:ext cx="100584" cy="100584"/>
          </a:xfrm>
          <a:prstGeom prst="ellipse">
            <a:avLst/>
          </a:prstGeom>
          <a:solidFill>
            <a:srgbClr val="0B7A7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1640577"/>
            <a:ext cx="160934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2025 年 11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1" y="2601461"/>
            <a:ext cx="1645920" cy="1704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新客风险模型</a:t>
            </a:r>
            <a:r>
              <a:rPr sz="880" b="0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 1.0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8344" y="2061972"/>
            <a:ext cx="1865376" cy="13898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20740" y="2971800"/>
            <a:ext cx="100584" cy="100584"/>
          </a:xfrm>
          <a:prstGeom prst="ellipse">
            <a:avLst/>
          </a:prstGeom>
          <a:solidFill>
            <a:srgbClr val="C98A1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84648" y="1649722"/>
            <a:ext cx="160934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2025 年 1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598055"/>
            <a:ext cx="16459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老客复购意愿模型</a:t>
            </a:r>
            <a:r>
              <a:rPr sz="880" b="0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 1.0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0064" y="2061972"/>
            <a:ext cx="1865376" cy="13898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52460" y="2971800"/>
            <a:ext cx="100584" cy="100584"/>
          </a:xfrm>
          <a:prstGeom prst="ellipse">
            <a:avLst/>
          </a:prstGeom>
          <a:solidFill>
            <a:srgbClr val="C6344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93111" y="1632204"/>
            <a:ext cx="982705" cy="2369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2026 年 </a:t>
            </a:r>
            <a:r>
              <a:rPr lang="en-US" sz="1300" b="1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1300" b="1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500884"/>
            <a:ext cx="16459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老客风险主模型</a:t>
            </a:r>
            <a:r>
              <a:rPr sz="880" b="0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 2.0</a:t>
            </a:r>
          </a:p>
          <a:p>
            <a:pPr algn="ctr">
              <a:lnSpc>
                <a:spcPct val="105000"/>
              </a:lnSpc>
            </a:pPr>
            <a:r>
              <a:rPr sz="88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银行流水子模型</a:t>
            </a:r>
            <a:r>
              <a:rPr sz="880" b="0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 2.0</a:t>
            </a:r>
          </a:p>
          <a:p>
            <a:pPr algn="ctr">
              <a:lnSpc>
                <a:spcPct val="105000"/>
              </a:lnSpc>
            </a:pPr>
            <a:r>
              <a:rPr sz="88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行为子模型</a:t>
            </a:r>
            <a:r>
              <a:rPr sz="880" b="0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 2.0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56064" y="2061972"/>
            <a:ext cx="1865376" cy="13898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538460" y="2971800"/>
            <a:ext cx="100584" cy="100584"/>
          </a:xfrm>
          <a:prstGeom prst="ellipse">
            <a:avLst/>
          </a:prstGeom>
          <a:solidFill>
            <a:srgbClr val="2E7D32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3788" y="1659724"/>
            <a:ext cx="160934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2026 年 6 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2500884"/>
            <a:ext cx="16459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价值模型 1.0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717036"/>
            <a:ext cx="45720" cy="17373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3685032"/>
            <a:ext cx="3200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模型规划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059936"/>
            <a:ext cx="3401568" cy="1737360"/>
          </a:xfrm>
          <a:prstGeom prst="roundRect">
            <a:avLst/>
          </a:prstGeom>
          <a:solidFill>
            <a:srgbClr val="FAFBFD"/>
          </a:solidFill>
          <a:ln w="889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22959" y="4270248"/>
            <a:ext cx="475488" cy="475488"/>
          </a:xfrm>
          <a:prstGeom prst="roundRect">
            <a:avLst/>
          </a:prstGeom>
          <a:solidFill>
            <a:srgbClr val="EEF4FB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4343400"/>
            <a:ext cx="25603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F6DAE"/>
                </a:solidFill>
                <a:latin typeface="Microsoft YaHei"/>
                <a:ea typeface="Microsoft YaHei"/>
                <a:cs typeface="Microsoft YaHei"/>
              </a:rPr>
              <a:t>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6464" y="4242816"/>
            <a:ext cx="2103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数据基建</a:t>
            </a:r>
          </a:p>
        </p:txBody>
      </p:sp>
      <p:sp>
        <p:nvSpPr>
          <p:cNvPr id="39" name="Oval 38"/>
          <p:cNvSpPr/>
          <p:nvPr/>
        </p:nvSpPr>
        <p:spPr>
          <a:xfrm>
            <a:off x="914400" y="4695444"/>
            <a:ext cx="50292" cy="50292"/>
          </a:xfrm>
          <a:prstGeom prst="ellipse">
            <a:avLst/>
          </a:prstGeom>
          <a:solidFill>
            <a:srgbClr val="2F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4128" y="4636008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分类模型开发</a:t>
            </a:r>
          </a:p>
        </p:txBody>
      </p:sp>
      <p:sp>
        <p:nvSpPr>
          <p:cNvPr id="41" name="Oval 40"/>
          <p:cNvSpPr/>
          <p:nvPr/>
        </p:nvSpPr>
        <p:spPr>
          <a:xfrm>
            <a:off x="914400" y="4933188"/>
            <a:ext cx="50292" cy="50292"/>
          </a:xfrm>
          <a:prstGeom prst="ellipse">
            <a:avLst/>
          </a:prstGeom>
          <a:solidFill>
            <a:srgbClr val="2F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4128" y="4873752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知识库 AI 智能体</a:t>
            </a:r>
          </a:p>
        </p:txBody>
      </p:sp>
      <p:sp>
        <p:nvSpPr>
          <p:cNvPr id="43" name="Oval 42"/>
          <p:cNvSpPr/>
          <p:nvPr/>
        </p:nvSpPr>
        <p:spPr>
          <a:xfrm>
            <a:off x="914400" y="5170932"/>
            <a:ext cx="50292" cy="50292"/>
          </a:xfrm>
          <a:prstGeom prst="ellipse">
            <a:avLst/>
          </a:prstGeom>
          <a:solidFill>
            <a:srgbClr val="2F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4128" y="5111496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竞品追踪 AI 智能体</a:t>
            </a:r>
          </a:p>
        </p:txBody>
      </p:sp>
      <p:sp>
        <p:nvSpPr>
          <p:cNvPr id="45" name="Oval 44"/>
          <p:cNvSpPr/>
          <p:nvPr/>
        </p:nvSpPr>
        <p:spPr>
          <a:xfrm>
            <a:off x="914400" y="5408676"/>
            <a:ext cx="50292" cy="50292"/>
          </a:xfrm>
          <a:prstGeom prst="ellipse">
            <a:avLst/>
          </a:prstGeom>
          <a:solidFill>
            <a:srgbClr val="2F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4128" y="5349240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贷中银行流水的查询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4059936"/>
            <a:ext cx="3401568" cy="1737360"/>
          </a:xfrm>
          <a:prstGeom prst="roundRect">
            <a:avLst/>
          </a:prstGeom>
          <a:solidFill>
            <a:srgbClr val="FAFBFD"/>
          </a:solidFill>
          <a:ln w="889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553712" y="4270248"/>
            <a:ext cx="475488" cy="475488"/>
          </a:xfrm>
          <a:prstGeom prst="roundRect">
            <a:avLst/>
          </a:prstGeom>
          <a:solidFill>
            <a:srgbClr val="FFF6E6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63440" y="4343400"/>
            <a:ext cx="25603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98A10"/>
                </a:solidFill>
                <a:latin typeface="Microsoft YaHei"/>
                <a:ea typeface="Microsoft YaHei"/>
                <a:cs typeface="Microsoft YaHei"/>
              </a:rPr>
              <a:t>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57216" y="4242816"/>
            <a:ext cx="2103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投放市场</a:t>
            </a:r>
          </a:p>
        </p:txBody>
      </p:sp>
      <p:sp>
        <p:nvSpPr>
          <p:cNvPr id="51" name="Oval 50"/>
          <p:cNvSpPr/>
          <p:nvPr/>
        </p:nvSpPr>
        <p:spPr>
          <a:xfrm>
            <a:off x="4645152" y="4695444"/>
            <a:ext cx="50292" cy="50292"/>
          </a:xfrm>
          <a:prstGeom prst="ellipse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0" y="4636008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高价值用户回传包</a:t>
            </a:r>
          </a:p>
        </p:txBody>
      </p:sp>
      <p:sp>
        <p:nvSpPr>
          <p:cNvPr id="53" name="Oval 52"/>
          <p:cNvSpPr/>
          <p:nvPr/>
        </p:nvSpPr>
        <p:spPr>
          <a:xfrm>
            <a:off x="4645152" y="4933188"/>
            <a:ext cx="50292" cy="50292"/>
          </a:xfrm>
          <a:prstGeom prst="ellipse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0" y="4873752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投放归因追踪监控</a:t>
            </a:r>
          </a:p>
        </p:txBody>
      </p:sp>
      <p:sp>
        <p:nvSpPr>
          <p:cNvPr id="55" name="Oval 54"/>
          <p:cNvSpPr/>
          <p:nvPr/>
        </p:nvSpPr>
        <p:spPr>
          <a:xfrm>
            <a:off x="4645152" y="5170932"/>
            <a:ext cx="50292" cy="50292"/>
          </a:xfrm>
          <a:prstGeom prst="ellipse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54880" y="5111496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预算分配决策工具</a:t>
            </a:r>
            <a:endParaRPr sz="950" b="0" dirty="0">
              <a:solidFill>
                <a:srgbClr val="13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119872" y="4059936"/>
            <a:ext cx="3401568" cy="1737360"/>
          </a:xfrm>
          <a:prstGeom prst="roundRect">
            <a:avLst/>
          </a:prstGeom>
          <a:solidFill>
            <a:srgbClr val="FAFBFD"/>
          </a:solidFill>
          <a:ln w="889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8284464" y="4270248"/>
            <a:ext cx="475488" cy="475488"/>
          </a:xfrm>
          <a:prstGeom prst="roundRect">
            <a:avLst/>
          </a:prstGeom>
          <a:solidFill>
            <a:srgbClr val="FFF0F2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94192" y="4343400"/>
            <a:ext cx="25603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63446"/>
                </a:solidFill>
                <a:latin typeface="Microsoft YaHei"/>
                <a:ea typeface="Microsoft YaHei"/>
                <a:cs typeface="Microsoft YaHei"/>
              </a:rPr>
              <a:t>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87968" y="4242816"/>
            <a:ext cx="2103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风险管理</a:t>
            </a:r>
          </a:p>
        </p:txBody>
      </p:sp>
      <p:sp>
        <p:nvSpPr>
          <p:cNvPr id="61" name="Oval 60"/>
          <p:cNvSpPr/>
          <p:nvPr/>
        </p:nvSpPr>
        <p:spPr>
          <a:xfrm>
            <a:off x="8375904" y="4695444"/>
            <a:ext cx="50292" cy="50292"/>
          </a:xfrm>
          <a:prstGeom prst="ellipse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85632" y="4636008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PD 模型迭代</a:t>
            </a:r>
          </a:p>
        </p:txBody>
      </p:sp>
      <p:sp>
        <p:nvSpPr>
          <p:cNvPr id="63" name="Oval 62"/>
          <p:cNvSpPr/>
          <p:nvPr/>
        </p:nvSpPr>
        <p:spPr>
          <a:xfrm>
            <a:off x="8375904" y="4933188"/>
            <a:ext cx="50292" cy="50292"/>
          </a:xfrm>
          <a:prstGeom prst="ellipse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85632" y="4873752"/>
            <a:ext cx="280720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风险 × 价值联合额度策略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14DE665-9876-4C5A-A6D5-715F5D44275A}"/>
              </a:ext>
            </a:extLst>
          </p:cNvPr>
          <p:cNvSpPr txBox="1"/>
          <p:nvPr/>
        </p:nvSpPr>
        <p:spPr>
          <a:xfrm>
            <a:off x="823290" y="20784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已上线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2D739E1-1405-4F3F-8301-D09714BC0F2C}"/>
              </a:ext>
            </a:extLst>
          </p:cNvPr>
          <p:cNvSpPr txBox="1"/>
          <p:nvPr/>
        </p:nvSpPr>
        <p:spPr>
          <a:xfrm>
            <a:off x="3200730" y="20474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已上线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C1005CD-4E80-41C7-9E52-708D65244A00}"/>
              </a:ext>
            </a:extLst>
          </p:cNvPr>
          <p:cNvSpPr txBox="1"/>
          <p:nvPr/>
        </p:nvSpPr>
        <p:spPr>
          <a:xfrm>
            <a:off x="5532450" y="206885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未上线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4D99146-A3CA-434C-85BE-A9AF363F6273}"/>
              </a:ext>
            </a:extLst>
          </p:cNvPr>
          <p:cNvSpPr txBox="1"/>
          <p:nvPr/>
        </p:nvSpPr>
        <p:spPr>
          <a:xfrm>
            <a:off x="7698462" y="20660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即将上线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6D0372C-8560-4852-AFBC-33BF45BB912F}"/>
              </a:ext>
            </a:extLst>
          </p:cNvPr>
          <p:cNvSpPr txBox="1"/>
          <p:nvPr/>
        </p:nvSpPr>
        <p:spPr>
          <a:xfrm>
            <a:off x="10034754" y="20784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即将上线</a:t>
            </a:r>
          </a:p>
        </p:txBody>
      </p:sp>
    </p:spTree>
    <p:extLst>
      <p:ext uri="{BB962C8B-B14F-4D97-AF65-F5344CB8AC3E}">
        <p14:creationId xmlns:p14="http://schemas.microsoft.com/office/powerpoint/2010/main" val="193876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52331"/>
            <a:ext cx="1423467" cy="284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50" b="1">
                <a:solidFill>
                  <a:srgbClr val="1F3A5B"/>
                </a:solidFill>
                <a:latin typeface="Microsoft YaHei"/>
              </a:defRPr>
            </a:pPr>
            <a:r>
              <a:rPr kumimoji="0" sz="18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四类客群矩阵</a:t>
            </a:r>
            <a:endParaRPr kumimoji="0" sz="18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3602736"/>
            <a:ext cx="11155680" cy="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804672"/>
            <a:ext cx="0" cy="562356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9349" y="3493008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95925" y="3493008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1848" y="830902"/>
            <a:ext cx="365485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1F3A5B"/>
                </a:solidFill>
                <a:latin typeface="Microsoft YaHei"/>
              </a:defRPr>
            </a:pPr>
            <a:r>
              <a:rPr kumimoji="0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价值高</a:t>
            </a:r>
            <a:endParaRPr kumimoji="0" sz="9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02826" y="6528816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 × 风险好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124712"/>
            <a:ext cx="1333698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268343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稳健经营型优质客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683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经营策略：重点经营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｜3000-5000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优质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MACC / LACC / LOC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候选池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73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 × 风险差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1124712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B5790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高薪高波动型周转客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经营策略：短周期小额承接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</a:t>
            </a:r>
            <a:r>
              <a:rPr kumimoji="0" lang="en-US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EWA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lang="zh-CN" alt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超短期产品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3493" y="3750533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493" y="3979133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B538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低收入克制型刚需客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B53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63493" y="4509485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经营策略：低额度验证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</a:t>
            </a:r>
            <a:r>
              <a:rPr kumimoji="0" lang="en-US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SACC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lang="zh-CN" alt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低额 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Personal Loan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409765" y="3783521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9765" y="4012121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C83D3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现金流脆弱型谨慎客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765" y="4542473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经营策略：原则上不重点承接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｜限额 / 提价 / 人工审核 / 谨慎准入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1ECF688C-6E3F-4C0E-ABD4-2EE749A8E409}"/>
              </a:ext>
            </a:extLst>
          </p:cNvPr>
          <p:cNvSpPr/>
          <p:nvPr/>
        </p:nvSpPr>
        <p:spPr>
          <a:xfrm>
            <a:off x="658368" y="1396118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高收入稳现金流</a:t>
            </a:r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1CBC9896-18ED-4F66-A930-AC5965EA2488}"/>
              </a:ext>
            </a:extLst>
          </p:cNvPr>
          <p:cNvSpPr/>
          <p:nvPr/>
        </p:nvSpPr>
        <p:spPr>
          <a:xfrm>
            <a:off x="15453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用信成熟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0EE4068E-A424-44FA-A1AE-B95E543A2B7B}"/>
              </a:ext>
            </a:extLst>
          </p:cNvPr>
          <p:cNvSpPr/>
          <p:nvPr/>
        </p:nvSpPr>
        <p:spPr>
          <a:xfrm>
            <a:off x="22311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履约稳健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866029C3-0908-4601-B0B5-470A21370530}"/>
              </a:ext>
            </a:extLst>
          </p:cNvPr>
          <p:cNvSpPr/>
          <p:nvPr/>
        </p:nvSpPr>
        <p:spPr>
          <a:xfrm>
            <a:off x="29169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5" name="Rounded Rectangle 40">
            <a:extLst>
              <a:ext uri="{FF2B5EF4-FFF2-40B4-BE49-F238E27FC236}">
                <a16:creationId xmlns:a16="http://schemas.microsoft.com/office/drawing/2014/main" id="{DF5A399C-DE9E-439B-8A34-67D4CEF4DB29}"/>
              </a:ext>
            </a:extLst>
          </p:cNvPr>
          <p:cNvSpPr/>
          <p:nvPr/>
        </p:nvSpPr>
        <p:spPr>
          <a:xfrm>
            <a:off x="6373368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纸面富裕</a:t>
            </a:r>
          </a:p>
        </p:txBody>
      </p:sp>
      <p:sp>
        <p:nvSpPr>
          <p:cNvPr id="126" name="Rounded Rectangle 41">
            <a:extLst>
              <a:ext uri="{FF2B5EF4-FFF2-40B4-BE49-F238E27FC236}">
                <a16:creationId xmlns:a16="http://schemas.microsoft.com/office/drawing/2014/main" id="{D17DA79E-22C1-4DB6-92D5-E4C642F7B63C}"/>
              </a:ext>
            </a:extLst>
          </p:cNvPr>
          <p:cNvSpPr/>
          <p:nvPr/>
        </p:nvSpPr>
        <p:spPr>
          <a:xfrm>
            <a:off x="6958584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现金过山车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7" name="Rounded Rectangle 42">
            <a:extLst>
              <a:ext uri="{FF2B5EF4-FFF2-40B4-BE49-F238E27FC236}">
                <a16:creationId xmlns:a16="http://schemas.microsoft.com/office/drawing/2014/main" id="{DC5BA0FF-6073-431A-8F9D-AB909101B25A}"/>
              </a:ext>
            </a:extLst>
          </p:cNvPr>
          <p:cNvSpPr/>
          <p:nvPr/>
        </p:nvSpPr>
        <p:spPr>
          <a:xfrm>
            <a:off x="7543800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高支出高波动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8" name="Rounded Rectangle 43">
            <a:extLst>
              <a:ext uri="{FF2B5EF4-FFF2-40B4-BE49-F238E27FC236}">
                <a16:creationId xmlns:a16="http://schemas.microsoft.com/office/drawing/2014/main" id="{A4D1AD08-9A3F-4FE7-AFEC-6C25CDC8B0B8}"/>
              </a:ext>
            </a:extLst>
          </p:cNvPr>
          <p:cNvSpPr/>
          <p:nvPr/>
        </p:nvSpPr>
        <p:spPr>
          <a:xfrm>
            <a:off x="8330184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周转需求强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9" name="Rounded Rectangle 44">
            <a:extLst>
              <a:ext uri="{FF2B5EF4-FFF2-40B4-BE49-F238E27FC236}">
                <a16:creationId xmlns:a16="http://schemas.microsoft.com/office/drawing/2014/main" id="{4C841FC0-EB41-4881-80AF-BA5DAF26D3A4}"/>
              </a:ext>
            </a:extLst>
          </p:cNvPr>
          <p:cNvSpPr/>
          <p:nvPr/>
        </p:nvSpPr>
        <p:spPr>
          <a:xfrm>
            <a:off x="9116568" y="138119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</a:p>
        </p:txBody>
      </p:sp>
      <p:sp>
        <p:nvSpPr>
          <p:cNvPr id="130" name="Rounded Rectangle 62">
            <a:extLst>
              <a:ext uri="{FF2B5EF4-FFF2-40B4-BE49-F238E27FC236}">
                <a16:creationId xmlns:a16="http://schemas.microsoft.com/office/drawing/2014/main" id="{4A853437-FAF5-4581-B771-2FB269A62555}"/>
              </a:ext>
            </a:extLst>
          </p:cNvPr>
          <p:cNvSpPr/>
          <p:nvPr/>
        </p:nvSpPr>
        <p:spPr>
          <a:xfrm>
            <a:off x="6634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紧预算人群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1" name="Rounded Rectangle 63">
            <a:extLst>
              <a:ext uri="{FF2B5EF4-FFF2-40B4-BE49-F238E27FC236}">
                <a16:creationId xmlns:a16="http://schemas.microsoft.com/office/drawing/2014/main" id="{94C06805-ECBB-44FD-A329-6A2418DB2A87}"/>
              </a:ext>
            </a:extLst>
          </p:cNvPr>
          <p:cNvSpPr/>
          <p:nvPr/>
        </p:nvSpPr>
        <p:spPr>
          <a:xfrm>
            <a:off x="1248709" y="425345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福利依赖型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2" name="Rounded Rectangle 64">
            <a:extLst>
              <a:ext uri="{FF2B5EF4-FFF2-40B4-BE49-F238E27FC236}">
                <a16:creationId xmlns:a16="http://schemas.microsoft.com/office/drawing/2014/main" id="{1AC0652A-826D-4584-B80B-12FED471DE71}"/>
              </a:ext>
            </a:extLst>
          </p:cNvPr>
          <p:cNvSpPr/>
          <p:nvPr/>
        </p:nvSpPr>
        <p:spPr>
          <a:xfrm>
            <a:off x="20350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克制过日子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3" name="Rounded Rectangle 65">
            <a:extLst>
              <a:ext uri="{FF2B5EF4-FFF2-40B4-BE49-F238E27FC236}">
                <a16:creationId xmlns:a16="http://schemas.microsoft.com/office/drawing/2014/main" id="{0EFEF779-1BA0-4BDD-9D10-3FF083279EDE}"/>
              </a:ext>
            </a:extLst>
          </p:cNvPr>
          <p:cNvSpPr/>
          <p:nvPr/>
        </p:nvSpPr>
        <p:spPr>
          <a:xfrm>
            <a:off x="2620309" y="425345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小额刚需党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5" name="Rounded Rectangle 84">
            <a:extLst>
              <a:ext uri="{FF2B5EF4-FFF2-40B4-BE49-F238E27FC236}">
                <a16:creationId xmlns:a16="http://schemas.microsoft.com/office/drawing/2014/main" id="{8E8C2170-1413-41B3-8914-31EC5C290A85}"/>
              </a:ext>
            </a:extLst>
          </p:cNvPr>
          <p:cNvSpPr/>
          <p:nvPr/>
        </p:nvSpPr>
        <p:spPr>
          <a:xfrm>
            <a:off x="6409765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现金告急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6" name="Rounded Rectangle 85">
            <a:extLst>
              <a:ext uri="{FF2B5EF4-FFF2-40B4-BE49-F238E27FC236}">
                <a16:creationId xmlns:a16="http://schemas.microsoft.com/office/drawing/2014/main" id="{600E8349-AFD6-46C7-B409-59612E132C5D}"/>
              </a:ext>
            </a:extLst>
          </p:cNvPr>
          <p:cNvSpPr/>
          <p:nvPr/>
        </p:nvSpPr>
        <p:spPr>
          <a:xfrm>
            <a:off x="7196149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收支失衡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7" name="Rounded Rectangle 86">
            <a:extLst>
              <a:ext uri="{FF2B5EF4-FFF2-40B4-BE49-F238E27FC236}">
                <a16:creationId xmlns:a16="http://schemas.microsoft.com/office/drawing/2014/main" id="{44A9AC8C-29FE-4895-81FF-69BAA02B4A60}"/>
              </a:ext>
            </a:extLst>
          </p:cNvPr>
          <p:cNvSpPr/>
          <p:nvPr/>
        </p:nvSpPr>
        <p:spPr>
          <a:xfrm>
            <a:off x="7982533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还款乏力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8" name="Rounded Rectangle 88">
            <a:extLst>
              <a:ext uri="{FF2B5EF4-FFF2-40B4-BE49-F238E27FC236}">
                <a16:creationId xmlns:a16="http://schemas.microsoft.com/office/drawing/2014/main" id="{FB12DEF9-0204-47DE-B33B-B08A965A503D}"/>
              </a:ext>
            </a:extLst>
          </p:cNvPr>
          <p:cNvSpPr/>
          <p:nvPr/>
        </p:nvSpPr>
        <p:spPr>
          <a:xfrm>
            <a:off x="8657665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高危边缘客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67665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4066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066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4.15%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066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四类中等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86537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92938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2938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42.76%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2938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05409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118103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118103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12.81%/29.95%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18103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自动/人工均高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4281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30682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30682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83.13%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682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稳定成交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7665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4066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74066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5.74%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066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86537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92938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92938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2.62%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2938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05409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118103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18103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5.13%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118103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24281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306824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0682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8,351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30682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7665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74066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4066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588/217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066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收支为正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86537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2938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92938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2,589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92938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05409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118103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3118103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1,627/62.8%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18103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额度最高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24281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4306824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30682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1,203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30682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观察样本充足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38251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44652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44652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.</a:t>
            </a: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44652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样本极少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57123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763524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63524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26.94%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63524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75995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82396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82396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8.54%/18.41%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82396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审批仍有承接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94867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001268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1268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84.51%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01268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38251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44652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644652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10.42%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4652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风险抬升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57123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763524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763524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7.96%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63524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75995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882396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82396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4.36%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82396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中等偏低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94867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1001268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01268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19,425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01268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38251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644652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4652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11,021/10,620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4652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静态最佳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57123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763524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63524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2,625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63524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875995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8823960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882396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1,449/55.2%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82396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中高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94867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10012680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001268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01268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观察样本较少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7665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74066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4066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4066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样本较少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86537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192938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92938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7.01%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92938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305409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3118103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118103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1.12%/5.89%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118103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审批偏弱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424281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430682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30682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89.86%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30682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67665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74066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74066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11.54%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4066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中等偏高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86537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192938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92938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5.21%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2938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05409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3118103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118103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5.07%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118103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424281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4306824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30682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3,265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30682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67665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74066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4066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-425/-719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4066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承压明显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86537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192938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92938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1,763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92938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305409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3118103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3118103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973/55.2%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118103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424281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4306824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30682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30682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观察样本少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638251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44652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644652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29.31%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44652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样本最多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757123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763524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63524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4.83%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63524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875995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882396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82396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0.62%/4.21%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82396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自动/人工最低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994867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001268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01268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88.57%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01268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638251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6446520" y="5452455"/>
            <a:ext cx="1009892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644652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27.05%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44652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757123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7635240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763524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20.82%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63524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875995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882396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82396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3.72%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82396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994867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1001268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001268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4,153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01268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638251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644652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44652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580/308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44652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净盈余偏低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757123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763524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63524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1,678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63524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875995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8823960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882396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760/45.3%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82396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994867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0012680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1001268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1,560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001268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观察样本最多</a:t>
            </a:r>
          </a:p>
        </p:txBody>
      </p:sp>
    </p:spTree>
    <p:extLst>
      <p:ext uri="{BB962C8B-B14F-4D97-AF65-F5344CB8AC3E}">
        <p14:creationId xmlns:p14="http://schemas.microsoft.com/office/powerpoint/2010/main" val="378094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77724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价值好与风险好：人群差异与模型关注点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686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价值模型在风险之外补充识别客户的经营价值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698480" cy="9144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0698480" cy="347472"/>
          </a:xfrm>
          <a:prstGeom prst="roundRect">
            <a:avLst/>
          </a:prstGeom>
          <a:solidFill>
            <a:srgbClr val="F3F7FB"/>
          </a:solidFill>
          <a:ln w="6350">
            <a:solidFill>
              <a:srgbClr val="CB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36576" cy="31089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95578"/>
            <a:ext cx="1033272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核心结论：资质模型看“经济基础”，风险模型看“风险迹象”。因此，即使风险水平接近，收入和资金实力也可能不同；经济基础较好，也不代表没有风险行为。两者交叉，才能分层筛出不同客群。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59636"/>
            <a:ext cx="45720" cy="17373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200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一、价值好与风险好的区别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56816"/>
            <a:ext cx="2926080" cy="237744"/>
          </a:xfrm>
          <a:prstGeom prst="roundRect">
            <a:avLst/>
          </a:prstGeom>
          <a:solidFill>
            <a:srgbClr val="EEF4FB"/>
          </a:solidFill>
          <a:ln w="508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02536"/>
            <a:ext cx="2743200" cy="1280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F6DAE"/>
                </a:solidFill>
                <a:latin typeface="Microsoft YaHei"/>
                <a:ea typeface="Microsoft YaHei"/>
                <a:cs typeface="Microsoft YaHei"/>
              </a:rPr>
              <a:t>风险好：低支出 · 低波动 · 还款更可控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56816"/>
            <a:ext cx="2926080" cy="237744"/>
          </a:xfrm>
          <a:prstGeom prst="roundRect">
            <a:avLst/>
          </a:prstGeom>
          <a:solidFill>
            <a:srgbClr val="EEF8F2"/>
          </a:solidFill>
          <a:ln w="508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2002536"/>
            <a:ext cx="2743200" cy="1280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价值好：高收入 · 现金流连续 · 发薪稳定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67712"/>
            <a:ext cx="32004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风险好 vs 价值好：关键指标对比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939078"/>
              </p:ext>
            </p:extLst>
          </p:nvPr>
        </p:nvGraphicFramePr>
        <p:xfrm>
          <a:off x="502920" y="2505456"/>
          <a:ext cx="635507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321">
                  <a:extLst>
                    <a:ext uri="{9D8B030D-6E8A-4147-A177-3AD203B41FA5}">
                      <a16:colId xmlns:a16="http://schemas.microsoft.com/office/drawing/2014/main" val="166740190"/>
                    </a:ext>
                  </a:extLst>
                </a:gridCol>
                <a:gridCol w="1960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45720" marR="45720" marT="18288" marB="18288"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风险好(1/2)</a:t>
                      </a:r>
                    </a:p>
                  </a:txBody>
                  <a:tcPr marL="45720" marR="45720" marT="18288" marB="18288"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价值好(1/2)</a:t>
                      </a:r>
                    </a:p>
                  </a:txBody>
                  <a:tcPr marL="45720" marR="45720" marT="18288" marB="18288"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差异值</a:t>
                      </a:r>
                      <a:endParaRPr sz="700" b="1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差异解读</a:t>
                      </a:r>
                      <a:endParaRPr sz="700" b="1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工资收入总额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20,922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41,139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价值好近 2 倍——收入是价值核心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总收入金额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70,151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140,807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价值好近</a:t>
                      </a:r>
                      <a:r>
                        <a:rPr sz="650" b="0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2 倍——</a:t>
                      </a:r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资金体量差距明显</a:t>
                      </a:r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工资入账次数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价值好更频繁——现金流更连续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主行业入账金额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24,203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40,916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价值好约</a:t>
                      </a:r>
                      <a:r>
                        <a:rPr sz="650" b="0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1.7 倍——</a:t>
                      </a:r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主业收入更强</a:t>
                      </a:r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Centrelink 收入占比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风险好更高——收入结构偏福利 / 保守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发薪周期标准差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2.99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2.72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价值好更稳定（数值更小</a:t>
                      </a:r>
                      <a:r>
                        <a:rPr sz="650" b="0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总支出金额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66,684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139,715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价值好更高</a:t>
                      </a:r>
                      <a:r>
                        <a:rPr sz="650" b="0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</a:t>
                      </a:r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资金进出体量更大</a:t>
                      </a:r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赌博支出占比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2.0%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3.8%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风险好更低</a:t>
                      </a:r>
                      <a:r>
                        <a:rPr sz="650" b="0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</a:t>
                      </a:r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消费风险偏好弱</a:t>
                      </a:r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余额波动标准差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2,688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6,360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风险好更小</a:t>
                      </a:r>
                      <a:r>
                        <a:rPr sz="650" b="0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</a:t>
                      </a:r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账户波动低</a:t>
                      </a:r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信贷还款金额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15,780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20,439</a:t>
                      </a: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价值好更高</a:t>
                      </a:r>
                      <a:r>
                        <a:rPr sz="650" b="0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</a:t>
                      </a:r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还款体量更大</a:t>
                      </a:r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贷款还款次数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价值好略多</a:t>
                      </a:r>
                      <a:r>
                        <a:rPr sz="650" b="0" dirty="0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——</a:t>
                      </a:r>
                      <a:r>
                        <a:rPr sz="650" b="0" dirty="0" err="1">
                          <a:solidFill>
                            <a:srgbClr val="13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还款活动更活跃</a:t>
                      </a:r>
                      <a:endParaRPr sz="650" b="0" dirty="0">
                        <a:solidFill>
                          <a:srgbClr val="13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132320" y="1659636"/>
            <a:ext cx="45720" cy="17373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59" y="1627632"/>
            <a:ext cx="3200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二、两类模型关注的人群本质不同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7728" y="1719072"/>
            <a:ext cx="9144" cy="4480560"/>
          </a:xfrm>
          <a:prstGeom prst="rect">
            <a:avLst/>
          </a:prstGeom>
          <a:solidFill>
            <a:srgbClr val="E5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78040" y="1956816"/>
            <a:ext cx="1901952" cy="4187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42631" y="2148840"/>
            <a:ext cx="841248" cy="246888"/>
          </a:xfrm>
          <a:prstGeom prst="roundRect">
            <a:avLst/>
          </a:prstGeom>
          <a:solidFill>
            <a:srgbClr val="FFF6E6"/>
          </a:solidFill>
          <a:ln w="5080">
            <a:solidFill>
              <a:srgbClr val="ED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97496" y="2194560"/>
            <a:ext cx="73152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C98A10"/>
                </a:solidFill>
                <a:latin typeface="Microsoft YaHei"/>
                <a:ea typeface="Microsoft YaHei"/>
                <a:cs typeface="Microsoft YaHei"/>
              </a:rPr>
              <a:t>价值模型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2578608"/>
            <a:ext cx="15544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C98A10"/>
                </a:solidFill>
                <a:latin typeface="Microsoft YaHei"/>
                <a:ea typeface="Microsoft YaHei"/>
                <a:cs typeface="Microsoft YaHei"/>
              </a:rPr>
              <a:t>更关注“经济基础与资金实力”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807208"/>
            <a:ext cx="1572768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这个客户的经济条件怎么样？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19" y="3035808"/>
            <a:ext cx="1481328" cy="13716"/>
          </a:xfrm>
          <a:prstGeom prst="rect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79208" y="3195828"/>
            <a:ext cx="41148" cy="41148"/>
          </a:xfrm>
          <a:prstGeom prst="ellipse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3154680"/>
            <a:ext cx="1204752" cy="3231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Top 特征：工资收入、总收入、账户余额、BNPL 还款及转账行为</a:t>
            </a:r>
          </a:p>
        </p:txBody>
      </p:sp>
      <p:sp>
        <p:nvSpPr>
          <p:cNvPr id="27" name="Oval 26"/>
          <p:cNvSpPr/>
          <p:nvPr/>
        </p:nvSpPr>
        <p:spPr>
          <a:xfrm>
            <a:off x="7379208" y="3707891"/>
            <a:ext cx="41148" cy="41148"/>
          </a:xfrm>
          <a:prstGeom prst="ellipse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3666744"/>
            <a:ext cx="1204752" cy="2277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核心判断：赚多少钱、账户里有多少钱、资金是否有一定沉淀</a:t>
            </a:r>
            <a:endParaRPr sz="620" b="0" dirty="0">
              <a:solidFill>
                <a:srgbClr val="13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379208" y="4219956"/>
            <a:ext cx="41148" cy="41148"/>
          </a:xfrm>
          <a:prstGeom prst="ellipse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52360" y="4178808"/>
            <a:ext cx="1204752" cy="3231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典型变量：近182天工资收入、近56天总收入均值、近168天日均余额</a:t>
            </a:r>
          </a:p>
        </p:txBody>
      </p:sp>
      <p:sp>
        <p:nvSpPr>
          <p:cNvPr id="31" name="Oval 30"/>
          <p:cNvSpPr/>
          <p:nvPr/>
        </p:nvSpPr>
        <p:spPr>
          <a:xfrm>
            <a:off x="7379208" y="4786884"/>
            <a:ext cx="41148" cy="41148"/>
          </a:xfrm>
          <a:prstGeom prst="ellipse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52360" y="4745736"/>
            <a:ext cx="1204752" cy="2277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识别人群：收入水平较高、资金相对充足、整体经济基础更好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1956816"/>
            <a:ext cx="1901952" cy="4187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54312" y="2148840"/>
            <a:ext cx="841248" cy="246888"/>
          </a:xfrm>
          <a:prstGeom prst="roundRect">
            <a:avLst/>
          </a:prstGeom>
          <a:solidFill>
            <a:srgbClr val="FFF0F2"/>
          </a:solidFill>
          <a:ln w="5080">
            <a:solidFill>
              <a:srgbClr val="ED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9176" y="2194560"/>
            <a:ext cx="73152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C63446"/>
                </a:solidFill>
                <a:latin typeface="Microsoft YaHei"/>
                <a:ea typeface="Microsoft YaHei"/>
                <a:cs typeface="Microsoft YaHei"/>
              </a:rPr>
              <a:t>风险模型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578608"/>
            <a:ext cx="15544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C63446"/>
                </a:solidFill>
                <a:latin typeface="Microsoft YaHei"/>
                <a:ea typeface="Microsoft YaHei"/>
                <a:cs typeface="Microsoft YaHei"/>
              </a:rPr>
              <a:t>更关注“风险行为与资金稳定性”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807208"/>
            <a:ext cx="1572768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这个客户未来出风险的可能性多大？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3035808"/>
            <a:ext cx="1481328" cy="13716"/>
          </a:xfrm>
          <a:prstGeom prst="rect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390888" y="3195828"/>
            <a:ext cx="41148" cy="41148"/>
          </a:xfrm>
          <a:prstGeom prst="ellipse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64040" y="3154680"/>
            <a:ext cx="1235628" cy="2277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 dirty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Top </a:t>
            </a:r>
            <a:r>
              <a:rPr sz="62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特征：债务交易、拒付、余额波动、现金预支及余额分布异常</a:t>
            </a:r>
            <a:endParaRPr sz="620" b="0" dirty="0">
              <a:solidFill>
                <a:srgbClr val="13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390888" y="3707891"/>
            <a:ext cx="41148" cy="41148"/>
          </a:xfrm>
          <a:prstGeom prst="ellipse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64040" y="3666744"/>
            <a:ext cx="1235628" cy="3231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 dirty="0" err="1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核心判断：是否有债务压力、履约异常、短期资金紧张或账户异常波动</a:t>
            </a:r>
            <a:endParaRPr sz="620" b="0" dirty="0">
              <a:solidFill>
                <a:srgbClr val="13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390888" y="4219956"/>
            <a:ext cx="41148" cy="41148"/>
          </a:xfrm>
          <a:prstGeom prst="ellipse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64040" y="4178808"/>
            <a:ext cx="1235628" cy="3231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典型变量：债务交易占比、拒付次数、余额标准差、现金预支金额、余额峰度</a:t>
            </a:r>
          </a:p>
        </p:txBody>
      </p:sp>
      <p:sp>
        <p:nvSpPr>
          <p:cNvPr id="45" name="Oval 44"/>
          <p:cNvSpPr/>
          <p:nvPr/>
        </p:nvSpPr>
        <p:spPr>
          <a:xfrm>
            <a:off x="9390888" y="4786884"/>
            <a:ext cx="41148" cy="41148"/>
          </a:xfrm>
          <a:prstGeom prst="ellipse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64040" y="4745736"/>
            <a:ext cx="1235628" cy="2277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132A43"/>
                </a:solidFill>
                <a:latin typeface="Microsoft YaHei"/>
                <a:ea typeface="Microsoft YaHei"/>
                <a:cs typeface="Microsoft YaHei"/>
              </a:rPr>
              <a:t>识别人群：资金稳定性较差、借贷行为更明显、存在潜在风险迹象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78040" y="6272784"/>
            <a:ext cx="3913632" cy="256032"/>
          </a:xfrm>
          <a:prstGeom prst="roundRect">
            <a:avLst/>
          </a:prstGeom>
          <a:solidFill>
            <a:srgbClr val="FAFBFD"/>
          </a:solidFill>
          <a:ln w="508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0" y="6336792"/>
            <a:ext cx="3657600" cy="10972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使用方式：风险分层控制底线，价值分层决定承接优先级。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0594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755</Words>
  <Application>Microsoft Office PowerPoint</Application>
  <PresentationFormat>宽屏</PresentationFormat>
  <Paragraphs>291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Microsoft YaHei</vt:lpstr>
      <vt:lpstr>Microsoft YaHei</vt:lpstr>
      <vt:lpstr>微软雅黑 Light</vt:lpstr>
      <vt:lpstr>等线</vt:lpstr>
      <vt:lpstr>等线 Light</vt:lpstr>
      <vt:lpstr>Arial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52</cp:revision>
  <dcterms:created xsi:type="dcterms:W3CDTF">2026-08-31T12:17:08Z</dcterms:created>
  <dcterms:modified xsi:type="dcterms:W3CDTF">2026-09-01T11:54:12Z</dcterms:modified>
</cp:coreProperties>
</file>