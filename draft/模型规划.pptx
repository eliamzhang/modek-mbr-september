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70" r:id="rId3"/>
    <p:sldId id="295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52" d="100"/>
          <a:sy n="152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8D4D5-8C27-4216-AAA5-252137D04F8F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EED92E-3276-4008-9801-152E38B5F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59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为什么要做价值模型：识别出风险以外的信息，找到最有价值的地方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可以用在两个方向：提额、投放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F9672A-4FCD-4626-A8DC-612F10E6BE2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445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754DD-1CA0-4A75-84B2-EE169E6EC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995634-61EC-407C-A408-2BD9182A3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1E69A7-7FBF-4087-898A-792A21E6F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72357-8342-4800-8182-1A30D5997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785A4E-2EE2-40FF-9489-F47F7C9DE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032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B4FFDE-E052-4236-9060-C77018DD7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3E5720-FBBD-420F-B566-BBBB02BFD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59ECFF-7ADD-4123-9721-9E89DFED0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152C86-F620-4C0F-9B09-96CC9290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9BF80E-CD12-458A-A75F-3D1F0FFCA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10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B47848-0420-400B-92CA-CE3CA2A2F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E8A857-9C68-4ED9-B660-851F417AD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244B29-F52F-4A27-9B36-39DE52AC8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BAC62D-4386-493B-B93E-3F4E9D1B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13ED90-D6B7-4FCF-B99B-3EC64363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26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7D608-E42A-4583-9F42-283905895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F4B261-E093-445F-AE9E-690D40EF9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CFF082-A61F-41EB-AF5D-3A4B311E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FCB0E2-C587-4F46-9223-7344E772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020437-46FB-41AD-B7A8-1638771CD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049BEB-1C8E-4B0D-B8F9-CA1A5B209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2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B41633-C9FE-47C1-9579-E604DDAB8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4F98A3-C614-4207-B371-4F04CFD7B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B62E48-C07C-434B-AF72-9D1EBBD86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512AB08-768A-4D0F-9B5D-E9B2603AF4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B53F10-2E05-43C7-9A17-7FCBDA29E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B225492-6002-4DB9-BCFA-12374BDD4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B958C05-673A-43AA-9FAA-76597C6CE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EF540D-2BFE-4D8E-BED4-E657CF06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732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5273F-C1C6-44CA-8612-F5E12F463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F13D6F-193B-44A7-88B8-D68DED143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B0EC69-59EB-4E78-A7EF-C29A45B57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3888D5-B66F-4874-87CD-932E951F1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860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1C5E2D7-7471-46B2-B5F9-5A0BEED3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67B6A3-8EA5-4D6D-8B15-034C348B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F5FE4F-CBF0-41F1-A68F-E3F72BEC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98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FD864-2D0D-46C4-AC7C-861204DB7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78E462-9F3F-4DBC-BE8D-153042AD2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764BD8A-EEA1-4BEF-A3E1-3235A9C7E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CD59C1-E4D5-4F58-82CA-65FB7CAE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C12AF2-BF3D-485A-8260-A02949451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46ABE6-2C32-44C1-B27D-D732B0B5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136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C95360-8792-41A3-98BA-F8A5FC2D1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D5EDE9-7E7A-4F80-B27B-0C6182DC0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3ACFFC-D619-4E0B-B8DD-FAF415560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2FC3CB-E6A3-4144-B33B-3470FF207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E25D13-8E55-412B-9045-4D75716C6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761A62-CFCC-4881-8162-D5803DF17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214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20327-2F3F-40D8-AB9F-4B26D74C4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0A5DCE-F139-4F94-820D-894F9429F0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E1D129-17D6-43A8-9A39-5CAF1946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CFFFC-097D-4367-9561-3FF2B43E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FE803F-6F87-4814-B853-4C5AD319B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957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8D6441-9AFA-4027-B638-2D2500D1F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22ADC8-D6B1-4095-8E5E-F012FE471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17C8F9-802D-4D14-B964-95C044EE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C5E6E-2C9F-4268-909B-20CBB5B5588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29BA93-B0CA-45E0-B232-18EA3AA5B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B2F42D-B2CF-4B67-B2DB-9AE1CA60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617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B8EBA2-80EF-4252-8597-048A45E2E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21FC56-6680-4AD6-82E5-88A11AFC2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AA0C1-447C-4AEA-81FA-9EB45857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CC9B75-A23F-4BC0-AF10-8E3B6D593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3BAF1-849E-4CFB-97FB-462B79C5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211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8D98-575F-4B86-853A-5626FCCE7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1CB4C6-859B-47BA-B600-73580410D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BEAC3-78C5-45B7-A23B-249EC15E9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9A1087-075F-407E-BB28-CDF217CD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DC62BF-1010-4F72-A364-4192F211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2875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4CBB0-B952-49F8-A1B8-3979F30A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EC5F22-E42C-4263-A574-0CF3FB32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779609-2E9A-498F-932D-68BAA7EB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99CF08-A439-43B3-A3F9-168D0F5CD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FEC39-07FE-47BE-B8DE-2AFAE3D5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480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2E4F4-0D12-4C67-A2DE-5D38CFD33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EAA503-16B9-4CA8-8AA5-603157897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8D83A5-8A38-40E5-AB3E-D4138C5D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0B2CC2-A96A-41D7-A4D7-A284B7D5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BBF648-B851-4DA5-953B-86578FBD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CC2EA2-1228-4FAF-B547-0D8F31FE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672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E7825-95FC-4C1A-AF5F-E36B597A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F39FAA-4C36-4CB6-A320-3DAC5409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B609A8-1E92-437D-B0B0-6111310F1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4226CF-A2B3-4B4E-9300-5E028ABA71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B10009-1111-457E-B430-65E1C279A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67E8ED2-908F-4B1A-8AE5-D192B1A89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9F550B-0F48-4318-996D-4884DECB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28EED0F-6559-4C6F-9CA7-7770DD3D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829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16F64B-E647-4104-B1ED-F93F843D4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1D34E7-F38A-4F82-9AB6-F8589C899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3AE06E-5BC2-49FC-AFDD-93822814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46D1A6-6F30-4369-886C-0B9A8E4C5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1281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9A4833-036F-41C6-B817-DBAF5E3F3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A5643-CE71-4F55-8C58-D1337D39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6E3F4D-D0ED-4973-9E9A-D6287B44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841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3B291-4439-45D3-BCEE-846EEECB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A73331-4FF4-49B6-A023-F72C49367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A3C987-2276-42A0-A1E7-E0606F374A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22F0A1-047D-4CAC-9C15-FF066542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2EAEBB-7478-4902-AB86-AE45AA28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A46412-6586-483A-ABB0-E712F83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5721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20C44-3AFF-45CD-9780-0D2FBCA4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93764D-8357-41AF-8664-BADF71EFE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8CC22-900C-4216-BFAA-893CFBCC4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2A649-1B04-42E5-84B4-2A037C732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ACB251-B513-433D-A8AC-3FA74F8D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7EE6DA-2AE9-4C28-B829-F80EA98E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1628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22334-2A6B-4387-80FD-70E1F1E0E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7C5D0A-2D53-4144-B690-6C700F742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0CEC7-6E44-43BF-A36B-7D08A2F5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E63B3-0B50-4DF9-8F0E-79A5D718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EAD4-D222-409F-A809-BD5B97867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3042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48EF8A-FDFA-4016-9979-C8C5B09F3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B09383-AF7E-4FF6-9616-02B3620BC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9486C-99DC-445E-A433-3EDCCFF5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38E0C-70A7-465C-B390-CC20D1E8458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F166-1825-4F9D-89FB-66C38CDA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0A879-DDC9-44A8-97E4-649A0365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06257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7AD42BD-1FBD-44F7-9A13-C1B5CA8D05F7}"/>
              </a:ext>
            </a:extLst>
          </p:cNvPr>
          <p:cNvSpPr/>
          <p:nvPr userDrawn="1"/>
        </p:nvSpPr>
        <p:spPr>
          <a:xfrm>
            <a:off x="284672" y="204548"/>
            <a:ext cx="129692" cy="369332"/>
          </a:xfrm>
          <a:prstGeom prst="rect">
            <a:avLst/>
          </a:prstGeom>
          <a:solidFill>
            <a:srgbClr val="C93B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5455C4-DFF3-49B3-A21F-FE65974F3D07}"/>
              </a:ext>
            </a:extLst>
          </p:cNvPr>
          <p:cNvSpPr/>
          <p:nvPr userDrawn="1"/>
        </p:nvSpPr>
        <p:spPr>
          <a:xfrm>
            <a:off x="284672" y="627089"/>
            <a:ext cx="129017" cy="369332"/>
          </a:xfrm>
          <a:prstGeom prst="rect">
            <a:avLst/>
          </a:prstGeom>
          <a:solidFill>
            <a:srgbClr val="576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637A9E-CBFD-49AA-A280-5A41FC63490E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D0922C-CCA6-4F43-A0D1-C4E56DE4F58F}"/>
              </a:ext>
            </a:extLst>
          </p:cNvPr>
          <p:cNvSpPr txBox="1"/>
          <p:nvPr userDrawn="1"/>
        </p:nvSpPr>
        <p:spPr>
          <a:xfrm>
            <a:off x="914400" y="8686800"/>
            <a:ext cx="430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0D58DD0-4F1D-47D9-A6E6-4433202EB9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60000" y="195922"/>
            <a:ext cx="660090" cy="4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0303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EF61E3-6B03-4D97-9D40-123AD24DA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890FDA-FD28-4A8A-B706-C94FD7EBB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669FFB-6957-46C4-8D4C-4D01D3EE74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C5E6E-2C9F-4268-909B-20CBB5B5588C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D48623-A6E8-415E-ACB4-18375ECEE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5201D0-BBB4-4E9D-A84E-6C0A4FB17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3AB4C-AB73-4550-8928-69EF37323F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83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B64D2A-B4A2-4991-8631-34442C84D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B2BE11-2F72-49B2-9898-38081781B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DFEC2A-8966-4520-BDC5-D824E43289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38E0C-70A7-465C-B390-CC20D1E8458E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AAC27E-A6AB-47AB-8662-4EC357CAD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2857CC-AAF6-440B-A91D-E387063E6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CC157-9A56-4D8B-B24F-A32F66DBFA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78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204007"/>
            <a:ext cx="10899648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澳大利亚现状、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规划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2064" y="597828"/>
            <a:ext cx="10899648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规模增长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6060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+NON SACC</a:t>
            </a:r>
            <a:r>
              <a:rPr lang="en-US" altLang="zh-CN" dirty="0">
                <a:solidFill>
                  <a:srgbClr val="606060"/>
                </a:solidFill>
                <a:latin typeface="微软雅黑"/>
                <a:ea typeface="微软雅黑"/>
              </a:rPr>
              <a:t> </a:t>
            </a:r>
            <a:r>
              <a:rPr lang="zh-CN" altLang="en-US" dirty="0">
                <a:solidFill>
                  <a:srgbClr val="606060"/>
                </a:solidFill>
                <a:latin typeface="微软雅黑"/>
                <a:ea typeface="微软雅黑"/>
              </a:rPr>
              <a:t>占比 风险维稳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60606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9" name="Rectangle 3">
            <a:extLst>
              <a:ext uri="{FF2B5EF4-FFF2-40B4-BE49-F238E27FC236}">
                <a16:creationId xmlns:a16="http://schemas.microsoft.com/office/drawing/2014/main" id="{3F2EE22E-94BA-4E8D-BCFC-C8D1E970F0C3}"/>
              </a:ext>
            </a:extLst>
          </p:cNvPr>
          <p:cNvSpPr/>
          <p:nvPr/>
        </p:nvSpPr>
        <p:spPr>
          <a:xfrm>
            <a:off x="512064" y="1042415"/>
            <a:ext cx="10899648" cy="10972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95799" y="4869144"/>
            <a:ext cx="283463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1" dirty="0">
                <a:solidFill>
                  <a:srgbClr val="1A232D"/>
                </a:solidFill>
                <a:latin typeface="Microsoft YaHei"/>
              </a:rPr>
              <a:t>数据基建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A232D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8303" y="5278331"/>
            <a:ext cx="1476755" cy="41395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分类模型开发</a:t>
            </a:r>
            <a:endParaRPr lang="en-US" altLang="zh-CN" sz="1100" dirty="0">
              <a:solidFill>
                <a:srgbClr val="1A232D"/>
              </a:solidFill>
              <a:latin typeface="Microsoft YaHe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知识库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AI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智能体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A232D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0915" y="5696530"/>
            <a:ext cx="1476755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竞品追踪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AI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智能体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A232D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793006" y="4852922"/>
            <a:ext cx="283463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投放市场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A232D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733571" y="5250757"/>
            <a:ext cx="1476755" cy="41395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dirty="0">
                <a:solidFill>
                  <a:srgbClr val="1A232D"/>
                </a:solidFill>
                <a:latin typeface="Microsoft YaHei"/>
              </a:rPr>
              <a:t>高价值用户回传包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A232D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投放归因追踪监控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A232D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734564" y="5673824"/>
            <a:ext cx="1476755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预算分配决策工具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A232D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543754" y="4741128"/>
            <a:ext cx="283463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风险管理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1A232D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543754" y="5114976"/>
            <a:ext cx="2175510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PD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模型迭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代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43754" y="5377588"/>
            <a:ext cx="2046699" cy="2062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×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价值联合额度策略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A232D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5AB3E199-8D58-44FD-B9F3-8A2A282D786C}"/>
              </a:ext>
            </a:extLst>
          </p:cNvPr>
          <p:cNvSpPr txBox="1"/>
          <p:nvPr/>
        </p:nvSpPr>
        <p:spPr>
          <a:xfrm>
            <a:off x="583639" y="5932247"/>
            <a:ext cx="14928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1A232D"/>
                </a:solidFill>
                <a:latin typeface="Microsoft YaHei"/>
              </a:rPr>
              <a:t>贷中银行流水的查询</a:t>
            </a:r>
          </a:p>
        </p:txBody>
      </p:sp>
      <p:sp>
        <p:nvSpPr>
          <p:cNvPr id="81" name="TextBox 41">
            <a:extLst>
              <a:ext uri="{FF2B5EF4-FFF2-40B4-BE49-F238E27FC236}">
                <a16:creationId xmlns:a16="http://schemas.microsoft.com/office/drawing/2014/main" id="{ACDC85F0-58BB-4524-A88E-38108B1B486E}"/>
              </a:ext>
            </a:extLst>
          </p:cNvPr>
          <p:cNvSpPr txBox="1"/>
          <p:nvPr/>
        </p:nvSpPr>
        <p:spPr>
          <a:xfrm>
            <a:off x="539496" y="1283435"/>
            <a:ext cx="1661369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模型现状（主模型</a:t>
            </a: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9</a:t>
            </a:r>
            <a:r>
              <a:rPr kumimoji="0" lang="zh-CN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个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）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A232D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82" name="TextBox 41">
            <a:extLst>
              <a:ext uri="{FF2B5EF4-FFF2-40B4-BE49-F238E27FC236}">
                <a16:creationId xmlns:a16="http://schemas.microsoft.com/office/drawing/2014/main" id="{65BE194D-B781-4E44-B84A-C7A4B86C2085}"/>
              </a:ext>
            </a:extLst>
          </p:cNvPr>
          <p:cNvSpPr txBox="1"/>
          <p:nvPr/>
        </p:nvSpPr>
        <p:spPr>
          <a:xfrm>
            <a:off x="426916" y="4297791"/>
            <a:ext cx="94739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A232D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模型规划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A232D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29DE8C1-B51C-45C9-A2DC-963800A2D449}"/>
              </a:ext>
            </a:extLst>
          </p:cNvPr>
          <p:cNvSpPr txBox="1"/>
          <p:nvPr/>
        </p:nvSpPr>
        <p:spPr>
          <a:xfrm>
            <a:off x="3383103" y="2053185"/>
            <a:ext cx="12089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新客风险模型</a:t>
            </a:r>
            <a:r>
              <a:rPr lang="en-US" altLang="zh-CN" sz="1100" dirty="0"/>
              <a:t>1.0</a:t>
            </a:r>
            <a:endParaRPr lang="zh-CN" altLang="en-US" sz="11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3F2DA44-77A6-4100-B4AE-96741A0C8A08}"/>
              </a:ext>
            </a:extLst>
          </p:cNvPr>
          <p:cNvSpPr txBox="1"/>
          <p:nvPr/>
        </p:nvSpPr>
        <p:spPr>
          <a:xfrm>
            <a:off x="426916" y="203581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老客风险主模型模型</a:t>
            </a:r>
            <a:r>
              <a:rPr lang="en-US" altLang="zh-CN" sz="1100" dirty="0"/>
              <a:t>1.0</a:t>
            </a:r>
            <a:endParaRPr lang="zh-CN" altLang="en-US" sz="11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0723FA3-D765-403F-82A2-D910FBFC6EAD}"/>
              </a:ext>
            </a:extLst>
          </p:cNvPr>
          <p:cNvSpPr txBox="1"/>
          <p:nvPr/>
        </p:nvSpPr>
        <p:spPr>
          <a:xfrm>
            <a:off x="440471" y="248518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银行流水子模型模型</a:t>
            </a:r>
            <a:r>
              <a:rPr lang="en-US" altLang="zh-CN" sz="1100" dirty="0"/>
              <a:t>1.0</a:t>
            </a:r>
            <a:endParaRPr lang="zh-CN" altLang="en-US" sz="11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F89DD67-A7E5-47B6-AF98-F941C5E5C4BA}"/>
              </a:ext>
            </a:extLst>
          </p:cNvPr>
          <p:cNvSpPr txBox="1"/>
          <p:nvPr/>
        </p:nvSpPr>
        <p:spPr>
          <a:xfrm>
            <a:off x="426916" y="2929590"/>
            <a:ext cx="1350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行为子模型模型</a:t>
            </a:r>
            <a:r>
              <a:rPr lang="en-US" altLang="zh-CN" sz="1100" dirty="0"/>
              <a:t>1.0</a:t>
            </a:r>
            <a:endParaRPr lang="zh-CN" altLang="en-US" sz="11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5FFF0D9-3F48-4B9C-B35C-84C176EC8FCE}"/>
              </a:ext>
            </a:extLst>
          </p:cNvPr>
          <p:cNvSpPr txBox="1"/>
          <p:nvPr/>
        </p:nvSpPr>
        <p:spPr>
          <a:xfrm>
            <a:off x="3508605" y="2531354"/>
            <a:ext cx="112242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Fundo</a:t>
            </a:r>
          </a:p>
          <a:p>
            <a:r>
              <a:rPr lang="en-US" altLang="zh-CN" sz="1100" dirty="0" err="1"/>
              <a:t>Wagego</a:t>
            </a:r>
            <a:r>
              <a:rPr lang="zh-CN" altLang="en-US" sz="1100" dirty="0"/>
              <a:t>已上线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C87FB95-8194-4963-ABC9-96E6CB46F0A2}"/>
              </a:ext>
            </a:extLst>
          </p:cNvPr>
          <p:cNvSpPr txBox="1"/>
          <p:nvPr/>
        </p:nvSpPr>
        <p:spPr>
          <a:xfrm>
            <a:off x="10643538" y="2035811"/>
            <a:ext cx="9268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价值模型</a:t>
            </a:r>
            <a:r>
              <a:rPr lang="en-US" altLang="zh-CN" sz="1100" dirty="0"/>
              <a:t>1.0</a:t>
            </a:r>
            <a:endParaRPr lang="zh-CN" altLang="en-US" sz="11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2FAC82C-9DF4-4AAD-8AC8-BC649D1AAFC6}"/>
              </a:ext>
            </a:extLst>
          </p:cNvPr>
          <p:cNvSpPr txBox="1"/>
          <p:nvPr/>
        </p:nvSpPr>
        <p:spPr>
          <a:xfrm>
            <a:off x="5488228" y="2053185"/>
            <a:ext cx="14911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老客复购意愿模型</a:t>
            </a:r>
            <a:r>
              <a:rPr lang="en-US" altLang="zh-CN" sz="1100" dirty="0"/>
              <a:t>1.0</a:t>
            </a:r>
            <a:endParaRPr lang="zh-CN" altLang="en-US" sz="11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8B52FF1-C6DE-4D7D-9ACD-B36B47E907AD}"/>
              </a:ext>
            </a:extLst>
          </p:cNvPr>
          <p:cNvSpPr txBox="1"/>
          <p:nvPr/>
        </p:nvSpPr>
        <p:spPr>
          <a:xfrm>
            <a:off x="7899264" y="203581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老客风险主模型模型</a:t>
            </a:r>
            <a:r>
              <a:rPr lang="en-US" altLang="zh-CN" sz="1100" dirty="0"/>
              <a:t>2.0</a:t>
            </a:r>
            <a:endParaRPr lang="zh-CN" altLang="en-US" sz="11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0FB9B41-2B99-4DBA-B7F2-11A244154E71}"/>
              </a:ext>
            </a:extLst>
          </p:cNvPr>
          <p:cNvSpPr txBox="1"/>
          <p:nvPr/>
        </p:nvSpPr>
        <p:spPr>
          <a:xfrm>
            <a:off x="7912819" y="248518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银行流水子模型模型</a:t>
            </a:r>
            <a:r>
              <a:rPr lang="en-US" altLang="zh-CN" sz="1100" dirty="0"/>
              <a:t>2.0</a:t>
            </a:r>
            <a:endParaRPr lang="zh-CN" altLang="en-US" sz="11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5EB1D6B-32A3-419B-803F-CFDF25B43D3A}"/>
              </a:ext>
            </a:extLst>
          </p:cNvPr>
          <p:cNvSpPr txBox="1"/>
          <p:nvPr/>
        </p:nvSpPr>
        <p:spPr>
          <a:xfrm>
            <a:off x="7899264" y="2929590"/>
            <a:ext cx="1350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行为子模型模型</a:t>
            </a:r>
            <a:r>
              <a:rPr lang="en-US" altLang="zh-CN" sz="1100" dirty="0"/>
              <a:t>2.0</a:t>
            </a:r>
            <a:endParaRPr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1B7903-BA83-410B-A78D-B47287A6570B}"/>
              </a:ext>
            </a:extLst>
          </p:cNvPr>
          <p:cNvSpPr txBox="1"/>
          <p:nvPr/>
        </p:nvSpPr>
        <p:spPr>
          <a:xfrm>
            <a:off x="791599" y="1582092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F53093E-37F5-420A-B05A-A3AC19651534}"/>
              </a:ext>
            </a:extLst>
          </p:cNvPr>
          <p:cNvSpPr txBox="1"/>
          <p:nvPr/>
        </p:nvSpPr>
        <p:spPr>
          <a:xfrm>
            <a:off x="3315921" y="1565301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11</a:t>
            </a:r>
            <a:r>
              <a:rPr lang="zh-CN" altLang="en-US" dirty="0"/>
              <a:t>月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A515B50-008C-4C33-9120-61E1F10EC855}"/>
              </a:ext>
            </a:extLst>
          </p:cNvPr>
          <p:cNvSpPr txBox="1"/>
          <p:nvPr/>
        </p:nvSpPr>
        <p:spPr>
          <a:xfrm>
            <a:off x="5603445" y="1601610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B75147A-6693-4443-9276-1D8FDAE75A3B}"/>
              </a:ext>
            </a:extLst>
          </p:cNvPr>
          <p:cNvSpPr txBox="1"/>
          <p:nvPr/>
        </p:nvSpPr>
        <p:spPr>
          <a:xfrm>
            <a:off x="7946553" y="1601776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07D04BF-56E1-4421-BE33-F31B9195A0E5}"/>
              </a:ext>
            </a:extLst>
          </p:cNvPr>
          <p:cNvSpPr txBox="1"/>
          <p:nvPr/>
        </p:nvSpPr>
        <p:spPr>
          <a:xfrm>
            <a:off x="10414240" y="1610077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6</a:t>
            </a:r>
            <a:r>
              <a:rPr lang="zh-CN" altLang="en-US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3758690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252331"/>
            <a:ext cx="1423467" cy="2846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50" b="1">
                <a:solidFill>
                  <a:srgbClr val="1F3A5B"/>
                </a:solidFill>
                <a:latin typeface="Microsoft YaHei"/>
              </a:defRPr>
            </a:pPr>
            <a:r>
              <a:rPr kumimoji="0" sz="1850" b="1" i="0" u="none" strike="noStrike" kern="1200" cap="none" spc="0" normalizeH="0" baseline="0" noProof="0" dirty="0" err="1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四类客群矩阵</a:t>
            </a:r>
            <a:endParaRPr kumimoji="0" sz="1850" b="1" i="0" u="none" strike="noStrike" kern="1200" cap="none" spc="0" normalizeH="0" baseline="0" noProof="0" dirty="0">
              <a:ln>
                <a:noFill/>
              </a:ln>
              <a:solidFill>
                <a:srgbClr val="1F3A5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12064" y="3602736"/>
            <a:ext cx="11155680" cy="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804672"/>
            <a:ext cx="0" cy="5623560"/>
          </a:xfrm>
          <a:prstGeom prst="line">
            <a:avLst/>
          </a:prstGeom>
          <a:ln w="11430">
            <a:solidFill>
              <a:srgbClr val="7A8B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5053" y="3445985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 dirty="0" err="1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风险低</a:t>
            </a:r>
            <a:endParaRPr kumimoji="0" sz="919" b="1" i="0" u="none" strike="noStrike" kern="1200" cap="none" spc="0" normalizeH="0" baseline="0" noProof="0" dirty="0">
              <a:ln>
                <a:noFill/>
              </a:ln>
              <a:solidFill>
                <a:srgbClr val="1F3A5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56848" y="3429000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 dirty="0" err="1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风险高</a:t>
            </a:r>
            <a:endParaRPr kumimoji="0" sz="919" b="1" i="0" u="none" strike="noStrike" kern="1200" cap="none" spc="0" normalizeH="0" baseline="0" noProof="0" dirty="0">
              <a:ln>
                <a:noFill/>
              </a:ln>
              <a:solidFill>
                <a:srgbClr val="1F3A5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41848" y="830902"/>
            <a:ext cx="365485" cy="1461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50" b="1">
                <a:solidFill>
                  <a:srgbClr val="1F3A5B"/>
                </a:solidFill>
                <a:latin typeface="Microsoft YaHei"/>
              </a:defRPr>
            </a:pPr>
            <a:r>
              <a:rPr kumimoji="0" sz="950" b="1" i="0" u="none" strike="noStrike" kern="1200" cap="none" spc="0" normalizeH="0" baseline="0" noProof="0" dirty="0" err="1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价值高</a:t>
            </a:r>
            <a:endParaRPr kumimoji="0" sz="950" b="1" i="0" u="none" strike="noStrike" kern="1200" cap="none" spc="0" normalizeH="0" baseline="0" noProof="0" dirty="0">
              <a:ln>
                <a:noFill/>
              </a:ln>
              <a:solidFill>
                <a:srgbClr val="1F3A5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3977" y="6357507"/>
            <a:ext cx="355867" cy="1414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19" b="1">
                <a:solidFill>
                  <a:srgbClr val="1F3A5B"/>
                </a:solidFill>
                <a:latin typeface="Microsoft YaHei"/>
              </a:defRPr>
            </a:pPr>
            <a:r>
              <a:rPr kumimoji="0" sz="919" b="1" i="0" u="none" strike="noStrike" kern="1200" cap="none" spc="0" normalizeH="0" baseline="0" noProof="0" dirty="0" err="1">
                <a:ln>
                  <a:noFill/>
                </a:ln>
                <a:solidFill>
                  <a:srgbClr val="1F3A5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价值低</a:t>
            </a:r>
            <a:endParaRPr kumimoji="0" sz="919" b="1" i="0" u="none" strike="noStrike" kern="1200" cap="none" spc="0" normalizeH="0" baseline="0" noProof="0" dirty="0">
              <a:ln>
                <a:noFill/>
              </a:ln>
              <a:solidFill>
                <a:srgbClr val="1F3A5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896112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价值好 × 风险好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124712"/>
            <a:ext cx="1333698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268343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稳健经营型优质客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683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8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>
                <a:ln>
                  <a:noFill/>
                </a:ln>
                <a:solidFill>
                  <a:srgbClr val="2683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经营策略：重点经营</a:t>
            </a:r>
            <a:r>
              <a:rPr kumimoji="0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｜3000-5000 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优质</a:t>
            </a:r>
            <a:r>
              <a:rPr kumimoji="0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MACC / LACC / LOC 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候选池</a:t>
            </a:r>
            <a:endParaRPr kumimoji="0" sz="860" b="0" i="0" u="none" strike="noStrike" kern="1200" cap="none" spc="0" normalizeH="0" baseline="0" noProof="0" dirty="0">
              <a:ln>
                <a:noFill/>
              </a:ln>
              <a:solidFill>
                <a:srgbClr val="2F364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73368" y="896112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 dirty="0" err="1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价值好</a:t>
            </a:r>
            <a:r>
              <a:rPr kumimoji="0" sz="750" b="1" i="0" u="none" strike="noStrike" kern="1200" cap="none" spc="0" normalizeH="0" baseline="0" noProof="0" dirty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× </a:t>
            </a:r>
            <a:r>
              <a:rPr kumimoji="0" sz="750" b="1" i="0" u="none" strike="noStrike" kern="1200" cap="none" spc="0" normalizeH="0" baseline="0" noProof="0" dirty="0" err="1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风险差</a:t>
            </a:r>
            <a:endParaRPr kumimoji="0" sz="750" b="1" i="0" u="none" strike="noStrike" kern="1200" cap="none" spc="0" normalizeH="0" baseline="0" noProof="0" dirty="0">
              <a:ln>
                <a:noFill/>
              </a:ln>
              <a:solidFill>
                <a:srgbClr val="68717D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73368" y="1124712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B5790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高薪高波动型周转客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73368" y="1655064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57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 err="1">
                <a:ln>
                  <a:noFill/>
                </a:ln>
                <a:solidFill>
                  <a:srgbClr val="B579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经营策略：短周期小额承接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</a:t>
            </a:r>
            <a:r>
              <a:rPr kumimoji="0" lang="en-US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EWA</a:t>
            </a:r>
            <a:r>
              <a:rPr kumimoji="0" 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/ </a:t>
            </a:r>
            <a:r>
              <a:rPr kumimoji="0" lang="zh-CN" alt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超短期产品</a:t>
            </a:r>
            <a:endParaRPr kumimoji="0" sz="860" b="0" i="0" u="none" strike="noStrike" kern="1200" cap="none" spc="0" normalizeH="0" baseline="0" noProof="0" dirty="0">
              <a:ln>
                <a:noFill/>
              </a:ln>
              <a:solidFill>
                <a:srgbClr val="2F364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63493" y="3750533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价值差 × 风险好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493" y="3979133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1B538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低收入克制型刚需客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1B538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663493" y="4509485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5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 dirty="0" err="1">
                <a:ln>
                  <a:noFill/>
                </a:ln>
                <a:solidFill>
                  <a:srgbClr val="1B538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经营策略：低额度验证</a:t>
            </a:r>
            <a:r>
              <a:rPr kumimoji="0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</a:t>
            </a:r>
            <a:r>
              <a:rPr kumimoji="0" lang="en-US" sz="860" b="0" i="0" u="none" strike="noStrike" kern="1200" cap="none" spc="0" normalizeH="0" baseline="0" noProof="0" dirty="0" err="1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SACC</a:t>
            </a:r>
            <a:r>
              <a:rPr kumimoji="0" 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/ </a:t>
            </a:r>
            <a:r>
              <a:rPr kumimoji="0" lang="zh-CN" alt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低额 </a:t>
            </a:r>
            <a:r>
              <a:rPr kumimoji="0" lang="en-US" sz="860" b="0" i="0" u="none" strike="noStrike" kern="1200" cap="none" spc="0" normalizeH="0" baseline="0" noProof="0" dirty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Personal Loan</a:t>
            </a:r>
            <a:endParaRPr kumimoji="0" sz="860" b="0" i="0" u="none" strike="noStrike" kern="1200" cap="none" spc="0" normalizeH="0" baseline="0" noProof="0" dirty="0">
              <a:ln>
                <a:noFill/>
              </a:ln>
              <a:solidFill>
                <a:srgbClr val="2F364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409765" y="3783521"/>
            <a:ext cx="708527" cy="115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50" b="1">
                <a:solidFill>
                  <a:srgbClr val="68717D"/>
                </a:solidFill>
                <a:latin typeface="Microsoft YaHei"/>
              </a:defRPr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6871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价值差 × 风险差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9765" y="4012121"/>
            <a:ext cx="1500411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1">
                <a:solidFill>
                  <a:srgbClr val="C83D30"/>
                </a:solidFill>
                <a:latin typeface="Microsoft YaHei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现金流脆弱型谨慎客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9765" y="4542473"/>
            <a:ext cx="49834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3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54864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C83D3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经营策略：原则上不重点承接</a:t>
            </a:r>
            <a:r>
              <a:rPr kumimoji="0" sz="860" b="0" i="0" u="none" strike="noStrike" kern="1200" cap="none" spc="0" normalizeH="0" baseline="0" noProof="0">
                <a:ln>
                  <a:noFill/>
                </a:ln>
                <a:solidFill>
                  <a:srgbClr val="2F364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｜限额 / 提价 / 人工审核 / 谨慎准入</a:t>
            </a:r>
          </a:p>
        </p:txBody>
      </p:sp>
      <p:sp>
        <p:nvSpPr>
          <p:cNvPr id="116" name="Rounded Rectangle 20">
            <a:extLst>
              <a:ext uri="{FF2B5EF4-FFF2-40B4-BE49-F238E27FC236}">
                <a16:creationId xmlns:a16="http://schemas.microsoft.com/office/drawing/2014/main" id="{1ECF688C-6E3F-4C0E-ABD4-2EE749A8E409}"/>
              </a:ext>
            </a:extLst>
          </p:cNvPr>
          <p:cNvSpPr/>
          <p:nvPr/>
        </p:nvSpPr>
        <p:spPr>
          <a:xfrm>
            <a:off x="658368" y="1396118"/>
            <a:ext cx="832104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高收入稳现金流</a:t>
            </a:r>
          </a:p>
        </p:txBody>
      </p:sp>
      <p:sp>
        <p:nvSpPr>
          <p:cNvPr id="117" name="Rounded Rectangle 21">
            <a:extLst>
              <a:ext uri="{FF2B5EF4-FFF2-40B4-BE49-F238E27FC236}">
                <a16:creationId xmlns:a16="http://schemas.microsoft.com/office/drawing/2014/main" id="{1CBC9896-18ED-4F66-A930-AC5965EA2488}"/>
              </a:ext>
            </a:extLst>
          </p:cNvPr>
          <p:cNvSpPr/>
          <p:nvPr/>
        </p:nvSpPr>
        <p:spPr>
          <a:xfrm>
            <a:off x="15453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用信成熟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8" name="Rounded Rectangle 22">
            <a:extLst>
              <a:ext uri="{FF2B5EF4-FFF2-40B4-BE49-F238E27FC236}">
                <a16:creationId xmlns:a16="http://schemas.microsoft.com/office/drawing/2014/main" id="{0EE4068E-A424-44FA-A1AE-B95E543A2B7B}"/>
              </a:ext>
            </a:extLst>
          </p:cNvPr>
          <p:cNvSpPr/>
          <p:nvPr/>
        </p:nvSpPr>
        <p:spPr>
          <a:xfrm>
            <a:off x="22311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履约稳健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866029C3-0908-4601-B0B5-470A21370530}"/>
              </a:ext>
            </a:extLst>
          </p:cNvPr>
          <p:cNvSpPr/>
          <p:nvPr/>
        </p:nvSpPr>
        <p:spPr>
          <a:xfrm>
            <a:off x="2916936" y="1396118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高额度诉求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5" name="Rounded Rectangle 40">
            <a:extLst>
              <a:ext uri="{FF2B5EF4-FFF2-40B4-BE49-F238E27FC236}">
                <a16:creationId xmlns:a16="http://schemas.microsoft.com/office/drawing/2014/main" id="{DF5A399C-DE9E-439B-8A34-67D4CEF4DB29}"/>
              </a:ext>
            </a:extLst>
          </p:cNvPr>
          <p:cNvSpPr/>
          <p:nvPr/>
        </p:nvSpPr>
        <p:spPr>
          <a:xfrm>
            <a:off x="6373368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纸面富裕</a:t>
            </a:r>
          </a:p>
        </p:txBody>
      </p:sp>
      <p:sp>
        <p:nvSpPr>
          <p:cNvPr id="126" name="Rounded Rectangle 41">
            <a:extLst>
              <a:ext uri="{FF2B5EF4-FFF2-40B4-BE49-F238E27FC236}">
                <a16:creationId xmlns:a16="http://schemas.microsoft.com/office/drawing/2014/main" id="{D17DA79E-22C1-4DB6-92D5-E4C642F7B63C}"/>
              </a:ext>
            </a:extLst>
          </p:cNvPr>
          <p:cNvSpPr/>
          <p:nvPr/>
        </p:nvSpPr>
        <p:spPr>
          <a:xfrm>
            <a:off x="6958584" y="138119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现金过山车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7" name="Rounded Rectangle 42">
            <a:extLst>
              <a:ext uri="{FF2B5EF4-FFF2-40B4-BE49-F238E27FC236}">
                <a16:creationId xmlns:a16="http://schemas.microsoft.com/office/drawing/2014/main" id="{DC5BA0FF-6073-431A-8F9D-AB909101B25A}"/>
              </a:ext>
            </a:extLst>
          </p:cNvPr>
          <p:cNvSpPr/>
          <p:nvPr/>
        </p:nvSpPr>
        <p:spPr>
          <a:xfrm>
            <a:off x="7543800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高支出高波动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8" name="Rounded Rectangle 43">
            <a:extLst>
              <a:ext uri="{FF2B5EF4-FFF2-40B4-BE49-F238E27FC236}">
                <a16:creationId xmlns:a16="http://schemas.microsoft.com/office/drawing/2014/main" id="{A4D1AD08-9A3F-4FE7-AFEC-6C25CDC8B0B8}"/>
              </a:ext>
            </a:extLst>
          </p:cNvPr>
          <p:cNvSpPr/>
          <p:nvPr/>
        </p:nvSpPr>
        <p:spPr>
          <a:xfrm>
            <a:off x="8330184" y="138119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周转需求强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29" name="Rounded Rectangle 44">
            <a:extLst>
              <a:ext uri="{FF2B5EF4-FFF2-40B4-BE49-F238E27FC236}">
                <a16:creationId xmlns:a16="http://schemas.microsoft.com/office/drawing/2014/main" id="{4C841FC0-EB41-4881-80AF-BA5DAF26D3A4}"/>
              </a:ext>
            </a:extLst>
          </p:cNvPr>
          <p:cNvSpPr/>
          <p:nvPr/>
        </p:nvSpPr>
        <p:spPr>
          <a:xfrm>
            <a:off x="9116568" y="138119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高额度诉求</a:t>
            </a:r>
          </a:p>
        </p:txBody>
      </p:sp>
      <p:sp>
        <p:nvSpPr>
          <p:cNvPr id="130" name="Rounded Rectangle 62">
            <a:extLst>
              <a:ext uri="{FF2B5EF4-FFF2-40B4-BE49-F238E27FC236}">
                <a16:creationId xmlns:a16="http://schemas.microsoft.com/office/drawing/2014/main" id="{4A853437-FAF5-4581-B771-2FB269A62555}"/>
              </a:ext>
            </a:extLst>
          </p:cNvPr>
          <p:cNvSpPr/>
          <p:nvPr/>
        </p:nvSpPr>
        <p:spPr>
          <a:xfrm>
            <a:off x="6634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紧预算人群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1" name="Rounded Rectangle 63">
            <a:extLst>
              <a:ext uri="{FF2B5EF4-FFF2-40B4-BE49-F238E27FC236}">
                <a16:creationId xmlns:a16="http://schemas.microsoft.com/office/drawing/2014/main" id="{94C06805-ECBB-44FD-A329-6A2418DB2A87}"/>
              </a:ext>
            </a:extLst>
          </p:cNvPr>
          <p:cNvSpPr/>
          <p:nvPr/>
        </p:nvSpPr>
        <p:spPr>
          <a:xfrm>
            <a:off x="1248709" y="4253453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福利依赖型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2" name="Rounded Rectangle 64">
            <a:extLst>
              <a:ext uri="{FF2B5EF4-FFF2-40B4-BE49-F238E27FC236}">
                <a16:creationId xmlns:a16="http://schemas.microsoft.com/office/drawing/2014/main" id="{1AC0652A-826D-4584-B80B-12FED471DE71}"/>
              </a:ext>
            </a:extLst>
          </p:cNvPr>
          <p:cNvSpPr/>
          <p:nvPr/>
        </p:nvSpPr>
        <p:spPr>
          <a:xfrm>
            <a:off x="2035093" y="4253453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克制过日子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3" name="Rounded Rectangle 65">
            <a:extLst>
              <a:ext uri="{FF2B5EF4-FFF2-40B4-BE49-F238E27FC236}">
                <a16:creationId xmlns:a16="http://schemas.microsoft.com/office/drawing/2014/main" id="{0EFEF779-1BA0-4BDD-9D10-3FF083279EDE}"/>
              </a:ext>
            </a:extLst>
          </p:cNvPr>
          <p:cNvSpPr/>
          <p:nvPr/>
        </p:nvSpPr>
        <p:spPr>
          <a:xfrm>
            <a:off x="2620309" y="4253453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小额刚需党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5" name="Rounded Rectangle 84">
            <a:extLst>
              <a:ext uri="{FF2B5EF4-FFF2-40B4-BE49-F238E27FC236}">
                <a16:creationId xmlns:a16="http://schemas.microsoft.com/office/drawing/2014/main" id="{8E8C2170-1413-41B3-8914-31EC5C290A85}"/>
              </a:ext>
            </a:extLst>
          </p:cNvPr>
          <p:cNvSpPr/>
          <p:nvPr/>
        </p:nvSpPr>
        <p:spPr>
          <a:xfrm>
            <a:off x="6409765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现金告急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6" name="Rounded Rectangle 85">
            <a:extLst>
              <a:ext uri="{FF2B5EF4-FFF2-40B4-BE49-F238E27FC236}">
                <a16:creationId xmlns:a16="http://schemas.microsoft.com/office/drawing/2014/main" id="{600E8349-AFD6-46C7-B409-59612E132C5D}"/>
              </a:ext>
            </a:extLst>
          </p:cNvPr>
          <p:cNvSpPr/>
          <p:nvPr/>
        </p:nvSpPr>
        <p:spPr>
          <a:xfrm>
            <a:off x="7196149" y="4253229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收支失衡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7" name="Rounded Rectangle 86">
            <a:extLst>
              <a:ext uri="{FF2B5EF4-FFF2-40B4-BE49-F238E27FC236}">
                <a16:creationId xmlns:a16="http://schemas.microsoft.com/office/drawing/2014/main" id="{44A9AC8C-29FE-4895-81FF-69BAA02B4A60}"/>
              </a:ext>
            </a:extLst>
          </p:cNvPr>
          <p:cNvSpPr/>
          <p:nvPr/>
        </p:nvSpPr>
        <p:spPr>
          <a:xfrm>
            <a:off x="7982533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还款乏力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8" name="Rounded Rectangle 88">
            <a:extLst>
              <a:ext uri="{FF2B5EF4-FFF2-40B4-BE49-F238E27FC236}">
                <a16:creationId xmlns:a16="http://schemas.microsoft.com/office/drawing/2014/main" id="{FB12DEF9-0204-47DE-B33B-B08A965A503D}"/>
              </a:ext>
            </a:extLst>
          </p:cNvPr>
          <p:cNvSpPr/>
          <p:nvPr/>
        </p:nvSpPr>
        <p:spPr>
          <a:xfrm>
            <a:off x="8657665" y="4253229"/>
            <a:ext cx="630936" cy="20116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0" rIns="27432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高危边缘客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139" name="Rounded Rectangle 138"/>
          <p:cNvSpPr/>
          <p:nvPr/>
        </p:nvSpPr>
        <p:spPr>
          <a:xfrm>
            <a:off x="67665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74066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066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4.15%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066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四类中等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86537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192938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92938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42.76%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92938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305409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118103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118103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12.81%/29.95%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118103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自动/人工均高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242816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4306824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4306824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83.13%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06824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稳定成交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7665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740664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74066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5.74%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4066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86537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1929384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192938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2.62%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92938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05409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3118103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118103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5.13%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118103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242816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4306824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306824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8,351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306824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67665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740664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4066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588/217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4066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收支为正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186537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1929384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92938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2,589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92938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305409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3118103" y="2914995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3118103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1,627/62.8%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118103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额度最高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4242816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4306824" y="2914995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4306824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1,203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306824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观察样本充足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38251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644652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44652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</a:t>
            </a: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.</a:t>
            </a:r>
            <a:r>
              <a:rPr kumimoji="0" lang="en-US" altLang="zh-CN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</a:t>
            </a: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44652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样本极少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57123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763524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763524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26.94%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63524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次高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875995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882396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82396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8.54%/18.41%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82396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审批仍有承接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9948672" y="2029968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10012680" y="2061972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012680" y="2153412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84.51%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012680" y="2290572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638251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4" name="TextBox 203"/>
          <p:cNvSpPr txBox="1"/>
          <p:nvPr/>
        </p:nvSpPr>
        <p:spPr>
          <a:xfrm>
            <a:off x="6446520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5" name="TextBox 204"/>
          <p:cNvSpPr txBox="1"/>
          <p:nvPr/>
        </p:nvSpPr>
        <p:spPr>
          <a:xfrm>
            <a:off x="644652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10.42%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4652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风险抬升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757123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7635240" y="2489799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763524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7.96%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63524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875995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8823960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82396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4.36%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882396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中等偏低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9948672" y="2455164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10012680" y="248716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012680" y="257860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19,425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012680" y="271576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638251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0" name="TextBox 219"/>
          <p:cNvSpPr txBox="1"/>
          <p:nvPr/>
        </p:nvSpPr>
        <p:spPr>
          <a:xfrm>
            <a:off x="6446520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44652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11,021/10,620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644652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静态最佳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757123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4" name="TextBox 223"/>
          <p:cNvSpPr txBox="1"/>
          <p:nvPr/>
        </p:nvSpPr>
        <p:spPr>
          <a:xfrm>
            <a:off x="7635240" y="291236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63524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2,625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763524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875995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8823960" y="2914995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29" name="TextBox 228"/>
          <p:cNvSpPr txBox="1"/>
          <p:nvPr/>
        </p:nvSpPr>
        <p:spPr>
          <a:xfrm>
            <a:off x="882396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1,449/55.2%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882396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中高</a:t>
            </a:r>
          </a:p>
        </p:txBody>
      </p:sp>
      <p:sp>
        <p:nvSpPr>
          <p:cNvPr id="231" name="Rounded Rectangle 230"/>
          <p:cNvSpPr/>
          <p:nvPr/>
        </p:nvSpPr>
        <p:spPr>
          <a:xfrm>
            <a:off x="9948672" y="2880360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2" name="TextBox 231"/>
          <p:cNvSpPr txBox="1"/>
          <p:nvPr/>
        </p:nvSpPr>
        <p:spPr>
          <a:xfrm>
            <a:off x="10012680" y="2914995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33" name="TextBox 232"/>
          <p:cNvSpPr txBox="1"/>
          <p:nvPr/>
        </p:nvSpPr>
        <p:spPr>
          <a:xfrm>
            <a:off x="10012680" y="300380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96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0012680" y="314096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观察样本较少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67665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74066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4066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 dirty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0.62%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4066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样本较少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86537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0" name="TextBox 239"/>
          <p:cNvSpPr txBox="1"/>
          <p:nvPr/>
        </p:nvSpPr>
        <p:spPr>
          <a:xfrm>
            <a:off x="192938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92938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7.01%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92938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305409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3118103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118103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1.12%/5.89%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118103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审批偏弱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4242816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48" name="TextBox 247"/>
          <p:cNvSpPr txBox="1"/>
          <p:nvPr/>
        </p:nvSpPr>
        <p:spPr>
          <a:xfrm>
            <a:off x="4306824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4306824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89.86%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306824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67665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52" name="TextBox 251"/>
          <p:cNvSpPr txBox="1"/>
          <p:nvPr/>
        </p:nvSpPr>
        <p:spPr>
          <a:xfrm>
            <a:off x="740664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53" name="TextBox 252"/>
          <p:cNvSpPr txBox="1"/>
          <p:nvPr/>
        </p:nvSpPr>
        <p:spPr>
          <a:xfrm>
            <a:off x="74066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11.54%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4066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中等偏高</a:t>
            </a:r>
          </a:p>
        </p:txBody>
      </p:sp>
      <p:sp>
        <p:nvSpPr>
          <p:cNvPr id="255" name="Rounded Rectangle 254"/>
          <p:cNvSpPr/>
          <p:nvPr/>
        </p:nvSpPr>
        <p:spPr>
          <a:xfrm>
            <a:off x="186537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1929384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57" name="TextBox 256"/>
          <p:cNvSpPr txBox="1"/>
          <p:nvPr/>
        </p:nvSpPr>
        <p:spPr>
          <a:xfrm>
            <a:off x="192938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5.21%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92938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中等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305409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0" name="TextBox 259"/>
          <p:cNvSpPr txBox="1"/>
          <p:nvPr/>
        </p:nvSpPr>
        <p:spPr>
          <a:xfrm>
            <a:off x="3118103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3118103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5.07%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3118103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偏高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4242816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4" name="TextBox 263"/>
          <p:cNvSpPr txBox="1"/>
          <p:nvPr/>
        </p:nvSpPr>
        <p:spPr>
          <a:xfrm>
            <a:off x="4306824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306824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3,265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306824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267" name="Rounded Rectangle 266"/>
          <p:cNvSpPr/>
          <p:nvPr/>
        </p:nvSpPr>
        <p:spPr>
          <a:xfrm>
            <a:off x="67665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68" name="TextBox 267"/>
          <p:cNvSpPr txBox="1"/>
          <p:nvPr/>
        </p:nvSpPr>
        <p:spPr>
          <a:xfrm>
            <a:off x="740664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74066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-425/-719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74066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承压明显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186537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2" name="TextBox 271"/>
          <p:cNvSpPr txBox="1"/>
          <p:nvPr/>
        </p:nvSpPr>
        <p:spPr>
          <a:xfrm>
            <a:off x="1929384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192938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1,763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92938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305409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76" name="TextBox 275"/>
          <p:cNvSpPr txBox="1"/>
          <p:nvPr/>
        </p:nvSpPr>
        <p:spPr>
          <a:xfrm>
            <a:off x="3118103" y="5877651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77" name="TextBox 276"/>
          <p:cNvSpPr txBox="1"/>
          <p:nvPr/>
        </p:nvSpPr>
        <p:spPr>
          <a:xfrm>
            <a:off x="3118103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973/55.2%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3118103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279" name="Rounded Rectangle 278"/>
          <p:cNvSpPr/>
          <p:nvPr/>
        </p:nvSpPr>
        <p:spPr>
          <a:xfrm>
            <a:off x="4242816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4306824" y="5877651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81" name="TextBox 280"/>
          <p:cNvSpPr txBox="1"/>
          <p:nvPr/>
        </p:nvSpPr>
        <p:spPr>
          <a:xfrm>
            <a:off x="4306824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26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4306824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观察样本少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638251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644652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样本占比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644652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29.31%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644652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样本最多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757123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88" name="TextBox 287"/>
          <p:cNvSpPr txBox="1"/>
          <p:nvPr/>
        </p:nvSpPr>
        <p:spPr>
          <a:xfrm>
            <a:off x="763524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申请通过率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763524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4.83%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763524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875995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92" name="TextBox 291"/>
          <p:cNvSpPr txBox="1"/>
          <p:nvPr/>
        </p:nvSpPr>
        <p:spPr>
          <a:xfrm>
            <a:off x="882396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自动/人工通过率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882396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0.62%/4.21%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882396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自动/人工最低</a:t>
            </a:r>
          </a:p>
        </p:txBody>
      </p:sp>
      <p:sp>
        <p:nvSpPr>
          <p:cNvPr id="295" name="Rounded Rectangle 294"/>
          <p:cNvSpPr/>
          <p:nvPr/>
        </p:nvSpPr>
        <p:spPr>
          <a:xfrm>
            <a:off x="9948672" y="4992624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96" name="TextBox 295"/>
          <p:cNvSpPr txBox="1"/>
          <p:nvPr/>
        </p:nvSpPr>
        <p:spPr>
          <a:xfrm>
            <a:off x="10012680" y="5024628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通过后成交率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012680" y="5116068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88.57%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012680" y="5253228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次高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638251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0" name="TextBox 299"/>
          <p:cNvSpPr txBox="1"/>
          <p:nvPr/>
        </p:nvSpPr>
        <p:spPr>
          <a:xfrm>
            <a:off x="6446520" y="5452455"/>
            <a:ext cx="1009892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3M30人数逾期率</a:t>
            </a:r>
            <a:r>
              <a:rPr kumimoji="0" 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 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01" name="TextBox 300"/>
          <p:cNvSpPr txBox="1"/>
          <p:nvPr/>
        </p:nvSpPr>
        <p:spPr>
          <a:xfrm>
            <a:off x="644652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27.05%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644652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757123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4" name="TextBox 303"/>
          <p:cNvSpPr txBox="1"/>
          <p:nvPr/>
        </p:nvSpPr>
        <p:spPr>
          <a:xfrm>
            <a:off x="7635240" y="5452455"/>
            <a:ext cx="989053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3M30金额逾期率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763524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20.82%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763524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四类最高</a:t>
            </a:r>
          </a:p>
        </p:txBody>
      </p:sp>
      <p:sp>
        <p:nvSpPr>
          <p:cNvPr id="307" name="Rounded Rectangle 306"/>
          <p:cNvSpPr/>
          <p:nvPr/>
        </p:nvSpPr>
        <p:spPr>
          <a:xfrm>
            <a:off x="875995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08" name="TextBox 307"/>
          <p:cNvSpPr txBox="1"/>
          <p:nvPr/>
        </p:nvSpPr>
        <p:spPr>
          <a:xfrm>
            <a:off x="8823960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平均PTI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882396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3.72%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882396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11" name="Rounded Rectangle 310"/>
          <p:cNvSpPr/>
          <p:nvPr/>
        </p:nvSpPr>
        <p:spPr>
          <a:xfrm>
            <a:off x="9948672" y="5417820"/>
            <a:ext cx="1115568" cy="356616"/>
          </a:xfrm>
          <a:prstGeom prst="roundRect">
            <a:avLst/>
          </a:prstGeom>
          <a:solidFill>
            <a:srgbClr val="F8FAFD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12" name="TextBox 311"/>
          <p:cNvSpPr txBox="1"/>
          <p:nvPr/>
        </p:nvSpPr>
        <p:spPr>
          <a:xfrm>
            <a:off x="10012680" y="5449824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平均收入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0012680" y="5541264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4,153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0012680" y="5678424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偏低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638251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16" name="TextBox 315"/>
          <p:cNvSpPr txBox="1"/>
          <p:nvPr/>
        </p:nvSpPr>
        <p:spPr>
          <a:xfrm>
            <a:off x="6446520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毛/净盈余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44652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580/308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644652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净盈余偏低</a:t>
            </a:r>
          </a:p>
        </p:txBody>
      </p:sp>
      <p:sp>
        <p:nvSpPr>
          <p:cNvPr id="319" name="Rounded Rectangle 318"/>
          <p:cNvSpPr/>
          <p:nvPr/>
        </p:nvSpPr>
        <p:spPr>
          <a:xfrm>
            <a:off x="757123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0" name="TextBox 319"/>
          <p:cNvSpPr txBox="1"/>
          <p:nvPr/>
        </p:nvSpPr>
        <p:spPr>
          <a:xfrm>
            <a:off x="7635240" y="5875020"/>
            <a:ext cx="987552" cy="914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平均申请额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763524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1,678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763524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23" name="Rounded Rectangle 322"/>
          <p:cNvSpPr/>
          <p:nvPr/>
        </p:nvSpPr>
        <p:spPr>
          <a:xfrm>
            <a:off x="875995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4" name="TextBox 323"/>
          <p:cNvSpPr txBox="1"/>
          <p:nvPr/>
        </p:nvSpPr>
        <p:spPr>
          <a:xfrm>
            <a:off x="8823960" y="5877651"/>
            <a:ext cx="968214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件均额度</a:t>
            </a: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/</a:t>
            </a:r>
            <a:r>
              <a:rPr kumimoji="0" sz="560" b="0" i="0" u="none" strike="noStrike" kern="1200" cap="none" spc="0" normalizeH="0" baseline="0" noProof="0" dirty="0" err="1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满足率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882396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760/45.3%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882396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四类最低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9948672" y="5843016"/>
            <a:ext cx="1115568" cy="356616"/>
          </a:xfrm>
          <a:prstGeom prst="roundRect">
            <a:avLst/>
          </a:prstGeom>
          <a:solidFill>
            <a:srgbClr val="FCFDFF"/>
          </a:solidFill>
          <a:ln w="8255">
            <a:solidFill>
              <a:srgbClr val="DE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10012680" y="5877651"/>
            <a:ext cx="916918" cy="861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3M30观察样本</a:t>
            </a:r>
            <a:r>
              <a:rPr kumimoji="0" lang="zh-CN" altLang="en-US" sz="560" b="0" i="0" u="none" strike="noStrike" kern="1200" cap="none" spc="0" normalizeH="0" baseline="0" noProof="0" dirty="0">
                <a:ln>
                  <a:noFill/>
                </a:ln>
                <a:solidFill>
                  <a:srgbClr val="6270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（成交样本）</a:t>
            </a:r>
            <a:endParaRPr kumimoji="0" sz="560" b="0" i="0" u="none" strike="noStrike" kern="1200" cap="none" spc="0" normalizeH="0" baseline="0" noProof="0" dirty="0">
              <a:ln>
                <a:noFill/>
              </a:ln>
              <a:solidFill>
                <a:srgbClr val="627084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329" name="TextBox 328"/>
          <p:cNvSpPr txBox="1"/>
          <p:nvPr/>
        </p:nvSpPr>
        <p:spPr>
          <a:xfrm>
            <a:off x="10012680" y="5966459"/>
            <a:ext cx="987552" cy="12801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90" b="1" i="0" u="none" strike="noStrike" kern="1200" cap="none" spc="0" normalizeH="0" baseline="0" noProof="0">
                <a:ln>
                  <a:noFill/>
                </a:ln>
                <a:solidFill>
                  <a:srgbClr val="0D2238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1,560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0012680" y="6103620"/>
            <a:ext cx="987552" cy="731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" b="0" i="0" u="none" strike="noStrike" kern="1200" cap="none" spc="0" normalizeH="0" baseline="0" noProof="0">
                <a:ln>
                  <a:noFill/>
                </a:ln>
                <a:solidFill>
                  <a:srgbClr val="6E7884"/>
                </a:solidFill>
                <a:effectLst/>
                <a:uLnTx/>
                <a:uFillTx/>
                <a:latin typeface="Microsoft YaHei"/>
                <a:ea typeface="+mn-ea"/>
                <a:cs typeface="+mn-cs"/>
              </a:rPr>
              <a:t>观察样本最多</a:t>
            </a:r>
          </a:p>
        </p:txBody>
      </p:sp>
    </p:spTree>
    <p:extLst>
      <p:ext uri="{BB962C8B-B14F-4D97-AF65-F5344CB8AC3E}">
        <p14:creationId xmlns:p14="http://schemas.microsoft.com/office/powerpoint/2010/main" val="3780941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554</Words>
  <Application>Microsoft Office PowerPoint</Application>
  <PresentationFormat>宽屏</PresentationFormat>
  <Paragraphs>213</Paragraphs>
  <Slides>2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微软雅黑</vt:lpstr>
      <vt:lpstr>微软雅黑</vt:lpstr>
      <vt:lpstr>等线</vt:lpstr>
      <vt:lpstr>等线 Light</vt:lpstr>
      <vt:lpstr>Arial</vt:lpstr>
      <vt:lpstr>Office 主题​​</vt:lpstr>
      <vt:lpstr>1_Office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昱良</dc:creator>
  <cp:lastModifiedBy>张昱良-Eliam</cp:lastModifiedBy>
  <cp:revision>24</cp:revision>
  <dcterms:created xsi:type="dcterms:W3CDTF">2026-08-31T05:45:54Z</dcterms:created>
  <dcterms:modified xsi:type="dcterms:W3CDTF">2026-09-02T06:48:08Z</dcterms:modified>
</cp:coreProperties>
</file>