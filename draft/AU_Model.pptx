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2"/>
  </p:notesMasterIdLst>
  <p:handoutMasterIdLst>
    <p:handoutMasterId r:id="rId13"/>
  </p:handoutMasterIdLst>
  <p:sldIdLst>
    <p:sldId id="312" r:id="rId2"/>
    <p:sldId id="313" r:id="rId3"/>
    <p:sldId id="316" r:id="rId4"/>
    <p:sldId id="317" r:id="rId5"/>
    <p:sldId id="304" r:id="rId6"/>
    <p:sldId id="314" r:id="rId7"/>
    <p:sldId id="315" r:id="rId8"/>
    <p:sldId id="309" r:id="rId9"/>
    <p:sldId id="310" r:id="rId10"/>
    <p:sldId id="311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9091D931-C6EF-4AAA-8AF6-ED6BA379CE5A}">
          <p14:sldIdLst>
            <p14:sldId id="312"/>
            <p14:sldId id="313"/>
            <p14:sldId id="316"/>
            <p14:sldId id="317"/>
          </p14:sldIdLst>
        </p14:section>
        <p14:section name="draft" id="{1710DB59-4D14-4C6A-836A-4DDB51400A00}">
          <p14:sldIdLst>
            <p14:sldId id="304"/>
            <p14:sldId id="314"/>
            <p14:sldId id="315"/>
            <p14:sldId id="309"/>
            <p14:sldId id="310"/>
            <p14:sldId id="311"/>
          </p14:sldIdLst>
        </p14:section>
        <p14:section name="draft" id="{4A55A2FB-9C68-4E40-8234-62AC1197D950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7419" autoAdjust="0"/>
  </p:normalViewPr>
  <p:slideViewPr>
    <p:cSldViewPr snapToGrid="0" showGuides="1">
      <p:cViewPr varScale="1">
        <p:scale>
          <a:sx n="161" d="100"/>
          <a:sy n="161" d="100"/>
        </p:scale>
        <p:origin x="25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22" d="100"/>
          <a:sy n="122" d="100"/>
        </p:scale>
        <p:origin x="499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B38C634A-05D6-48C6-AF4A-8DAD34AD1B6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C218664-019E-469E-9271-B1829CA3EA7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E6B91-E7E4-4B75-90D9-2FB3CA9CE892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16920E2-FA83-42AB-8A5F-6FDAA1596CD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A19BFE5-CA82-4598-A86A-A53537E257A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CE6AA9-5D91-42CC-9FA9-4CD3BB1FF8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49098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D1ABA1-3A8B-4F78-8FC2-CC35DC6ACD02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F9672A-4FCD-4626-A8DC-612F10E6BE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9525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24"/>
          <p:cNvSpPr/>
          <p:nvPr userDrawn="1"/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rgbClr val="555E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微软雅黑" panose="020B0503020204020204" pitchFamily="34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3" hasCustomPrompt="1"/>
          </p:nvPr>
        </p:nvSpPr>
        <p:spPr>
          <a:xfrm>
            <a:off x="281657" y="4103406"/>
            <a:ext cx="11008067" cy="644301"/>
          </a:xfrm>
        </p:spPr>
        <p:txBody>
          <a:bodyPr/>
          <a:lstStyle>
            <a:lvl1pPr marL="0" indent="0">
              <a:buFontTx/>
              <a:buNone/>
              <a:defRPr kumimoji="1" lang="zh-CN" altLang="en-US" sz="4400" kern="12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zh-CN" altLang="en-US" dirty="0"/>
              <a:t>课件标题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06895" y="4877649"/>
            <a:ext cx="9144000" cy="425221"/>
          </a:xfrm>
        </p:spPr>
        <p:txBody>
          <a:bodyPr/>
          <a:lstStyle>
            <a:lvl1pPr marL="0" indent="0" algn="l">
              <a:buFontTx/>
              <a:buNone/>
              <a:defRPr lang="zh-CN" altLang="en-US" sz="2800" kern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indent="0">
              <a:buFontTx/>
              <a:buNone/>
            </a:pPr>
            <a:r>
              <a:rPr lang="zh-CN" altLang="en-US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副标题：副标题副标题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14" hasCustomPrompt="1"/>
          </p:nvPr>
        </p:nvSpPr>
        <p:spPr>
          <a:xfrm>
            <a:off x="334327" y="6162648"/>
            <a:ext cx="7553198" cy="324196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1" lang="zh-CN" altLang="en-US" sz="1800" kern="12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来自部门：</a:t>
            </a:r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XXXXX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分享人：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XXX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endParaRPr kumimoji="1"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13" name="直接连接符 23"/>
          <p:cNvCxnSpPr/>
          <p:nvPr userDrawn="1"/>
        </p:nvCxnSpPr>
        <p:spPr>
          <a:xfrm flipH="1">
            <a:off x="338667" y="5912442"/>
            <a:ext cx="11514666" cy="0"/>
          </a:xfrm>
          <a:prstGeom prst="line">
            <a:avLst/>
          </a:prstGeom>
          <a:ln w="9525">
            <a:solidFill>
              <a:schemeClr val="bg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59745"/>
            <a:ext cx="649062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741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图片占位符 33"/>
          <p:cNvSpPr>
            <a:spLocks noGrp="1"/>
          </p:cNvSpPr>
          <p:nvPr>
            <p:ph type="pic" sz="quarter" idx="14"/>
          </p:nvPr>
        </p:nvSpPr>
        <p:spPr>
          <a:xfrm>
            <a:off x="0" y="-1588"/>
            <a:ext cx="12192000" cy="411321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kumimoji="1"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20" name="Прямоугольник 20"/>
          <p:cNvSpPr/>
          <p:nvPr userDrawn="1"/>
        </p:nvSpPr>
        <p:spPr>
          <a:xfrm>
            <a:off x="-369" y="-1756"/>
            <a:ext cx="12191382" cy="4112997"/>
          </a:xfrm>
          <a:prstGeom prst="rect">
            <a:avLst/>
          </a:prstGeom>
          <a:solidFill>
            <a:srgbClr val="555E6B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 dirty="0">
              <a:latin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 flipH="1">
            <a:off x="338667" y="6374454"/>
            <a:ext cx="11514666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8841" y="1762188"/>
            <a:ext cx="10515600" cy="1325563"/>
          </a:xfrm>
        </p:spPr>
        <p:txBody>
          <a:bodyPr>
            <a:normAutofit/>
          </a:bodyPr>
          <a:lstStyle>
            <a:lvl1pPr>
              <a:defRPr sz="3300" b="1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2" name="内容占位符 31"/>
          <p:cNvSpPr>
            <a:spLocks noGrp="1"/>
          </p:cNvSpPr>
          <p:nvPr>
            <p:ph sz="quarter" idx="13" hasCustomPrompt="1"/>
          </p:nvPr>
        </p:nvSpPr>
        <p:spPr>
          <a:xfrm>
            <a:off x="1078841" y="1456274"/>
            <a:ext cx="9317228" cy="59372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3200" b="1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38" name="文本占位符 35"/>
          <p:cNvSpPr>
            <a:spLocks noGrp="1"/>
          </p:cNvSpPr>
          <p:nvPr>
            <p:ph type="body" sz="quarter" idx="16" hasCustomPrompt="1"/>
          </p:nvPr>
        </p:nvSpPr>
        <p:spPr>
          <a:xfrm>
            <a:off x="7062258" y="6437312"/>
            <a:ext cx="4791075" cy="420688"/>
          </a:xfrm>
        </p:spPr>
        <p:txBody>
          <a:bodyPr/>
          <a:lstStyle>
            <a:lvl1pPr marL="0" indent="0" algn="r">
              <a:buNone/>
              <a:defRPr kumimoji="1"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indent="0">
              <a:buNone/>
            </a:pPr>
            <a:r>
              <a:rPr kumimoji="1"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01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59745"/>
            <a:ext cx="649062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20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4"/>
          <p:cNvSpPr/>
          <p:nvPr userDrawn="1"/>
        </p:nvSpPr>
        <p:spPr>
          <a:xfrm>
            <a:off x="0" y="0"/>
            <a:ext cx="239045" cy="367749"/>
          </a:xfrm>
          <a:custGeom>
            <a:avLst/>
            <a:gdLst>
              <a:gd name="connsiteX0" fmla="*/ 0 w 239045"/>
              <a:gd name="connsiteY0" fmla="*/ 0 h 360000"/>
              <a:gd name="connsiteX1" fmla="*/ 239045 w 239045"/>
              <a:gd name="connsiteY1" fmla="*/ 0 h 360000"/>
              <a:gd name="connsiteX2" fmla="*/ 239045 w 239045"/>
              <a:gd name="connsiteY2" fmla="*/ 360000 h 360000"/>
              <a:gd name="connsiteX3" fmla="*/ 0 w 239045"/>
              <a:gd name="connsiteY3" fmla="*/ 360000 h 360000"/>
              <a:gd name="connsiteX4" fmla="*/ 0 w 239045"/>
              <a:gd name="connsiteY4" fmla="*/ 0 h 360000"/>
              <a:gd name="connsiteX0-1" fmla="*/ 0 w 239045"/>
              <a:gd name="connsiteY0-2" fmla="*/ 0 h 367749"/>
              <a:gd name="connsiteX1-3" fmla="*/ 239045 w 239045"/>
              <a:gd name="connsiteY1-4" fmla="*/ 0 h 367749"/>
              <a:gd name="connsiteX2-5" fmla="*/ 122808 w 239045"/>
              <a:gd name="connsiteY2-6" fmla="*/ 367749 h 367749"/>
              <a:gd name="connsiteX3-7" fmla="*/ 0 w 239045"/>
              <a:gd name="connsiteY3-8" fmla="*/ 360000 h 367749"/>
              <a:gd name="connsiteX4-9" fmla="*/ 0 w 239045"/>
              <a:gd name="connsiteY4-10" fmla="*/ 0 h 3677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39045" h="367749">
                <a:moveTo>
                  <a:pt x="0" y="0"/>
                </a:moveTo>
                <a:lnTo>
                  <a:pt x="239045" y="0"/>
                </a:lnTo>
                <a:lnTo>
                  <a:pt x="122808" y="367749"/>
                </a:lnTo>
                <a:lnTo>
                  <a:pt x="0" y="360000"/>
                </a:lnTo>
                <a:lnTo>
                  <a:pt x="0" y="0"/>
                </a:lnTo>
                <a:close/>
              </a:path>
            </a:pathLst>
          </a:custGeom>
          <a:solidFill>
            <a:srgbClr val="C93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49131"/>
            <a:ext cx="660090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206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7AD42BD-1FBD-44F7-9A13-C1B5CA8D05F7}"/>
              </a:ext>
            </a:extLst>
          </p:cNvPr>
          <p:cNvSpPr/>
          <p:nvPr userDrawn="1"/>
        </p:nvSpPr>
        <p:spPr>
          <a:xfrm>
            <a:off x="284672" y="204548"/>
            <a:ext cx="129692" cy="369332"/>
          </a:xfrm>
          <a:prstGeom prst="rect">
            <a:avLst/>
          </a:prstGeom>
          <a:solidFill>
            <a:srgbClr val="C93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637A9E-CBFD-49AA-A280-5A41FC63490E}"/>
              </a:ext>
            </a:extLst>
          </p:cNvPr>
          <p:cNvSpPr txBox="1"/>
          <p:nvPr userDrawn="1"/>
        </p:nvSpPr>
        <p:spPr>
          <a:xfrm>
            <a:off x="914400" y="8686800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FD0922C-CCA6-4F43-A0D1-C4E56DE4F58F}"/>
              </a:ext>
            </a:extLst>
          </p:cNvPr>
          <p:cNvSpPr txBox="1"/>
          <p:nvPr userDrawn="1"/>
        </p:nvSpPr>
        <p:spPr>
          <a:xfrm>
            <a:off x="914400" y="8686800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0D58DD0-4F1D-47D9-A6E6-4433202EB9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195922"/>
            <a:ext cx="660090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608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7AD42BD-1FBD-44F7-9A13-C1B5CA8D05F7}"/>
              </a:ext>
            </a:extLst>
          </p:cNvPr>
          <p:cNvSpPr/>
          <p:nvPr userDrawn="1"/>
        </p:nvSpPr>
        <p:spPr>
          <a:xfrm>
            <a:off x="284672" y="204548"/>
            <a:ext cx="129692" cy="369332"/>
          </a:xfrm>
          <a:prstGeom prst="rect">
            <a:avLst/>
          </a:prstGeom>
          <a:solidFill>
            <a:srgbClr val="C93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5455C4-DFF3-49B3-A21F-FE65974F3D07}"/>
              </a:ext>
            </a:extLst>
          </p:cNvPr>
          <p:cNvSpPr/>
          <p:nvPr userDrawn="1"/>
        </p:nvSpPr>
        <p:spPr>
          <a:xfrm>
            <a:off x="284672" y="627089"/>
            <a:ext cx="129017" cy="369332"/>
          </a:xfrm>
          <a:prstGeom prst="rect">
            <a:avLst/>
          </a:prstGeom>
          <a:solidFill>
            <a:srgbClr val="576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637A9E-CBFD-49AA-A280-5A41FC63490E}"/>
              </a:ext>
            </a:extLst>
          </p:cNvPr>
          <p:cNvSpPr txBox="1"/>
          <p:nvPr userDrawn="1"/>
        </p:nvSpPr>
        <p:spPr>
          <a:xfrm>
            <a:off x="914400" y="8686800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FD0922C-CCA6-4F43-A0D1-C4E56DE4F58F}"/>
              </a:ext>
            </a:extLst>
          </p:cNvPr>
          <p:cNvSpPr txBox="1"/>
          <p:nvPr userDrawn="1"/>
        </p:nvSpPr>
        <p:spPr>
          <a:xfrm>
            <a:off x="914400" y="8686800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0D58DD0-4F1D-47D9-A6E6-4433202EB9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195922"/>
            <a:ext cx="660090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237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49131"/>
            <a:ext cx="660090" cy="421200"/>
          </a:xfrm>
          <a:prstGeom prst="rect">
            <a:avLst/>
          </a:prstGeom>
        </p:spPr>
      </p:pic>
      <p:sp>
        <p:nvSpPr>
          <p:cNvPr id="6" name="Прямоугольник 24"/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555E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160000" y="259745"/>
            <a:ext cx="649062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06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B68A51D-33DD-5B4A-A86B-549782FCD6DF}" type="datetimeFigureOut">
              <a:rPr kumimoji="1" lang="zh-CN" altLang="en-US" smtClean="0"/>
              <a:pPr/>
              <a:t>2026/9/2</a:t>
            </a:fld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DA5CA41-69F7-7948-A690-E401A3852CA3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07835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9" r:id="rId4"/>
    <p:sldLayoutId id="2147483677" r:id="rId5"/>
    <p:sldLayoutId id="2147483678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256032"/>
            <a:ext cx="7195944" cy="369332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lang="zh-CN" altLang="en-US" sz="2400" b="1" dirty="0"/>
              <a:t>澳大利亚下半年增长主线：规模扩张 </a:t>
            </a:r>
            <a:r>
              <a:rPr lang="en-US" altLang="zh-CN" sz="2400" b="1" dirty="0"/>
              <a:t>× </a:t>
            </a:r>
            <a:r>
              <a:rPr lang="zh-CN" altLang="en-US" sz="2400" b="1" dirty="0"/>
              <a:t>客群价值提升</a:t>
            </a:r>
            <a:endParaRPr lang="zh-CN" altLang="en-US" sz="2100" b="1" dirty="0">
              <a:solidFill>
                <a:srgbClr val="0A23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033271"/>
            <a:ext cx="10881360" cy="0"/>
          </a:xfrm>
          <a:prstGeom prst="line">
            <a:avLst/>
          </a:prstGeom>
          <a:ln w="9525">
            <a:solidFill>
              <a:srgbClr val="DA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12064" y="1220579"/>
            <a:ext cx="45720" cy="182880"/>
          </a:xfrm>
          <a:prstGeom prst="rect">
            <a:avLst/>
          </a:prstGeom>
          <a:solidFill>
            <a:srgbClr val="0A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1792" y="1216152"/>
            <a:ext cx="2124043" cy="23044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50" b="1" dirty="0" err="1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模型现状（主模型</a:t>
            </a:r>
            <a:r>
              <a:rPr sz="1450" b="1" dirty="0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sz="1450" b="1" dirty="0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sz="1450" b="1" dirty="0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个）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77824" y="1920240"/>
            <a:ext cx="10588752" cy="0"/>
          </a:xfrm>
          <a:prstGeom prst="line">
            <a:avLst/>
          </a:prstGeom>
          <a:ln w="15240">
            <a:solidFill>
              <a:srgbClr val="C6D1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33215" y="1618488"/>
            <a:ext cx="1059649" cy="212879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30" b="1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 年 9 月</a:t>
            </a:r>
          </a:p>
        </p:txBody>
      </p:sp>
      <p:sp>
        <p:nvSpPr>
          <p:cNvPr id="12" name="Oval 11"/>
          <p:cNvSpPr/>
          <p:nvPr/>
        </p:nvSpPr>
        <p:spPr>
          <a:xfrm>
            <a:off x="1412748" y="1869948"/>
            <a:ext cx="100584" cy="100584"/>
          </a:xfrm>
          <a:prstGeom prst="ellipse">
            <a:avLst/>
          </a:prstGeom>
          <a:solidFill>
            <a:srgbClr val="5CA84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57200" y="2121408"/>
            <a:ext cx="2011680" cy="13533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78407" y="2199132"/>
            <a:ext cx="969264" cy="246888"/>
          </a:xfrm>
          <a:prstGeom prst="roundRect">
            <a:avLst/>
          </a:prstGeom>
          <a:solidFill>
            <a:srgbClr val="5C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已上线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495" y="2557959"/>
            <a:ext cx="1308115" cy="182229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</a:pPr>
            <a:r>
              <a:rPr sz="1120" b="1" dirty="0" err="1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老客风险主模型</a:t>
            </a:r>
            <a:r>
              <a:rPr sz="1120" b="1" dirty="0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769" y="2977991"/>
            <a:ext cx="1437958" cy="357342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780" b="1" dirty="0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OOT </a:t>
            </a:r>
            <a:r>
              <a:rPr sz="780" b="1" dirty="0" err="1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效果稳定，OOS</a:t>
            </a:r>
            <a:r>
              <a:rPr sz="780" b="1" dirty="0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0.</a:t>
            </a:r>
            <a:r>
              <a:rPr lang="en-US" sz="780" b="1" dirty="0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72</a:t>
            </a:r>
            <a:endParaRPr sz="800" b="1" dirty="0">
              <a:solidFill>
                <a:srgbClr val="5A677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780" b="1" dirty="0" err="1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上线</a:t>
            </a:r>
            <a:r>
              <a:rPr sz="780" b="1" dirty="0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10 </a:t>
            </a:r>
            <a:r>
              <a:rPr sz="780" b="1" dirty="0" err="1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个月</a:t>
            </a:r>
            <a:r>
              <a:rPr sz="780" b="1" dirty="0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AUC </a:t>
            </a:r>
            <a:r>
              <a:rPr sz="780" b="1" dirty="0" err="1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维持到</a:t>
            </a:r>
            <a:r>
              <a:rPr sz="780" b="1" dirty="0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0.6</a:t>
            </a:r>
            <a:r>
              <a:rPr lang="en-US" sz="780" b="1" dirty="0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endParaRPr sz="800" b="1" dirty="0">
              <a:solidFill>
                <a:srgbClr val="5A677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212036" y="1618488"/>
            <a:ext cx="1165447" cy="212879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30" b="1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 年 11 月</a:t>
            </a:r>
          </a:p>
        </p:txBody>
      </p:sp>
      <p:sp>
        <p:nvSpPr>
          <p:cNvPr id="19" name="Oval 18"/>
          <p:cNvSpPr/>
          <p:nvPr/>
        </p:nvSpPr>
        <p:spPr>
          <a:xfrm>
            <a:off x="3744468" y="1869948"/>
            <a:ext cx="100584" cy="100584"/>
          </a:xfrm>
          <a:prstGeom prst="ellipse">
            <a:avLst/>
          </a:prstGeom>
          <a:solidFill>
            <a:srgbClr val="5CA84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788920" y="2121408"/>
            <a:ext cx="2011680" cy="13533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310127" y="2199132"/>
            <a:ext cx="969264" cy="246888"/>
          </a:xfrm>
          <a:prstGeom prst="roundRect">
            <a:avLst/>
          </a:prstGeom>
          <a:solidFill>
            <a:srgbClr val="5C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已上线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44952" y="2670048"/>
            <a:ext cx="1308115" cy="182229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</a:pPr>
            <a:r>
              <a:rPr sz="1120" b="1" dirty="0" err="1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新客风险主模型</a:t>
            </a:r>
            <a:r>
              <a:rPr sz="1120" b="1" dirty="0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44952" y="2977991"/>
            <a:ext cx="1377044" cy="357342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780" b="1" dirty="0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OOT </a:t>
            </a:r>
            <a:r>
              <a:rPr sz="780" b="1" dirty="0" err="1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效果稳定，OOS</a:t>
            </a:r>
            <a:r>
              <a:rPr sz="780" b="1" dirty="0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0.69</a:t>
            </a: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780" b="1" dirty="0" err="1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上线</a:t>
            </a:r>
            <a:r>
              <a:rPr sz="780" b="1" dirty="0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8 </a:t>
            </a:r>
            <a:r>
              <a:rPr sz="780" b="1" dirty="0" err="1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个月</a:t>
            </a:r>
            <a:r>
              <a:rPr sz="780" b="1" dirty="0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AUC </a:t>
            </a:r>
            <a:r>
              <a:rPr sz="780" b="1" dirty="0" err="1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维持到</a:t>
            </a:r>
            <a:r>
              <a:rPr sz="780" b="1" dirty="0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0.66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96655" y="1618488"/>
            <a:ext cx="1059649" cy="212879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30" b="1" dirty="0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</a:t>
            </a:r>
            <a:r>
              <a:rPr lang="en-US" sz="1330" b="1" dirty="0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sz="1330" b="1" dirty="0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年 1 月</a:t>
            </a:r>
          </a:p>
        </p:txBody>
      </p:sp>
      <p:sp>
        <p:nvSpPr>
          <p:cNvPr id="26" name="Oval 25"/>
          <p:cNvSpPr/>
          <p:nvPr/>
        </p:nvSpPr>
        <p:spPr>
          <a:xfrm>
            <a:off x="6076188" y="1869948"/>
            <a:ext cx="100584" cy="100584"/>
          </a:xfrm>
          <a:prstGeom prst="ellipse">
            <a:avLst/>
          </a:prstGeom>
          <a:solidFill>
            <a:srgbClr val="7F848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120640" y="2121408"/>
            <a:ext cx="2011680" cy="13533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641848" y="2199132"/>
            <a:ext cx="969264" cy="246888"/>
          </a:xfrm>
          <a:prstGeom prst="roundRect">
            <a:avLst/>
          </a:prstGeom>
          <a:solidFill>
            <a:srgbClr val="7F8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  <a:r>
              <a:rPr lang="zh-CN" alt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手工名单</a:t>
            </a:r>
            <a:endParaRPr sz="1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275068" y="2670049"/>
            <a:ext cx="1740926" cy="182229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</a:pPr>
            <a:r>
              <a:rPr sz="1120" b="1" dirty="0" err="1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老客</a:t>
            </a:r>
            <a:r>
              <a:rPr lang="zh-CN" altLang="en-US" sz="1120" b="1" dirty="0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结清</a:t>
            </a:r>
            <a:r>
              <a:rPr sz="1120" b="1" dirty="0" err="1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复购意愿模型</a:t>
            </a:r>
            <a:r>
              <a:rPr sz="1120" b="1" dirty="0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28375" y="1618488"/>
            <a:ext cx="1059649" cy="212879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30" b="1" dirty="0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 年 3 月</a:t>
            </a:r>
          </a:p>
        </p:txBody>
      </p:sp>
      <p:sp>
        <p:nvSpPr>
          <p:cNvPr id="31" name="Oval 30"/>
          <p:cNvSpPr/>
          <p:nvPr/>
        </p:nvSpPr>
        <p:spPr>
          <a:xfrm>
            <a:off x="8407908" y="1869948"/>
            <a:ext cx="100584" cy="100584"/>
          </a:xfrm>
          <a:prstGeom prst="ellipse">
            <a:avLst/>
          </a:prstGeom>
          <a:solidFill>
            <a:srgbClr val="E8672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7452360" y="2121408"/>
            <a:ext cx="2011680" cy="13533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973568" y="2199132"/>
            <a:ext cx="969264" cy="246888"/>
          </a:xfrm>
          <a:prstGeom prst="roundRect">
            <a:avLst/>
          </a:prstGeom>
          <a:solidFill>
            <a:srgbClr val="E86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  <a:r>
              <a:rPr sz="1000" b="1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即将上线</a:t>
            </a:r>
            <a:endParaRPr sz="105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708392" y="2670048"/>
            <a:ext cx="1308115" cy="182229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</a:pPr>
            <a:r>
              <a:rPr sz="1120" b="1" dirty="0" err="1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老客风险主模型</a:t>
            </a:r>
            <a:r>
              <a:rPr sz="1120" b="1" dirty="0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2.</a:t>
            </a:r>
            <a:r>
              <a:rPr lang="en-US" altLang="zh-CN" sz="1120" b="1" dirty="0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60094" y="1618488"/>
            <a:ext cx="1059649" cy="212879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30" b="1" dirty="0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 年 6 月</a:t>
            </a:r>
          </a:p>
        </p:txBody>
      </p:sp>
      <p:sp>
        <p:nvSpPr>
          <p:cNvPr id="36" name="Oval 35"/>
          <p:cNvSpPr/>
          <p:nvPr/>
        </p:nvSpPr>
        <p:spPr>
          <a:xfrm>
            <a:off x="10739628" y="1869948"/>
            <a:ext cx="100584" cy="100584"/>
          </a:xfrm>
          <a:prstGeom prst="ellipse">
            <a:avLst/>
          </a:prstGeom>
          <a:solidFill>
            <a:srgbClr val="E8672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9784080" y="2121408"/>
            <a:ext cx="2011680" cy="13533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10305288" y="2199132"/>
            <a:ext cx="969264" cy="246888"/>
          </a:xfrm>
          <a:prstGeom prst="roundRect">
            <a:avLst/>
          </a:prstGeom>
          <a:solidFill>
            <a:srgbClr val="E86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即将上线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02560" y="2647187"/>
            <a:ext cx="875304" cy="182229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</a:pPr>
            <a:r>
              <a:rPr sz="1120" b="1" dirty="0" err="1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价值模型</a:t>
            </a:r>
            <a:r>
              <a:rPr sz="1120" b="1" dirty="0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1.0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2064" y="4331625"/>
            <a:ext cx="45720" cy="182880"/>
          </a:xfrm>
          <a:prstGeom prst="rect">
            <a:avLst/>
          </a:prstGeom>
          <a:solidFill>
            <a:srgbClr val="0A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21792" y="4304193"/>
            <a:ext cx="1152623" cy="23044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50" b="1" dirty="0" err="1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r>
              <a:rPr lang="zh-CN" altLang="en-US" sz="1450" b="1" dirty="0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主线</a:t>
            </a:r>
            <a:r>
              <a:rPr sz="1450" b="1" dirty="0" err="1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规划</a:t>
            </a:r>
            <a:endParaRPr sz="1450" b="1" dirty="0">
              <a:solidFill>
                <a:srgbClr val="0A23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76656" y="4644358"/>
            <a:ext cx="3401568" cy="1554480"/>
          </a:xfrm>
          <a:prstGeom prst="roundRect">
            <a:avLst/>
          </a:prstGeom>
          <a:solidFill>
            <a:srgbClr val="F6F8FB"/>
          </a:solidFill>
          <a:ln w="1143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50976" y="4827238"/>
            <a:ext cx="775918" cy="237757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lang="en-US" altLang="zh-CN" sz="1500" b="1" dirty="0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AI+</a:t>
            </a:r>
            <a:r>
              <a:rPr lang="zh-CN" altLang="en-US" sz="1500" b="1" dirty="0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基建</a:t>
            </a:r>
            <a:endParaRPr sz="1500" b="1" dirty="0">
              <a:solidFill>
                <a:srgbClr val="0A23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960120" y="5147278"/>
            <a:ext cx="548640" cy="27432"/>
          </a:xfrm>
          <a:prstGeom prst="rect">
            <a:avLst/>
          </a:prstGeom>
          <a:solidFill>
            <a:srgbClr val="226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950976" y="5412454"/>
            <a:ext cx="50292" cy="50292"/>
          </a:xfrm>
          <a:prstGeom prst="ellipse">
            <a:avLst/>
          </a:prstGeom>
          <a:solidFill>
            <a:srgbClr val="226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097280" y="5362162"/>
            <a:ext cx="2430217" cy="16466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lang="zh-CN" altLang="en-US" sz="960" b="1" dirty="0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银行流水</a:t>
            </a:r>
            <a:r>
              <a:rPr sz="960" b="1" dirty="0" err="1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分类模型</a:t>
            </a:r>
            <a:r>
              <a:rPr lang="zh-CN" altLang="en-US" sz="960" b="1" dirty="0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000" dirty="0"/>
              <a:t>构建自主交易分类能力</a:t>
            </a:r>
            <a:endParaRPr sz="1050" b="0" dirty="0">
              <a:solidFill>
                <a:srgbClr val="20395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950976" y="5645626"/>
            <a:ext cx="50292" cy="50292"/>
          </a:xfrm>
          <a:prstGeom prst="ellipse">
            <a:avLst/>
          </a:prstGeom>
          <a:solidFill>
            <a:srgbClr val="226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097280" y="5611933"/>
            <a:ext cx="2763642" cy="158826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60" b="1" dirty="0" err="1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人群画像</a:t>
            </a:r>
            <a:r>
              <a:rPr sz="960" b="1" dirty="0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AI </a:t>
            </a:r>
            <a:r>
              <a:rPr sz="960" b="1" dirty="0" err="1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智能体</a:t>
            </a:r>
            <a:r>
              <a:rPr sz="960" b="1" dirty="0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960" b="1" dirty="0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澳洲</a:t>
            </a:r>
            <a:r>
              <a:rPr sz="960" b="0" dirty="0" err="1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竞品</a:t>
            </a:r>
            <a:r>
              <a:rPr lang="zh-CN" altLang="en-US" sz="960" b="0" dirty="0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要素</a:t>
            </a:r>
            <a:r>
              <a:rPr lang="zh-CN" altLang="en-US" sz="960" dirty="0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</a:t>
            </a:r>
            <a:r>
              <a:rPr lang="zh-CN" altLang="en-US" sz="960" b="0" dirty="0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实时</a:t>
            </a:r>
            <a:r>
              <a:rPr sz="960" b="0" dirty="0" err="1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追踪</a:t>
            </a:r>
            <a:endParaRPr sz="1050" b="0" dirty="0">
              <a:solidFill>
                <a:srgbClr val="20395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Oval 52"/>
          <p:cNvSpPr/>
          <p:nvPr/>
        </p:nvSpPr>
        <p:spPr>
          <a:xfrm>
            <a:off x="950976" y="5878797"/>
            <a:ext cx="50292" cy="50292"/>
          </a:xfrm>
          <a:prstGeom prst="ellipse">
            <a:avLst/>
          </a:prstGeom>
          <a:solidFill>
            <a:srgbClr val="226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097280" y="5845105"/>
            <a:ext cx="2688300" cy="158826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60" b="1" dirty="0" err="1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贷中流水查询：</a:t>
            </a:r>
            <a:r>
              <a:rPr sz="960" b="0" dirty="0" err="1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贷中运营、贷后扣款</a:t>
            </a:r>
            <a:r>
              <a:rPr lang="zh-CN" altLang="en-US" sz="960" b="0" dirty="0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最重要基建</a:t>
            </a:r>
            <a:endParaRPr sz="1050" b="0" dirty="0">
              <a:solidFill>
                <a:srgbClr val="20395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4379976" y="4644358"/>
            <a:ext cx="3401568" cy="1554480"/>
          </a:xfrm>
          <a:prstGeom prst="roundRect">
            <a:avLst/>
          </a:prstGeom>
          <a:solidFill>
            <a:srgbClr val="F6F8FB"/>
          </a:solidFill>
          <a:ln w="1143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654296" y="4827238"/>
            <a:ext cx="412036" cy="231923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60" b="1" dirty="0" err="1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投放</a:t>
            </a:r>
            <a:endParaRPr sz="1500" b="1" dirty="0">
              <a:solidFill>
                <a:srgbClr val="0A23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663440" y="5147278"/>
            <a:ext cx="548640" cy="27432"/>
          </a:xfrm>
          <a:prstGeom prst="rect">
            <a:avLst/>
          </a:prstGeom>
          <a:solidFill>
            <a:srgbClr val="CB8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654296" y="5412454"/>
            <a:ext cx="50292" cy="50292"/>
          </a:xfrm>
          <a:prstGeom prst="ellipse">
            <a:avLst/>
          </a:prstGeom>
          <a:solidFill>
            <a:srgbClr val="CB8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4800600" y="5362162"/>
            <a:ext cx="3113096" cy="16466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lang="zh-CN" altLang="en-US" sz="1000" b="1" dirty="0"/>
              <a:t>高价值人群圈选 </a:t>
            </a:r>
            <a:r>
              <a:rPr lang="en-US" altLang="zh-CN" sz="1000" b="1" dirty="0"/>
              <a:t>/ </a:t>
            </a:r>
            <a:r>
              <a:rPr lang="zh-CN" altLang="en-US" sz="1000" b="1" dirty="0"/>
              <a:t>回传</a:t>
            </a:r>
            <a:r>
              <a:rPr lang="zh-CN" altLang="en-US" sz="960" b="1" dirty="0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000" dirty="0"/>
              <a:t>筛选优质客群，推动人群上浮</a:t>
            </a:r>
            <a:endParaRPr sz="1050" b="0" dirty="0">
              <a:solidFill>
                <a:srgbClr val="20395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Oval 60"/>
          <p:cNvSpPr/>
          <p:nvPr/>
        </p:nvSpPr>
        <p:spPr>
          <a:xfrm>
            <a:off x="4654296" y="5645626"/>
            <a:ext cx="50292" cy="50292"/>
          </a:xfrm>
          <a:prstGeom prst="ellipse">
            <a:avLst/>
          </a:prstGeom>
          <a:solidFill>
            <a:srgbClr val="CB8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800600" y="5595334"/>
            <a:ext cx="2814938" cy="16466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lang="zh-CN" altLang="en-US" sz="960" b="1" dirty="0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回传效果</a:t>
            </a:r>
            <a:r>
              <a:rPr sz="960" b="1" dirty="0" err="1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归因</a:t>
            </a:r>
            <a:r>
              <a:rPr lang="zh-CN" altLang="en-US" sz="960" b="1" dirty="0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工具：</a:t>
            </a:r>
            <a:r>
              <a:rPr lang="zh-CN" altLang="en-US" sz="1000" dirty="0"/>
              <a:t>衡量人群真实转化与投放价值</a:t>
            </a:r>
            <a:endParaRPr sz="1050" b="0" dirty="0">
              <a:solidFill>
                <a:srgbClr val="20395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8083296" y="4644358"/>
            <a:ext cx="3401568" cy="1554480"/>
          </a:xfrm>
          <a:prstGeom prst="roundRect">
            <a:avLst/>
          </a:prstGeom>
          <a:solidFill>
            <a:srgbClr val="F6F8FB"/>
          </a:solidFill>
          <a:ln w="1143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357616" y="4827238"/>
            <a:ext cx="412036" cy="231923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60" b="1" dirty="0" err="1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风险</a:t>
            </a:r>
            <a:endParaRPr sz="1500" b="1" dirty="0">
              <a:solidFill>
                <a:srgbClr val="0A23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8366760" y="5147278"/>
            <a:ext cx="548640" cy="27432"/>
          </a:xfrm>
          <a:prstGeom prst="rect">
            <a:avLst/>
          </a:prstGeom>
          <a:solidFill>
            <a:srgbClr val="CD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8357616" y="5412454"/>
            <a:ext cx="50292" cy="50292"/>
          </a:xfrm>
          <a:prstGeom prst="ellipse">
            <a:avLst/>
          </a:prstGeom>
          <a:solidFill>
            <a:srgbClr val="CD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8508492" y="5337862"/>
            <a:ext cx="2978444" cy="158826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60" b="1" dirty="0" err="1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风险</a:t>
            </a:r>
            <a:r>
              <a:rPr sz="960" b="1" dirty="0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× </a:t>
            </a:r>
            <a:r>
              <a:rPr sz="960" b="1" dirty="0" err="1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价值模型：</a:t>
            </a:r>
            <a:r>
              <a:rPr lang="en-US" altLang="zh-CN" sz="960" b="0" dirty="0" err="1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Non</a:t>
            </a:r>
            <a:r>
              <a:rPr lang="en-US" altLang="zh-CN" sz="960" b="0" dirty="0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960" b="0" dirty="0" err="1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Sacc</a:t>
            </a:r>
            <a:r>
              <a:rPr sz="960" b="0" dirty="0" err="1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打开最主要的抓手</a:t>
            </a:r>
            <a:r>
              <a:rPr lang="zh-CN" altLang="en-US" sz="960" b="0" dirty="0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！！！</a:t>
            </a:r>
            <a:endParaRPr sz="1050" b="0" dirty="0">
              <a:solidFill>
                <a:srgbClr val="20395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3" name="Connector 72"/>
          <p:cNvCxnSpPr/>
          <p:nvPr/>
        </p:nvCxnSpPr>
        <p:spPr>
          <a:xfrm>
            <a:off x="466344" y="6582886"/>
            <a:ext cx="10881360" cy="0"/>
          </a:xfrm>
          <a:prstGeom prst="line">
            <a:avLst/>
          </a:prstGeom>
          <a:ln w="7620">
            <a:solidFill>
              <a:srgbClr val="EB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2">
            <a:extLst>
              <a:ext uri="{FF2B5EF4-FFF2-40B4-BE49-F238E27FC236}">
                <a16:creationId xmlns:a16="http://schemas.microsoft.com/office/drawing/2014/main" id="{5707EF5B-DFB4-45A5-B245-97D25774B6DA}"/>
              </a:ext>
            </a:extLst>
          </p:cNvPr>
          <p:cNvSpPr txBox="1"/>
          <p:nvPr/>
        </p:nvSpPr>
        <p:spPr>
          <a:xfrm>
            <a:off x="502920" y="749808"/>
            <a:ext cx="5392566" cy="19851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zh-CN" altLang="en-US" sz="1050" dirty="0"/>
              <a:t>以 </a:t>
            </a:r>
            <a:r>
              <a:rPr lang="en-US" altLang="zh-CN" sz="1050" dirty="0"/>
              <a:t>LACC / High MACC </a:t>
            </a:r>
            <a:r>
              <a:rPr lang="zh-CN" altLang="en-US" sz="1050" dirty="0"/>
              <a:t>拉动规模，以价值模型驱动投放与风控，持续提升高价值客群占比</a:t>
            </a:r>
            <a:endParaRPr sz="1100" b="0" dirty="0">
              <a:solidFill>
                <a:srgbClr val="5B667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684EE95-79F0-4FA1-8B5C-558824AC7093}"/>
              </a:ext>
            </a:extLst>
          </p:cNvPr>
          <p:cNvSpPr/>
          <p:nvPr/>
        </p:nvSpPr>
        <p:spPr>
          <a:xfrm>
            <a:off x="221742" y="3529401"/>
            <a:ext cx="2382012" cy="5029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做一个很小趋势图，说明稳定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8B32027C-95E2-4C7B-8A41-85C3B7EED688}"/>
              </a:ext>
            </a:extLst>
          </p:cNvPr>
          <p:cNvSpPr/>
          <p:nvPr/>
        </p:nvSpPr>
        <p:spPr>
          <a:xfrm>
            <a:off x="9674347" y="1963513"/>
            <a:ext cx="2331729" cy="2076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/>
              <a:t>未来</a:t>
            </a:r>
            <a:r>
              <a:rPr lang="en-US" altLang="zh-CN" sz="1050" dirty="0"/>
              <a:t>3</a:t>
            </a:r>
            <a:r>
              <a:rPr lang="zh-CN" altLang="en-US" sz="1050" dirty="0"/>
              <a:t>个月利息收入（</a:t>
            </a:r>
            <a:r>
              <a:rPr lang="en-US" altLang="zh-CN" sz="1050" dirty="0"/>
              <a:t>1/ 0 </a:t>
            </a:r>
            <a:r>
              <a:rPr lang="zh-CN" altLang="en-US" sz="1050" dirty="0"/>
              <a:t>）二分类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F52DB968-FF5A-4734-9A2F-4FBC48908CD0}"/>
              </a:ext>
            </a:extLst>
          </p:cNvPr>
          <p:cNvSpPr/>
          <p:nvPr/>
        </p:nvSpPr>
        <p:spPr>
          <a:xfrm>
            <a:off x="753899" y="1985530"/>
            <a:ext cx="1418279" cy="2076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/>
              <a:t>3M30+</a:t>
            </a:r>
            <a:endParaRPr lang="zh-CN" altLang="en-US" sz="1050" dirty="0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97493D13-E2F1-4450-B8A6-D113A806819E}"/>
              </a:ext>
            </a:extLst>
          </p:cNvPr>
          <p:cNvSpPr/>
          <p:nvPr/>
        </p:nvSpPr>
        <p:spPr>
          <a:xfrm>
            <a:off x="3099870" y="1982677"/>
            <a:ext cx="1418279" cy="2076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/>
              <a:t>3M30+</a:t>
            </a:r>
            <a:endParaRPr lang="zh-CN" altLang="en-US" sz="1050" dirty="0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C9B3D608-B17A-43DA-A589-6299DDF42CF7}"/>
              </a:ext>
            </a:extLst>
          </p:cNvPr>
          <p:cNvSpPr/>
          <p:nvPr/>
        </p:nvSpPr>
        <p:spPr>
          <a:xfrm>
            <a:off x="5417339" y="1982677"/>
            <a:ext cx="1418279" cy="2076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/>
              <a:t>结清</a:t>
            </a:r>
            <a:r>
              <a:rPr lang="en-US" altLang="zh-CN" sz="1050" dirty="0"/>
              <a:t>7</a:t>
            </a:r>
            <a:r>
              <a:rPr lang="zh-CN" altLang="en-US" sz="1050" dirty="0"/>
              <a:t>天内响应概率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E58800E0-F22B-4456-BD86-69C2F2A2BCF6}"/>
              </a:ext>
            </a:extLst>
          </p:cNvPr>
          <p:cNvSpPr/>
          <p:nvPr/>
        </p:nvSpPr>
        <p:spPr>
          <a:xfrm>
            <a:off x="7749059" y="2022085"/>
            <a:ext cx="1418279" cy="2076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/>
              <a:t>3M30+</a:t>
            </a:r>
            <a:endParaRPr lang="zh-CN" altLang="en-US" sz="1050" dirty="0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5A0FBF5A-CEE3-4399-8866-C8C604693E86}"/>
              </a:ext>
            </a:extLst>
          </p:cNvPr>
          <p:cNvSpPr/>
          <p:nvPr/>
        </p:nvSpPr>
        <p:spPr>
          <a:xfrm>
            <a:off x="2618004" y="3529400"/>
            <a:ext cx="2382012" cy="5029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做一个很小趋势图，说明稳定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6965E140-AEA3-4ACA-A76E-DCFFC61C629B}"/>
              </a:ext>
            </a:extLst>
          </p:cNvPr>
          <p:cNvSpPr/>
          <p:nvPr/>
        </p:nvSpPr>
        <p:spPr>
          <a:xfrm>
            <a:off x="7267192" y="3545835"/>
            <a:ext cx="2382012" cy="5029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做一个很小趋势图，说明稳定</a:t>
            </a:r>
          </a:p>
        </p:txBody>
      </p:sp>
      <p:sp>
        <p:nvSpPr>
          <p:cNvPr id="82" name="TextBox 23">
            <a:extLst>
              <a:ext uri="{FF2B5EF4-FFF2-40B4-BE49-F238E27FC236}">
                <a16:creationId xmlns:a16="http://schemas.microsoft.com/office/drawing/2014/main" id="{5FEDA1BB-C328-49A9-B0B7-C0D4185548C7}"/>
              </a:ext>
            </a:extLst>
          </p:cNvPr>
          <p:cNvSpPr txBox="1"/>
          <p:nvPr/>
        </p:nvSpPr>
        <p:spPr>
          <a:xfrm>
            <a:off x="7769676" y="2993788"/>
            <a:ext cx="1377044" cy="357342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780" b="1" dirty="0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OOT </a:t>
            </a:r>
            <a:r>
              <a:rPr sz="780" b="1" dirty="0" err="1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效果稳定，OOS</a:t>
            </a:r>
            <a:r>
              <a:rPr sz="780" b="1" dirty="0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0.69</a:t>
            </a: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780" b="1" dirty="0" err="1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上线</a:t>
            </a:r>
            <a:r>
              <a:rPr sz="780" b="1" dirty="0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8 </a:t>
            </a:r>
            <a:r>
              <a:rPr sz="780" b="1" dirty="0" err="1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个月</a:t>
            </a:r>
            <a:r>
              <a:rPr sz="780" b="1" dirty="0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AUC </a:t>
            </a:r>
            <a:r>
              <a:rPr sz="780" b="1" dirty="0" err="1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维持到</a:t>
            </a:r>
            <a:r>
              <a:rPr sz="780" b="1" dirty="0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0.66</a:t>
            </a:r>
          </a:p>
        </p:txBody>
      </p:sp>
      <p:sp>
        <p:nvSpPr>
          <p:cNvPr id="83" name="TextBox 23">
            <a:extLst>
              <a:ext uri="{FF2B5EF4-FFF2-40B4-BE49-F238E27FC236}">
                <a16:creationId xmlns:a16="http://schemas.microsoft.com/office/drawing/2014/main" id="{256EF77F-302F-42A4-A240-05A122E5A6D0}"/>
              </a:ext>
            </a:extLst>
          </p:cNvPr>
          <p:cNvSpPr txBox="1"/>
          <p:nvPr/>
        </p:nvSpPr>
        <p:spPr>
          <a:xfrm>
            <a:off x="10051106" y="3011731"/>
            <a:ext cx="1377044" cy="357342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780" b="1" dirty="0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OOT </a:t>
            </a:r>
            <a:r>
              <a:rPr sz="780" b="1" dirty="0" err="1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效果稳定，OOS</a:t>
            </a:r>
            <a:r>
              <a:rPr sz="780" b="1" dirty="0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0.69</a:t>
            </a: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780" b="1" dirty="0" err="1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上线</a:t>
            </a:r>
            <a:r>
              <a:rPr sz="780" b="1" dirty="0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8 </a:t>
            </a:r>
            <a:r>
              <a:rPr sz="780" b="1" dirty="0" err="1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个月</a:t>
            </a:r>
            <a:r>
              <a:rPr sz="780" b="1" dirty="0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AUC </a:t>
            </a:r>
            <a:r>
              <a:rPr sz="780" b="1" dirty="0" err="1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维持到</a:t>
            </a:r>
            <a:r>
              <a:rPr sz="780" b="1" dirty="0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0.66</a:t>
            </a:r>
          </a:p>
        </p:txBody>
      </p:sp>
    </p:spTree>
    <p:extLst>
      <p:ext uri="{BB962C8B-B14F-4D97-AF65-F5344CB8AC3E}">
        <p14:creationId xmlns:p14="http://schemas.microsoft.com/office/powerpoint/2010/main" val="2129705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1362" y="256033"/>
            <a:ext cx="5303520" cy="329184"/>
          </a:xfrm>
          <a:prstGeom prst="rect">
            <a:avLst/>
          </a:prstGeom>
          <a:noFill/>
        </p:spPr>
        <p:txBody>
          <a:bodyPr wrap="square" lIns="0" tIns="0" rIns="36576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价值好的人群画像长什么样</a:t>
            </a:r>
            <a:endParaRPr kumimoji="0" sz="1800" b="1" i="0" u="none" strike="noStrike" kern="1200" cap="none" spc="0" normalizeH="0" baseline="0" noProof="0" dirty="0">
              <a:ln>
                <a:noFill/>
              </a:ln>
              <a:solidFill>
                <a:srgbClr val="132A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37392" cy="9144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197864"/>
            <a:ext cx="11137392" cy="393192"/>
          </a:xfrm>
          <a:prstGeom prst="roundRect">
            <a:avLst/>
          </a:prstGeom>
          <a:solidFill>
            <a:srgbClr val="EFF5FC"/>
          </a:solidFill>
          <a:ln w="889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60" b="1" i="0" u="none" strike="noStrike" kern="1200" cap="none" spc="0" normalizeH="0" baseline="0" noProof="0" dirty="0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价值模型看“经济基础”，风险模型看“风险迹象”。风险水平接近，收入和资金实力也可能不同；经济基础较好，也不代表没有风险行为。两者交叉，</a:t>
            </a:r>
            <a:r>
              <a:rPr lang="zh-CN" altLang="en-US" sz="960" b="1" dirty="0">
                <a:solidFill>
                  <a:srgbClr val="15243A"/>
                </a:solidFill>
                <a:latin typeface="Microsoft YaHei"/>
                <a:ea typeface="微软雅黑"/>
              </a:rPr>
              <a:t>更能</a:t>
            </a:r>
            <a:r>
              <a:rPr kumimoji="0" sz="960" b="1" i="0" u="none" strike="noStrike" kern="1200" cap="none" spc="0" normalizeH="0" baseline="0" noProof="0" dirty="0" err="1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分层筛出</a:t>
            </a:r>
            <a:r>
              <a:rPr kumimoji="0" lang="zh-CN" altLang="en-US" sz="960" b="1" i="0" u="none" strike="noStrike" kern="1200" cap="none" spc="0" normalizeH="0" baseline="0" noProof="0" dirty="0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目标</a:t>
            </a:r>
            <a:r>
              <a:rPr kumimoji="0" sz="960" b="1" i="0" u="none" strike="noStrike" kern="1200" cap="none" spc="0" normalizeH="0" baseline="0" noProof="0" dirty="0" err="1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客群</a:t>
            </a:r>
            <a:r>
              <a:rPr kumimoji="0" sz="960" b="1" i="0" u="none" strike="noStrike" kern="1200" cap="none" spc="0" normalizeH="0" baseline="0" noProof="0" dirty="0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。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" y="1810512"/>
            <a:ext cx="45720" cy="182880"/>
          </a:xfrm>
          <a:prstGeom prst="rect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59" y="1809619"/>
            <a:ext cx="3706707" cy="184666"/>
          </a:xfrm>
          <a:prstGeom prst="rect">
            <a:avLst/>
          </a:prstGeom>
          <a:noFill/>
        </p:spPr>
        <p:txBody>
          <a:bodyPr wrap="square" lIns="0" tIns="0" rIns="36576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一、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申请样本：</a:t>
            </a:r>
            <a:r>
              <a:rPr kumimoji="0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价值好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top20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 VS </a:t>
            </a:r>
            <a:r>
              <a:rPr kumimoji="0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风险好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top20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）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 </a:t>
            </a:r>
            <a:endParaRPr kumimoji="0" sz="1200" b="1" i="0" u="none" strike="noStrike" kern="1200" cap="none" spc="0" normalizeH="0" baseline="0" noProof="0" dirty="0">
              <a:ln>
                <a:noFill/>
              </a:ln>
              <a:solidFill>
                <a:srgbClr val="132A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02920" y="2084831"/>
          <a:ext cx="11137392" cy="34792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166740190"/>
                    </a:ext>
                  </a:extLst>
                </a:gridCol>
                <a:gridCol w="4507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 dirty="0" err="1">
                          <a:solidFill>
                            <a:srgbClr val="15243A"/>
                          </a:solidFill>
                          <a:latin typeface="Microsoft YaHei" panose="020B0503020204020204" pitchFamily="34" charset="-122"/>
                          <a:ea typeface="微软雅黑" panose="020B0503020204020204" pitchFamily="34" charset="-122"/>
                        </a:rPr>
                        <a:t>指标</a:t>
                      </a:r>
                      <a:endParaRPr sz="900" b="1" dirty="0">
                        <a:solidFill>
                          <a:srgbClr val="142A4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288" marR="18288" marT="13716" marB="13716" anchor="ctr">
                    <a:solidFill>
                      <a:srgbClr val="E1E9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 dirty="0" err="1">
                          <a:solidFill>
                            <a:srgbClr val="15243A"/>
                          </a:solidFill>
                          <a:latin typeface="Microsoft YaHei" panose="020B0503020204020204" pitchFamily="34" charset="-122"/>
                          <a:ea typeface="微软雅黑" panose="020B0503020204020204" pitchFamily="34" charset="-122"/>
                        </a:rPr>
                        <a:t>风险好</a:t>
                      </a:r>
                      <a:endParaRPr sz="900" b="1" dirty="0">
                        <a:solidFill>
                          <a:srgbClr val="142A4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288" marR="18288" marT="13716" marB="13716" anchor="ctr">
                    <a:solidFill>
                      <a:srgbClr val="E1E9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 dirty="0" err="1">
                          <a:solidFill>
                            <a:srgbClr val="15243A"/>
                          </a:solidFill>
                          <a:latin typeface="Microsoft YaHei" panose="020B0503020204020204" pitchFamily="34" charset="-122"/>
                          <a:ea typeface="微软雅黑" panose="020B0503020204020204" pitchFamily="34" charset="-122"/>
                        </a:rPr>
                        <a:t>价值好</a:t>
                      </a:r>
                      <a:endParaRPr sz="900" b="1" dirty="0">
                        <a:solidFill>
                          <a:srgbClr val="142A4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288" marR="18288" marT="13716" marB="13716" anchor="ctr">
                    <a:solidFill>
                      <a:srgbClr val="E1E9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 dirty="0" err="1">
                          <a:solidFill>
                            <a:srgbClr val="15243A"/>
                          </a:solidFill>
                          <a:latin typeface="Microsoft YaHei" panose="020B0503020204020204" pitchFamily="34" charset="-122"/>
                          <a:ea typeface="微软雅黑" panose="020B0503020204020204" pitchFamily="34" charset="-122"/>
                        </a:rPr>
                        <a:t>差异（%）</a:t>
                      </a:r>
                    </a:p>
                  </a:txBody>
                  <a:tcPr marL="18288" marR="18288" marT="13716" marB="13716" anchor="ctr">
                    <a:solidFill>
                      <a:srgbClr val="E1E9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澳大利亚经营价值画像标签</a:t>
                      </a:r>
                    </a:p>
                  </a:txBody>
                  <a:tcPr marL="18288" marR="18288" marT="13716" marB="13716" anchor="ctr">
                    <a:solidFill>
                      <a:srgbClr val="C69A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1" dirty="0" err="1">
                          <a:solidFill>
                            <a:srgbClr val="15243A"/>
                          </a:solidFill>
                          <a:latin typeface="Microsoft YaHei" panose="020B0503020204020204" pitchFamily="34" charset="-122"/>
                          <a:ea typeface="微软雅黑" panose="020B0503020204020204" pitchFamily="34" charset="-122"/>
                        </a:rPr>
                        <a:t>余额标准差</a:t>
                      </a:r>
                      <a:endParaRPr sz="900" b="1" dirty="0">
                        <a:solidFill>
                          <a:srgbClr val="142A4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288" marR="18288" marT="13716" marB="13716">
                    <a:lnL w="7620">
                      <a:solidFill>
                        <a:srgbClr val="FFFFFF"/>
                      </a:solidFill>
                    </a:lnL>
                    <a:lnR w="7620">
                      <a:solidFill>
                        <a:srgbClr val="FFFFFF"/>
                      </a:solidFill>
                    </a:lnR>
                    <a:lnB w="76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0" dirty="0">
                          <a:solidFill>
                            <a:srgbClr val="15243A"/>
                          </a:solidFill>
                          <a:latin typeface="Microsoft YaHei" panose="020B0503020204020204" pitchFamily="34" charset="-122"/>
                          <a:ea typeface="微软雅黑" panose="020B0503020204020204" pitchFamily="34" charset="-122"/>
                        </a:rPr>
                        <a:t>2,688</a:t>
                      </a:r>
                    </a:p>
                  </a:txBody>
                  <a:tcPr marL="18288" marR="18288" marT="13716" marB="13716">
                    <a:lnL w="7620">
                      <a:solidFill>
                        <a:srgbClr val="FFFFFF"/>
                      </a:solidFill>
                    </a:lnL>
                    <a:lnR w="7620">
                      <a:solidFill>
                        <a:srgbClr val="FFFFFF"/>
                      </a:solidFill>
                    </a:lnR>
                    <a:lnB w="76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1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微软雅黑" panose="020B0503020204020204" pitchFamily="34" charset="-122"/>
                        </a:rPr>
                        <a:t>6,360</a:t>
                      </a:r>
                    </a:p>
                  </a:txBody>
                  <a:tcPr marL="18288" marR="18288" marT="13716" marB="13716">
                    <a:lnL w="7620">
                      <a:solidFill>
                        <a:srgbClr val="FFFFFF"/>
                      </a:solidFill>
                    </a:lnL>
                    <a:lnR w="7620">
                      <a:solidFill>
                        <a:srgbClr val="FFFFFF"/>
                      </a:solidFill>
                    </a:lnR>
                    <a:lnB w="76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dirty="0">
                          <a:solidFill>
                            <a:srgbClr val="0C4A7A"/>
                          </a:solidFill>
                          <a:latin typeface="Microsoft YaHei"/>
                        </a:rPr>
                        <a:t>+136.6%</a:t>
                      </a:r>
                    </a:p>
                  </a:txBody>
                  <a:tcPr marL="18288" marR="18288" marT="13716" marB="13716">
                    <a:lnL w="7620">
                      <a:solidFill>
                        <a:srgbClr val="FFFFFF"/>
                      </a:solidFill>
                    </a:lnL>
                    <a:lnR w="7620">
                      <a:solidFill>
                        <a:srgbClr val="FFFFFF"/>
                      </a:solidFill>
                    </a:lnR>
                    <a:lnB w="76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6C4A00"/>
                          </a:solidFill>
                          <a:latin typeface="Microsoft YaHei"/>
                        </a:rPr>
                        <a:t>资金进出更活跃</a:t>
                      </a:r>
                    </a:p>
                  </a:txBody>
                  <a:tcPr marL="18288" marR="18288" marT="13716" marB="13716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860" b="1" dirty="0">
                          <a:solidFill>
                            <a:srgbClr val="15243A"/>
                          </a:solidFill>
                          <a:latin typeface="Microsoft YaHei" panose="020B0503020204020204" pitchFamily="34" charset="-122"/>
                          <a:ea typeface="微软雅黑" panose="020B0503020204020204" pitchFamily="34" charset="-122"/>
                        </a:rPr>
                        <a:t>总</a:t>
                      </a:r>
                      <a:r>
                        <a:rPr sz="860" b="1" dirty="0" err="1">
                          <a:solidFill>
                            <a:srgbClr val="15243A"/>
                          </a:solidFill>
                          <a:latin typeface="Microsoft YaHei" panose="020B0503020204020204" pitchFamily="34" charset="-122"/>
                          <a:ea typeface="微软雅黑" panose="020B0503020204020204" pitchFamily="34" charset="-122"/>
                        </a:rPr>
                        <a:t>总支出金额</a:t>
                      </a:r>
                      <a:endParaRPr sz="900" b="1" dirty="0">
                        <a:solidFill>
                          <a:srgbClr val="142A4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288" marR="18288" marT="13716" marB="13716">
                    <a:lnL w="7620">
                      <a:solidFill>
                        <a:srgbClr val="FFFFFF"/>
                      </a:solidFill>
                    </a:lnL>
                    <a:lnR w="7620">
                      <a:solidFill>
                        <a:srgbClr val="FFFFFF"/>
                      </a:solidFill>
                    </a:lnR>
                    <a:lnT w="7620">
                      <a:solidFill>
                        <a:srgbClr val="FFFFFF"/>
                      </a:solidFill>
                    </a:lnT>
                    <a:lnB w="7620">
                      <a:solidFill>
                        <a:srgbClr val="FFFFFF"/>
                      </a:solidFill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0" dirty="0">
                          <a:solidFill>
                            <a:srgbClr val="15243A"/>
                          </a:solidFill>
                          <a:latin typeface="Microsoft YaHei" panose="020B0503020204020204" pitchFamily="34" charset="-122"/>
                          <a:ea typeface="微软雅黑" panose="020B0503020204020204" pitchFamily="34" charset="-122"/>
                        </a:rPr>
                        <a:t>66,684</a:t>
                      </a:r>
                    </a:p>
                  </a:txBody>
                  <a:tcPr marL="18288" marR="18288" marT="13716" marB="13716">
                    <a:lnL w="7620">
                      <a:solidFill>
                        <a:srgbClr val="FFFFFF"/>
                      </a:solidFill>
                    </a:lnL>
                    <a:lnR w="7620">
                      <a:solidFill>
                        <a:srgbClr val="FFFFFF"/>
                      </a:solidFill>
                    </a:lnR>
                    <a:lnT w="7620">
                      <a:solidFill>
                        <a:srgbClr val="FFFFFF"/>
                      </a:solidFill>
                    </a:lnT>
                    <a:lnB w="7620">
                      <a:solidFill>
                        <a:srgbClr val="FFFFFF"/>
                      </a:solidFill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1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微软雅黑" panose="020B0503020204020204" pitchFamily="34" charset="-122"/>
                        </a:rPr>
                        <a:t>139,715</a:t>
                      </a:r>
                    </a:p>
                  </a:txBody>
                  <a:tcPr marL="18288" marR="18288" marT="13716" marB="13716">
                    <a:lnL w="7620">
                      <a:solidFill>
                        <a:srgbClr val="FFFFFF"/>
                      </a:solidFill>
                    </a:lnL>
                    <a:lnR w="7620">
                      <a:solidFill>
                        <a:srgbClr val="FFFFFF"/>
                      </a:solidFill>
                    </a:lnR>
                    <a:lnT w="7620">
                      <a:solidFill>
                        <a:srgbClr val="FFFFFF"/>
                      </a:solidFill>
                    </a:lnT>
                    <a:lnB w="7620">
                      <a:solidFill>
                        <a:srgbClr val="FFFFFF"/>
                      </a:solidFill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C4A7A"/>
                          </a:solidFill>
                          <a:latin typeface="Microsoft YaHei"/>
                        </a:rPr>
                        <a:t>+109.5%</a:t>
                      </a:r>
                    </a:p>
                  </a:txBody>
                  <a:tcPr marL="18288" marR="18288" marT="13716" marB="13716">
                    <a:lnL w="7620">
                      <a:solidFill>
                        <a:srgbClr val="FFFFFF"/>
                      </a:solidFill>
                    </a:lnL>
                    <a:lnR w="7620">
                      <a:solidFill>
                        <a:srgbClr val="FFFFFF"/>
                      </a:solidFill>
                    </a:lnR>
                    <a:lnT w="7620">
                      <a:solidFill>
                        <a:srgbClr val="FFFFFF"/>
                      </a:solidFill>
                    </a:lnT>
                    <a:lnB w="7620">
                      <a:solidFill>
                        <a:srgbClr val="FFFFFF"/>
                      </a:solidFill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dirty="0" err="1">
                          <a:solidFill>
                            <a:srgbClr val="6C4A00"/>
                          </a:solidFill>
                          <a:latin typeface="Microsoft YaHei"/>
                        </a:rPr>
                        <a:t>消费强度更大</a:t>
                      </a:r>
                      <a:endParaRPr sz="900" b="1" dirty="0">
                        <a:solidFill>
                          <a:srgbClr val="6C4A00"/>
                        </a:solidFill>
                        <a:latin typeface="Microsoft YaHei"/>
                      </a:endParaRPr>
                    </a:p>
                  </a:txBody>
                  <a:tcPr marL="18288" marR="18288" marT="13716" marB="13716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860" b="1" dirty="0">
                          <a:solidFill>
                            <a:srgbClr val="15243A"/>
                          </a:solidFill>
                          <a:latin typeface="Microsoft YaHei" panose="020B0503020204020204" pitchFamily="34" charset="-122"/>
                          <a:ea typeface="微软雅黑" panose="020B0503020204020204" pitchFamily="34" charset="-122"/>
                        </a:rPr>
                        <a:t>总</a:t>
                      </a:r>
                      <a:r>
                        <a:rPr sz="860" b="1" dirty="0" err="1">
                          <a:solidFill>
                            <a:srgbClr val="15243A"/>
                          </a:solidFill>
                          <a:latin typeface="Microsoft YaHei" panose="020B0503020204020204" pitchFamily="34" charset="-122"/>
                          <a:ea typeface="微软雅黑" panose="020B0503020204020204" pitchFamily="34" charset="-122"/>
                        </a:rPr>
                        <a:t>工资收入总额</a:t>
                      </a:r>
                      <a:endParaRPr sz="860" b="1" dirty="0">
                        <a:solidFill>
                          <a:srgbClr val="15243A"/>
                        </a:solidFill>
                        <a:latin typeface="Microsoft YaHei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288" marR="18288" marT="13716" marB="13716">
                    <a:lnL w="7620">
                      <a:solidFill>
                        <a:srgbClr val="FFFFFF"/>
                      </a:solidFill>
                    </a:lnL>
                    <a:lnR w="7620">
                      <a:solidFill>
                        <a:srgbClr val="FFFFFF"/>
                      </a:solidFill>
                    </a:lnR>
                    <a:lnT w="7620">
                      <a:solidFill>
                        <a:srgbClr val="FFFFFF"/>
                      </a:solidFill>
                    </a:lnT>
                    <a:lnB w="76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0" dirty="0">
                          <a:solidFill>
                            <a:srgbClr val="15243A"/>
                          </a:solidFill>
                          <a:latin typeface="Microsoft YaHei" panose="020B0503020204020204" pitchFamily="34" charset="-122"/>
                          <a:ea typeface="微软雅黑" panose="020B0503020204020204" pitchFamily="34" charset="-122"/>
                        </a:rPr>
                        <a:t>20,922</a:t>
                      </a:r>
                    </a:p>
                  </a:txBody>
                  <a:tcPr marL="18288" marR="18288" marT="13716" marB="13716">
                    <a:lnL w="7620">
                      <a:solidFill>
                        <a:srgbClr val="FFFFFF"/>
                      </a:solidFill>
                    </a:lnL>
                    <a:lnR w="7620">
                      <a:solidFill>
                        <a:srgbClr val="FFFFFF"/>
                      </a:solidFill>
                    </a:lnR>
                    <a:lnT w="7620">
                      <a:solidFill>
                        <a:srgbClr val="FFFFFF"/>
                      </a:solidFill>
                    </a:lnT>
                    <a:lnB w="76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1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微软雅黑" panose="020B0503020204020204" pitchFamily="34" charset="-122"/>
                        </a:rPr>
                        <a:t>41,139</a:t>
                      </a:r>
                    </a:p>
                  </a:txBody>
                  <a:tcPr marL="18288" marR="18288" marT="13716" marB="13716">
                    <a:lnL w="7620">
                      <a:solidFill>
                        <a:srgbClr val="FFFFFF"/>
                      </a:solidFill>
                    </a:lnL>
                    <a:lnR w="7620">
                      <a:solidFill>
                        <a:srgbClr val="FFFFFF"/>
                      </a:solidFill>
                    </a:lnR>
                    <a:lnT w="7620">
                      <a:solidFill>
                        <a:srgbClr val="FFFFFF"/>
                      </a:solidFill>
                    </a:lnT>
                    <a:lnB w="76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C4A7A"/>
                          </a:solidFill>
                          <a:latin typeface="Microsoft YaHei"/>
                        </a:rPr>
                        <a:t>+96.6%</a:t>
                      </a:r>
                    </a:p>
                  </a:txBody>
                  <a:tcPr marL="18288" marR="18288" marT="13716" marB="13716">
                    <a:lnL w="7620">
                      <a:solidFill>
                        <a:srgbClr val="FFFFFF"/>
                      </a:solidFill>
                    </a:lnL>
                    <a:lnR w="7620">
                      <a:solidFill>
                        <a:srgbClr val="FFFFFF"/>
                      </a:solidFill>
                    </a:lnR>
                    <a:lnT w="7620">
                      <a:solidFill>
                        <a:srgbClr val="FFFFFF"/>
                      </a:solidFill>
                    </a:lnT>
                    <a:lnB w="76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dirty="0" err="1">
                          <a:solidFill>
                            <a:srgbClr val="6C4A00"/>
                          </a:solidFill>
                          <a:latin typeface="Microsoft YaHei"/>
                        </a:rPr>
                        <a:t>价值好收入更大</a:t>
                      </a:r>
                      <a:endParaRPr sz="900" b="1" dirty="0">
                        <a:solidFill>
                          <a:srgbClr val="6C4A00"/>
                        </a:solidFill>
                        <a:latin typeface="Microsoft YaHei"/>
                      </a:endParaRPr>
                    </a:p>
                  </a:txBody>
                  <a:tcPr marL="18288" marR="18288" marT="13716" marB="13716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1" dirty="0" err="1">
                          <a:solidFill>
                            <a:srgbClr val="15243A"/>
                          </a:solidFill>
                          <a:latin typeface="Microsoft YaHei" panose="020B0503020204020204" pitchFamily="34" charset="-122"/>
                          <a:ea typeface="微软雅黑" panose="020B0503020204020204" pitchFamily="34" charset="-122"/>
                        </a:rPr>
                        <a:t>Centrelink 占比</a:t>
                      </a:r>
                      <a:endParaRPr sz="900" b="1" dirty="0">
                        <a:solidFill>
                          <a:srgbClr val="142A4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288" marR="18288" marT="13716" marB="13716">
                    <a:lnL w="7620">
                      <a:solidFill>
                        <a:srgbClr val="FFFFFF"/>
                      </a:solidFill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0" dirty="0">
                          <a:solidFill>
                            <a:srgbClr val="15243A"/>
                          </a:solidFill>
                          <a:latin typeface="Microsoft YaHei" panose="020B0503020204020204" pitchFamily="34" charset="-122"/>
                          <a:ea typeface="微软雅黑" panose="020B0503020204020204" pitchFamily="34" charset="-122"/>
                        </a:rPr>
                        <a:t>10.2%</a:t>
                      </a:r>
                    </a:p>
                  </a:txBody>
                  <a:tcPr marL="18288" marR="18288" marT="13716" marB="13716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1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微软雅黑" panose="020B0503020204020204" pitchFamily="34" charset="-122"/>
                        </a:rPr>
                        <a:t>2.1%</a:t>
                      </a:r>
                    </a:p>
                  </a:txBody>
                  <a:tcPr marL="18288" marR="18288" marT="13716" marB="13716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C4A7A"/>
                          </a:solidFill>
                          <a:latin typeface="Microsoft YaHei"/>
                        </a:rPr>
                        <a:t>-79.4%</a:t>
                      </a:r>
                    </a:p>
                  </a:txBody>
                  <a:tcPr marL="18288" marR="18288" marT="13716" marB="13716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dirty="0" err="1">
                          <a:solidFill>
                            <a:srgbClr val="6C4A00"/>
                          </a:solidFill>
                          <a:latin typeface="Microsoft YaHei"/>
                        </a:rPr>
                        <a:t>福利依赖更低</a:t>
                      </a:r>
                      <a:endParaRPr sz="900" b="1" dirty="0">
                        <a:solidFill>
                          <a:srgbClr val="6C4A00"/>
                        </a:solidFill>
                        <a:latin typeface="Microsoft YaHei"/>
                      </a:endParaRPr>
                    </a:p>
                  </a:txBody>
                  <a:tcPr marL="18288" marR="18288" marT="13716" marB="13716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860" b="1" dirty="0">
                          <a:solidFill>
                            <a:srgbClr val="15243A"/>
                          </a:solidFill>
                          <a:latin typeface="Microsoft YaHei" panose="020B0503020204020204" pitchFamily="34" charset="-122"/>
                          <a:ea typeface="微软雅黑" panose="020B0503020204020204" pitchFamily="34" charset="-122"/>
                        </a:rPr>
                        <a:t>历史</a:t>
                      </a:r>
                      <a:r>
                        <a:rPr sz="860" b="1" dirty="0" err="1">
                          <a:solidFill>
                            <a:srgbClr val="15243A"/>
                          </a:solidFill>
                          <a:latin typeface="Microsoft YaHei" panose="020B0503020204020204" pitchFamily="34" charset="-122"/>
                          <a:ea typeface="微软雅黑" panose="020B0503020204020204" pitchFamily="34" charset="-122"/>
                        </a:rPr>
                        <a:t>信贷还款金额</a:t>
                      </a:r>
                      <a:endParaRPr sz="900" b="1" dirty="0">
                        <a:solidFill>
                          <a:srgbClr val="142A4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288" marR="18288" marT="13716" marB="13716">
                    <a:lnL w="7620">
                      <a:solidFill>
                        <a:srgbClr val="FFFFFF"/>
                      </a:solidFill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0" dirty="0">
                          <a:solidFill>
                            <a:srgbClr val="15243A"/>
                          </a:solidFill>
                          <a:latin typeface="Microsoft YaHei" panose="020B0503020204020204" pitchFamily="34" charset="-122"/>
                          <a:ea typeface="微软雅黑" panose="020B0503020204020204" pitchFamily="34" charset="-122"/>
                        </a:rPr>
                        <a:t>15,780</a:t>
                      </a:r>
                    </a:p>
                  </a:txBody>
                  <a:tcPr marL="18288" marR="18288" marT="13716" marB="13716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1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微软雅黑" panose="020B0503020204020204" pitchFamily="34" charset="-122"/>
                        </a:rPr>
                        <a:t>20,439</a:t>
                      </a:r>
                    </a:p>
                  </a:txBody>
                  <a:tcPr marL="18288" marR="18288" marT="13716" marB="13716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dirty="0">
                          <a:solidFill>
                            <a:srgbClr val="0C4A7A"/>
                          </a:solidFill>
                          <a:latin typeface="Microsoft YaHei"/>
                        </a:rPr>
                        <a:t>+29.5%</a:t>
                      </a:r>
                    </a:p>
                  </a:txBody>
                  <a:tcPr marL="18288" marR="18288" marT="13716" marB="13716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dirty="0" err="1">
                          <a:solidFill>
                            <a:srgbClr val="6C4A00"/>
                          </a:solidFill>
                          <a:latin typeface="Microsoft YaHei"/>
                        </a:rPr>
                        <a:t>还款体量更大</a:t>
                      </a:r>
                      <a:endParaRPr sz="900" b="1" dirty="0">
                        <a:solidFill>
                          <a:srgbClr val="6C4A00"/>
                        </a:solidFill>
                        <a:latin typeface="Microsoft YaHei"/>
                      </a:endParaRPr>
                    </a:p>
                  </a:txBody>
                  <a:tcPr marL="18288" marR="18288" marT="13716" marB="13716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1" dirty="0">
                          <a:solidFill>
                            <a:srgbClr val="142A4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余额</a:t>
                      </a:r>
                      <a:endParaRPr sz="900" b="1" dirty="0">
                        <a:solidFill>
                          <a:srgbClr val="142A4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288" marR="18288" marT="13716" marB="13716">
                    <a:lnL w="7620">
                      <a:solidFill>
                        <a:srgbClr val="FFFFFF"/>
                      </a:solidFill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>
                      <a:solidFill>
                        <a:srgbClr val="FFFFFF"/>
                      </a:solidFill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60" b="0" dirty="0">
                        <a:solidFill>
                          <a:srgbClr val="15243A"/>
                        </a:solidFill>
                        <a:latin typeface="Microsoft YaHei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288" marR="18288" marT="13716" marB="13716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>
                      <a:solidFill>
                        <a:srgbClr val="FFFFFF"/>
                      </a:solidFill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60" b="1" dirty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288" marR="18288" marT="13716" marB="13716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>
                      <a:solidFill>
                        <a:srgbClr val="FFFFFF"/>
                      </a:solidFill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900" b="1" dirty="0">
                        <a:solidFill>
                          <a:srgbClr val="0C4A7A"/>
                        </a:solidFill>
                        <a:latin typeface="Microsoft YaHei"/>
                      </a:endParaRPr>
                    </a:p>
                  </a:txBody>
                  <a:tcPr marL="18288" marR="18288" marT="13716" marB="13716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>
                      <a:solidFill>
                        <a:srgbClr val="FFFFFF"/>
                      </a:solidFill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900" b="1" dirty="0">
                        <a:solidFill>
                          <a:srgbClr val="6C4A00"/>
                        </a:solidFill>
                        <a:latin typeface="Microsoft YaHei"/>
                      </a:endParaRPr>
                    </a:p>
                  </a:txBody>
                  <a:tcPr marL="18288" marR="18288" marT="13716" marB="13716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9710233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1" dirty="0">
                          <a:solidFill>
                            <a:srgbClr val="142A4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盈余</a:t>
                      </a:r>
                      <a:endParaRPr sz="900" b="1" dirty="0">
                        <a:solidFill>
                          <a:srgbClr val="142A4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288" marR="18288" marT="13716" marB="13716">
                    <a:lnL w="7620">
                      <a:solidFill>
                        <a:srgbClr val="FFFFFF"/>
                      </a:solidFill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>
                      <a:solidFill>
                        <a:srgbClr val="FFFFFF"/>
                      </a:solidFill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-42.67</a:t>
                      </a:r>
                      <a:endParaRPr sz="860" b="0" dirty="0">
                        <a:solidFill>
                          <a:srgbClr val="15243A"/>
                        </a:solidFill>
                        <a:latin typeface="Microsoft YaHei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288" marR="18288" marT="13716" marB="13716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>
                      <a:solidFill>
                        <a:srgbClr val="FFFFFF"/>
                      </a:solidFill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1,333.55</a:t>
                      </a:r>
                      <a:endParaRPr sz="860" b="1" dirty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288" marR="18288" marT="13716" marB="13716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>
                      <a:solidFill>
                        <a:srgbClr val="FFFFFF"/>
                      </a:solidFill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900" b="1" dirty="0">
                        <a:solidFill>
                          <a:srgbClr val="0C4A7A"/>
                        </a:solidFill>
                        <a:latin typeface="Microsoft YaHei"/>
                      </a:endParaRPr>
                    </a:p>
                  </a:txBody>
                  <a:tcPr marL="18288" marR="18288" marT="13716" marB="13716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>
                      <a:solidFill>
                        <a:srgbClr val="FFFFFF"/>
                      </a:solidFill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900" b="1" dirty="0">
                        <a:solidFill>
                          <a:srgbClr val="6C4A00"/>
                        </a:solidFill>
                        <a:latin typeface="Microsoft YaHei"/>
                      </a:endParaRPr>
                    </a:p>
                  </a:txBody>
                  <a:tcPr marL="18288" marR="18288" marT="13716" marB="13716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143387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860" b="1" dirty="0">
                          <a:solidFill>
                            <a:srgbClr val="15243A"/>
                          </a:solidFill>
                          <a:latin typeface="Microsoft YaHei" panose="020B0503020204020204" pitchFamily="34" charset="-122"/>
                          <a:ea typeface="微软雅黑" panose="020B0503020204020204" pitchFamily="34" charset="-122"/>
                        </a:rPr>
                        <a:t>年龄</a:t>
                      </a:r>
                      <a:endParaRPr sz="900" b="1" dirty="0">
                        <a:solidFill>
                          <a:srgbClr val="142A4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288" marR="18288" marT="13716" marB="13716">
                    <a:lnL w="7620">
                      <a:solidFill>
                        <a:srgbClr val="FFFFFF"/>
                      </a:solidFill>
                    </a:lnL>
                    <a:lnR w="7620">
                      <a:solidFill>
                        <a:srgbClr val="FFFFFF"/>
                      </a:solidFill>
                    </a:lnR>
                    <a:lnT w="7620">
                      <a:solidFill>
                        <a:srgbClr val="FFFFFF"/>
                      </a:solidFill>
                    </a:lnT>
                    <a:lnB w="7620">
                      <a:solidFill>
                        <a:srgbClr val="FFFFFF"/>
                      </a:solidFill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60" b="0" dirty="0">
                          <a:solidFill>
                            <a:srgbClr val="15243A"/>
                          </a:solidFill>
                          <a:latin typeface="Microsoft YaHei" panose="020B0503020204020204" pitchFamily="34" charset="-122"/>
                          <a:ea typeface="微软雅黑" panose="020B0503020204020204" pitchFamily="34" charset="-122"/>
                        </a:rPr>
                        <a:t>31</a:t>
                      </a:r>
                      <a:endParaRPr sz="860" b="0" dirty="0">
                        <a:solidFill>
                          <a:srgbClr val="15243A"/>
                        </a:solidFill>
                        <a:latin typeface="Microsoft YaHei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288" marR="18288" marT="13716" marB="13716">
                    <a:lnL w="7620">
                      <a:solidFill>
                        <a:srgbClr val="FFFFFF"/>
                      </a:solidFill>
                    </a:lnL>
                    <a:lnR w="7620">
                      <a:solidFill>
                        <a:srgbClr val="FFFFFF"/>
                      </a:solidFill>
                    </a:lnR>
                    <a:lnT w="7620">
                      <a:solidFill>
                        <a:srgbClr val="FFFFFF"/>
                      </a:solidFill>
                    </a:lnT>
                    <a:lnB w="7620">
                      <a:solidFill>
                        <a:srgbClr val="FFFFFF"/>
                      </a:solidFill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60" b="1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微软雅黑" panose="020B0503020204020204" pitchFamily="34" charset="-122"/>
                        </a:rPr>
                        <a:t>35</a:t>
                      </a:r>
                      <a:endParaRPr sz="860" b="1" dirty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288" marR="18288" marT="13716" marB="13716">
                    <a:lnL w="7620">
                      <a:solidFill>
                        <a:srgbClr val="FFFFFF"/>
                      </a:solidFill>
                    </a:lnL>
                    <a:lnR w="7620">
                      <a:solidFill>
                        <a:srgbClr val="FFFFFF"/>
                      </a:solidFill>
                    </a:lnR>
                    <a:lnT w="7620">
                      <a:solidFill>
                        <a:srgbClr val="FFFFFF"/>
                      </a:solidFill>
                    </a:lnT>
                    <a:lnB w="7620">
                      <a:solidFill>
                        <a:srgbClr val="FFFFFF"/>
                      </a:solidFill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900" b="1" dirty="0">
                        <a:solidFill>
                          <a:srgbClr val="0C4A7A"/>
                        </a:solidFill>
                        <a:latin typeface="Microsoft YaHei"/>
                      </a:endParaRPr>
                    </a:p>
                  </a:txBody>
                  <a:tcPr marL="18288" marR="18288" marT="13716" marB="13716">
                    <a:lnL w="7620">
                      <a:solidFill>
                        <a:srgbClr val="FFFFFF"/>
                      </a:solidFill>
                    </a:lnL>
                    <a:lnR w="7620">
                      <a:solidFill>
                        <a:srgbClr val="FFFFFF"/>
                      </a:solidFill>
                    </a:lnR>
                    <a:lnT w="7620">
                      <a:solidFill>
                        <a:srgbClr val="FFFFFF"/>
                      </a:solidFill>
                    </a:lnT>
                    <a:lnB w="7620">
                      <a:solidFill>
                        <a:srgbClr val="FFFFFF"/>
                      </a:solidFill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900" b="1" dirty="0">
                        <a:solidFill>
                          <a:srgbClr val="6C4A00"/>
                        </a:solidFill>
                        <a:latin typeface="Microsoft YaHei"/>
                      </a:endParaRPr>
                    </a:p>
                  </a:txBody>
                  <a:tcPr marL="18288" marR="18288" marT="13716" marB="13716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9546CAD4-D16B-4FED-9A67-FC660F523F0F}"/>
              </a:ext>
            </a:extLst>
          </p:cNvPr>
          <p:cNvSpPr/>
          <p:nvPr/>
        </p:nvSpPr>
        <p:spPr>
          <a:xfrm>
            <a:off x="204046" y="3415453"/>
            <a:ext cx="597747" cy="1303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180</a:t>
            </a:r>
            <a:r>
              <a:rPr lang="zh-CN" altLang="en-US" dirty="0"/>
              <a:t>前缀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00A1DC5-B48A-4734-B808-4AC1FA04AD50}"/>
              </a:ext>
            </a:extLst>
          </p:cNvPr>
          <p:cNvSpPr/>
          <p:nvPr/>
        </p:nvSpPr>
        <p:spPr>
          <a:xfrm>
            <a:off x="4689005" y="1698582"/>
            <a:ext cx="3533140" cy="3405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模型相关性 </a:t>
            </a:r>
            <a:r>
              <a:rPr lang="en-US" altLang="zh-CN" dirty="0"/>
              <a:t>= </a:t>
            </a:r>
            <a:r>
              <a:rPr lang="en-US" altLang="zh-CN" b="0" i="0" dirty="0">
                <a:solidFill>
                  <a:srgbClr val="BFBFBF"/>
                </a:solidFill>
                <a:effectLst/>
                <a:latin typeface="-apple-system"/>
              </a:rPr>
              <a:t>0.5818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E6FBEB2-2EBB-4758-BC27-307A9107085F}"/>
              </a:ext>
            </a:extLst>
          </p:cNvPr>
          <p:cNvSpPr txBox="1"/>
          <p:nvPr/>
        </p:nvSpPr>
        <p:spPr>
          <a:xfrm>
            <a:off x="801793" y="6277592"/>
            <a:ext cx="7053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完成申请样本数量</a:t>
            </a:r>
            <a:r>
              <a:rPr lang="en-US" altLang="zh-CN" b="0" i="0" dirty="0">
                <a:solidFill>
                  <a:srgbClr val="26384D"/>
                </a:solidFill>
                <a:effectLst/>
                <a:latin typeface="-apple-system"/>
              </a:rPr>
              <a:t>157,741 </a:t>
            </a:r>
            <a:r>
              <a:rPr lang="zh-CN" altLang="en-US" dirty="0">
                <a:solidFill>
                  <a:srgbClr val="26384D"/>
                </a:solidFill>
                <a:latin typeface="-apple-system"/>
              </a:rPr>
              <a:t> 时间窗口是</a:t>
            </a:r>
            <a:r>
              <a:rPr lang="en-US" altLang="zh-CN" dirty="0">
                <a:solidFill>
                  <a:srgbClr val="26384D"/>
                </a:solidFill>
                <a:latin typeface="-apple-system"/>
              </a:rPr>
              <a:t>2025</a:t>
            </a:r>
            <a:r>
              <a:rPr lang="zh-CN" altLang="en-US" dirty="0">
                <a:solidFill>
                  <a:srgbClr val="26384D"/>
                </a:solidFill>
                <a:latin typeface="-apple-system"/>
              </a:rPr>
              <a:t>年</a:t>
            </a:r>
            <a:r>
              <a:rPr lang="en-US" altLang="zh-CN" dirty="0">
                <a:solidFill>
                  <a:srgbClr val="26384D"/>
                </a:solidFill>
                <a:latin typeface="-apple-system"/>
              </a:rPr>
              <a:t>10</a:t>
            </a:r>
            <a:r>
              <a:rPr lang="zh-CN" altLang="en-US" dirty="0">
                <a:solidFill>
                  <a:srgbClr val="26384D"/>
                </a:solidFill>
                <a:latin typeface="-apple-system"/>
              </a:rPr>
              <a:t>月到</a:t>
            </a:r>
            <a:r>
              <a:rPr lang="en-US" altLang="zh-CN" dirty="0">
                <a:solidFill>
                  <a:srgbClr val="26384D"/>
                </a:solidFill>
                <a:latin typeface="-apple-system"/>
              </a:rPr>
              <a:t>2026</a:t>
            </a:r>
            <a:r>
              <a:rPr lang="zh-CN" altLang="en-US" dirty="0">
                <a:solidFill>
                  <a:srgbClr val="26384D"/>
                </a:solidFill>
                <a:latin typeface="-apple-system"/>
              </a:rPr>
              <a:t>年</a:t>
            </a:r>
            <a:r>
              <a:rPr lang="en-US" altLang="zh-CN" dirty="0">
                <a:solidFill>
                  <a:srgbClr val="26384D"/>
                </a:solidFill>
                <a:latin typeface="-apple-system"/>
              </a:rPr>
              <a:t>5</a:t>
            </a:r>
            <a:r>
              <a:rPr lang="zh-CN" altLang="en-US" dirty="0">
                <a:solidFill>
                  <a:srgbClr val="26384D"/>
                </a:solidFill>
                <a:latin typeface="-apple-system"/>
              </a:rPr>
              <a:t>月</a:t>
            </a:r>
            <a:r>
              <a:rPr lang="en-US" altLang="zh-CN" dirty="0">
                <a:solidFill>
                  <a:srgbClr val="26384D"/>
                </a:solidFill>
                <a:latin typeface="-apple-system"/>
              </a:rPr>
              <a:t>20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71912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1361" y="205934"/>
            <a:ext cx="4846320" cy="307777"/>
          </a:xfrm>
          <a:prstGeom prst="rect">
            <a:avLst/>
          </a:prstGeom>
          <a:noFill/>
        </p:spPr>
        <p:txBody>
          <a:bodyPr wrap="square" lIns="0" tIns="0" rIns="36576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成交样本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20262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E04376B-CF00-4A4B-B63F-97F41060BA5D}"/>
              </a:ext>
            </a:extLst>
          </p:cNvPr>
          <p:cNvSpPr txBox="1"/>
          <p:nvPr/>
        </p:nvSpPr>
        <p:spPr>
          <a:xfrm>
            <a:off x="6338819" y="3429000"/>
            <a:ext cx="4389120" cy="215444"/>
          </a:xfrm>
          <a:prstGeom prst="rect">
            <a:avLst/>
          </a:prstGeom>
          <a:noFill/>
        </p:spPr>
        <p:txBody>
          <a:bodyPr wrap="square" lIns="0" tIns="0" rIns="36576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0262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金额逾期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20262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3m30+</a:t>
            </a:r>
            <a:endParaRPr kumimoji="0" lang="en-US" altLang="zh-CN" sz="1250" b="1" i="0" u="none" strike="noStrike" kern="1200" cap="none" spc="0" normalizeH="0" baseline="0" noProof="0" dirty="0">
              <a:ln>
                <a:noFill/>
              </a:ln>
              <a:solidFill>
                <a:srgbClr val="20262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TextBox 10">
            <a:extLst>
              <a:ext uri="{FF2B5EF4-FFF2-40B4-BE49-F238E27FC236}">
                <a16:creationId xmlns:a16="http://schemas.microsoft.com/office/drawing/2014/main" id="{0EC827E5-EB82-4A44-9412-286F79E78DF8}"/>
              </a:ext>
            </a:extLst>
          </p:cNvPr>
          <p:cNvSpPr txBox="1"/>
          <p:nvPr/>
        </p:nvSpPr>
        <p:spPr>
          <a:xfrm>
            <a:off x="486659" y="3429000"/>
            <a:ext cx="4389120" cy="215444"/>
          </a:xfrm>
          <a:prstGeom prst="rect">
            <a:avLst/>
          </a:prstGeom>
          <a:noFill/>
        </p:spPr>
        <p:txBody>
          <a:bodyPr wrap="square" lIns="0" tIns="0" rIns="36576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0262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笔数逾期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20262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3m30+</a:t>
            </a:r>
            <a:endParaRPr kumimoji="0" sz="1250" b="1" i="0" u="none" strike="noStrike" kern="1200" cap="none" spc="0" normalizeH="0" baseline="0" noProof="0" dirty="0">
              <a:ln>
                <a:noFill/>
              </a:ln>
              <a:solidFill>
                <a:srgbClr val="20262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C2D757A3-6CEA-49CF-9AB5-BD83DED627DD}"/>
              </a:ext>
            </a:extLst>
          </p:cNvPr>
          <p:cNvSpPr txBox="1"/>
          <p:nvPr/>
        </p:nvSpPr>
        <p:spPr>
          <a:xfrm>
            <a:off x="486659" y="840062"/>
            <a:ext cx="4389120" cy="215444"/>
          </a:xfrm>
          <a:prstGeom prst="rect">
            <a:avLst/>
          </a:prstGeom>
          <a:noFill/>
        </p:spPr>
        <p:txBody>
          <a:bodyPr wrap="square" lIns="0" tIns="0" rIns="36576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0262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件均</a:t>
            </a:r>
            <a:endParaRPr kumimoji="0" sz="1250" b="1" i="0" u="none" strike="noStrike" kern="1200" cap="none" spc="0" normalizeH="0" baseline="0" noProof="0" dirty="0">
              <a:ln>
                <a:noFill/>
              </a:ln>
              <a:solidFill>
                <a:srgbClr val="20262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472D56FA-F578-45D1-9A31-47225E4B78B4}"/>
              </a:ext>
            </a:extLst>
          </p:cNvPr>
          <p:cNvSpPr txBox="1"/>
          <p:nvPr/>
        </p:nvSpPr>
        <p:spPr>
          <a:xfrm>
            <a:off x="6338819" y="792621"/>
            <a:ext cx="4389120" cy="215444"/>
          </a:xfrm>
          <a:prstGeom prst="rect">
            <a:avLst/>
          </a:prstGeom>
          <a:noFill/>
        </p:spPr>
        <p:txBody>
          <a:bodyPr wrap="square" lIns="0" tIns="0" rIns="36576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0262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盈余</a:t>
            </a:r>
            <a:endParaRPr kumimoji="0" lang="zh-CN" altLang="en-US" sz="1250" b="1" i="0" u="none" strike="noStrike" kern="1200" cap="none" spc="0" normalizeH="0" baseline="0" noProof="0" dirty="0">
              <a:ln>
                <a:noFill/>
              </a:ln>
              <a:solidFill>
                <a:srgbClr val="20262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411480" y="1371600"/>
          <a:ext cx="5230364" cy="18562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9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85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85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85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76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996"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FFFFFF"/>
                          </a:solidFill>
                          <a:latin typeface="Microsoft YaHei"/>
                        </a:rPr>
                        <a:t>价值分箱 \ 风险分箱</a:t>
                      </a:r>
                    </a:p>
                  </a:txBody>
                  <a:tcPr marL="18288" marR="18288" marT="9144" marB="9144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FFFFFF"/>
                          </a:solidFill>
                          <a:latin typeface="Microsoft YaHei"/>
                        </a:rPr>
                        <a:t>风险1</a:t>
                      </a:r>
                    </a:p>
                  </a:txBody>
                  <a:tcPr marL="18288" marR="18288" marT="9144" marB="9144">
                    <a:solidFill>
                      <a:srgbClr val="0F37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FFFFFF"/>
                          </a:solidFill>
                          <a:latin typeface="Microsoft YaHei"/>
                        </a:rPr>
                        <a:t>风险2</a:t>
                      </a:r>
                    </a:p>
                  </a:txBody>
                  <a:tcPr marL="18288" marR="18288" marT="9144" marB="9144">
                    <a:solidFill>
                      <a:srgbClr val="0F44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FFFFFF"/>
                          </a:solidFill>
                          <a:latin typeface="Microsoft YaHei"/>
                        </a:rPr>
                        <a:t>风险3</a:t>
                      </a:r>
                    </a:p>
                  </a:txBody>
                  <a:tcPr marL="18288" marR="18288" marT="9144" marB="9144">
                    <a:solidFill>
                      <a:srgbClr val="0F52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FFFFFF"/>
                          </a:solidFill>
                          <a:latin typeface="Microsoft YaHei"/>
                        </a:rPr>
                        <a:t>风险4</a:t>
                      </a:r>
                    </a:p>
                  </a:txBody>
                  <a:tcPr marL="18288" marR="18288" marT="9144" marB="9144">
                    <a:solidFill>
                      <a:srgbClr val="0F5F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FFFFFF"/>
                          </a:solidFill>
                          <a:latin typeface="Microsoft YaHei"/>
                        </a:rPr>
                        <a:t>风险5</a:t>
                      </a:r>
                    </a:p>
                  </a:txBody>
                  <a:tcPr marL="18288" marR="18288" marT="9144" marB="9144">
                    <a:solidFill>
                      <a:srgbClr val="0F6C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FFFFFF"/>
                          </a:solidFill>
                          <a:latin typeface="Microsoft YaHei"/>
                        </a:rPr>
                        <a:t>合计</a:t>
                      </a:r>
                    </a:p>
                  </a:txBody>
                  <a:tcPr marL="18288" marR="18288" marT="9144" marB="9144">
                    <a:solidFill>
                      <a:srgbClr val="0F7A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872">
                <a:tc>
                  <a:txBody>
                    <a:bodyPr/>
                    <a:lstStyle/>
                    <a:p>
                      <a:pPr algn="l"/>
                      <a:r>
                        <a:rPr sz="590" b="1">
                          <a:solidFill>
                            <a:srgbClr val="0E304A"/>
                          </a:solidFill>
                          <a:latin typeface="Microsoft YaHei"/>
                        </a:rPr>
                        <a:t>价值1</a:t>
                      </a:r>
                    </a:p>
                  </a:txBody>
                  <a:tcPr marL="18288" marR="18288" marT="9144" marB="9144"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805200"/>
                          </a:solidFill>
                          <a:latin typeface="Microsoft YaHei"/>
                        </a:rPr>
                        <a:t>1,626.88</a:t>
                      </a:r>
                    </a:p>
                  </a:txBody>
                  <a:tcPr marL="18288" marR="18288" marT="9144" marB="9144">
                    <a:solidFill>
                      <a:srgbClr val="F2D8A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805200"/>
                          </a:solidFill>
                          <a:latin typeface="Microsoft YaHei"/>
                        </a:rPr>
                        <a:t>1,436.99</a:t>
                      </a:r>
                    </a:p>
                  </a:txBody>
                  <a:tcPr marL="18288" marR="18288" marT="9144" marB="9144">
                    <a:solidFill>
                      <a:srgbClr val="F4DF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805200"/>
                          </a:solidFill>
                          <a:latin typeface="Microsoft YaHei"/>
                        </a:rPr>
                        <a:t>1,326.28</a:t>
                      </a:r>
                    </a:p>
                  </a:txBody>
                  <a:tcPr marL="18288" marR="18288" marT="9144" marB="9144">
                    <a:solidFill>
                      <a:srgbClr val="F6E3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805200"/>
                          </a:solidFill>
                          <a:latin typeface="Microsoft YaHei"/>
                        </a:rPr>
                        <a:t>1,347.15</a:t>
                      </a:r>
                    </a:p>
                  </a:txBody>
                  <a:tcPr marL="18288" marR="18288" marT="9144" marB="9144">
                    <a:solidFill>
                      <a:srgbClr val="F5E3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805200"/>
                          </a:solidFill>
                          <a:latin typeface="Microsoft YaHei"/>
                        </a:rPr>
                        <a:t>1,449.17</a:t>
                      </a:r>
                    </a:p>
                  </a:txBody>
                  <a:tcPr marL="18288" marR="18288" marT="9144" marB="9144">
                    <a:solidFill>
                      <a:srgbClr val="F4DF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0E304A"/>
                          </a:solidFill>
                          <a:latin typeface="Microsoft YaHei"/>
                        </a:rPr>
                        <a:t>1,511.18</a:t>
                      </a:r>
                    </a:p>
                  </a:txBody>
                  <a:tcPr marL="18288" marR="18288" marT="9144" marB="9144"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872">
                <a:tc>
                  <a:txBody>
                    <a:bodyPr/>
                    <a:lstStyle/>
                    <a:p>
                      <a:pPr algn="l"/>
                      <a:r>
                        <a:rPr sz="590" b="1">
                          <a:solidFill>
                            <a:srgbClr val="0E304A"/>
                          </a:solidFill>
                          <a:latin typeface="Microsoft YaHei"/>
                        </a:rPr>
                        <a:t>价值2</a:t>
                      </a:r>
                    </a:p>
                  </a:txBody>
                  <a:tcPr marL="18288" marR="18288" marT="9144" marB="9144"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805200"/>
                          </a:solidFill>
                          <a:latin typeface="Microsoft YaHei"/>
                        </a:rPr>
                        <a:t>1,357.29</a:t>
                      </a:r>
                    </a:p>
                  </a:txBody>
                  <a:tcPr marL="18288" marR="18288" marT="9144" marB="9144">
                    <a:solidFill>
                      <a:srgbClr val="F5E2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805200"/>
                          </a:solidFill>
                          <a:latin typeface="Microsoft YaHei"/>
                        </a:rPr>
                        <a:t>1,251.73</a:t>
                      </a:r>
                    </a:p>
                  </a:txBody>
                  <a:tcPr marL="18288" marR="18288" marT="9144" marB="9144">
                    <a:solidFill>
                      <a:srgbClr val="F7E6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805200"/>
                          </a:solidFill>
                          <a:latin typeface="Microsoft YaHei"/>
                        </a:rPr>
                        <a:t>1,136.60</a:t>
                      </a:r>
                    </a:p>
                  </a:txBody>
                  <a:tcPr marL="18288" marR="18288" marT="9144" marB="9144">
                    <a:solidFill>
                      <a:srgbClr val="F8EB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805200"/>
                          </a:solidFill>
                          <a:latin typeface="Microsoft YaHei"/>
                        </a:rPr>
                        <a:t>1,128.42</a:t>
                      </a:r>
                    </a:p>
                  </a:txBody>
                  <a:tcPr marL="18288" marR="18288" marT="9144" marB="9144">
                    <a:solidFill>
                      <a:srgbClr val="F8EB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805200"/>
                          </a:solidFill>
                          <a:latin typeface="Microsoft YaHei"/>
                        </a:rPr>
                        <a:t>1,277.57</a:t>
                      </a:r>
                    </a:p>
                  </a:txBody>
                  <a:tcPr marL="18288" marR="18288" marT="9144" marB="9144">
                    <a:solidFill>
                      <a:srgbClr val="F6E5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0E304A"/>
                          </a:solidFill>
                          <a:latin typeface="Microsoft YaHei"/>
                        </a:rPr>
                        <a:t>1,239.72</a:t>
                      </a:r>
                    </a:p>
                  </a:txBody>
                  <a:tcPr marL="18288" marR="18288" marT="9144" marB="9144"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872">
                <a:tc>
                  <a:txBody>
                    <a:bodyPr/>
                    <a:lstStyle/>
                    <a:p>
                      <a:pPr algn="l"/>
                      <a:r>
                        <a:rPr sz="590" b="1">
                          <a:solidFill>
                            <a:srgbClr val="0E304A"/>
                          </a:solidFill>
                          <a:latin typeface="Microsoft YaHei"/>
                        </a:rPr>
                        <a:t>价值3</a:t>
                      </a:r>
                    </a:p>
                  </a:txBody>
                  <a:tcPr marL="18288" marR="18288" marT="9144" marB="9144"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805200"/>
                          </a:solidFill>
                          <a:latin typeface="Microsoft YaHei"/>
                        </a:rPr>
                        <a:t>1,253.35</a:t>
                      </a:r>
                    </a:p>
                  </a:txBody>
                  <a:tcPr marL="18288" marR="18288" marT="9144" marB="9144">
                    <a:solidFill>
                      <a:srgbClr val="F7E6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805200"/>
                          </a:solidFill>
                          <a:latin typeface="Microsoft YaHei"/>
                        </a:rPr>
                        <a:t>1,074.20</a:t>
                      </a:r>
                    </a:p>
                  </a:txBody>
                  <a:tcPr marL="18288" marR="18288" marT="9144" marB="9144">
                    <a:solidFill>
                      <a:srgbClr val="F9EE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805200"/>
                          </a:solidFill>
                          <a:latin typeface="Microsoft YaHei"/>
                        </a:rPr>
                        <a:t>1,009.51</a:t>
                      </a:r>
                    </a:p>
                  </a:txBody>
                  <a:tcPr marL="18288" marR="18288" marT="9144" marB="9144">
                    <a:solidFill>
                      <a:srgbClr val="FAF0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 dirty="0">
                          <a:solidFill>
                            <a:srgbClr val="805200"/>
                          </a:solidFill>
                          <a:latin typeface="Microsoft YaHei"/>
                        </a:rPr>
                        <a:t>970.82</a:t>
                      </a:r>
                    </a:p>
                  </a:txBody>
                  <a:tcPr marL="18288" marR="18288" marT="9144" marB="9144">
                    <a:solidFill>
                      <a:srgbClr val="FBF2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805200"/>
                          </a:solidFill>
                          <a:latin typeface="Microsoft YaHei"/>
                        </a:rPr>
                        <a:t>1,134.62</a:t>
                      </a:r>
                    </a:p>
                  </a:txBody>
                  <a:tcPr marL="18288" marR="18288" marT="9144" marB="9144">
                    <a:solidFill>
                      <a:srgbClr val="F8EB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0E304A"/>
                          </a:solidFill>
                          <a:latin typeface="Microsoft YaHei"/>
                        </a:rPr>
                        <a:t>1,068.63</a:t>
                      </a:r>
                    </a:p>
                  </a:txBody>
                  <a:tcPr marL="18288" marR="18288" marT="9144" marB="9144"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872">
                <a:tc>
                  <a:txBody>
                    <a:bodyPr/>
                    <a:lstStyle/>
                    <a:p>
                      <a:pPr algn="l"/>
                      <a:r>
                        <a:rPr sz="590" b="1">
                          <a:solidFill>
                            <a:srgbClr val="0E304A"/>
                          </a:solidFill>
                          <a:latin typeface="Microsoft YaHei"/>
                        </a:rPr>
                        <a:t>价值4</a:t>
                      </a:r>
                    </a:p>
                  </a:txBody>
                  <a:tcPr marL="18288" marR="18288" marT="9144" marB="9144"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805200"/>
                          </a:solidFill>
                          <a:latin typeface="Microsoft YaHei"/>
                        </a:rPr>
                        <a:t>1,107.44</a:t>
                      </a:r>
                    </a:p>
                  </a:txBody>
                  <a:tcPr marL="18288" marR="18288" marT="9144" marB="9144">
                    <a:solidFill>
                      <a:srgbClr val="F9E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805200"/>
                          </a:solidFill>
                          <a:latin typeface="Microsoft YaHei"/>
                        </a:rPr>
                        <a:t>987.53</a:t>
                      </a:r>
                    </a:p>
                  </a:txBody>
                  <a:tcPr marL="18288" marR="18288" marT="9144" marB="9144">
                    <a:solidFill>
                      <a:srgbClr val="FAF1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805200"/>
                          </a:solidFill>
                          <a:latin typeface="Microsoft YaHei"/>
                        </a:rPr>
                        <a:t>870.72</a:t>
                      </a:r>
                    </a:p>
                  </a:txBody>
                  <a:tcPr marL="18288" marR="18288" marT="9144" marB="9144">
                    <a:solidFill>
                      <a:srgbClr val="FCF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 dirty="0">
                          <a:solidFill>
                            <a:srgbClr val="805200"/>
                          </a:solidFill>
                          <a:latin typeface="Microsoft YaHei"/>
                        </a:rPr>
                        <a:t>824.45</a:t>
                      </a:r>
                    </a:p>
                  </a:txBody>
                  <a:tcPr marL="18288" marR="18288" marT="9144" marB="9144">
                    <a:solidFill>
                      <a:srgbClr val="FD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805200"/>
                          </a:solidFill>
                          <a:latin typeface="Microsoft YaHei"/>
                        </a:rPr>
                        <a:t>947.39</a:t>
                      </a:r>
                    </a:p>
                  </a:txBody>
                  <a:tcPr marL="18288" marR="18288" marT="9144" marB="9144">
                    <a:solidFill>
                      <a:srgbClr val="FBF3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0E304A"/>
                          </a:solidFill>
                          <a:latin typeface="Microsoft YaHei"/>
                        </a:rPr>
                        <a:t>909.91</a:t>
                      </a:r>
                    </a:p>
                  </a:txBody>
                  <a:tcPr marL="18288" marR="18288" marT="9144" marB="9144"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872">
                <a:tc>
                  <a:txBody>
                    <a:bodyPr/>
                    <a:lstStyle/>
                    <a:p>
                      <a:pPr algn="l"/>
                      <a:r>
                        <a:rPr sz="590" b="1">
                          <a:solidFill>
                            <a:srgbClr val="0E304A"/>
                          </a:solidFill>
                          <a:latin typeface="Microsoft YaHei"/>
                        </a:rPr>
                        <a:t>价值5</a:t>
                      </a:r>
                    </a:p>
                  </a:txBody>
                  <a:tcPr marL="18288" marR="18288" marT="9144" marB="9144"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805200"/>
                          </a:solidFill>
                          <a:latin typeface="Microsoft YaHei"/>
                        </a:rPr>
                        <a:t>973.39</a:t>
                      </a:r>
                    </a:p>
                  </a:txBody>
                  <a:tcPr marL="18288" marR="18288" marT="9144" marB="9144">
                    <a:solidFill>
                      <a:srgbClr val="FBF2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805200"/>
                          </a:solidFill>
                          <a:latin typeface="Microsoft YaHei"/>
                        </a:rPr>
                        <a:t>802.18</a:t>
                      </a:r>
                    </a:p>
                  </a:txBody>
                  <a:tcPr marL="18288" marR="18288" marT="9144" marB="9144">
                    <a:solidFill>
                      <a:srgbClr val="FDF8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805200"/>
                          </a:solidFill>
                          <a:latin typeface="Microsoft YaHei"/>
                        </a:rPr>
                        <a:t>745.08</a:t>
                      </a:r>
                    </a:p>
                  </a:txBody>
                  <a:tcPr marL="18288" marR="18288" marT="9144" marB="9144">
                    <a:solidFill>
                      <a:srgbClr val="FEFB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 dirty="0">
                          <a:solidFill>
                            <a:srgbClr val="805200"/>
                          </a:solidFill>
                          <a:latin typeface="Microsoft YaHei"/>
                        </a:rPr>
                        <a:t>698.93</a:t>
                      </a:r>
                    </a:p>
                  </a:txBody>
                  <a:tcPr marL="18288" marR="18288" marT="9144" marB="9144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805200"/>
                          </a:solidFill>
                          <a:latin typeface="Microsoft YaHei"/>
                        </a:rPr>
                        <a:t>760.29</a:t>
                      </a:r>
                    </a:p>
                  </a:txBody>
                  <a:tcPr marL="18288" marR="18288" marT="9144" marB="9144">
                    <a:solidFill>
                      <a:srgbClr val="FE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0E304A"/>
                          </a:solidFill>
                          <a:latin typeface="Microsoft YaHei"/>
                        </a:rPr>
                        <a:t>747.20</a:t>
                      </a:r>
                    </a:p>
                  </a:txBody>
                  <a:tcPr marL="18288" marR="18288" marT="9144" marB="9144"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872"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0E304A"/>
                          </a:solidFill>
                          <a:latin typeface="Microsoft YaHei"/>
                        </a:rPr>
                        <a:t>合计</a:t>
                      </a:r>
                    </a:p>
                  </a:txBody>
                  <a:tcPr marL="18288" marR="18288" marT="9144" marB="9144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0E304A"/>
                          </a:solidFill>
                          <a:latin typeface="Microsoft YaHei"/>
                        </a:rPr>
                        <a:t>1,459.16</a:t>
                      </a:r>
                    </a:p>
                  </a:txBody>
                  <a:tcPr marL="18288" marR="18288" marT="9144" marB="9144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0E304A"/>
                          </a:solidFill>
                          <a:latin typeface="Microsoft YaHei"/>
                        </a:rPr>
                        <a:t>1,187.15</a:t>
                      </a:r>
                    </a:p>
                  </a:txBody>
                  <a:tcPr marL="18288" marR="18288" marT="9144" marB="9144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1" dirty="0">
                          <a:solidFill>
                            <a:srgbClr val="0E304A"/>
                          </a:solidFill>
                          <a:latin typeface="Microsoft YaHei"/>
                        </a:rPr>
                        <a:t>1,011.81</a:t>
                      </a:r>
                    </a:p>
                  </a:txBody>
                  <a:tcPr marL="18288" marR="18288" marT="9144" marB="9144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0E304A"/>
                          </a:solidFill>
                          <a:latin typeface="Microsoft YaHei"/>
                        </a:rPr>
                        <a:t>912.93</a:t>
                      </a:r>
                    </a:p>
                  </a:txBody>
                  <a:tcPr marL="18288" marR="18288" marT="9144" marB="9144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0E304A"/>
                          </a:solidFill>
                          <a:latin typeface="Microsoft YaHei"/>
                        </a:rPr>
                        <a:t>922.74</a:t>
                      </a:r>
                    </a:p>
                  </a:txBody>
                  <a:tcPr marL="18288" marR="18288" marT="9144" marB="9144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1" dirty="0">
                          <a:solidFill>
                            <a:srgbClr val="0E304A"/>
                          </a:solidFill>
                          <a:latin typeface="Microsoft YaHei"/>
                        </a:rPr>
                        <a:t>1,105.17</a:t>
                      </a:r>
                    </a:p>
                  </a:txBody>
                  <a:tcPr marL="18288" marR="18288" marT="9144" marB="9144"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263640" y="1307592"/>
          <a:ext cx="5285232" cy="18562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4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3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53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53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53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53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42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996"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FFFFFF"/>
                          </a:solidFill>
                          <a:latin typeface="Microsoft YaHei"/>
                        </a:rPr>
                        <a:t>价值分箱 \ 风险分箱</a:t>
                      </a:r>
                    </a:p>
                  </a:txBody>
                  <a:tcPr marL="18288" marR="18288" marT="9144" marB="9144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FFFFFF"/>
                          </a:solidFill>
                          <a:latin typeface="Microsoft YaHei"/>
                        </a:rPr>
                        <a:t>风险1</a:t>
                      </a:r>
                    </a:p>
                  </a:txBody>
                  <a:tcPr marL="18288" marR="18288" marT="9144" marB="9144">
                    <a:solidFill>
                      <a:srgbClr val="0F37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FFFFFF"/>
                          </a:solidFill>
                          <a:latin typeface="Microsoft YaHei"/>
                        </a:rPr>
                        <a:t>风险2</a:t>
                      </a:r>
                    </a:p>
                  </a:txBody>
                  <a:tcPr marL="18288" marR="18288" marT="9144" marB="9144">
                    <a:solidFill>
                      <a:srgbClr val="0F44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FFFFFF"/>
                          </a:solidFill>
                          <a:latin typeface="Microsoft YaHei"/>
                        </a:rPr>
                        <a:t>风险3</a:t>
                      </a:r>
                    </a:p>
                  </a:txBody>
                  <a:tcPr marL="18288" marR="18288" marT="9144" marB="9144">
                    <a:solidFill>
                      <a:srgbClr val="0F52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FFFFFF"/>
                          </a:solidFill>
                          <a:latin typeface="Microsoft YaHei"/>
                        </a:rPr>
                        <a:t>风险4</a:t>
                      </a:r>
                    </a:p>
                  </a:txBody>
                  <a:tcPr marL="18288" marR="18288" marT="9144" marB="9144">
                    <a:solidFill>
                      <a:srgbClr val="0F5F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FFFFFF"/>
                          </a:solidFill>
                          <a:latin typeface="Microsoft YaHei"/>
                        </a:rPr>
                        <a:t>风险5</a:t>
                      </a:r>
                    </a:p>
                  </a:txBody>
                  <a:tcPr marL="18288" marR="18288" marT="9144" marB="9144">
                    <a:solidFill>
                      <a:srgbClr val="0F6C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FFFFFF"/>
                          </a:solidFill>
                          <a:latin typeface="Microsoft YaHei"/>
                        </a:rPr>
                        <a:t>合计</a:t>
                      </a:r>
                    </a:p>
                  </a:txBody>
                  <a:tcPr marL="18288" marR="18288" marT="9144" marB="9144">
                    <a:solidFill>
                      <a:srgbClr val="0F7A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872">
                <a:tc>
                  <a:txBody>
                    <a:bodyPr/>
                    <a:lstStyle/>
                    <a:p>
                      <a:pPr algn="l"/>
                      <a:r>
                        <a:rPr sz="590" b="1">
                          <a:solidFill>
                            <a:srgbClr val="0E304A"/>
                          </a:solidFill>
                          <a:latin typeface="Microsoft YaHei"/>
                        </a:rPr>
                        <a:t>价值1</a:t>
                      </a:r>
                    </a:p>
                  </a:txBody>
                  <a:tcPr marL="18288" marR="18288" marT="9144" marB="9144"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063E63"/>
                          </a:solidFill>
                          <a:latin typeface="Microsoft YaHei"/>
                        </a:rPr>
                        <a:t>1,602.39</a:t>
                      </a:r>
                    </a:p>
                  </a:txBody>
                  <a:tcPr marL="18288" marR="18288" marT="9144" marB="9144">
                    <a:solidFill>
                      <a:srgbClr val="E4EF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063E63"/>
                          </a:solidFill>
                          <a:latin typeface="Microsoft YaHei"/>
                        </a:rPr>
                        <a:t>1,980.21</a:t>
                      </a:r>
                    </a:p>
                  </a:txBody>
                  <a:tcPr marL="18288" marR="18288" marT="9144" marB="9144">
                    <a:solidFill>
                      <a:srgbClr val="DD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063E63"/>
                          </a:solidFill>
                          <a:latin typeface="Microsoft YaHei"/>
                        </a:rPr>
                        <a:t>2,358.63</a:t>
                      </a:r>
                    </a:p>
                  </a:txBody>
                  <a:tcPr marL="18288" marR="18288" marT="9144" marB="9144">
                    <a:solidFill>
                      <a:srgbClr val="D6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063E63"/>
                          </a:solidFill>
                          <a:latin typeface="Microsoft YaHei"/>
                        </a:rPr>
                        <a:t>3,531.84</a:t>
                      </a:r>
                    </a:p>
                  </a:txBody>
                  <a:tcPr marL="18288" marR="18288" marT="9144" marB="9144">
                    <a:solidFill>
                      <a:srgbClr val="C0D8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063E63"/>
                          </a:solidFill>
                          <a:latin typeface="Microsoft YaHei"/>
                        </a:rPr>
                        <a:t>4,106.40</a:t>
                      </a:r>
                    </a:p>
                  </a:txBody>
                  <a:tcPr marL="18288" marR="18288" marT="9144" marB="9144">
                    <a:solidFill>
                      <a:srgbClr val="B6D2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0E304A"/>
                          </a:solidFill>
                          <a:latin typeface="Microsoft YaHei"/>
                        </a:rPr>
                        <a:t>2,032.22</a:t>
                      </a:r>
                    </a:p>
                  </a:txBody>
                  <a:tcPr marL="18288" marR="18288" marT="9144" marB="9144"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872">
                <a:tc>
                  <a:txBody>
                    <a:bodyPr/>
                    <a:lstStyle/>
                    <a:p>
                      <a:pPr algn="l"/>
                      <a:r>
                        <a:rPr sz="590" b="1">
                          <a:solidFill>
                            <a:srgbClr val="0E304A"/>
                          </a:solidFill>
                          <a:latin typeface="Microsoft YaHei"/>
                        </a:rPr>
                        <a:t>价值2</a:t>
                      </a:r>
                    </a:p>
                  </a:txBody>
                  <a:tcPr marL="18288" marR="18288" marT="9144" marB="9144"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063E63"/>
                          </a:solidFill>
                          <a:latin typeface="Microsoft YaHei"/>
                        </a:rPr>
                        <a:t>1,069.64</a:t>
                      </a:r>
                    </a:p>
                  </a:txBody>
                  <a:tcPr marL="18288" marR="18288" marT="9144" marB="9144"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063E63"/>
                          </a:solidFill>
                          <a:latin typeface="Microsoft YaHei"/>
                        </a:rPr>
                        <a:t>1,370.52</a:t>
                      </a:r>
                    </a:p>
                  </a:txBody>
                  <a:tcPr marL="18288" marR="18288" marT="9144" marB="9144">
                    <a:solidFill>
                      <a:srgbClr val="E9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063E63"/>
                          </a:solidFill>
                          <a:latin typeface="Microsoft YaHei"/>
                        </a:rPr>
                        <a:t>1,660.97</a:t>
                      </a:r>
                    </a:p>
                  </a:txBody>
                  <a:tcPr marL="18288" marR="18288" marT="9144" marB="9144">
                    <a:solidFill>
                      <a:srgbClr val="E3EE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063E63"/>
                          </a:solidFill>
                          <a:latin typeface="Microsoft YaHei"/>
                        </a:rPr>
                        <a:t>2,200.43</a:t>
                      </a:r>
                    </a:p>
                  </a:txBody>
                  <a:tcPr marL="18288" marR="18288" marT="9144" marB="9144"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063E63"/>
                          </a:solidFill>
                          <a:latin typeface="Microsoft YaHei"/>
                        </a:rPr>
                        <a:t>2,723.21</a:t>
                      </a:r>
                    </a:p>
                  </a:txBody>
                  <a:tcPr marL="18288" marR="18288" marT="9144" marB="9144">
                    <a:solidFill>
                      <a:srgbClr val="CFE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0E304A"/>
                          </a:solidFill>
                          <a:latin typeface="Microsoft YaHei"/>
                        </a:rPr>
                        <a:t>1,568.16</a:t>
                      </a:r>
                    </a:p>
                  </a:txBody>
                  <a:tcPr marL="18288" marR="18288" marT="9144" marB="9144"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872">
                <a:tc>
                  <a:txBody>
                    <a:bodyPr/>
                    <a:lstStyle/>
                    <a:p>
                      <a:pPr algn="l"/>
                      <a:r>
                        <a:rPr sz="590" b="1">
                          <a:solidFill>
                            <a:srgbClr val="0E304A"/>
                          </a:solidFill>
                          <a:latin typeface="Microsoft YaHei"/>
                        </a:rPr>
                        <a:t>价值3</a:t>
                      </a:r>
                    </a:p>
                  </a:txBody>
                  <a:tcPr marL="18288" marR="18288" marT="9144" marB="9144"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063E63"/>
                          </a:solidFill>
                          <a:latin typeface="Microsoft YaHei"/>
                        </a:rPr>
                        <a:t>875.76</a:t>
                      </a:r>
                    </a:p>
                  </a:txBody>
                  <a:tcPr marL="18288" marR="18288" marT="9144" marB="9144">
                    <a:solidFill>
                      <a:srgbClr val="F2F7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063E63"/>
                          </a:solidFill>
                          <a:latin typeface="Microsoft YaHei"/>
                        </a:rPr>
                        <a:t>1,099.73</a:t>
                      </a:r>
                    </a:p>
                  </a:txBody>
                  <a:tcPr marL="18288" marR="18288" marT="9144" marB="9144"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063E63"/>
                          </a:solidFill>
                          <a:latin typeface="Microsoft YaHei"/>
                        </a:rPr>
                        <a:t>1,313.17</a:t>
                      </a:r>
                    </a:p>
                  </a:txBody>
                  <a:tcPr marL="18288" marR="18288" marT="9144" marB="9144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063E63"/>
                          </a:solidFill>
                          <a:latin typeface="Microsoft YaHei"/>
                        </a:rPr>
                        <a:t>1,616.41</a:t>
                      </a:r>
                    </a:p>
                  </a:txBody>
                  <a:tcPr marL="18288" marR="18288" marT="9144" marB="9144">
                    <a:solidFill>
                      <a:srgbClr val="E4EF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063E63"/>
                          </a:solidFill>
                          <a:latin typeface="Microsoft YaHei"/>
                        </a:rPr>
                        <a:t>2,086.93</a:t>
                      </a:r>
                    </a:p>
                  </a:txBody>
                  <a:tcPr marL="18288" marR="18288" marT="9144" marB="9144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0E304A"/>
                          </a:solidFill>
                          <a:latin typeface="Microsoft YaHei"/>
                        </a:rPr>
                        <a:t>1,358.43</a:t>
                      </a:r>
                    </a:p>
                  </a:txBody>
                  <a:tcPr marL="18288" marR="18288" marT="9144" marB="9144"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872">
                <a:tc>
                  <a:txBody>
                    <a:bodyPr/>
                    <a:lstStyle/>
                    <a:p>
                      <a:pPr algn="l"/>
                      <a:r>
                        <a:rPr sz="590" b="1">
                          <a:solidFill>
                            <a:srgbClr val="0E304A"/>
                          </a:solidFill>
                          <a:latin typeface="Microsoft YaHei"/>
                        </a:rPr>
                        <a:t>价值4</a:t>
                      </a:r>
                    </a:p>
                  </a:txBody>
                  <a:tcPr marL="18288" marR="18288" marT="9144" marB="9144"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063E63"/>
                          </a:solidFill>
                          <a:latin typeface="Microsoft YaHei"/>
                        </a:rPr>
                        <a:t>845.45</a:t>
                      </a:r>
                    </a:p>
                  </a:txBody>
                  <a:tcPr marL="18288" marR="18288" marT="9144" marB="9144">
                    <a:solidFill>
                      <a:srgbClr val="F2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063E63"/>
                          </a:solidFill>
                          <a:latin typeface="Microsoft YaHei"/>
                        </a:rPr>
                        <a:t>927.10</a:t>
                      </a:r>
                    </a:p>
                  </a:txBody>
                  <a:tcPr marL="18288" marR="18288" marT="9144" marB="9144">
                    <a:solidFill>
                      <a:srgbClr val="F1F7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063E63"/>
                          </a:solidFill>
                          <a:latin typeface="Microsoft YaHei"/>
                        </a:rPr>
                        <a:t>1,145.75</a:t>
                      </a:r>
                    </a:p>
                  </a:txBody>
                  <a:tcPr marL="18288" marR="18288" marT="9144" marB="9144">
                    <a:solidFill>
                      <a:srgbClr val="ED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063E63"/>
                          </a:solidFill>
                          <a:latin typeface="Microsoft YaHei"/>
                        </a:rPr>
                        <a:t>1,446.75</a:t>
                      </a:r>
                    </a:p>
                  </a:txBody>
                  <a:tcPr marL="18288" marR="18288" marT="9144" marB="9144"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063E63"/>
                          </a:solidFill>
                          <a:latin typeface="Microsoft YaHei"/>
                        </a:rPr>
                        <a:t>1,738.43</a:t>
                      </a:r>
                    </a:p>
                  </a:txBody>
                  <a:tcPr marL="18288" marR="18288" marT="9144" marB="9144">
                    <a:solidFill>
                      <a:srgbClr val="E2E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0E304A"/>
                          </a:solidFill>
                          <a:latin typeface="Microsoft YaHei"/>
                        </a:rPr>
                        <a:t>1,308.91</a:t>
                      </a:r>
                    </a:p>
                  </a:txBody>
                  <a:tcPr marL="18288" marR="18288" marT="9144" marB="9144"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872">
                <a:tc>
                  <a:txBody>
                    <a:bodyPr/>
                    <a:lstStyle/>
                    <a:p>
                      <a:pPr algn="l"/>
                      <a:r>
                        <a:rPr sz="590" b="1">
                          <a:solidFill>
                            <a:srgbClr val="0E304A"/>
                          </a:solidFill>
                          <a:latin typeface="Microsoft YaHei"/>
                        </a:rPr>
                        <a:t>价值5</a:t>
                      </a:r>
                    </a:p>
                  </a:txBody>
                  <a:tcPr marL="18288" marR="18288" marT="9144" marB="9144"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063E63"/>
                          </a:solidFill>
                          <a:latin typeface="Microsoft YaHei"/>
                        </a:rPr>
                        <a:t>674.40</a:t>
                      </a:r>
                    </a:p>
                  </a:txBody>
                  <a:tcPr marL="18288" marR="18288" marT="9144" marB="9144">
                    <a:solidFill>
                      <a:srgbClr val="F6FA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063E63"/>
                          </a:solidFill>
                          <a:latin typeface="Microsoft YaHei"/>
                        </a:rPr>
                        <a:t>835.56</a:t>
                      </a:r>
                    </a:p>
                  </a:txBody>
                  <a:tcPr marL="18288" marR="18288" marT="9144" marB="9144">
                    <a:solidFill>
                      <a:srgbClr val="F2F8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063E63"/>
                          </a:solidFill>
                          <a:latin typeface="Microsoft YaHei"/>
                        </a:rPr>
                        <a:t>979.01</a:t>
                      </a:r>
                    </a:p>
                  </a:txBody>
                  <a:tcPr marL="18288" marR="18288" marT="9144" marB="9144">
                    <a:solidFill>
                      <a:srgbClr val="F0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063E63"/>
                          </a:solidFill>
                          <a:latin typeface="Microsoft YaHei"/>
                        </a:rPr>
                        <a:t>1,161.22</a:t>
                      </a:r>
                    </a:p>
                  </a:txBody>
                  <a:tcPr marL="18288" marR="18288" marT="9144" marB="9144">
                    <a:solidFill>
                      <a:srgbClr val="EC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063E63"/>
                          </a:solidFill>
                          <a:latin typeface="Microsoft YaHei"/>
                        </a:rPr>
                        <a:t>1,432.11</a:t>
                      </a:r>
                    </a:p>
                  </a:txBody>
                  <a:tcPr marL="18288" marR="18288" marT="9144" marB="9144">
                    <a:solidFill>
                      <a:srgbClr val="E7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0E304A"/>
                          </a:solidFill>
                          <a:latin typeface="Microsoft YaHei"/>
                        </a:rPr>
                        <a:t>1,231.61</a:t>
                      </a:r>
                    </a:p>
                  </a:txBody>
                  <a:tcPr marL="18288" marR="18288" marT="9144" marB="9144"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872"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0E304A"/>
                          </a:solidFill>
                          <a:latin typeface="Microsoft YaHei"/>
                        </a:rPr>
                        <a:t>合计</a:t>
                      </a:r>
                    </a:p>
                  </a:txBody>
                  <a:tcPr marL="18288" marR="18288" marT="9144" marB="9144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0E304A"/>
                          </a:solidFill>
                          <a:latin typeface="Microsoft YaHei"/>
                        </a:rPr>
                        <a:t>1,294.81</a:t>
                      </a:r>
                    </a:p>
                  </a:txBody>
                  <a:tcPr marL="18288" marR="18288" marT="9144" marB="9144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0E304A"/>
                          </a:solidFill>
                          <a:latin typeface="Microsoft YaHei"/>
                        </a:rPr>
                        <a:t>1,355.75</a:t>
                      </a:r>
                    </a:p>
                  </a:txBody>
                  <a:tcPr marL="18288" marR="18288" marT="9144" marB="9144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0E304A"/>
                          </a:solidFill>
                          <a:latin typeface="Microsoft YaHei"/>
                        </a:rPr>
                        <a:t>1,450.93</a:t>
                      </a:r>
                    </a:p>
                  </a:txBody>
                  <a:tcPr marL="18288" marR="18288" marT="9144" marB="9144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0E304A"/>
                          </a:solidFill>
                          <a:latin typeface="Microsoft YaHei"/>
                        </a:rPr>
                        <a:t>1,687.52</a:t>
                      </a:r>
                    </a:p>
                  </a:txBody>
                  <a:tcPr marL="18288" marR="18288" marT="9144" marB="9144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0E304A"/>
                          </a:solidFill>
                          <a:latin typeface="Microsoft YaHei"/>
                        </a:rPr>
                        <a:t>1,785.77</a:t>
                      </a:r>
                    </a:p>
                  </a:txBody>
                  <a:tcPr marL="18288" marR="18288" marT="9144" marB="9144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0E304A"/>
                          </a:solidFill>
                          <a:latin typeface="Microsoft YaHei"/>
                        </a:rPr>
                        <a:t>1,507.53</a:t>
                      </a:r>
                    </a:p>
                  </a:txBody>
                  <a:tcPr marL="18288" marR="18288" marT="9144" marB="9144"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411480" y="4050791"/>
          <a:ext cx="5230364" cy="18562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9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85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85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85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76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996"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FFFFFF"/>
                          </a:solidFill>
                          <a:latin typeface="Microsoft YaHei"/>
                        </a:rPr>
                        <a:t>价值分箱 \ 风险分箱</a:t>
                      </a:r>
                    </a:p>
                  </a:txBody>
                  <a:tcPr marL="18288" marR="18288" marT="9144" marB="9144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FFFFFF"/>
                          </a:solidFill>
                          <a:latin typeface="Microsoft YaHei"/>
                        </a:rPr>
                        <a:t>风险1</a:t>
                      </a:r>
                    </a:p>
                  </a:txBody>
                  <a:tcPr marL="18288" marR="18288" marT="9144" marB="9144">
                    <a:solidFill>
                      <a:srgbClr val="0F37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FFFFFF"/>
                          </a:solidFill>
                          <a:latin typeface="Microsoft YaHei"/>
                        </a:rPr>
                        <a:t>风险2</a:t>
                      </a:r>
                    </a:p>
                  </a:txBody>
                  <a:tcPr marL="18288" marR="18288" marT="9144" marB="9144">
                    <a:solidFill>
                      <a:srgbClr val="0F44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FFFFFF"/>
                          </a:solidFill>
                          <a:latin typeface="Microsoft YaHei"/>
                        </a:rPr>
                        <a:t>风险3</a:t>
                      </a:r>
                    </a:p>
                  </a:txBody>
                  <a:tcPr marL="18288" marR="18288" marT="9144" marB="9144">
                    <a:solidFill>
                      <a:srgbClr val="0F52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FFFFFF"/>
                          </a:solidFill>
                          <a:latin typeface="Microsoft YaHei"/>
                        </a:rPr>
                        <a:t>风险4</a:t>
                      </a:r>
                    </a:p>
                  </a:txBody>
                  <a:tcPr marL="18288" marR="18288" marT="9144" marB="9144">
                    <a:solidFill>
                      <a:srgbClr val="0F5F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FFFFFF"/>
                          </a:solidFill>
                          <a:latin typeface="Microsoft YaHei"/>
                        </a:rPr>
                        <a:t>风险5</a:t>
                      </a:r>
                    </a:p>
                  </a:txBody>
                  <a:tcPr marL="18288" marR="18288" marT="9144" marB="9144">
                    <a:solidFill>
                      <a:srgbClr val="0F6C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FFFFFF"/>
                          </a:solidFill>
                          <a:latin typeface="Microsoft YaHei"/>
                        </a:rPr>
                        <a:t>合计</a:t>
                      </a:r>
                    </a:p>
                  </a:txBody>
                  <a:tcPr marL="18288" marR="18288" marT="9144" marB="9144">
                    <a:solidFill>
                      <a:srgbClr val="0F7A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872">
                <a:tc>
                  <a:txBody>
                    <a:bodyPr/>
                    <a:lstStyle/>
                    <a:p>
                      <a:pPr algn="l"/>
                      <a:r>
                        <a:rPr sz="590" b="1">
                          <a:solidFill>
                            <a:srgbClr val="0E304A"/>
                          </a:solidFill>
                          <a:latin typeface="Microsoft YaHei"/>
                        </a:rPr>
                        <a:t>价值1</a:t>
                      </a:r>
                    </a:p>
                  </a:txBody>
                  <a:tcPr marL="18288" marR="18288" marT="9144" marB="9144"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9C2F43"/>
                          </a:solidFill>
                          <a:latin typeface="Microsoft YaHei"/>
                        </a:rPr>
                        <a:t>5.74%</a:t>
                      </a:r>
                    </a:p>
                  </a:txBody>
                  <a:tcPr marL="18288" marR="18288" marT="9144" marB="9144">
                    <a:solidFill>
                      <a:srgbClr val="FE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9C2F43"/>
                          </a:solidFill>
                          <a:latin typeface="Microsoft YaHei"/>
                        </a:rPr>
                        <a:t>5.99%</a:t>
                      </a:r>
                    </a:p>
                  </a:txBody>
                  <a:tcPr marL="18288" marR="18288" marT="9144" marB="9144">
                    <a:solidFill>
                      <a:srgbClr val="FE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9C2F43"/>
                          </a:solidFill>
                          <a:latin typeface="Microsoft YaHei"/>
                        </a:rPr>
                        <a:t>10.57%</a:t>
                      </a:r>
                    </a:p>
                  </a:txBody>
                  <a:tcPr marL="18288" marR="18288" marT="9144" marB="9144">
                    <a:solidFill>
                      <a:srgbClr val="FBE7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9C2F43"/>
                          </a:solidFill>
                          <a:latin typeface="Microsoft YaHei"/>
                        </a:rPr>
                        <a:t>10.55%</a:t>
                      </a:r>
                    </a:p>
                  </a:txBody>
                  <a:tcPr marL="18288" marR="18288" marT="9144" marB="9144">
                    <a:solidFill>
                      <a:srgbClr val="FBE7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9C2F43"/>
                          </a:solidFill>
                          <a:latin typeface="Microsoft YaHei"/>
                        </a:rPr>
                        <a:t>10.42%</a:t>
                      </a:r>
                    </a:p>
                  </a:txBody>
                  <a:tcPr marL="18288" marR="18288" marT="9144" marB="9144">
                    <a:solidFill>
                      <a:srgbClr val="FBE8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0E304A"/>
                          </a:solidFill>
                          <a:latin typeface="Microsoft YaHei"/>
                        </a:rPr>
                        <a:t>7.05%</a:t>
                      </a:r>
                    </a:p>
                  </a:txBody>
                  <a:tcPr marL="18288" marR="18288" marT="9144" marB="9144"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872">
                <a:tc>
                  <a:txBody>
                    <a:bodyPr/>
                    <a:lstStyle/>
                    <a:p>
                      <a:pPr algn="l"/>
                      <a:r>
                        <a:rPr sz="590" b="1">
                          <a:solidFill>
                            <a:srgbClr val="0E304A"/>
                          </a:solidFill>
                          <a:latin typeface="Microsoft YaHei"/>
                        </a:rPr>
                        <a:t>价值2</a:t>
                      </a:r>
                    </a:p>
                  </a:txBody>
                  <a:tcPr marL="18288" marR="18288" marT="9144" marB="9144"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9C2F43"/>
                          </a:solidFill>
                          <a:latin typeface="Microsoft YaHei"/>
                        </a:rPr>
                        <a:t>5.46%</a:t>
                      </a:r>
                    </a:p>
                  </a:txBody>
                  <a:tcPr marL="18288" marR="18288" marT="9144" marB="9144">
                    <a:solidFill>
                      <a:srgbClr val="FF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9C2F43"/>
                          </a:solidFill>
                          <a:latin typeface="Microsoft YaHei"/>
                        </a:rPr>
                        <a:t>8.38%</a:t>
                      </a:r>
                    </a:p>
                  </a:txBody>
                  <a:tcPr marL="18288" marR="18288" marT="9144" marB="9144">
                    <a:solidFill>
                      <a:srgbClr val="FC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9C2F43"/>
                          </a:solidFill>
                          <a:latin typeface="Microsoft YaHei"/>
                        </a:rPr>
                        <a:t>9.69%</a:t>
                      </a:r>
                    </a:p>
                  </a:txBody>
                  <a:tcPr marL="18288" marR="18288" marT="9144" marB="9144">
                    <a:solidFill>
                      <a:srgbClr val="FCEA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9C2F43"/>
                          </a:solidFill>
                          <a:latin typeface="Microsoft YaHei"/>
                        </a:rPr>
                        <a:t>13.80%</a:t>
                      </a:r>
                    </a:p>
                  </a:txBody>
                  <a:tcPr marL="18288" marR="18288" marT="9144" marB="9144">
                    <a:solidFill>
                      <a:srgbClr val="F9DD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9C2F43"/>
                          </a:solidFill>
                          <a:latin typeface="Microsoft YaHei"/>
                        </a:rPr>
                        <a:t>14.34%</a:t>
                      </a:r>
                    </a:p>
                  </a:txBody>
                  <a:tcPr marL="18288" marR="18288" marT="9144" marB="9144">
                    <a:solidFill>
                      <a:srgbClr val="F8DB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0E304A"/>
                          </a:solidFill>
                          <a:latin typeface="Microsoft YaHei"/>
                        </a:rPr>
                        <a:t>9.46%</a:t>
                      </a:r>
                    </a:p>
                  </a:txBody>
                  <a:tcPr marL="18288" marR="18288" marT="9144" marB="9144"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872">
                <a:tc>
                  <a:txBody>
                    <a:bodyPr/>
                    <a:lstStyle/>
                    <a:p>
                      <a:pPr algn="l"/>
                      <a:r>
                        <a:rPr sz="590" b="1">
                          <a:solidFill>
                            <a:srgbClr val="0E304A"/>
                          </a:solidFill>
                          <a:latin typeface="Microsoft YaHei"/>
                        </a:rPr>
                        <a:t>价值3</a:t>
                      </a:r>
                    </a:p>
                  </a:txBody>
                  <a:tcPr marL="18288" marR="18288" marT="9144" marB="9144"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9C2F43"/>
                          </a:solidFill>
                          <a:latin typeface="Microsoft YaHei"/>
                        </a:rPr>
                        <a:t>6.35%</a:t>
                      </a:r>
                    </a:p>
                  </a:txBody>
                  <a:tcPr marL="18288" marR="18288" marT="9144" marB="9144">
                    <a:solidFill>
                      <a:srgbClr val="FE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9C2F43"/>
                          </a:solidFill>
                          <a:latin typeface="Microsoft YaHei"/>
                        </a:rPr>
                        <a:t>8.38%</a:t>
                      </a:r>
                    </a:p>
                  </a:txBody>
                  <a:tcPr marL="18288" marR="18288" marT="9144" marB="9144">
                    <a:solidFill>
                      <a:srgbClr val="FC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9C2F43"/>
                          </a:solidFill>
                          <a:latin typeface="Microsoft YaHei"/>
                        </a:rPr>
                        <a:t>10.78%</a:t>
                      </a:r>
                    </a:p>
                  </a:txBody>
                  <a:tcPr marL="18288" marR="18288" marT="9144" marB="9144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9C2F43"/>
                          </a:solidFill>
                          <a:latin typeface="Microsoft YaHei"/>
                        </a:rPr>
                        <a:t>11.76%</a:t>
                      </a:r>
                    </a:p>
                  </a:txBody>
                  <a:tcPr marL="18288" marR="18288" marT="9144" marB="9144">
                    <a:solidFill>
                      <a:srgbClr val="FAE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9C2F43"/>
                          </a:solidFill>
                          <a:latin typeface="Microsoft YaHei"/>
                        </a:rPr>
                        <a:t>14.61%</a:t>
                      </a:r>
                    </a:p>
                  </a:txBody>
                  <a:tcPr marL="18288" marR="18288" marT="9144" marB="9144">
                    <a:solidFill>
                      <a:srgbClr val="F8D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0E304A"/>
                          </a:solidFill>
                          <a:latin typeface="Microsoft YaHei"/>
                        </a:rPr>
                        <a:t>10.61%</a:t>
                      </a:r>
                    </a:p>
                  </a:txBody>
                  <a:tcPr marL="18288" marR="18288" marT="9144" marB="9144"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872">
                <a:tc>
                  <a:txBody>
                    <a:bodyPr/>
                    <a:lstStyle/>
                    <a:p>
                      <a:pPr algn="l"/>
                      <a:r>
                        <a:rPr sz="590" b="1">
                          <a:solidFill>
                            <a:srgbClr val="0E304A"/>
                          </a:solidFill>
                          <a:latin typeface="Microsoft YaHei"/>
                        </a:rPr>
                        <a:t>价值4</a:t>
                      </a:r>
                    </a:p>
                  </a:txBody>
                  <a:tcPr marL="18288" marR="18288" marT="9144" marB="9144"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9C2F43"/>
                          </a:solidFill>
                          <a:latin typeface="Microsoft YaHei"/>
                        </a:rPr>
                        <a:t>8.04%</a:t>
                      </a:r>
                    </a:p>
                  </a:txBody>
                  <a:tcPr marL="18288" marR="18288" marT="9144" marB="9144">
                    <a:solidFill>
                      <a:srgbClr val="FDEF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9C2F43"/>
                          </a:solidFill>
                          <a:latin typeface="Microsoft YaHei"/>
                        </a:rPr>
                        <a:t>8.15%</a:t>
                      </a:r>
                    </a:p>
                  </a:txBody>
                  <a:tcPr marL="18288" marR="18288" marT="9144" marB="9144">
                    <a:solidFill>
                      <a:srgbClr val="FDEF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9C2F43"/>
                          </a:solidFill>
                          <a:latin typeface="Microsoft YaHei"/>
                        </a:rPr>
                        <a:t>14.88%</a:t>
                      </a:r>
                    </a:p>
                  </a:txBody>
                  <a:tcPr marL="18288" marR="18288" marT="9144" marB="9144">
                    <a:solidFill>
                      <a:srgbClr val="F8D9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9C2F43"/>
                          </a:solidFill>
                          <a:latin typeface="Microsoft YaHei"/>
                        </a:rPr>
                        <a:t>16.80%</a:t>
                      </a:r>
                    </a:p>
                  </a:txBody>
                  <a:tcPr marL="18288" marR="18288" marT="9144" marB="9144">
                    <a:solidFill>
                      <a:srgbClr val="F7D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9C2F43"/>
                          </a:solidFill>
                          <a:latin typeface="Microsoft YaHei"/>
                        </a:rPr>
                        <a:t>20.27%</a:t>
                      </a:r>
                    </a:p>
                  </a:txBody>
                  <a:tcPr marL="18288" marR="18288" marT="9144" marB="9144">
                    <a:solidFill>
                      <a:srgbClr val="F4C8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0E304A"/>
                          </a:solidFill>
                          <a:latin typeface="Microsoft YaHei"/>
                        </a:rPr>
                        <a:t>15.91%</a:t>
                      </a:r>
                    </a:p>
                  </a:txBody>
                  <a:tcPr marL="18288" marR="18288" marT="9144" marB="9144"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872">
                <a:tc>
                  <a:txBody>
                    <a:bodyPr/>
                    <a:lstStyle/>
                    <a:p>
                      <a:pPr algn="l"/>
                      <a:r>
                        <a:rPr sz="590" b="1">
                          <a:solidFill>
                            <a:srgbClr val="0E304A"/>
                          </a:solidFill>
                          <a:latin typeface="Microsoft YaHei"/>
                        </a:rPr>
                        <a:t>价值5</a:t>
                      </a:r>
                    </a:p>
                  </a:txBody>
                  <a:tcPr marL="18288" marR="18288" marT="9144" marB="9144"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9C2F43"/>
                          </a:solidFill>
                          <a:latin typeface="Microsoft YaHei"/>
                        </a:rPr>
                        <a:t>11.54%</a:t>
                      </a:r>
                    </a:p>
                  </a:txBody>
                  <a:tcPr marL="18288" marR="18288" marT="9144" marB="9144">
                    <a:solidFill>
                      <a:srgbClr val="FAE4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9C2F43"/>
                          </a:solidFill>
                          <a:latin typeface="Microsoft YaHei"/>
                        </a:rPr>
                        <a:t>10.83%</a:t>
                      </a:r>
                    </a:p>
                  </a:txBody>
                  <a:tcPr marL="18288" marR="18288" marT="9144" marB="9144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9C2F43"/>
                          </a:solidFill>
                          <a:latin typeface="Microsoft YaHei"/>
                        </a:rPr>
                        <a:t>13.31%</a:t>
                      </a:r>
                    </a:p>
                  </a:txBody>
                  <a:tcPr marL="18288" marR="18288" marT="9144" marB="9144">
                    <a:solidFill>
                      <a:srgbClr val="F9DE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9C2F43"/>
                          </a:solidFill>
                          <a:latin typeface="Microsoft YaHei"/>
                        </a:rPr>
                        <a:t>19.28%</a:t>
                      </a:r>
                    </a:p>
                  </a:txBody>
                  <a:tcPr marL="18288" marR="18288" marT="9144" marB="9144">
                    <a:solidFill>
                      <a:srgbClr val="F5CB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9C2F43"/>
                          </a:solidFill>
                          <a:latin typeface="Microsoft YaHei"/>
                        </a:rPr>
                        <a:t>27.05%</a:t>
                      </a:r>
                    </a:p>
                  </a:txBody>
                  <a:tcPr marL="18288" marR="18288" marT="9144" marB="9144">
                    <a:solidFill>
                      <a:srgbClr val="F0B3B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0E304A"/>
                          </a:solidFill>
                          <a:latin typeface="Microsoft YaHei"/>
                        </a:rPr>
                        <a:t>22.90%</a:t>
                      </a:r>
                    </a:p>
                  </a:txBody>
                  <a:tcPr marL="18288" marR="18288" marT="9144" marB="9144"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872"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0E304A"/>
                          </a:solidFill>
                          <a:latin typeface="Microsoft YaHei"/>
                        </a:rPr>
                        <a:t>合计</a:t>
                      </a:r>
                    </a:p>
                  </a:txBody>
                  <a:tcPr marL="18288" marR="18288" marT="9144" marB="9144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0E304A"/>
                          </a:solidFill>
                          <a:latin typeface="Microsoft YaHei"/>
                        </a:rPr>
                        <a:t>5.92%</a:t>
                      </a:r>
                    </a:p>
                  </a:txBody>
                  <a:tcPr marL="18288" marR="18288" marT="9144" marB="9144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0E304A"/>
                          </a:solidFill>
                          <a:latin typeface="Microsoft YaHei"/>
                        </a:rPr>
                        <a:t>7.79%</a:t>
                      </a:r>
                    </a:p>
                  </a:txBody>
                  <a:tcPr marL="18288" marR="18288" marT="9144" marB="9144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0E304A"/>
                          </a:solidFill>
                          <a:latin typeface="Microsoft YaHei"/>
                        </a:rPr>
                        <a:t>11.70%</a:t>
                      </a:r>
                    </a:p>
                  </a:txBody>
                  <a:tcPr marL="18288" marR="18288" marT="9144" marB="9144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0E304A"/>
                          </a:solidFill>
                          <a:latin typeface="Microsoft YaHei"/>
                        </a:rPr>
                        <a:t>15.16%</a:t>
                      </a:r>
                    </a:p>
                  </a:txBody>
                  <a:tcPr marL="18288" marR="18288" marT="9144" marB="9144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0E304A"/>
                          </a:solidFill>
                          <a:latin typeface="Microsoft YaHei"/>
                        </a:rPr>
                        <a:t>22.02%</a:t>
                      </a:r>
                    </a:p>
                  </a:txBody>
                  <a:tcPr marL="18288" marR="18288" marT="9144" marB="9144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0E304A"/>
                          </a:solidFill>
                          <a:latin typeface="Microsoft YaHei"/>
                        </a:rPr>
                        <a:t>13.19%</a:t>
                      </a:r>
                    </a:p>
                  </a:txBody>
                  <a:tcPr marL="18288" marR="18288" marT="9144" marB="9144"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6263640" y="4014215"/>
          <a:ext cx="5285232" cy="18562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4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3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53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53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53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53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42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996"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FFFFFF"/>
                          </a:solidFill>
                          <a:latin typeface="Microsoft YaHei"/>
                        </a:rPr>
                        <a:t>价值分箱 \ 风险分箱</a:t>
                      </a:r>
                    </a:p>
                  </a:txBody>
                  <a:tcPr marL="18288" marR="18288" marT="9144" marB="9144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FFFFFF"/>
                          </a:solidFill>
                          <a:latin typeface="Microsoft YaHei"/>
                        </a:rPr>
                        <a:t>风险1</a:t>
                      </a:r>
                    </a:p>
                  </a:txBody>
                  <a:tcPr marL="18288" marR="18288" marT="9144" marB="9144">
                    <a:solidFill>
                      <a:srgbClr val="0F37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FFFFFF"/>
                          </a:solidFill>
                          <a:latin typeface="Microsoft YaHei"/>
                        </a:rPr>
                        <a:t>风险2</a:t>
                      </a:r>
                    </a:p>
                  </a:txBody>
                  <a:tcPr marL="18288" marR="18288" marT="9144" marB="9144">
                    <a:solidFill>
                      <a:srgbClr val="0F44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FFFFFF"/>
                          </a:solidFill>
                          <a:latin typeface="Microsoft YaHei"/>
                        </a:rPr>
                        <a:t>风险3</a:t>
                      </a:r>
                    </a:p>
                  </a:txBody>
                  <a:tcPr marL="18288" marR="18288" marT="9144" marB="9144">
                    <a:solidFill>
                      <a:srgbClr val="0F52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FFFFFF"/>
                          </a:solidFill>
                          <a:latin typeface="Microsoft YaHei"/>
                        </a:rPr>
                        <a:t>风险4</a:t>
                      </a:r>
                    </a:p>
                  </a:txBody>
                  <a:tcPr marL="18288" marR="18288" marT="9144" marB="9144">
                    <a:solidFill>
                      <a:srgbClr val="0F5F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FFFFFF"/>
                          </a:solidFill>
                          <a:latin typeface="Microsoft YaHei"/>
                        </a:rPr>
                        <a:t>风险5</a:t>
                      </a:r>
                    </a:p>
                  </a:txBody>
                  <a:tcPr marL="18288" marR="18288" marT="9144" marB="9144">
                    <a:solidFill>
                      <a:srgbClr val="0F6C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FFFFFF"/>
                          </a:solidFill>
                          <a:latin typeface="Microsoft YaHei"/>
                        </a:rPr>
                        <a:t>合计</a:t>
                      </a:r>
                    </a:p>
                  </a:txBody>
                  <a:tcPr marL="18288" marR="18288" marT="9144" marB="9144">
                    <a:solidFill>
                      <a:srgbClr val="0F7A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872">
                <a:tc>
                  <a:txBody>
                    <a:bodyPr/>
                    <a:lstStyle/>
                    <a:p>
                      <a:pPr algn="l"/>
                      <a:r>
                        <a:rPr sz="590" b="1">
                          <a:solidFill>
                            <a:srgbClr val="0E304A"/>
                          </a:solidFill>
                          <a:latin typeface="Microsoft YaHei"/>
                        </a:rPr>
                        <a:t>价值1</a:t>
                      </a:r>
                    </a:p>
                  </a:txBody>
                  <a:tcPr marL="18288" marR="18288" marT="9144" marB="9144"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9C2F43"/>
                          </a:solidFill>
                          <a:latin typeface="Microsoft YaHei"/>
                        </a:rPr>
                        <a:t>2.62%</a:t>
                      </a:r>
                    </a:p>
                  </a:txBody>
                  <a:tcPr marL="18288" marR="18288" marT="9144" marB="9144">
                    <a:solidFill>
                      <a:srgbClr val="FEF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9C2F43"/>
                          </a:solidFill>
                          <a:latin typeface="Microsoft YaHei"/>
                        </a:rPr>
                        <a:t>2.95%</a:t>
                      </a:r>
                    </a:p>
                  </a:txBody>
                  <a:tcPr marL="18288" marR="18288" marT="9144" marB="9144">
                    <a:solidFill>
                      <a:srgbClr val="FE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9C2F43"/>
                          </a:solidFill>
                          <a:latin typeface="Microsoft YaHei"/>
                        </a:rPr>
                        <a:t>5.31%</a:t>
                      </a:r>
                    </a:p>
                  </a:txBody>
                  <a:tcPr marL="18288" marR="18288" marT="9144" marB="9144">
                    <a:solidFill>
                      <a:srgbClr val="FC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9C2F43"/>
                          </a:solidFill>
                          <a:latin typeface="Microsoft YaHei"/>
                        </a:rPr>
                        <a:t>5.91%</a:t>
                      </a:r>
                    </a:p>
                  </a:txBody>
                  <a:tcPr marL="18288" marR="18288" marT="9144" marB="9144">
                    <a:solidFill>
                      <a:srgbClr val="FBE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9C2F43"/>
                          </a:solidFill>
                          <a:latin typeface="Microsoft YaHei"/>
                        </a:rPr>
                        <a:t>7.96%</a:t>
                      </a:r>
                    </a:p>
                  </a:txBody>
                  <a:tcPr marL="18288" marR="18288" marT="9144" marB="9144">
                    <a:solidFill>
                      <a:srgbClr val="FAE2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0E304A"/>
                          </a:solidFill>
                          <a:latin typeface="Microsoft YaHei"/>
                        </a:rPr>
                        <a:t>3.35%</a:t>
                      </a:r>
                    </a:p>
                  </a:txBody>
                  <a:tcPr marL="18288" marR="18288" marT="9144" marB="9144"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872">
                <a:tc>
                  <a:txBody>
                    <a:bodyPr/>
                    <a:lstStyle/>
                    <a:p>
                      <a:pPr algn="l"/>
                      <a:r>
                        <a:rPr sz="590" b="1">
                          <a:solidFill>
                            <a:srgbClr val="0E304A"/>
                          </a:solidFill>
                          <a:latin typeface="Microsoft YaHei"/>
                        </a:rPr>
                        <a:t>价值2</a:t>
                      </a:r>
                    </a:p>
                  </a:txBody>
                  <a:tcPr marL="18288" marR="18288" marT="9144" marB="9144"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9C2F43"/>
                          </a:solidFill>
                          <a:latin typeface="Microsoft YaHei"/>
                        </a:rPr>
                        <a:t>2.48%</a:t>
                      </a:r>
                    </a:p>
                  </a:txBody>
                  <a:tcPr marL="18288" marR="18288" marT="9144" marB="9144">
                    <a:solidFill>
                      <a:srgbClr val="FE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9C2F43"/>
                          </a:solidFill>
                          <a:latin typeface="Microsoft YaHei"/>
                        </a:rPr>
                        <a:t>4.45%</a:t>
                      </a:r>
                    </a:p>
                  </a:txBody>
                  <a:tcPr marL="18288" marR="18288" marT="9144" marB="9144">
                    <a:solidFill>
                      <a:srgbClr val="FDEF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9C2F43"/>
                          </a:solidFill>
                          <a:latin typeface="Microsoft YaHei"/>
                        </a:rPr>
                        <a:t>5.66%</a:t>
                      </a:r>
                    </a:p>
                  </a:txBody>
                  <a:tcPr marL="18288" marR="18288" marT="9144" marB="9144">
                    <a:solidFill>
                      <a:srgbClr val="FCEA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9C2F43"/>
                          </a:solidFill>
                          <a:latin typeface="Microsoft YaHei"/>
                        </a:rPr>
                        <a:t>8.65%</a:t>
                      </a:r>
                    </a:p>
                  </a:txBody>
                  <a:tcPr marL="18288" marR="18288" marT="9144" marB="9144">
                    <a:solidFill>
                      <a:srgbClr val="F9DF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9C2F43"/>
                          </a:solidFill>
                          <a:latin typeface="Microsoft YaHei"/>
                        </a:rPr>
                        <a:t>11.52%</a:t>
                      </a:r>
                    </a:p>
                  </a:txBody>
                  <a:tcPr marL="18288" marR="18288" marT="9144" marB="9144">
                    <a:solidFill>
                      <a:srgbClr val="F7D5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0E304A"/>
                          </a:solidFill>
                          <a:latin typeface="Microsoft YaHei"/>
                        </a:rPr>
                        <a:t>5.11%</a:t>
                      </a:r>
                    </a:p>
                  </a:txBody>
                  <a:tcPr marL="18288" marR="18288" marT="9144" marB="9144"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872">
                <a:tc>
                  <a:txBody>
                    <a:bodyPr/>
                    <a:lstStyle/>
                    <a:p>
                      <a:pPr algn="l"/>
                      <a:r>
                        <a:rPr sz="590" b="1">
                          <a:solidFill>
                            <a:srgbClr val="0E304A"/>
                          </a:solidFill>
                          <a:latin typeface="Microsoft YaHei"/>
                        </a:rPr>
                        <a:t>价值3</a:t>
                      </a:r>
                    </a:p>
                  </a:txBody>
                  <a:tcPr marL="18288" marR="18288" marT="9144" marB="9144"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9C2F43"/>
                          </a:solidFill>
                          <a:latin typeface="Microsoft YaHei"/>
                        </a:rPr>
                        <a:t>2.85%</a:t>
                      </a:r>
                    </a:p>
                  </a:txBody>
                  <a:tcPr marL="18288" marR="18288" marT="9144" marB="9144">
                    <a:solidFill>
                      <a:srgbClr val="FE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9C2F43"/>
                          </a:solidFill>
                          <a:latin typeface="Microsoft YaHei"/>
                        </a:rPr>
                        <a:t>3.72%</a:t>
                      </a:r>
                    </a:p>
                  </a:txBody>
                  <a:tcPr marL="18288" marR="18288" marT="9144" marB="9144">
                    <a:solidFill>
                      <a:srgbClr val="FD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9C2F43"/>
                          </a:solidFill>
                          <a:latin typeface="Microsoft YaHei"/>
                        </a:rPr>
                        <a:t>6.47%</a:t>
                      </a:r>
                    </a:p>
                  </a:txBody>
                  <a:tcPr marL="18288" marR="18288" marT="9144" marB="9144">
                    <a:solidFill>
                      <a:srgbClr val="FBE7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9C2F43"/>
                          </a:solidFill>
                          <a:latin typeface="Microsoft YaHei"/>
                        </a:rPr>
                        <a:t>8.28%</a:t>
                      </a:r>
                    </a:p>
                  </a:txBody>
                  <a:tcPr marL="18288" marR="18288" marT="9144" marB="9144">
                    <a:solidFill>
                      <a:srgbClr val="FAE1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9C2F43"/>
                          </a:solidFill>
                          <a:latin typeface="Microsoft YaHei"/>
                        </a:rPr>
                        <a:t>10.38%</a:t>
                      </a:r>
                    </a:p>
                  </a:txBody>
                  <a:tcPr marL="18288" marR="18288" marT="9144" marB="9144">
                    <a:solidFill>
                      <a:srgbClr val="F8D9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0E304A"/>
                          </a:solidFill>
                          <a:latin typeface="Microsoft YaHei"/>
                        </a:rPr>
                        <a:t>5.95%</a:t>
                      </a:r>
                    </a:p>
                  </a:txBody>
                  <a:tcPr marL="18288" marR="18288" marT="9144" marB="9144"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872">
                <a:tc>
                  <a:txBody>
                    <a:bodyPr/>
                    <a:lstStyle/>
                    <a:p>
                      <a:pPr algn="l"/>
                      <a:r>
                        <a:rPr sz="590" b="1">
                          <a:solidFill>
                            <a:srgbClr val="0E304A"/>
                          </a:solidFill>
                          <a:latin typeface="Microsoft YaHei"/>
                        </a:rPr>
                        <a:t>价值4</a:t>
                      </a:r>
                    </a:p>
                  </a:txBody>
                  <a:tcPr marL="18288" marR="18288" marT="9144" marB="9144"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9C2F43"/>
                          </a:solidFill>
                          <a:latin typeface="Microsoft YaHei"/>
                        </a:rPr>
                        <a:t>2.07%</a:t>
                      </a:r>
                    </a:p>
                  </a:txBody>
                  <a:tcPr marL="18288" marR="18288" marT="9144" marB="9144">
                    <a:solidFill>
                      <a:srgbClr val="FF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9C2F43"/>
                          </a:solidFill>
                          <a:latin typeface="Microsoft YaHei"/>
                        </a:rPr>
                        <a:t>4.45%</a:t>
                      </a:r>
                    </a:p>
                  </a:txBody>
                  <a:tcPr marL="18288" marR="18288" marT="9144" marB="9144">
                    <a:solidFill>
                      <a:srgbClr val="FDEF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9C2F43"/>
                          </a:solidFill>
                          <a:latin typeface="Microsoft YaHei"/>
                        </a:rPr>
                        <a:t>7.26%</a:t>
                      </a:r>
                    </a:p>
                  </a:txBody>
                  <a:tcPr marL="18288" marR="18288" marT="9144" marB="9144">
                    <a:solidFill>
                      <a:srgbClr val="FAE4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9C2F43"/>
                          </a:solidFill>
                          <a:latin typeface="Microsoft YaHei"/>
                        </a:rPr>
                        <a:t>10.59%</a:t>
                      </a:r>
                    </a:p>
                  </a:txBody>
                  <a:tcPr marL="18288" marR="18288" marT="9144" marB="9144">
                    <a:solidFill>
                      <a:srgbClr val="F8D8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9C2F43"/>
                          </a:solidFill>
                          <a:latin typeface="Microsoft YaHei"/>
                        </a:rPr>
                        <a:t>15.71%</a:t>
                      </a:r>
                    </a:p>
                  </a:txBody>
                  <a:tcPr marL="18288" marR="18288" marT="9144" marB="9144">
                    <a:solidFill>
                      <a:srgbClr val="F4C5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0E304A"/>
                          </a:solidFill>
                          <a:latin typeface="Microsoft YaHei"/>
                        </a:rPr>
                        <a:t>9.10%</a:t>
                      </a:r>
                    </a:p>
                  </a:txBody>
                  <a:tcPr marL="18288" marR="18288" marT="9144" marB="9144"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872">
                <a:tc>
                  <a:txBody>
                    <a:bodyPr/>
                    <a:lstStyle/>
                    <a:p>
                      <a:pPr algn="l"/>
                      <a:r>
                        <a:rPr sz="590" b="1">
                          <a:solidFill>
                            <a:srgbClr val="0E304A"/>
                          </a:solidFill>
                          <a:latin typeface="Microsoft YaHei"/>
                        </a:rPr>
                        <a:t>价值5</a:t>
                      </a:r>
                    </a:p>
                  </a:txBody>
                  <a:tcPr marL="18288" marR="18288" marT="9144" marB="9144"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9C2F43"/>
                          </a:solidFill>
                          <a:latin typeface="Microsoft YaHei"/>
                        </a:rPr>
                        <a:t>5.21%</a:t>
                      </a:r>
                    </a:p>
                  </a:txBody>
                  <a:tcPr marL="18288" marR="18288" marT="9144" marB="9144">
                    <a:solidFill>
                      <a:srgbClr val="FC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9C2F43"/>
                          </a:solidFill>
                          <a:latin typeface="Microsoft YaHei"/>
                        </a:rPr>
                        <a:t>3.89%</a:t>
                      </a:r>
                    </a:p>
                  </a:txBody>
                  <a:tcPr marL="18288" marR="18288" marT="9144" marB="9144">
                    <a:solidFill>
                      <a:srgbClr val="FD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9C2F43"/>
                          </a:solidFill>
                          <a:latin typeface="Microsoft YaHei"/>
                        </a:rPr>
                        <a:t>5.83%</a:t>
                      </a:r>
                    </a:p>
                  </a:txBody>
                  <a:tcPr marL="18288" marR="18288" marT="9144" marB="9144">
                    <a:solidFill>
                      <a:srgbClr val="FBEA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9C2F43"/>
                          </a:solidFill>
                          <a:latin typeface="Microsoft YaHei"/>
                        </a:rPr>
                        <a:t>11.08%</a:t>
                      </a:r>
                    </a:p>
                  </a:txBody>
                  <a:tcPr marL="18288" marR="18288" marT="9144" marB="9144">
                    <a:solidFill>
                      <a:srgbClr val="F7D6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9C2F43"/>
                          </a:solidFill>
                          <a:latin typeface="Microsoft YaHei"/>
                        </a:rPr>
                        <a:t>20.82%</a:t>
                      </a:r>
                    </a:p>
                  </a:txBody>
                  <a:tcPr marL="18288" marR="18288" marT="9144" marB="9144">
                    <a:solidFill>
                      <a:srgbClr val="F0B3B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0E304A"/>
                          </a:solidFill>
                          <a:latin typeface="Microsoft YaHei"/>
                        </a:rPr>
                        <a:t>14.13%</a:t>
                      </a:r>
                    </a:p>
                  </a:txBody>
                  <a:tcPr marL="18288" marR="18288" marT="9144" marB="9144"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872"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0E304A"/>
                          </a:solidFill>
                          <a:latin typeface="Microsoft YaHei"/>
                        </a:rPr>
                        <a:t>合计</a:t>
                      </a:r>
                    </a:p>
                  </a:txBody>
                  <a:tcPr marL="18288" marR="18288" marT="9144" marB="9144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0E304A"/>
                          </a:solidFill>
                          <a:latin typeface="Microsoft YaHei"/>
                        </a:rPr>
                        <a:t>2.61%</a:t>
                      </a:r>
                    </a:p>
                  </a:txBody>
                  <a:tcPr marL="18288" marR="18288" marT="9144" marB="9144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0E304A"/>
                          </a:solidFill>
                          <a:latin typeface="Microsoft YaHei"/>
                        </a:rPr>
                        <a:t>3.79%</a:t>
                      </a:r>
                    </a:p>
                  </a:txBody>
                  <a:tcPr marL="18288" marR="18288" marT="9144" marB="9144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0E304A"/>
                          </a:solidFill>
                          <a:latin typeface="Microsoft YaHei"/>
                        </a:rPr>
                        <a:t>6.15%</a:t>
                      </a:r>
                    </a:p>
                  </a:txBody>
                  <a:tcPr marL="18288" marR="18288" marT="9144" marB="9144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0E304A"/>
                          </a:solidFill>
                          <a:latin typeface="Microsoft YaHei"/>
                        </a:rPr>
                        <a:t>9.21%</a:t>
                      </a:r>
                    </a:p>
                  </a:txBody>
                  <a:tcPr marL="18288" marR="18288" marT="9144" marB="9144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0E304A"/>
                          </a:solidFill>
                          <a:latin typeface="Microsoft YaHei"/>
                        </a:rPr>
                        <a:t>16.04%</a:t>
                      </a:r>
                    </a:p>
                  </a:txBody>
                  <a:tcPr marL="18288" marR="18288" marT="9144" marB="9144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0E304A"/>
                          </a:solidFill>
                          <a:latin typeface="Microsoft YaHei"/>
                        </a:rPr>
                        <a:t>6.54%</a:t>
                      </a:r>
                    </a:p>
                  </a:txBody>
                  <a:tcPr marL="18288" marR="18288" marT="9144" marB="9144"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411480" y="5925312"/>
            <a:ext cx="25603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700">
                <a:solidFill>
                  <a:srgbClr val="667085"/>
                </a:solidFill>
                <a:latin typeface="Microsoft YaHei"/>
              </a:rPr>
              <a:t>红色越深，逾期率越高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5897880"/>
            <a:ext cx="25603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700">
                <a:solidFill>
                  <a:srgbClr val="667085"/>
                </a:solidFill>
                <a:latin typeface="Microsoft YaHei"/>
              </a:rPr>
              <a:t>红色越深，逾期率越高</a:t>
            </a:r>
          </a:p>
        </p:txBody>
      </p:sp>
    </p:spTree>
    <p:extLst>
      <p:ext uri="{BB962C8B-B14F-4D97-AF65-F5344CB8AC3E}">
        <p14:creationId xmlns:p14="http://schemas.microsoft.com/office/powerpoint/2010/main" val="1390087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1872"/>
            <a:ext cx="4846320" cy="307777"/>
          </a:xfrm>
          <a:prstGeom prst="rect">
            <a:avLst/>
          </a:prstGeom>
          <a:noFill/>
        </p:spPr>
        <p:txBody>
          <a:bodyPr wrap="square" lIns="0" tIns="0" rIns="36576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申请样本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20262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AutoShape 2" descr="已生成图片：价值风险矩阵数据表">
            <a:extLst>
              <a:ext uri="{FF2B5EF4-FFF2-40B4-BE49-F238E27FC236}">
                <a16:creationId xmlns:a16="http://schemas.microsoft.com/office/drawing/2014/main" id="{586397A9-2B7F-47FD-A69B-A5C22B484B7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41566" y="11804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58A7B13-6C76-4533-ABFA-B988ACBC4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769" y="3952449"/>
            <a:ext cx="6133787" cy="201178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86ECDA2-ABB9-4F4D-AAD7-D3F10C05D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7012" y="4241217"/>
            <a:ext cx="4438702" cy="143424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7A3DB81-74AF-4E57-B5CE-EB83E1FA0E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5669" y="1016934"/>
            <a:ext cx="6059119" cy="1948446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D7947D80-1667-49F4-B270-6440BB4EACC6}"/>
              </a:ext>
            </a:extLst>
          </p:cNvPr>
          <p:cNvSpPr txBox="1"/>
          <p:nvPr/>
        </p:nvSpPr>
        <p:spPr>
          <a:xfrm>
            <a:off x="6338819" y="3429000"/>
            <a:ext cx="4389120" cy="215444"/>
          </a:xfrm>
          <a:prstGeom prst="rect">
            <a:avLst/>
          </a:prstGeom>
          <a:noFill/>
        </p:spPr>
        <p:txBody>
          <a:bodyPr wrap="square" lIns="0" tIns="0" rIns="36576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dirty="0"/>
              <a:t>盈余（全申请）：</a:t>
            </a:r>
            <a:r>
              <a:rPr lang="zh-CN" altLang="en-US" sz="1400" b="1" dirty="0"/>
              <a:t>高价值客群额度空间更大</a:t>
            </a:r>
            <a:endParaRPr kumimoji="0" sz="1500" b="1" i="0" u="none" strike="noStrike" kern="1200" cap="none" spc="0" normalizeH="0" baseline="0" noProof="0" dirty="0">
              <a:ln>
                <a:noFill/>
              </a:ln>
              <a:solidFill>
                <a:srgbClr val="1F2937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644D93CF-B8B1-4FF9-B74C-95CD86E1D4BA}"/>
              </a:ext>
            </a:extLst>
          </p:cNvPr>
          <p:cNvSpPr txBox="1"/>
          <p:nvPr/>
        </p:nvSpPr>
        <p:spPr>
          <a:xfrm>
            <a:off x="486659" y="3429000"/>
            <a:ext cx="4389120" cy="215444"/>
          </a:xfrm>
          <a:prstGeom prst="rect">
            <a:avLst/>
          </a:prstGeom>
          <a:noFill/>
        </p:spPr>
        <p:txBody>
          <a:bodyPr wrap="square" lIns="0" tIns="0" rIns="36576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dirty="0"/>
              <a:t>完件给额率：</a:t>
            </a:r>
            <a:r>
              <a:rPr lang="zh-CN" altLang="en-US" sz="1400" b="1" dirty="0"/>
              <a:t>价值分层有望显著提升投放效率</a:t>
            </a:r>
            <a:endParaRPr kumimoji="0" sz="1250" b="1" i="0" u="none" strike="noStrike" kern="1200" cap="none" spc="0" normalizeH="0" baseline="0" noProof="0" dirty="0">
              <a:ln>
                <a:noFill/>
              </a:ln>
              <a:solidFill>
                <a:srgbClr val="20262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72A66C12-59DC-4212-9A7C-F18705A382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546" y="1106370"/>
            <a:ext cx="5127067" cy="1934949"/>
          </a:xfrm>
          <a:prstGeom prst="rect">
            <a:avLst/>
          </a:prstGeom>
        </p:spPr>
      </p:pic>
      <p:sp>
        <p:nvSpPr>
          <p:cNvPr id="30" name="TextBox 10">
            <a:extLst>
              <a:ext uri="{FF2B5EF4-FFF2-40B4-BE49-F238E27FC236}">
                <a16:creationId xmlns:a16="http://schemas.microsoft.com/office/drawing/2014/main" id="{CB4C1A13-459E-49AC-9418-EA1288CEA30D}"/>
              </a:ext>
            </a:extLst>
          </p:cNvPr>
          <p:cNvSpPr txBox="1"/>
          <p:nvPr/>
        </p:nvSpPr>
        <p:spPr>
          <a:xfrm>
            <a:off x="486659" y="680254"/>
            <a:ext cx="4389120" cy="215444"/>
          </a:xfrm>
          <a:prstGeom prst="rect">
            <a:avLst/>
          </a:prstGeom>
          <a:noFill/>
        </p:spPr>
        <p:txBody>
          <a:bodyPr wrap="square" lIns="0" tIns="0" rIns="36576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dirty="0"/>
              <a:t>申请样本数</a:t>
            </a:r>
            <a:endParaRPr kumimoji="0" sz="1250" b="1" i="0" u="none" strike="noStrike" kern="1200" cap="none" spc="0" normalizeH="0" baseline="0" noProof="0" dirty="0">
              <a:ln>
                <a:noFill/>
              </a:ln>
              <a:solidFill>
                <a:srgbClr val="20262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1" name="TextBox 10">
            <a:extLst>
              <a:ext uri="{FF2B5EF4-FFF2-40B4-BE49-F238E27FC236}">
                <a16:creationId xmlns:a16="http://schemas.microsoft.com/office/drawing/2014/main" id="{A1CB6698-D54E-44F5-BFC6-1E4D68CDB9BA}"/>
              </a:ext>
            </a:extLst>
          </p:cNvPr>
          <p:cNvSpPr txBox="1"/>
          <p:nvPr/>
        </p:nvSpPr>
        <p:spPr>
          <a:xfrm>
            <a:off x="6054207" y="659949"/>
            <a:ext cx="4389120" cy="215444"/>
          </a:xfrm>
          <a:prstGeom prst="rect">
            <a:avLst/>
          </a:prstGeom>
          <a:noFill/>
        </p:spPr>
        <p:txBody>
          <a:bodyPr wrap="square" lIns="0" tIns="0" rIns="36576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dirty="0"/>
              <a:t>收入</a:t>
            </a:r>
            <a:endParaRPr kumimoji="0" sz="1250" b="1" i="0" u="none" strike="noStrike" kern="1200" cap="none" spc="0" normalizeH="0" baseline="0" noProof="0" dirty="0">
              <a:ln>
                <a:noFill/>
              </a:ln>
              <a:solidFill>
                <a:srgbClr val="20262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9767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256032"/>
            <a:ext cx="7195944" cy="369332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lang="zh-CN" altLang="en-US" sz="2400" b="1" dirty="0"/>
              <a:t>澳大利亚下半年增长主线：规模扩张 </a:t>
            </a:r>
            <a:r>
              <a:rPr lang="en-US" altLang="zh-CN" sz="2400" b="1" dirty="0"/>
              <a:t>× </a:t>
            </a:r>
            <a:r>
              <a:rPr lang="zh-CN" altLang="en-US" sz="2400" b="1" dirty="0"/>
              <a:t>客群价值提升</a:t>
            </a:r>
            <a:endParaRPr lang="zh-CN" altLang="en-US" sz="2100" b="1" dirty="0">
              <a:solidFill>
                <a:srgbClr val="0A23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033271"/>
            <a:ext cx="10881360" cy="0"/>
          </a:xfrm>
          <a:prstGeom prst="line">
            <a:avLst/>
          </a:prstGeom>
          <a:ln w="9525">
            <a:solidFill>
              <a:srgbClr val="DA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12064" y="1220579"/>
            <a:ext cx="45720" cy="182880"/>
          </a:xfrm>
          <a:prstGeom prst="rect">
            <a:avLst/>
          </a:prstGeom>
          <a:solidFill>
            <a:srgbClr val="0A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1792" y="1216152"/>
            <a:ext cx="2124043" cy="23044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50" b="1" dirty="0" err="1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模型现状（主模型</a:t>
            </a:r>
            <a:r>
              <a:rPr sz="1450" b="1" dirty="0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sz="1450" b="1" dirty="0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sz="1450" b="1" dirty="0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个）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77824" y="1920240"/>
            <a:ext cx="10588752" cy="0"/>
          </a:xfrm>
          <a:prstGeom prst="line">
            <a:avLst/>
          </a:prstGeom>
          <a:ln w="15240">
            <a:solidFill>
              <a:srgbClr val="C6D1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33215" y="1618488"/>
            <a:ext cx="1059649" cy="212879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30" b="1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 年 9 月</a:t>
            </a:r>
          </a:p>
        </p:txBody>
      </p:sp>
      <p:sp>
        <p:nvSpPr>
          <p:cNvPr id="12" name="Oval 11"/>
          <p:cNvSpPr/>
          <p:nvPr/>
        </p:nvSpPr>
        <p:spPr>
          <a:xfrm>
            <a:off x="1412748" y="1869948"/>
            <a:ext cx="100584" cy="100584"/>
          </a:xfrm>
          <a:prstGeom prst="ellipse">
            <a:avLst/>
          </a:prstGeom>
          <a:solidFill>
            <a:srgbClr val="5CA84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57200" y="2121408"/>
            <a:ext cx="2011680" cy="13533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78407" y="2199132"/>
            <a:ext cx="969264" cy="246888"/>
          </a:xfrm>
          <a:prstGeom prst="roundRect">
            <a:avLst/>
          </a:prstGeom>
          <a:solidFill>
            <a:srgbClr val="5C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已上线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495" y="2557959"/>
            <a:ext cx="1308115" cy="182229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</a:pPr>
            <a:r>
              <a:rPr sz="1120" b="1" dirty="0" err="1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老客风险主模型</a:t>
            </a:r>
            <a:r>
              <a:rPr sz="1120" b="1" dirty="0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769" y="2977991"/>
            <a:ext cx="1437958" cy="357342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780" b="1" dirty="0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OOT </a:t>
            </a:r>
            <a:r>
              <a:rPr sz="780" b="1" dirty="0" err="1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效果稳定，OOS</a:t>
            </a:r>
            <a:r>
              <a:rPr sz="780" b="1" dirty="0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0.</a:t>
            </a:r>
            <a:r>
              <a:rPr lang="en-US" sz="780" b="1" dirty="0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72</a:t>
            </a:r>
            <a:endParaRPr sz="800" b="1" dirty="0">
              <a:solidFill>
                <a:srgbClr val="5A677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780" b="1" dirty="0" err="1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上线</a:t>
            </a:r>
            <a:r>
              <a:rPr sz="780" b="1" dirty="0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10 </a:t>
            </a:r>
            <a:r>
              <a:rPr sz="780" b="1" dirty="0" err="1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个月</a:t>
            </a:r>
            <a:r>
              <a:rPr sz="780" b="1" dirty="0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AUC </a:t>
            </a:r>
            <a:r>
              <a:rPr sz="780" b="1" dirty="0" err="1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维持到</a:t>
            </a:r>
            <a:r>
              <a:rPr sz="780" b="1" dirty="0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0.6</a:t>
            </a:r>
            <a:r>
              <a:rPr lang="en-US" sz="780" b="1" dirty="0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endParaRPr sz="800" b="1" dirty="0">
              <a:solidFill>
                <a:srgbClr val="5A677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212036" y="1618488"/>
            <a:ext cx="1165447" cy="212879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30" b="1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 年 11 月</a:t>
            </a:r>
          </a:p>
        </p:txBody>
      </p:sp>
      <p:sp>
        <p:nvSpPr>
          <p:cNvPr id="19" name="Oval 18"/>
          <p:cNvSpPr/>
          <p:nvPr/>
        </p:nvSpPr>
        <p:spPr>
          <a:xfrm>
            <a:off x="3744468" y="1869948"/>
            <a:ext cx="100584" cy="100584"/>
          </a:xfrm>
          <a:prstGeom prst="ellipse">
            <a:avLst/>
          </a:prstGeom>
          <a:solidFill>
            <a:srgbClr val="5CA84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788920" y="2121408"/>
            <a:ext cx="2011680" cy="13533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310127" y="2199132"/>
            <a:ext cx="969264" cy="246888"/>
          </a:xfrm>
          <a:prstGeom prst="roundRect">
            <a:avLst/>
          </a:prstGeom>
          <a:solidFill>
            <a:srgbClr val="5C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已上线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44952" y="2670048"/>
            <a:ext cx="1308115" cy="182229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</a:pPr>
            <a:r>
              <a:rPr sz="1120" b="1" dirty="0" err="1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新客风险主模型</a:t>
            </a:r>
            <a:r>
              <a:rPr sz="1120" b="1" dirty="0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44952" y="2977991"/>
            <a:ext cx="1377044" cy="357342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780" b="1" dirty="0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OOT </a:t>
            </a:r>
            <a:r>
              <a:rPr sz="780" b="1" dirty="0" err="1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效果稳定，OOS</a:t>
            </a:r>
            <a:r>
              <a:rPr sz="780" b="1" dirty="0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0.69</a:t>
            </a: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780" b="1" dirty="0" err="1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上线</a:t>
            </a:r>
            <a:r>
              <a:rPr sz="780" b="1" dirty="0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8 </a:t>
            </a:r>
            <a:r>
              <a:rPr sz="780" b="1" dirty="0" err="1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个月</a:t>
            </a:r>
            <a:r>
              <a:rPr sz="780" b="1" dirty="0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AUC </a:t>
            </a:r>
            <a:r>
              <a:rPr sz="780" b="1" dirty="0" err="1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维持到</a:t>
            </a:r>
            <a:r>
              <a:rPr sz="780" b="1" dirty="0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0.66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96655" y="1618488"/>
            <a:ext cx="1059649" cy="212879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30" b="1" dirty="0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</a:t>
            </a:r>
            <a:r>
              <a:rPr lang="en-US" sz="1330" b="1" dirty="0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sz="1330" b="1" dirty="0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年 1 月</a:t>
            </a:r>
          </a:p>
        </p:txBody>
      </p:sp>
      <p:sp>
        <p:nvSpPr>
          <p:cNvPr id="26" name="Oval 25"/>
          <p:cNvSpPr/>
          <p:nvPr/>
        </p:nvSpPr>
        <p:spPr>
          <a:xfrm>
            <a:off x="6076188" y="1869948"/>
            <a:ext cx="100584" cy="100584"/>
          </a:xfrm>
          <a:prstGeom prst="ellipse">
            <a:avLst/>
          </a:prstGeom>
          <a:solidFill>
            <a:srgbClr val="7F848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120640" y="2121408"/>
            <a:ext cx="2011680" cy="13533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641848" y="2199132"/>
            <a:ext cx="969264" cy="246888"/>
          </a:xfrm>
          <a:prstGeom prst="roundRect">
            <a:avLst/>
          </a:prstGeom>
          <a:solidFill>
            <a:srgbClr val="7F8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  <a:r>
              <a:rPr lang="zh-CN" alt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手工名单</a:t>
            </a:r>
            <a:endParaRPr sz="1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275068" y="2670049"/>
            <a:ext cx="1740926" cy="182229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</a:pPr>
            <a:r>
              <a:rPr sz="1120" b="1" dirty="0" err="1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老客</a:t>
            </a:r>
            <a:r>
              <a:rPr lang="zh-CN" altLang="en-US" sz="1120" b="1" dirty="0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结清</a:t>
            </a:r>
            <a:r>
              <a:rPr sz="1120" b="1" dirty="0" err="1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复购意愿模型</a:t>
            </a:r>
            <a:r>
              <a:rPr sz="1120" b="1" dirty="0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28375" y="1618488"/>
            <a:ext cx="1059649" cy="212879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30" b="1" dirty="0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 年 3 月</a:t>
            </a:r>
          </a:p>
        </p:txBody>
      </p:sp>
      <p:sp>
        <p:nvSpPr>
          <p:cNvPr id="31" name="Oval 30"/>
          <p:cNvSpPr/>
          <p:nvPr/>
        </p:nvSpPr>
        <p:spPr>
          <a:xfrm>
            <a:off x="8407908" y="1869948"/>
            <a:ext cx="100584" cy="100584"/>
          </a:xfrm>
          <a:prstGeom prst="ellipse">
            <a:avLst/>
          </a:prstGeom>
          <a:solidFill>
            <a:srgbClr val="E8672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7452360" y="2121408"/>
            <a:ext cx="2011680" cy="13533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973568" y="2199132"/>
            <a:ext cx="969264" cy="246888"/>
          </a:xfrm>
          <a:prstGeom prst="roundRect">
            <a:avLst/>
          </a:prstGeom>
          <a:solidFill>
            <a:srgbClr val="E86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  <a:r>
              <a:rPr sz="1000" b="1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即将上线</a:t>
            </a:r>
            <a:endParaRPr sz="105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708392" y="2670048"/>
            <a:ext cx="1308115" cy="182229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</a:pPr>
            <a:r>
              <a:rPr sz="1120" b="1" dirty="0" err="1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老客风险主模型</a:t>
            </a:r>
            <a:r>
              <a:rPr sz="1120" b="1" dirty="0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2.</a:t>
            </a:r>
            <a:r>
              <a:rPr lang="en-US" altLang="zh-CN" sz="1120" b="1" dirty="0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60094" y="1618488"/>
            <a:ext cx="1059649" cy="212879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30" b="1" dirty="0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 年 6 月</a:t>
            </a:r>
          </a:p>
        </p:txBody>
      </p:sp>
      <p:sp>
        <p:nvSpPr>
          <p:cNvPr id="36" name="Oval 35"/>
          <p:cNvSpPr/>
          <p:nvPr/>
        </p:nvSpPr>
        <p:spPr>
          <a:xfrm>
            <a:off x="10739628" y="1869948"/>
            <a:ext cx="100584" cy="100584"/>
          </a:xfrm>
          <a:prstGeom prst="ellipse">
            <a:avLst/>
          </a:prstGeom>
          <a:solidFill>
            <a:srgbClr val="E8672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9784080" y="2121408"/>
            <a:ext cx="2011680" cy="13533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10305288" y="2199132"/>
            <a:ext cx="969264" cy="246888"/>
          </a:xfrm>
          <a:prstGeom prst="roundRect">
            <a:avLst/>
          </a:prstGeom>
          <a:solidFill>
            <a:srgbClr val="E86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即将上线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02560" y="2647187"/>
            <a:ext cx="875304" cy="182229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</a:pPr>
            <a:r>
              <a:rPr sz="1120" b="1" dirty="0" err="1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价值模型</a:t>
            </a:r>
            <a:r>
              <a:rPr sz="1120" b="1" dirty="0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1.0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2064" y="4331625"/>
            <a:ext cx="45720" cy="182880"/>
          </a:xfrm>
          <a:prstGeom prst="rect">
            <a:avLst/>
          </a:prstGeom>
          <a:solidFill>
            <a:srgbClr val="0A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21792" y="4304193"/>
            <a:ext cx="1152623" cy="23044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50" b="1" dirty="0" err="1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r>
              <a:rPr lang="zh-CN" altLang="en-US" sz="1450" b="1" dirty="0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主线</a:t>
            </a:r>
            <a:r>
              <a:rPr sz="1450" b="1" dirty="0" err="1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规划</a:t>
            </a:r>
            <a:endParaRPr sz="1450" b="1" dirty="0">
              <a:solidFill>
                <a:srgbClr val="0A23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76656" y="4644358"/>
            <a:ext cx="3401568" cy="1554480"/>
          </a:xfrm>
          <a:prstGeom prst="roundRect">
            <a:avLst/>
          </a:prstGeom>
          <a:solidFill>
            <a:srgbClr val="F6F8FB"/>
          </a:solidFill>
          <a:ln w="1143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50976" y="4827238"/>
            <a:ext cx="775918" cy="237757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lang="en-US" altLang="zh-CN" sz="1500" b="1" dirty="0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AI+</a:t>
            </a:r>
            <a:r>
              <a:rPr lang="zh-CN" altLang="en-US" sz="1500" b="1" dirty="0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基建</a:t>
            </a:r>
            <a:endParaRPr sz="1500" b="1" dirty="0">
              <a:solidFill>
                <a:srgbClr val="0A23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960120" y="5147278"/>
            <a:ext cx="548640" cy="27432"/>
          </a:xfrm>
          <a:prstGeom prst="rect">
            <a:avLst/>
          </a:prstGeom>
          <a:solidFill>
            <a:srgbClr val="226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950976" y="5412454"/>
            <a:ext cx="50292" cy="50292"/>
          </a:xfrm>
          <a:prstGeom prst="ellipse">
            <a:avLst/>
          </a:prstGeom>
          <a:solidFill>
            <a:srgbClr val="226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097280" y="5362162"/>
            <a:ext cx="2430217" cy="16466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lang="zh-CN" altLang="en-US" sz="960" b="1" dirty="0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银行流水</a:t>
            </a:r>
            <a:r>
              <a:rPr sz="960" b="1" dirty="0" err="1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分类模型</a:t>
            </a:r>
            <a:r>
              <a:rPr lang="zh-CN" altLang="en-US" sz="960" b="1" dirty="0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000" dirty="0"/>
              <a:t>构建自主交易分类能力</a:t>
            </a:r>
            <a:endParaRPr sz="1050" b="0" dirty="0">
              <a:solidFill>
                <a:srgbClr val="20395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950976" y="5645626"/>
            <a:ext cx="50292" cy="50292"/>
          </a:xfrm>
          <a:prstGeom prst="ellipse">
            <a:avLst/>
          </a:prstGeom>
          <a:solidFill>
            <a:srgbClr val="226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097280" y="5611933"/>
            <a:ext cx="2763642" cy="158826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60" b="1" dirty="0" err="1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人群画像</a:t>
            </a:r>
            <a:r>
              <a:rPr sz="960" b="1" dirty="0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AI </a:t>
            </a:r>
            <a:r>
              <a:rPr sz="960" b="1" dirty="0" err="1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智能体</a:t>
            </a:r>
            <a:r>
              <a:rPr sz="960" b="1" dirty="0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960" b="1" dirty="0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澳洲</a:t>
            </a:r>
            <a:r>
              <a:rPr sz="960" b="0" dirty="0" err="1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竞品</a:t>
            </a:r>
            <a:r>
              <a:rPr lang="zh-CN" altLang="en-US" sz="960" b="0" dirty="0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要素</a:t>
            </a:r>
            <a:r>
              <a:rPr lang="zh-CN" altLang="en-US" sz="960" dirty="0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</a:t>
            </a:r>
            <a:r>
              <a:rPr lang="zh-CN" altLang="en-US" sz="960" b="0" dirty="0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实时</a:t>
            </a:r>
            <a:r>
              <a:rPr sz="960" b="0" dirty="0" err="1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追踪</a:t>
            </a:r>
            <a:endParaRPr sz="1050" b="0" dirty="0">
              <a:solidFill>
                <a:srgbClr val="20395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Oval 52"/>
          <p:cNvSpPr/>
          <p:nvPr/>
        </p:nvSpPr>
        <p:spPr>
          <a:xfrm>
            <a:off x="950976" y="5878797"/>
            <a:ext cx="50292" cy="50292"/>
          </a:xfrm>
          <a:prstGeom prst="ellipse">
            <a:avLst/>
          </a:prstGeom>
          <a:solidFill>
            <a:srgbClr val="226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097280" y="5845105"/>
            <a:ext cx="2688300" cy="158826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60" b="1" dirty="0" err="1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贷中流水查询：</a:t>
            </a:r>
            <a:r>
              <a:rPr sz="960" b="0" dirty="0" err="1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贷中运营、贷后扣款</a:t>
            </a:r>
            <a:r>
              <a:rPr lang="zh-CN" altLang="en-US" sz="960" b="0" dirty="0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最重要基建</a:t>
            </a:r>
            <a:endParaRPr sz="1050" b="0" dirty="0">
              <a:solidFill>
                <a:srgbClr val="20395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4379976" y="4644358"/>
            <a:ext cx="3401568" cy="1554480"/>
          </a:xfrm>
          <a:prstGeom prst="roundRect">
            <a:avLst/>
          </a:prstGeom>
          <a:solidFill>
            <a:srgbClr val="F6F8FB"/>
          </a:solidFill>
          <a:ln w="1143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654296" y="4827238"/>
            <a:ext cx="412036" cy="231923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60" b="1" dirty="0" err="1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投放</a:t>
            </a:r>
            <a:endParaRPr sz="1500" b="1" dirty="0">
              <a:solidFill>
                <a:srgbClr val="0A23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663440" y="5147278"/>
            <a:ext cx="548640" cy="27432"/>
          </a:xfrm>
          <a:prstGeom prst="rect">
            <a:avLst/>
          </a:prstGeom>
          <a:solidFill>
            <a:srgbClr val="CB8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654296" y="5412454"/>
            <a:ext cx="50292" cy="50292"/>
          </a:xfrm>
          <a:prstGeom prst="ellipse">
            <a:avLst/>
          </a:prstGeom>
          <a:solidFill>
            <a:srgbClr val="CB8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4800600" y="5362162"/>
            <a:ext cx="3113096" cy="16466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lang="zh-CN" altLang="en-US" sz="1000" b="1" dirty="0"/>
              <a:t>高价值人群圈选 </a:t>
            </a:r>
            <a:r>
              <a:rPr lang="en-US" altLang="zh-CN" sz="1000" b="1" dirty="0"/>
              <a:t>/ </a:t>
            </a:r>
            <a:r>
              <a:rPr lang="zh-CN" altLang="en-US" sz="1000" b="1" dirty="0"/>
              <a:t>回传</a:t>
            </a:r>
            <a:r>
              <a:rPr lang="zh-CN" altLang="en-US" sz="960" b="1" dirty="0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000" dirty="0"/>
              <a:t>筛选优质客群，推动人群上浮</a:t>
            </a:r>
            <a:endParaRPr sz="1050" b="0" dirty="0">
              <a:solidFill>
                <a:srgbClr val="20395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Oval 60"/>
          <p:cNvSpPr/>
          <p:nvPr/>
        </p:nvSpPr>
        <p:spPr>
          <a:xfrm>
            <a:off x="4654296" y="5645626"/>
            <a:ext cx="50292" cy="50292"/>
          </a:xfrm>
          <a:prstGeom prst="ellipse">
            <a:avLst/>
          </a:prstGeom>
          <a:solidFill>
            <a:srgbClr val="CB8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800600" y="5595334"/>
            <a:ext cx="2814938" cy="16466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lang="zh-CN" altLang="en-US" sz="960" b="1" dirty="0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回传效果</a:t>
            </a:r>
            <a:r>
              <a:rPr sz="960" b="1" dirty="0" err="1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归因</a:t>
            </a:r>
            <a:r>
              <a:rPr lang="zh-CN" altLang="en-US" sz="960" b="1" dirty="0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工具：</a:t>
            </a:r>
            <a:r>
              <a:rPr lang="zh-CN" altLang="en-US" sz="1000" dirty="0"/>
              <a:t>衡量人群真实转化与投放价值</a:t>
            </a:r>
            <a:endParaRPr sz="1050" b="0" dirty="0">
              <a:solidFill>
                <a:srgbClr val="20395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8083296" y="4644358"/>
            <a:ext cx="3401568" cy="1554480"/>
          </a:xfrm>
          <a:prstGeom prst="roundRect">
            <a:avLst/>
          </a:prstGeom>
          <a:solidFill>
            <a:srgbClr val="F6F8FB"/>
          </a:solidFill>
          <a:ln w="1143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357616" y="4827238"/>
            <a:ext cx="412036" cy="231923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60" b="1" dirty="0" err="1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风险</a:t>
            </a:r>
            <a:endParaRPr sz="1500" b="1" dirty="0">
              <a:solidFill>
                <a:srgbClr val="0A23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8366760" y="5147278"/>
            <a:ext cx="548640" cy="27432"/>
          </a:xfrm>
          <a:prstGeom prst="rect">
            <a:avLst/>
          </a:prstGeom>
          <a:solidFill>
            <a:srgbClr val="CD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8357616" y="5412454"/>
            <a:ext cx="50292" cy="50292"/>
          </a:xfrm>
          <a:prstGeom prst="ellipse">
            <a:avLst/>
          </a:prstGeom>
          <a:solidFill>
            <a:srgbClr val="CD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8508492" y="5337862"/>
            <a:ext cx="2978444" cy="158826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60" b="1" dirty="0" err="1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风险</a:t>
            </a:r>
            <a:r>
              <a:rPr sz="960" b="1" dirty="0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× </a:t>
            </a:r>
            <a:r>
              <a:rPr sz="960" b="1" dirty="0" err="1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价值模型：</a:t>
            </a:r>
            <a:r>
              <a:rPr lang="en-US" altLang="zh-CN" sz="960" b="0" dirty="0" err="1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Non</a:t>
            </a:r>
            <a:r>
              <a:rPr lang="en-US" altLang="zh-CN" sz="960" b="0" dirty="0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960" b="0" dirty="0" err="1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Sacc</a:t>
            </a:r>
            <a:r>
              <a:rPr sz="960" b="0" dirty="0" err="1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打开最主要的抓手</a:t>
            </a:r>
            <a:r>
              <a:rPr lang="zh-CN" altLang="en-US" sz="960" b="0" dirty="0">
                <a:solidFill>
                  <a:srgbClr val="0822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！！！</a:t>
            </a:r>
            <a:endParaRPr sz="1050" b="0" dirty="0">
              <a:solidFill>
                <a:srgbClr val="20395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3" name="Connector 72"/>
          <p:cNvCxnSpPr/>
          <p:nvPr/>
        </p:nvCxnSpPr>
        <p:spPr>
          <a:xfrm>
            <a:off x="466344" y="6582886"/>
            <a:ext cx="10881360" cy="0"/>
          </a:xfrm>
          <a:prstGeom prst="line">
            <a:avLst/>
          </a:prstGeom>
          <a:ln w="7620">
            <a:solidFill>
              <a:srgbClr val="EB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2">
            <a:extLst>
              <a:ext uri="{FF2B5EF4-FFF2-40B4-BE49-F238E27FC236}">
                <a16:creationId xmlns:a16="http://schemas.microsoft.com/office/drawing/2014/main" id="{5707EF5B-DFB4-45A5-B245-97D25774B6DA}"/>
              </a:ext>
            </a:extLst>
          </p:cNvPr>
          <p:cNvSpPr txBox="1"/>
          <p:nvPr/>
        </p:nvSpPr>
        <p:spPr>
          <a:xfrm>
            <a:off x="502920" y="749808"/>
            <a:ext cx="5392566" cy="19851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zh-CN" altLang="en-US" sz="1050" dirty="0"/>
              <a:t>以 </a:t>
            </a:r>
            <a:r>
              <a:rPr lang="en-US" altLang="zh-CN" sz="1050" dirty="0"/>
              <a:t>LACC / High MACC </a:t>
            </a:r>
            <a:r>
              <a:rPr lang="zh-CN" altLang="en-US" sz="1050" dirty="0"/>
              <a:t>拉动规模，以价值模型驱动投放与风控，持续提升高价值客群占比</a:t>
            </a:r>
            <a:endParaRPr sz="1100" b="0" dirty="0">
              <a:solidFill>
                <a:srgbClr val="5B667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684EE95-79F0-4FA1-8B5C-558824AC7093}"/>
              </a:ext>
            </a:extLst>
          </p:cNvPr>
          <p:cNvSpPr/>
          <p:nvPr/>
        </p:nvSpPr>
        <p:spPr>
          <a:xfrm>
            <a:off x="221742" y="3529401"/>
            <a:ext cx="2382012" cy="5029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做一个很小趋势图，说明稳定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8B32027C-95E2-4C7B-8A41-85C3B7EED688}"/>
              </a:ext>
            </a:extLst>
          </p:cNvPr>
          <p:cNvSpPr/>
          <p:nvPr/>
        </p:nvSpPr>
        <p:spPr>
          <a:xfrm>
            <a:off x="9674347" y="1963513"/>
            <a:ext cx="2331729" cy="2076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/>
              <a:t>未来</a:t>
            </a:r>
            <a:r>
              <a:rPr lang="en-US" altLang="zh-CN" sz="1050" dirty="0"/>
              <a:t>3</a:t>
            </a:r>
            <a:r>
              <a:rPr lang="zh-CN" altLang="en-US" sz="1050" dirty="0"/>
              <a:t>个月利息收入（</a:t>
            </a:r>
            <a:r>
              <a:rPr lang="en-US" altLang="zh-CN" sz="1050" dirty="0"/>
              <a:t>1/ 0 </a:t>
            </a:r>
            <a:r>
              <a:rPr lang="zh-CN" altLang="en-US" sz="1050" dirty="0"/>
              <a:t>）二分类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F52DB968-FF5A-4734-9A2F-4FBC48908CD0}"/>
              </a:ext>
            </a:extLst>
          </p:cNvPr>
          <p:cNvSpPr/>
          <p:nvPr/>
        </p:nvSpPr>
        <p:spPr>
          <a:xfrm>
            <a:off x="753899" y="1985530"/>
            <a:ext cx="1418279" cy="2076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/>
              <a:t>3M30+</a:t>
            </a:r>
            <a:endParaRPr lang="zh-CN" altLang="en-US" sz="1050" dirty="0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97493D13-E2F1-4450-B8A6-D113A806819E}"/>
              </a:ext>
            </a:extLst>
          </p:cNvPr>
          <p:cNvSpPr/>
          <p:nvPr/>
        </p:nvSpPr>
        <p:spPr>
          <a:xfrm>
            <a:off x="3099870" y="1982677"/>
            <a:ext cx="1418279" cy="2076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/>
              <a:t>3M30+</a:t>
            </a:r>
            <a:endParaRPr lang="zh-CN" altLang="en-US" sz="1050" dirty="0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C9B3D608-B17A-43DA-A589-6299DDF42CF7}"/>
              </a:ext>
            </a:extLst>
          </p:cNvPr>
          <p:cNvSpPr/>
          <p:nvPr/>
        </p:nvSpPr>
        <p:spPr>
          <a:xfrm>
            <a:off x="5417339" y="1982677"/>
            <a:ext cx="1418279" cy="2076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/>
              <a:t>结清</a:t>
            </a:r>
            <a:r>
              <a:rPr lang="en-US" altLang="zh-CN" sz="1050" dirty="0"/>
              <a:t>7</a:t>
            </a:r>
            <a:r>
              <a:rPr lang="zh-CN" altLang="en-US" sz="1050" dirty="0"/>
              <a:t>天内响应概率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E58800E0-F22B-4456-BD86-69C2F2A2BCF6}"/>
              </a:ext>
            </a:extLst>
          </p:cNvPr>
          <p:cNvSpPr/>
          <p:nvPr/>
        </p:nvSpPr>
        <p:spPr>
          <a:xfrm>
            <a:off x="7749059" y="2022085"/>
            <a:ext cx="1418279" cy="2076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/>
              <a:t>3M30+</a:t>
            </a:r>
            <a:endParaRPr lang="zh-CN" altLang="en-US" sz="1050" dirty="0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5A0FBF5A-CEE3-4399-8866-C8C604693E86}"/>
              </a:ext>
            </a:extLst>
          </p:cNvPr>
          <p:cNvSpPr/>
          <p:nvPr/>
        </p:nvSpPr>
        <p:spPr>
          <a:xfrm>
            <a:off x="2618004" y="3529400"/>
            <a:ext cx="2382012" cy="5029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做一个很小趋势图，说明稳定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6965E140-AEA3-4ACA-A76E-DCFFC61C629B}"/>
              </a:ext>
            </a:extLst>
          </p:cNvPr>
          <p:cNvSpPr/>
          <p:nvPr/>
        </p:nvSpPr>
        <p:spPr>
          <a:xfrm>
            <a:off x="7267192" y="3545835"/>
            <a:ext cx="2382012" cy="5029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做一个很小趋势图，说明稳定</a:t>
            </a:r>
          </a:p>
        </p:txBody>
      </p:sp>
      <p:sp>
        <p:nvSpPr>
          <p:cNvPr id="82" name="TextBox 23">
            <a:extLst>
              <a:ext uri="{FF2B5EF4-FFF2-40B4-BE49-F238E27FC236}">
                <a16:creationId xmlns:a16="http://schemas.microsoft.com/office/drawing/2014/main" id="{5FEDA1BB-C328-49A9-B0B7-C0D4185548C7}"/>
              </a:ext>
            </a:extLst>
          </p:cNvPr>
          <p:cNvSpPr txBox="1"/>
          <p:nvPr/>
        </p:nvSpPr>
        <p:spPr>
          <a:xfrm>
            <a:off x="7769676" y="2993788"/>
            <a:ext cx="1377044" cy="357342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780" b="1" dirty="0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OOT </a:t>
            </a:r>
            <a:r>
              <a:rPr sz="780" b="1" dirty="0" err="1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效果稳定，OOS</a:t>
            </a:r>
            <a:r>
              <a:rPr sz="780" b="1" dirty="0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0.69</a:t>
            </a: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780" b="1" dirty="0" err="1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上线</a:t>
            </a:r>
            <a:r>
              <a:rPr sz="780" b="1" dirty="0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8 </a:t>
            </a:r>
            <a:r>
              <a:rPr sz="780" b="1" dirty="0" err="1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个月</a:t>
            </a:r>
            <a:r>
              <a:rPr sz="780" b="1" dirty="0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AUC </a:t>
            </a:r>
            <a:r>
              <a:rPr sz="780" b="1" dirty="0" err="1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维持到</a:t>
            </a:r>
            <a:r>
              <a:rPr sz="780" b="1" dirty="0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0.66</a:t>
            </a:r>
          </a:p>
        </p:txBody>
      </p:sp>
      <p:sp>
        <p:nvSpPr>
          <p:cNvPr id="83" name="TextBox 23">
            <a:extLst>
              <a:ext uri="{FF2B5EF4-FFF2-40B4-BE49-F238E27FC236}">
                <a16:creationId xmlns:a16="http://schemas.microsoft.com/office/drawing/2014/main" id="{256EF77F-302F-42A4-A240-05A122E5A6D0}"/>
              </a:ext>
            </a:extLst>
          </p:cNvPr>
          <p:cNvSpPr txBox="1"/>
          <p:nvPr/>
        </p:nvSpPr>
        <p:spPr>
          <a:xfrm>
            <a:off x="10051106" y="3011731"/>
            <a:ext cx="1377044" cy="357342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780" b="1" dirty="0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OOT </a:t>
            </a:r>
            <a:r>
              <a:rPr sz="780" b="1" dirty="0" err="1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效果稳定，OOS</a:t>
            </a:r>
            <a:r>
              <a:rPr sz="780" b="1" dirty="0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0.69</a:t>
            </a: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780" b="1" dirty="0" err="1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上线</a:t>
            </a:r>
            <a:r>
              <a:rPr sz="780" b="1" dirty="0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8 </a:t>
            </a:r>
            <a:r>
              <a:rPr sz="780" b="1" dirty="0" err="1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个月</a:t>
            </a:r>
            <a:r>
              <a:rPr sz="780" b="1" dirty="0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AUC </a:t>
            </a:r>
            <a:r>
              <a:rPr sz="780" b="1" dirty="0" err="1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维持到</a:t>
            </a:r>
            <a:r>
              <a:rPr sz="780" b="1" dirty="0">
                <a:solidFill>
                  <a:srgbClr val="5363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0.66</a:t>
            </a:r>
          </a:p>
        </p:txBody>
      </p:sp>
    </p:spTree>
    <p:extLst>
      <p:ext uri="{BB962C8B-B14F-4D97-AF65-F5344CB8AC3E}">
        <p14:creationId xmlns:p14="http://schemas.microsoft.com/office/powerpoint/2010/main" val="3797256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1361" y="205934"/>
            <a:ext cx="4846320" cy="307777"/>
          </a:xfrm>
          <a:prstGeom prst="rect">
            <a:avLst/>
          </a:prstGeom>
          <a:noFill/>
        </p:spPr>
        <p:txBody>
          <a:bodyPr wrap="square" lIns="0" tIns="0" rIns="36576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成交样本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20262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11F5BEE-2427-431D-A974-EDAA6F72F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594" y="1300315"/>
            <a:ext cx="5228216" cy="188387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627F838-14D6-45BA-9211-6A7770724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421" y="1246860"/>
            <a:ext cx="5362315" cy="191999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E326B18-E76C-47A8-B5D0-73F69D072F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218" y="3786658"/>
            <a:ext cx="5846606" cy="210995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FA75324-054C-4D82-B191-3929712E01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421" y="3760828"/>
            <a:ext cx="5678400" cy="2075830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AE04376B-CF00-4A4B-B63F-97F41060BA5D}"/>
              </a:ext>
            </a:extLst>
          </p:cNvPr>
          <p:cNvSpPr txBox="1"/>
          <p:nvPr/>
        </p:nvSpPr>
        <p:spPr>
          <a:xfrm>
            <a:off x="6338819" y="3429000"/>
            <a:ext cx="4389120" cy="215444"/>
          </a:xfrm>
          <a:prstGeom prst="rect">
            <a:avLst/>
          </a:prstGeom>
          <a:noFill/>
        </p:spPr>
        <p:txBody>
          <a:bodyPr wrap="square" lIns="0" tIns="0" rIns="36576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0262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金额逾期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20262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3m30+</a:t>
            </a:r>
            <a:endParaRPr kumimoji="0" lang="en-US" altLang="zh-CN" sz="1250" b="1" i="0" u="none" strike="noStrike" kern="1200" cap="none" spc="0" normalizeH="0" baseline="0" noProof="0" dirty="0">
              <a:ln>
                <a:noFill/>
              </a:ln>
              <a:solidFill>
                <a:srgbClr val="20262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TextBox 10">
            <a:extLst>
              <a:ext uri="{FF2B5EF4-FFF2-40B4-BE49-F238E27FC236}">
                <a16:creationId xmlns:a16="http://schemas.microsoft.com/office/drawing/2014/main" id="{0EC827E5-EB82-4A44-9412-286F79E78DF8}"/>
              </a:ext>
            </a:extLst>
          </p:cNvPr>
          <p:cNvSpPr txBox="1"/>
          <p:nvPr/>
        </p:nvSpPr>
        <p:spPr>
          <a:xfrm>
            <a:off x="486659" y="3429000"/>
            <a:ext cx="4389120" cy="215444"/>
          </a:xfrm>
          <a:prstGeom prst="rect">
            <a:avLst/>
          </a:prstGeom>
          <a:noFill/>
        </p:spPr>
        <p:txBody>
          <a:bodyPr wrap="square" lIns="0" tIns="0" rIns="36576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0262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笔数逾期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20262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3m30+</a:t>
            </a:r>
            <a:endParaRPr kumimoji="0" sz="1250" b="1" i="0" u="none" strike="noStrike" kern="1200" cap="none" spc="0" normalizeH="0" baseline="0" noProof="0" dirty="0">
              <a:ln>
                <a:noFill/>
              </a:ln>
              <a:solidFill>
                <a:srgbClr val="20262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C2D757A3-6CEA-49CF-9AB5-BD83DED627DD}"/>
              </a:ext>
            </a:extLst>
          </p:cNvPr>
          <p:cNvSpPr txBox="1"/>
          <p:nvPr/>
        </p:nvSpPr>
        <p:spPr>
          <a:xfrm>
            <a:off x="486659" y="840062"/>
            <a:ext cx="4389120" cy="215444"/>
          </a:xfrm>
          <a:prstGeom prst="rect">
            <a:avLst/>
          </a:prstGeom>
          <a:noFill/>
        </p:spPr>
        <p:txBody>
          <a:bodyPr wrap="square" lIns="0" tIns="0" rIns="36576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0262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件均</a:t>
            </a:r>
            <a:endParaRPr kumimoji="0" sz="1250" b="1" i="0" u="none" strike="noStrike" kern="1200" cap="none" spc="0" normalizeH="0" baseline="0" noProof="0" dirty="0">
              <a:ln>
                <a:noFill/>
              </a:ln>
              <a:solidFill>
                <a:srgbClr val="20262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472D56FA-F578-45D1-9A31-47225E4B78B4}"/>
              </a:ext>
            </a:extLst>
          </p:cNvPr>
          <p:cNvSpPr txBox="1"/>
          <p:nvPr/>
        </p:nvSpPr>
        <p:spPr>
          <a:xfrm>
            <a:off x="6338819" y="792621"/>
            <a:ext cx="4389120" cy="215444"/>
          </a:xfrm>
          <a:prstGeom prst="rect">
            <a:avLst/>
          </a:prstGeom>
          <a:noFill/>
        </p:spPr>
        <p:txBody>
          <a:bodyPr wrap="square" lIns="0" tIns="0" rIns="36576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dirty="0"/>
              <a:t>收入</a:t>
            </a:r>
            <a:endParaRPr kumimoji="0" lang="zh-CN" altLang="en-US" sz="1250" b="1" i="0" u="none" strike="noStrike" kern="1200" cap="none" spc="0" normalizeH="0" baseline="0" noProof="0" dirty="0">
              <a:ln>
                <a:noFill/>
              </a:ln>
              <a:solidFill>
                <a:srgbClr val="20262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5365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1872"/>
            <a:ext cx="4846320" cy="307777"/>
          </a:xfrm>
          <a:prstGeom prst="rect">
            <a:avLst/>
          </a:prstGeom>
          <a:noFill/>
        </p:spPr>
        <p:txBody>
          <a:bodyPr wrap="square" lIns="0" tIns="0" rIns="36576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申请样本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20262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AutoShape 2" descr="已生成图片：价值风险矩阵数据表">
            <a:extLst>
              <a:ext uri="{FF2B5EF4-FFF2-40B4-BE49-F238E27FC236}">
                <a16:creationId xmlns:a16="http://schemas.microsoft.com/office/drawing/2014/main" id="{586397A9-2B7F-47FD-A69B-A5C22B484B7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41566" y="11804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58A7B13-6C76-4533-ABFA-B988ACBC4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769" y="3952449"/>
            <a:ext cx="6133787" cy="201178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86ECDA2-ABB9-4F4D-AAD7-D3F10C05D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7012" y="4241217"/>
            <a:ext cx="4438702" cy="143424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7A3DB81-74AF-4E57-B5CE-EB83E1FA0E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5669" y="1016934"/>
            <a:ext cx="6059119" cy="1948446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D7947D80-1667-49F4-B270-6440BB4EACC6}"/>
              </a:ext>
            </a:extLst>
          </p:cNvPr>
          <p:cNvSpPr txBox="1"/>
          <p:nvPr/>
        </p:nvSpPr>
        <p:spPr>
          <a:xfrm>
            <a:off x="6338819" y="3429000"/>
            <a:ext cx="4389120" cy="215444"/>
          </a:xfrm>
          <a:prstGeom prst="rect">
            <a:avLst/>
          </a:prstGeom>
          <a:noFill/>
        </p:spPr>
        <p:txBody>
          <a:bodyPr wrap="square" lIns="0" tIns="0" rIns="36576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dirty="0"/>
              <a:t>盈余（全申请）：</a:t>
            </a:r>
            <a:r>
              <a:rPr lang="zh-CN" altLang="en-US" sz="1400" b="1" dirty="0"/>
              <a:t>高价值客群额度空间更大</a:t>
            </a:r>
            <a:endParaRPr kumimoji="0" sz="1500" b="1" i="0" u="none" strike="noStrike" kern="1200" cap="none" spc="0" normalizeH="0" baseline="0" noProof="0" dirty="0">
              <a:ln>
                <a:noFill/>
              </a:ln>
              <a:solidFill>
                <a:srgbClr val="1F2937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644D93CF-B8B1-4FF9-B74C-95CD86E1D4BA}"/>
              </a:ext>
            </a:extLst>
          </p:cNvPr>
          <p:cNvSpPr txBox="1"/>
          <p:nvPr/>
        </p:nvSpPr>
        <p:spPr>
          <a:xfrm>
            <a:off x="486659" y="3429000"/>
            <a:ext cx="4389120" cy="215444"/>
          </a:xfrm>
          <a:prstGeom prst="rect">
            <a:avLst/>
          </a:prstGeom>
          <a:noFill/>
        </p:spPr>
        <p:txBody>
          <a:bodyPr wrap="square" lIns="0" tIns="0" rIns="36576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dirty="0"/>
              <a:t>完件给额率：</a:t>
            </a:r>
            <a:r>
              <a:rPr lang="zh-CN" altLang="en-US" sz="1400" b="1" dirty="0"/>
              <a:t>价值分层有望显著提升投放效率</a:t>
            </a:r>
            <a:endParaRPr kumimoji="0" sz="1250" b="1" i="0" u="none" strike="noStrike" kern="1200" cap="none" spc="0" normalizeH="0" baseline="0" noProof="0" dirty="0">
              <a:ln>
                <a:noFill/>
              </a:ln>
              <a:solidFill>
                <a:srgbClr val="20262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72A66C12-59DC-4212-9A7C-F18705A382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546" y="1106370"/>
            <a:ext cx="5127067" cy="1934949"/>
          </a:xfrm>
          <a:prstGeom prst="rect">
            <a:avLst/>
          </a:prstGeom>
        </p:spPr>
      </p:pic>
      <p:sp>
        <p:nvSpPr>
          <p:cNvPr id="30" name="TextBox 10">
            <a:extLst>
              <a:ext uri="{FF2B5EF4-FFF2-40B4-BE49-F238E27FC236}">
                <a16:creationId xmlns:a16="http://schemas.microsoft.com/office/drawing/2014/main" id="{CB4C1A13-459E-49AC-9418-EA1288CEA30D}"/>
              </a:ext>
            </a:extLst>
          </p:cNvPr>
          <p:cNvSpPr txBox="1"/>
          <p:nvPr/>
        </p:nvSpPr>
        <p:spPr>
          <a:xfrm>
            <a:off x="486659" y="680254"/>
            <a:ext cx="4389120" cy="215444"/>
          </a:xfrm>
          <a:prstGeom prst="rect">
            <a:avLst/>
          </a:prstGeom>
          <a:noFill/>
        </p:spPr>
        <p:txBody>
          <a:bodyPr wrap="square" lIns="0" tIns="0" rIns="36576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dirty="0"/>
              <a:t>申请样本数</a:t>
            </a:r>
            <a:endParaRPr kumimoji="0" sz="1250" b="1" i="0" u="none" strike="noStrike" kern="1200" cap="none" spc="0" normalizeH="0" baseline="0" noProof="0" dirty="0">
              <a:ln>
                <a:noFill/>
              </a:ln>
              <a:solidFill>
                <a:srgbClr val="20262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1" name="TextBox 10">
            <a:extLst>
              <a:ext uri="{FF2B5EF4-FFF2-40B4-BE49-F238E27FC236}">
                <a16:creationId xmlns:a16="http://schemas.microsoft.com/office/drawing/2014/main" id="{A1CB6698-D54E-44F5-BFC6-1E4D68CDB9BA}"/>
              </a:ext>
            </a:extLst>
          </p:cNvPr>
          <p:cNvSpPr txBox="1"/>
          <p:nvPr/>
        </p:nvSpPr>
        <p:spPr>
          <a:xfrm>
            <a:off x="6054207" y="659949"/>
            <a:ext cx="4389120" cy="215444"/>
          </a:xfrm>
          <a:prstGeom prst="rect">
            <a:avLst/>
          </a:prstGeom>
          <a:noFill/>
        </p:spPr>
        <p:txBody>
          <a:bodyPr wrap="square" lIns="0" tIns="0" rIns="36576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dirty="0"/>
              <a:t>收入</a:t>
            </a:r>
            <a:endParaRPr kumimoji="0" sz="1250" b="1" i="0" u="none" strike="noStrike" kern="1200" cap="none" spc="0" normalizeH="0" baseline="0" noProof="0" dirty="0">
              <a:ln>
                <a:noFill/>
              </a:ln>
              <a:solidFill>
                <a:srgbClr val="20262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7215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1362" y="256033"/>
            <a:ext cx="5303520" cy="329184"/>
          </a:xfrm>
          <a:prstGeom prst="rect">
            <a:avLst/>
          </a:prstGeom>
          <a:noFill/>
        </p:spPr>
        <p:txBody>
          <a:bodyPr wrap="square" lIns="0" tIns="0" rIns="36576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价值好的人群画像长什么样</a:t>
            </a:r>
            <a:endParaRPr kumimoji="0" sz="1800" b="1" i="0" u="none" strike="noStrike" kern="1200" cap="none" spc="0" normalizeH="0" baseline="0" noProof="0" dirty="0">
              <a:ln>
                <a:noFill/>
              </a:ln>
              <a:solidFill>
                <a:srgbClr val="132A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37392" cy="9144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197864"/>
            <a:ext cx="11137392" cy="393192"/>
          </a:xfrm>
          <a:prstGeom prst="roundRect">
            <a:avLst/>
          </a:prstGeom>
          <a:solidFill>
            <a:srgbClr val="EFF5FC"/>
          </a:solidFill>
          <a:ln w="889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60" b="1" i="0" u="none" strike="noStrike" kern="1200" cap="none" spc="0" normalizeH="0" baseline="0" noProof="0" dirty="0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价值模型看“经济基础”，风险模型看“风险迹象”。风险水平接近，收入和资金实力也可能不同；经济基础较好，也不代表没有风险行为。两者交叉，</a:t>
            </a:r>
            <a:r>
              <a:rPr lang="zh-CN" altLang="en-US" sz="960" b="1" dirty="0">
                <a:solidFill>
                  <a:srgbClr val="15243A"/>
                </a:solidFill>
                <a:latin typeface="Microsoft YaHei"/>
                <a:ea typeface="微软雅黑"/>
              </a:rPr>
              <a:t>更能</a:t>
            </a:r>
            <a:r>
              <a:rPr kumimoji="0" sz="960" b="1" i="0" u="none" strike="noStrike" kern="1200" cap="none" spc="0" normalizeH="0" baseline="0" noProof="0" dirty="0" err="1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分层筛出</a:t>
            </a:r>
            <a:r>
              <a:rPr kumimoji="0" lang="zh-CN" altLang="en-US" sz="960" b="1" i="0" u="none" strike="noStrike" kern="1200" cap="none" spc="0" normalizeH="0" baseline="0" noProof="0" dirty="0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目标</a:t>
            </a:r>
            <a:r>
              <a:rPr kumimoji="0" sz="960" b="1" i="0" u="none" strike="noStrike" kern="1200" cap="none" spc="0" normalizeH="0" baseline="0" noProof="0" dirty="0" err="1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客群</a:t>
            </a:r>
            <a:r>
              <a:rPr kumimoji="0" sz="960" b="1" i="0" u="none" strike="noStrike" kern="1200" cap="none" spc="0" normalizeH="0" baseline="0" noProof="0" dirty="0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。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" y="1810512"/>
            <a:ext cx="45720" cy="182880"/>
          </a:xfrm>
          <a:prstGeom prst="rect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59" y="1809619"/>
            <a:ext cx="3706707" cy="184666"/>
          </a:xfrm>
          <a:prstGeom prst="rect">
            <a:avLst/>
          </a:prstGeom>
          <a:noFill/>
        </p:spPr>
        <p:txBody>
          <a:bodyPr wrap="square" lIns="0" tIns="0" rIns="36576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一、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申请样本：</a:t>
            </a:r>
            <a:r>
              <a:rPr kumimoji="0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价值好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top20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 VS </a:t>
            </a:r>
            <a:r>
              <a:rPr kumimoji="0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风险好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top20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）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 </a:t>
            </a:r>
            <a:endParaRPr kumimoji="0" sz="1200" b="1" i="0" u="none" strike="noStrike" kern="1200" cap="none" spc="0" normalizeH="0" baseline="0" noProof="0" dirty="0">
              <a:ln>
                <a:noFill/>
              </a:ln>
              <a:solidFill>
                <a:srgbClr val="132A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0110054"/>
              </p:ext>
            </p:extLst>
          </p:nvPr>
        </p:nvGraphicFramePr>
        <p:xfrm>
          <a:off x="502920" y="2084831"/>
          <a:ext cx="11137392" cy="34792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166740190"/>
                    </a:ext>
                  </a:extLst>
                </a:gridCol>
                <a:gridCol w="4507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 dirty="0" err="1">
                          <a:solidFill>
                            <a:srgbClr val="15243A"/>
                          </a:solidFill>
                          <a:latin typeface="Microsoft YaHei" panose="020B0503020204020204" pitchFamily="34" charset="-122"/>
                          <a:ea typeface="微软雅黑" panose="020B0503020204020204" pitchFamily="34" charset="-122"/>
                        </a:rPr>
                        <a:t>指标</a:t>
                      </a:r>
                      <a:endParaRPr sz="900" b="1" dirty="0">
                        <a:solidFill>
                          <a:srgbClr val="142A4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288" marR="18288" marT="13716" marB="13716" anchor="ctr">
                    <a:solidFill>
                      <a:srgbClr val="E1E9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 dirty="0" err="1">
                          <a:solidFill>
                            <a:srgbClr val="15243A"/>
                          </a:solidFill>
                          <a:latin typeface="Microsoft YaHei" panose="020B0503020204020204" pitchFamily="34" charset="-122"/>
                          <a:ea typeface="微软雅黑" panose="020B0503020204020204" pitchFamily="34" charset="-122"/>
                        </a:rPr>
                        <a:t>风险好</a:t>
                      </a:r>
                      <a:endParaRPr sz="900" b="1" dirty="0">
                        <a:solidFill>
                          <a:srgbClr val="142A4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288" marR="18288" marT="13716" marB="13716" anchor="ctr">
                    <a:solidFill>
                      <a:srgbClr val="E1E9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 dirty="0" err="1">
                          <a:solidFill>
                            <a:srgbClr val="15243A"/>
                          </a:solidFill>
                          <a:latin typeface="Microsoft YaHei" panose="020B0503020204020204" pitchFamily="34" charset="-122"/>
                          <a:ea typeface="微软雅黑" panose="020B0503020204020204" pitchFamily="34" charset="-122"/>
                        </a:rPr>
                        <a:t>价值好</a:t>
                      </a:r>
                      <a:endParaRPr sz="900" b="1" dirty="0">
                        <a:solidFill>
                          <a:srgbClr val="142A4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288" marR="18288" marT="13716" marB="13716" anchor="ctr">
                    <a:solidFill>
                      <a:srgbClr val="E1E9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 dirty="0" err="1">
                          <a:solidFill>
                            <a:srgbClr val="15243A"/>
                          </a:solidFill>
                          <a:latin typeface="Microsoft YaHei" panose="020B0503020204020204" pitchFamily="34" charset="-122"/>
                          <a:ea typeface="微软雅黑" panose="020B0503020204020204" pitchFamily="34" charset="-122"/>
                        </a:rPr>
                        <a:t>差异（%）</a:t>
                      </a:r>
                    </a:p>
                  </a:txBody>
                  <a:tcPr marL="18288" marR="18288" marT="13716" marB="13716" anchor="ctr">
                    <a:solidFill>
                      <a:srgbClr val="E1E9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澳大利亚经营价值画像标签</a:t>
                      </a:r>
                    </a:p>
                  </a:txBody>
                  <a:tcPr marL="18288" marR="18288" marT="13716" marB="13716" anchor="ctr">
                    <a:solidFill>
                      <a:srgbClr val="C69A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1" dirty="0" err="1">
                          <a:solidFill>
                            <a:srgbClr val="15243A"/>
                          </a:solidFill>
                          <a:latin typeface="Microsoft YaHei" panose="020B0503020204020204" pitchFamily="34" charset="-122"/>
                          <a:ea typeface="微软雅黑" panose="020B0503020204020204" pitchFamily="34" charset="-122"/>
                        </a:rPr>
                        <a:t>余额标准差</a:t>
                      </a:r>
                      <a:endParaRPr sz="900" b="1" dirty="0">
                        <a:solidFill>
                          <a:srgbClr val="142A4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288" marR="18288" marT="13716" marB="13716">
                    <a:lnL w="7620">
                      <a:solidFill>
                        <a:srgbClr val="FFFFFF"/>
                      </a:solidFill>
                    </a:lnL>
                    <a:lnR w="7620">
                      <a:solidFill>
                        <a:srgbClr val="FFFFFF"/>
                      </a:solidFill>
                    </a:lnR>
                    <a:lnB w="76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0" dirty="0">
                          <a:solidFill>
                            <a:srgbClr val="15243A"/>
                          </a:solidFill>
                          <a:latin typeface="Microsoft YaHei" panose="020B0503020204020204" pitchFamily="34" charset="-122"/>
                          <a:ea typeface="微软雅黑" panose="020B0503020204020204" pitchFamily="34" charset="-122"/>
                        </a:rPr>
                        <a:t>2,688</a:t>
                      </a:r>
                    </a:p>
                  </a:txBody>
                  <a:tcPr marL="18288" marR="18288" marT="13716" marB="13716">
                    <a:lnL w="7620">
                      <a:solidFill>
                        <a:srgbClr val="FFFFFF"/>
                      </a:solidFill>
                    </a:lnL>
                    <a:lnR w="7620">
                      <a:solidFill>
                        <a:srgbClr val="FFFFFF"/>
                      </a:solidFill>
                    </a:lnR>
                    <a:lnB w="76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1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微软雅黑" panose="020B0503020204020204" pitchFamily="34" charset="-122"/>
                        </a:rPr>
                        <a:t>6,360</a:t>
                      </a:r>
                    </a:p>
                  </a:txBody>
                  <a:tcPr marL="18288" marR="18288" marT="13716" marB="13716">
                    <a:lnL w="7620">
                      <a:solidFill>
                        <a:srgbClr val="FFFFFF"/>
                      </a:solidFill>
                    </a:lnL>
                    <a:lnR w="7620">
                      <a:solidFill>
                        <a:srgbClr val="FFFFFF"/>
                      </a:solidFill>
                    </a:lnR>
                    <a:lnB w="76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dirty="0">
                          <a:solidFill>
                            <a:srgbClr val="0C4A7A"/>
                          </a:solidFill>
                          <a:latin typeface="Microsoft YaHei"/>
                        </a:rPr>
                        <a:t>+136.6%</a:t>
                      </a:r>
                    </a:p>
                  </a:txBody>
                  <a:tcPr marL="18288" marR="18288" marT="13716" marB="13716">
                    <a:lnL w="7620">
                      <a:solidFill>
                        <a:srgbClr val="FFFFFF"/>
                      </a:solidFill>
                    </a:lnL>
                    <a:lnR w="7620">
                      <a:solidFill>
                        <a:srgbClr val="FFFFFF"/>
                      </a:solidFill>
                    </a:lnR>
                    <a:lnB w="76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6C4A00"/>
                          </a:solidFill>
                          <a:latin typeface="Microsoft YaHei"/>
                        </a:rPr>
                        <a:t>资金进出更活跃</a:t>
                      </a:r>
                    </a:p>
                  </a:txBody>
                  <a:tcPr marL="18288" marR="18288" marT="13716" marB="13716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860" b="1" dirty="0">
                          <a:solidFill>
                            <a:srgbClr val="15243A"/>
                          </a:solidFill>
                          <a:latin typeface="Microsoft YaHei" panose="020B0503020204020204" pitchFamily="34" charset="-122"/>
                          <a:ea typeface="微软雅黑" panose="020B0503020204020204" pitchFamily="34" charset="-122"/>
                        </a:rPr>
                        <a:t>总</a:t>
                      </a:r>
                      <a:r>
                        <a:rPr sz="860" b="1" dirty="0" err="1">
                          <a:solidFill>
                            <a:srgbClr val="15243A"/>
                          </a:solidFill>
                          <a:latin typeface="Microsoft YaHei" panose="020B0503020204020204" pitchFamily="34" charset="-122"/>
                          <a:ea typeface="微软雅黑" panose="020B0503020204020204" pitchFamily="34" charset="-122"/>
                        </a:rPr>
                        <a:t>总支出金额</a:t>
                      </a:r>
                      <a:endParaRPr sz="900" b="1" dirty="0">
                        <a:solidFill>
                          <a:srgbClr val="142A4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288" marR="18288" marT="13716" marB="13716">
                    <a:lnL w="7620">
                      <a:solidFill>
                        <a:srgbClr val="FFFFFF"/>
                      </a:solidFill>
                    </a:lnL>
                    <a:lnR w="7620">
                      <a:solidFill>
                        <a:srgbClr val="FFFFFF"/>
                      </a:solidFill>
                    </a:lnR>
                    <a:lnT w="7620">
                      <a:solidFill>
                        <a:srgbClr val="FFFFFF"/>
                      </a:solidFill>
                    </a:lnT>
                    <a:lnB w="7620">
                      <a:solidFill>
                        <a:srgbClr val="FFFFFF"/>
                      </a:solidFill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0" dirty="0">
                          <a:solidFill>
                            <a:srgbClr val="15243A"/>
                          </a:solidFill>
                          <a:latin typeface="Microsoft YaHei" panose="020B0503020204020204" pitchFamily="34" charset="-122"/>
                          <a:ea typeface="微软雅黑" panose="020B0503020204020204" pitchFamily="34" charset="-122"/>
                        </a:rPr>
                        <a:t>66,684</a:t>
                      </a:r>
                    </a:p>
                  </a:txBody>
                  <a:tcPr marL="18288" marR="18288" marT="13716" marB="13716">
                    <a:lnL w="7620">
                      <a:solidFill>
                        <a:srgbClr val="FFFFFF"/>
                      </a:solidFill>
                    </a:lnL>
                    <a:lnR w="7620">
                      <a:solidFill>
                        <a:srgbClr val="FFFFFF"/>
                      </a:solidFill>
                    </a:lnR>
                    <a:lnT w="7620">
                      <a:solidFill>
                        <a:srgbClr val="FFFFFF"/>
                      </a:solidFill>
                    </a:lnT>
                    <a:lnB w="7620">
                      <a:solidFill>
                        <a:srgbClr val="FFFFFF"/>
                      </a:solidFill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1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微软雅黑" panose="020B0503020204020204" pitchFamily="34" charset="-122"/>
                        </a:rPr>
                        <a:t>139,715</a:t>
                      </a:r>
                    </a:p>
                  </a:txBody>
                  <a:tcPr marL="18288" marR="18288" marT="13716" marB="13716">
                    <a:lnL w="7620">
                      <a:solidFill>
                        <a:srgbClr val="FFFFFF"/>
                      </a:solidFill>
                    </a:lnL>
                    <a:lnR w="7620">
                      <a:solidFill>
                        <a:srgbClr val="FFFFFF"/>
                      </a:solidFill>
                    </a:lnR>
                    <a:lnT w="7620">
                      <a:solidFill>
                        <a:srgbClr val="FFFFFF"/>
                      </a:solidFill>
                    </a:lnT>
                    <a:lnB w="7620">
                      <a:solidFill>
                        <a:srgbClr val="FFFFFF"/>
                      </a:solidFill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C4A7A"/>
                          </a:solidFill>
                          <a:latin typeface="Microsoft YaHei"/>
                        </a:rPr>
                        <a:t>+109.5%</a:t>
                      </a:r>
                    </a:p>
                  </a:txBody>
                  <a:tcPr marL="18288" marR="18288" marT="13716" marB="13716">
                    <a:lnL w="7620">
                      <a:solidFill>
                        <a:srgbClr val="FFFFFF"/>
                      </a:solidFill>
                    </a:lnL>
                    <a:lnR w="7620">
                      <a:solidFill>
                        <a:srgbClr val="FFFFFF"/>
                      </a:solidFill>
                    </a:lnR>
                    <a:lnT w="7620">
                      <a:solidFill>
                        <a:srgbClr val="FFFFFF"/>
                      </a:solidFill>
                    </a:lnT>
                    <a:lnB w="7620">
                      <a:solidFill>
                        <a:srgbClr val="FFFFFF"/>
                      </a:solidFill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dirty="0" err="1">
                          <a:solidFill>
                            <a:srgbClr val="6C4A00"/>
                          </a:solidFill>
                          <a:latin typeface="Microsoft YaHei"/>
                        </a:rPr>
                        <a:t>消费强度更大</a:t>
                      </a:r>
                      <a:endParaRPr sz="900" b="1" dirty="0">
                        <a:solidFill>
                          <a:srgbClr val="6C4A00"/>
                        </a:solidFill>
                        <a:latin typeface="Microsoft YaHei"/>
                      </a:endParaRPr>
                    </a:p>
                  </a:txBody>
                  <a:tcPr marL="18288" marR="18288" marT="13716" marB="13716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860" b="1" dirty="0">
                          <a:solidFill>
                            <a:srgbClr val="15243A"/>
                          </a:solidFill>
                          <a:latin typeface="Microsoft YaHei" panose="020B0503020204020204" pitchFamily="34" charset="-122"/>
                          <a:ea typeface="微软雅黑" panose="020B0503020204020204" pitchFamily="34" charset="-122"/>
                        </a:rPr>
                        <a:t>总</a:t>
                      </a:r>
                      <a:r>
                        <a:rPr sz="860" b="1" dirty="0" err="1">
                          <a:solidFill>
                            <a:srgbClr val="15243A"/>
                          </a:solidFill>
                          <a:latin typeface="Microsoft YaHei" panose="020B0503020204020204" pitchFamily="34" charset="-122"/>
                          <a:ea typeface="微软雅黑" panose="020B0503020204020204" pitchFamily="34" charset="-122"/>
                        </a:rPr>
                        <a:t>工资收入总额</a:t>
                      </a:r>
                      <a:endParaRPr sz="860" b="1" dirty="0">
                        <a:solidFill>
                          <a:srgbClr val="15243A"/>
                        </a:solidFill>
                        <a:latin typeface="Microsoft YaHei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288" marR="18288" marT="13716" marB="13716">
                    <a:lnL w="7620">
                      <a:solidFill>
                        <a:srgbClr val="FFFFFF"/>
                      </a:solidFill>
                    </a:lnL>
                    <a:lnR w="7620">
                      <a:solidFill>
                        <a:srgbClr val="FFFFFF"/>
                      </a:solidFill>
                    </a:lnR>
                    <a:lnT w="7620">
                      <a:solidFill>
                        <a:srgbClr val="FFFFFF"/>
                      </a:solidFill>
                    </a:lnT>
                    <a:lnB w="76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0" dirty="0">
                          <a:solidFill>
                            <a:srgbClr val="15243A"/>
                          </a:solidFill>
                          <a:latin typeface="Microsoft YaHei" panose="020B0503020204020204" pitchFamily="34" charset="-122"/>
                          <a:ea typeface="微软雅黑" panose="020B0503020204020204" pitchFamily="34" charset="-122"/>
                        </a:rPr>
                        <a:t>20,922</a:t>
                      </a:r>
                    </a:p>
                  </a:txBody>
                  <a:tcPr marL="18288" marR="18288" marT="13716" marB="13716">
                    <a:lnL w="7620">
                      <a:solidFill>
                        <a:srgbClr val="FFFFFF"/>
                      </a:solidFill>
                    </a:lnL>
                    <a:lnR w="7620">
                      <a:solidFill>
                        <a:srgbClr val="FFFFFF"/>
                      </a:solidFill>
                    </a:lnR>
                    <a:lnT w="7620">
                      <a:solidFill>
                        <a:srgbClr val="FFFFFF"/>
                      </a:solidFill>
                    </a:lnT>
                    <a:lnB w="76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1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微软雅黑" panose="020B0503020204020204" pitchFamily="34" charset="-122"/>
                        </a:rPr>
                        <a:t>41,139</a:t>
                      </a:r>
                    </a:p>
                  </a:txBody>
                  <a:tcPr marL="18288" marR="18288" marT="13716" marB="13716">
                    <a:lnL w="7620">
                      <a:solidFill>
                        <a:srgbClr val="FFFFFF"/>
                      </a:solidFill>
                    </a:lnL>
                    <a:lnR w="7620">
                      <a:solidFill>
                        <a:srgbClr val="FFFFFF"/>
                      </a:solidFill>
                    </a:lnR>
                    <a:lnT w="7620">
                      <a:solidFill>
                        <a:srgbClr val="FFFFFF"/>
                      </a:solidFill>
                    </a:lnT>
                    <a:lnB w="76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C4A7A"/>
                          </a:solidFill>
                          <a:latin typeface="Microsoft YaHei"/>
                        </a:rPr>
                        <a:t>+96.6%</a:t>
                      </a:r>
                    </a:p>
                  </a:txBody>
                  <a:tcPr marL="18288" marR="18288" marT="13716" marB="13716">
                    <a:lnL w="7620">
                      <a:solidFill>
                        <a:srgbClr val="FFFFFF"/>
                      </a:solidFill>
                    </a:lnL>
                    <a:lnR w="7620">
                      <a:solidFill>
                        <a:srgbClr val="FFFFFF"/>
                      </a:solidFill>
                    </a:lnR>
                    <a:lnT w="7620">
                      <a:solidFill>
                        <a:srgbClr val="FFFFFF"/>
                      </a:solidFill>
                    </a:lnT>
                    <a:lnB w="76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dirty="0" err="1">
                          <a:solidFill>
                            <a:srgbClr val="6C4A00"/>
                          </a:solidFill>
                          <a:latin typeface="Microsoft YaHei"/>
                        </a:rPr>
                        <a:t>价值好收入更大</a:t>
                      </a:r>
                      <a:endParaRPr sz="900" b="1" dirty="0">
                        <a:solidFill>
                          <a:srgbClr val="6C4A00"/>
                        </a:solidFill>
                        <a:latin typeface="Microsoft YaHei"/>
                      </a:endParaRPr>
                    </a:p>
                  </a:txBody>
                  <a:tcPr marL="18288" marR="18288" marT="13716" marB="13716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1" dirty="0" err="1">
                          <a:solidFill>
                            <a:srgbClr val="15243A"/>
                          </a:solidFill>
                          <a:latin typeface="Microsoft YaHei" panose="020B0503020204020204" pitchFamily="34" charset="-122"/>
                          <a:ea typeface="微软雅黑" panose="020B0503020204020204" pitchFamily="34" charset="-122"/>
                        </a:rPr>
                        <a:t>Centrelink 占比</a:t>
                      </a:r>
                      <a:endParaRPr sz="900" b="1" dirty="0">
                        <a:solidFill>
                          <a:srgbClr val="142A4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288" marR="18288" marT="13716" marB="13716">
                    <a:lnL w="7620">
                      <a:solidFill>
                        <a:srgbClr val="FFFFFF"/>
                      </a:solidFill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0" dirty="0">
                          <a:solidFill>
                            <a:srgbClr val="15243A"/>
                          </a:solidFill>
                          <a:latin typeface="Microsoft YaHei" panose="020B0503020204020204" pitchFamily="34" charset="-122"/>
                          <a:ea typeface="微软雅黑" panose="020B0503020204020204" pitchFamily="34" charset="-122"/>
                        </a:rPr>
                        <a:t>10.2%</a:t>
                      </a:r>
                    </a:p>
                  </a:txBody>
                  <a:tcPr marL="18288" marR="18288" marT="13716" marB="13716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1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微软雅黑" panose="020B0503020204020204" pitchFamily="34" charset="-122"/>
                        </a:rPr>
                        <a:t>2.1%</a:t>
                      </a:r>
                    </a:p>
                  </a:txBody>
                  <a:tcPr marL="18288" marR="18288" marT="13716" marB="13716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C4A7A"/>
                          </a:solidFill>
                          <a:latin typeface="Microsoft YaHei"/>
                        </a:rPr>
                        <a:t>-79.4%</a:t>
                      </a:r>
                    </a:p>
                  </a:txBody>
                  <a:tcPr marL="18288" marR="18288" marT="13716" marB="13716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dirty="0" err="1">
                          <a:solidFill>
                            <a:srgbClr val="6C4A00"/>
                          </a:solidFill>
                          <a:latin typeface="Microsoft YaHei"/>
                        </a:rPr>
                        <a:t>福利依赖更低</a:t>
                      </a:r>
                      <a:endParaRPr sz="900" b="1" dirty="0">
                        <a:solidFill>
                          <a:srgbClr val="6C4A00"/>
                        </a:solidFill>
                        <a:latin typeface="Microsoft YaHei"/>
                      </a:endParaRPr>
                    </a:p>
                  </a:txBody>
                  <a:tcPr marL="18288" marR="18288" marT="13716" marB="13716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860" b="1" dirty="0">
                          <a:solidFill>
                            <a:srgbClr val="15243A"/>
                          </a:solidFill>
                          <a:latin typeface="Microsoft YaHei" panose="020B0503020204020204" pitchFamily="34" charset="-122"/>
                          <a:ea typeface="微软雅黑" panose="020B0503020204020204" pitchFamily="34" charset="-122"/>
                        </a:rPr>
                        <a:t>历史</a:t>
                      </a:r>
                      <a:r>
                        <a:rPr sz="860" b="1" dirty="0" err="1">
                          <a:solidFill>
                            <a:srgbClr val="15243A"/>
                          </a:solidFill>
                          <a:latin typeface="Microsoft YaHei" panose="020B0503020204020204" pitchFamily="34" charset="-122"/>
                          <a:ea typeface="微软雅黑" panose="020B0503020204020204" pitchFamily="34" charset="-122"/>
                        </a:rPr>
                        <a:t>信贷还款金额</a:t>
                      </a:r>
                      <a:endParaRPr sz="900" b="1" dirty="0">
                        <a:solidFill>
                          <a:srgbClr val="142A4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288" marR="18288" marT="13716" marB="13716">
                    <a:lnL w="7620">
                      <a:solidFill>
                        <a:srgbClr val="FFFFFF"/>
                      </a:solidFill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0" dirty="0">
                          <a:solidFill>
                            <a:srgbClr val="15243A"/>
                          </a:solidFill>
                          <a:latin typeface="Microsoft YaHei" panose="020B0503020204020204" pitchFamily="34" charset="-122"/>
                          <a:ea typeface="微软雅黑" panose="020B0503020204020204" pitchFamily="34" charset="-122"/>
                        </a:rPr>
                        <a:t>15,780</a:t>
                      </a:r>
                    </a:p>
                  </a:txBody>
                  <a:tcPr marL="18288" marR="18288" marT="13716" marB="13716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1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微软雅黑" panose="020B0503020204020204" pitchFamily="34" charset="-122"/>
                        </a:rPr>
                        <a:t>20,439</a:t>
                      </a:r>
                    </a:p>
                  </a:txBody>
                  <a:tcPr marL="18288" marR="18288" marT="13716" marB="13716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dirty="0">
                          <a:solidFill>
                            <a:srgbClr val="0C4A7A"/>
                          </a:solidFill>
                          <a:latin typeface="Microsoft YaHei"/>
                        </a:rPr>
                        <a:t>+29.5%</a:t>
                      </a:r>
                    </a:p>
                  </a:txBody>
                  <a:tcPr marL="18288" marR="18288" marT="13716" marB="13716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dirty="0" err="1">
                          <a:solidFill>
                            <a:srgbClr val="6C4A00"/>
                          </a:solidFill>
                          <a:latin typeface="Microsoft YaHei"/>
                        </a:rPr>
                        <a:t>还款体量更大</a:t>
                      </a:r>
                      <a:endParaRPr sz="900" b="1" dirty="0">
                        <a:solidFill>
                          <a:srgbClr val="6C4A00"/>
                        </a:solidFill>
                        <a:latin typeface="Microsoft YaHei"/>
                      </a:endParaRPr>
                    </a:p>
                  </a:txBody>
                  <a:tcPr marL="18288" marR="18288" marT="13716" marB="13716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1" dirty="0">
                          <a:solidFill>
                            <a:srgbClr val="142A4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余额</a:t>
                      </a:r>
                      <a:endParaRPr sz="900" b="1" dirty="0">
                        <a:solidFill>
                          <a:srgbClr val="142A4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288" marR="18288" marT="13716" marB="13716">
                    <a:lnL w="7620">
                      <a:solidFill>
                        <a:srgbClr val="FFFFFF"/>
                      </a:solidFill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>
                      <a:solidFill>
                        <a:srgbClr val="FFFFFF"/>
                      </a:solidFill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60" b="0" dirty="0">
                        <a:solidFill>
                          <a:srgbClr val="15243A"/>
                        </a:solidFill>
                        <a:latin typeface="Microsoft YaHei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288" marR="18288" marT="13716" marB="13716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>
                      <a:solidFill>
                        <a:srgbClr val="FFFFFF"/>
                      </a:solidFill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60" b="1" dirty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288" marR="18288" marT="13716" marB="13716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>
                      <a:solidFill>
                        <a:srgbClr val="FFFFFF"/>
                      </a:solidFill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900" b="1" dirty="0">
                        <a:solidFill>
                          <a:srgbClr val="0C4A7A"/>
                        </a:solidFill>
                        <a:latin typeface="Microsoft YaHei"/>
                      </a:endParaRPr>
                    </a:p>
                  </a:txBody>
                  <a:tcPr marL="18288" marR="18288" marT="13716" marB="13716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>
                      <a:solidFill>
                        <a:srgbClr val="FFFFFF"/>
                      </a:solidFill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900" b="1" dirty="0">
                        <a:solidFill>
                          <a:srgbClr val="6C4A00"/>
                        </a:solidFill>
                        <a:latin typeface="Microsoft YaHei"/>
                      </a:endParaRPr>
                    </a:p>
                  </a:txBody>
                  <a:tcPr marL="18288" marR="18288" marT="13716" marB="13716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9710233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1" dirty="0">
                          <a:solidFill>
                            <a:srgbClr val="142A4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盈余</a:t>
                      </a:r>
                      <a:endParaRPr sz="900" b="1" dirty="0">
                        <a:solidFill>
                          <a:srgbClr val="142A4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288" marR="18288" marT="13716" marB="13716">
                    <a:lnL w="7620">
                      <a:solidFill>
                        <a:srgbClr val="FFFFFF"/>
                      </a:solidFill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>
                      <a:solidFill>
                        <a:srgbClr val="FFFFFF"/>
                      </a:solidFill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-42.67</a:t>
                      </a:r>
                      <a:endParaRPr sz="860" b="0" dirty="0">
                        <a:solidFill>
                          <a:srgbClr val="15243A"/>
                        </a:solidFill>
                        <a:latin typeface="Microsoft YaHei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288" marR="18288" marT="13716" marB="13716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>
                      <a:solidFill>
                        <a:srgbClr val="FFFFFF"/>
                      </a:solidFill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1,333.55</a:t>
                      </a:r>
                      <a:endParaRPr sz="860" b="1" dirty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288" marR="18288" marT="13716" marB="13716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>
                      <a:solidFill>
                        <a:srgbClr val="FFFFFF"/>
                      </a:solidFill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900" b="1" dirty="0">
                        <a:solidFill>
                          <a:srgbClr val="0C4A7A"/>
                        </a:solidFill>
                        <a:latin typeface="Microsoft YaHei"/>
                      </a:endParaRPr>
                    </a:p>
                  </a:txBody>
                  <a:tcPr marL="18288" marR="18288" marT="13716" marB="13716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>
                      <a:solidFill>
                        <a:srgbClr val="FFFFFF"/>
                      </a:solidFill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900" b="1" dirty="0">
                        <a:solidFill>
                          <a:srgbClr val="6C4A00"/>
                        </a:solidFill>
                        <a:latin typeface="Microsoft YaHei"/>
                      </a:endParaRPr>
                    </a:p>
                  </a:txBody>
                  <a:tcPr marL="18288" marR="18288" marT="13716" marB="13716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143387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860" b="1" dirty="0">
                          <a:solidFill>
                            <a:srgbClr val="15243A"/>
                          </a:solidFill>
                          <a:latin typeface="Microsoft YaHei" panose="020B0503020204020204" pitchFamily="34" charset="-122"/>
                          <a:ea typeface="微软雅黑" panose="020B0503020204020204" pitchFamily="34" charset="-122"/>
                        </a:rPr>
                        <a:t>年龄</a:t>
                      </a:r>
                      <a:endParaRPr sz="900" b="1" dirty="0">
                        <a:solidFill>
                          <a:srgbClr val="142A4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288" marR="18288" marT="13716" marB="13716">
                    <a:lnL w="7620">
                      <a:solidFill>
                        <a:srgbClr val="FFFFFF"/>
                      </a:solidFill>
                    </a:lnL>
                    <a:lnR w="7620">
                      <a:solidFill>
                        <a:srgbClr val="FFFFFF"/>
                      </a:solidFill>
                    </a:lnR>
                    <a:lnT w="7620">
                      <a:solidFill>
                        <a:srgbClr val="FFFFFF"/>
                      </a:solidFill>
                    </a:lnT>
                    <a:lnB w="7620">
                      <a:solidFill>
                        <a:srgbClr val="FFFFFF"/>
                      </a:solidFill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60" b="0" dirty="0">
                          <a:solidFill>
                            <a:srgbClr val="15243A"/>
                          </a:solidFill>
                          <a:latin typeface="Microsoft YaHei" panose="020B0503020204020204" pitchFamily="34" charset="-122"/>
                          <a:ea typeface="微软雅黑" panose="020B0503020204020204" pitchFamily="34" charset="-122"/>
                        </a:rPr>
                        <a:t>31</a:t>
                      </a:r>
                      <a:endParaRPr sz="860" b="0" dirty="0">
                        <a:solidFill>
                          <a:srgbClr val="15243A"/>
                        </a:solidFill>
                        <a:latin typeface="Microsoft YaHei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288" marR="18288" marT="13716" marB="13716">
                    <a:lnL w="7620">
                      <a:solidFill>
                        <a:srgbClr val="FFFFFF"/>
                      </a:solidFill>
                    </a:lnL>
                    <a:lnR w="7620">
                      <a:solidFill>
                        <a:srgbClr val="FFFFFF"/>
                      </a:solidFill>
                    </a:lnR>
                    <a:lnT w="7620">
                      <a:solidFill>
                        <a:srgbClr val="FFFFFF"/>
                      </a:solidFill>
                    </a:lnT>
                    <a:lnB w="7620">
                      <a:solidFill>
                        <a:srgbClr val="FFFFFF"/>
                      </a:solidFill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60" b="1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微软雅黑" panose="020B0503020204020204" pitchFamily="34" charset="-122"/>
                        </a:rPr>
                        <a:t>35</a:t>
                      </a:r>
                      <a:endParaRPr sz="860" b="1" dirty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8288" marR="18288" marT="13716" marB="13716">
                    <a:lnL w="7620">
                      <a:solidFill>
                        <a:srgbClr val="FFFFFF"/>
                      </a:solidFill>
                    </a:lnL>
                    <a:lnR w="7620">
                      <a:solidFill>
                        <a:srgbClr val="FFFFFF"/>
                      </a:solidFill>
                    </a:lnR>
                    <a:lnT w="7620">
                      <a:solidFill>
                        <a:srgbClr val="FFFFFF"/>
                      </a:solidFill>
                    </a:lnT>
                    <a:lnB w="7620">
                      <a:solidFill>
                        <a:srgbClr val="FFFFFF"/>
                      </a:solidFill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900" b="1" dirty="0">
                        <a:solidFill>
                          <a:srgbClr val="0C4A7A"/>
                        </a:solidFill>
                        <a:latin typeface="Microsoft YaHei"/>
                      </a:endParaRPr>
                    </a:p>
                  </a:txBody>
                  <a:tcPr marL="18288" marR="18288" marT="13716" marB="13716">
                    <a:lnL w="7620">
                      <a:solidFill>
                        <a:srgbClr val="FFFFFF"/>
                      </a:solidFill>
                    </a:lnL>
                    <a:lnR w="7620">
                      <a:solidFill>
                        <a:srgbClr val="FFFFFF"/>
                      </a:solidFill>
                    </a:lnR>
                    <a:lnT w="7620">
                      <a:solidFill>
                        <a:srgbClr val="FFFFFF"/>
                      </a:solidFill>
                    </a:lnT>
                    <a:lnB w="7620">
                      <a:solidFill>
                        <a:srgbClr val="FFFFFF"/>
                      </a:solidFill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900" b="1" dirty="0">
                        <a:solidFill>
                          <a:srgbClr val="6C4A00"/>
                        </a:solidFill>
                        <a:latin typeface="Microsoft YaHei"/>
                      </a:endParaRPr>
                    </a:p>
                  </a:txBody>
                  <a:tcPr marL="18288" marR="18288" marT="13716" marB="13716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9546CAD4-D16B-4FED-9A67-FC660F523F0F}"/>
              </a:ext>
            </a:extLst>
          </p:cNvPr>
          <p:cNvSpPr/>
          <p:nvPr/>
        </p:nvSpPr>
        <p:spPr>
          <a:xfrm>
            <a:off x="204046" y="3415453"/>
            <a:ext cx="597747" cy="1303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180</a:t>
            </a:r>
            <a:r>
              <a:rPr lang="zh-CN" altLang="en-US" dirty="0"/>
              <a:t>前缀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00A1DC5-B48A-4734-B808-4AC1FA04AD50}"/>
              </a:ext>
            </a:extLst>
          </p:cNvPr>
          <p:cNvSpPr/>
          <p:nvPr/>
        </p:nvSpPr>
        <p:spPr>
          <a:xfrm>
            <a:off x="4689005" y="1698582"/>
            <a:ext cx="3533140" cy="3405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模型相关性 </a:t>
            </a:r>
            <a:r>
              <a:rPr lang="en-US" altLang="zh-CN" dirty="0"/>
              <a:t>= </a:t>
            </a:r>
            <a:r>
              <a:rPr lang="en-US" altLang="zh-CN" b="0" i="0" dirty="0">
                <a:solidFill>
                  <a:srgbClr val="BFBFBF"/>
                </a:solidFill>
                <a:effectLst/>
                <a:latin typeface="-apple-system"/>
              </a:rPr>
              <a:t>0.5818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E6FBEB2-2EBB-4758-BC27-307A9107085F}"/>
              </a:ext>
            </a:extLst>
          </p:cNvPr>
          <p:cNvSpPr txBox="1"/>
          <p:nvPr/>
        </p:nvSpPr>
        <p:spPr>
          <a:xfrm>
            <a:off x="801793" y="6277592"/>
            <a:ext cx="7053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完成申请样本数量</a:t>
            </a:r>
            <a:r>
              <a:rPr lang="en-US" altLang="zh-CN" b="0" i="0" dirty="0">
                <a:solidFill>
                  <a:srgbClr val="26384D"/>
                </a:solidFill>
                <a:effectLst/>
                <a:latin typeface="-apple-system"/>
              </a:rPr>
              <a:t>157,741 </a:t>
            </a:r>
            <a:r>
              <a:rPr lang="zh-CN" altLang="en-US" dirty="0">
                <a:solidFill>
                  <a:srgbClr val="26384D"/>
                </a:solidFill>
                <a:latin typeface="-apple-system"/>
              </a:rPr>
              <a:t> 时间窗口是</a:t>
            </a:r>
            <a:r>
              <a:rPr lang="en-US" altLang="zh-CN" dirty="0">
                <a:solidFill>
                  <a:srgbClr val="26384D"/>
                </a:solidFill>
                <a:latin typeface="-apple-system"/>
              </a:rPr>
              <a:t>2025</a:t>
            </a:r>
            <a:r>
              <a:rPr lang="zh-CN" altLang="en-US" dirty="0">
                <a:solidFill>
                  <a:srgbClr val="26384D"/>
                </a:solidFill>
                <a:latin typeface="-apple-system"/>
              </a:rPr>
              <a:t>年</a:t>
            </a:r>
            <a:r>
              <a:rPr lang="en-US" altLang="zh-CN" dirty="0">
                <a:solidFill>
                  <a:srgbClr val="26384D"/>
                </a:solidFill>
                <a:latin typeface="-apple-system"/>
              </a:rPr>
              <a:t>10</a:t>
            </a:r>
            <a:r>
              <a:rPr lang="zh-CN" altLang="en-US" dirty="0">
                <a:solidFill>
                  <a:srgbClr val="26384D"/>
                </a:solidFill>
                <a:latin typeface="-apple-system"/>
              </a:rPr>
              <a:t>月到</a:t>
            </a:r>
            <a:r>
              <a:rPr lang="en-US" altLang="zh-CN" dirty="0">
                <a:solidFill>
                  <a:srgbClr val="26384D"/>
                </a:solidFill>
                <a:latin typeface="-apple-system"/>
              </a:rPr>
              <a:t>2026</a:t>
            </a:r>
            <a:r>
              <a:rPr lang="zh-CN" altLang="en-US" dirty="0">
                <a:solidFill>
                  <a:srgbClr val="26384D"/>
                </a:solidFill>
                <a:latin typeface="-apple-system"/>
              </a:rPr>
              <a:t>年</a:t>
            </a:r>
            <a:r>
              <a:rPr lang="en-US" altLang="zh-CN" dirty="0">
                <a:solidFill>
                  <a:srgbClr val="26384D"/>
                </a:solidFill>
                <a:latin typeface="-apple-system"/>
              </a:rPr>
              <a:t>5</a:t>
            </a:r>
            <a:r>
              <a:rPr lang="zh-CN" altLang="en-US" dirty="0">
                <a:solidFill>
                  <a:srgbClr val="26384D"/>
                </a:solidFill>
                <a:latin typeface="-apple-system"/>
              </a:rPr>
              <a:t>月</a:t>
            </a:r>
            <a:r>
              <a:rPr lang="en-US" altLang="zh-CN" dirty="0">
                <a:solidFill>
                  <a:srgbClr val="26384D"/>
                </a:solidFill>
                <a:latin typeface="-apple-system"/>
              </a:rPr>
              <a:t>20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73737"/>
            <a:ext cx="4846320" cy="384048"/>
          </a:xfrm>
          <a:prstGeom prst="rect">
            <a:avLst/>
          </a:prstGeom>
          <a:noFill/>
        </p:spPr>
        <p:txBody>
          <a:bodyPr wrap="square" lIns="0" tIns="0" rIns="36576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风险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 × </a:t>
            </a: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价值模型交叉表现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20262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TextBox 15">
            <a:extLst>
              <a:ext uri="{FF2B5EF4-FFF2-40B4-BE49-F238E27FC236}">
                <a16:creationId xmlns:a16="http://schemas.microsoft.com/office/drawing/2014/main" id="{3B1E638F-D78D-49DA-8CCD-CB4A3E31FBEC}"/>
              </a:ext>
            </a:extLst>
          </p:cNvPr>
          <p:cNvSpPr txBox="1"/>
          <p:nvPr/>
        </p:nvSpPr>
        <p:spPr>
          <a:xfrm>
            <a:off x="502920" y="852398"/>
            <a:ext cx="4389120" cy="215444"/>
          </a:xfrm>
          <a:prstGeom prst="rect">
            <a:avLst/>
          </a:prstGeom>
          <a:noFill/>
        </p:spPr>
        <p:txBody>
          <a:bodyPr wrap="square" lIns="0" tIns="0" rIns="36576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风险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 Lift：</a:t>
            </a:r>
            <a:r>
              <a:rPr lang="zh-CN" altLang="en-US" sz="1400" dirty="0"/>
              <a:t>双优提额，双差压降</a:t>
            </a:r>
            <a:endParaRPr kumimoji="0" sz="1250" b="1" i="0" u="none" strike="noStrike" kern="1200" cap="none" spc="0" normalizeH="0" baseline="0" noProof="0" dirty="0">
              <a:ln>
                <a:noFill/>
              </a:ln>
              <a:solidFill>
                <a:srgbClr val="20262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15" name="Table 17">
            <a:extLst>
              <a:ext uri="{FF2B5EF4-FFF2-40B4-BE49-F238E27FC236}">
                <a16:creationId xmlns:a16="http://schemas.microsoft.com/office/drawing/2014/main" id="{B10D8BA8-0D03-41BA-9A6A-38E33070A953}"/>
              </a:ext>
            </a:extLst>
          </p:cNvPr>
          <p:cNvGraphicFramePr>
            <a:graphicFrameLocks noGrp="1"/>
          </p:cNvGraphicFramePr>
          <p:nvPr/>
        </p:nvGraphicFramePr>
        <p:xfrm>
          <a:off x="502920" y="1901952"/>
          <a:ext cx="5257800" cy="1499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crosoft YaHei"/>
                        </a:rPr>
                        <a:t>风险 \ 价值</a:t>
                      </a:r>
                    </a:p>
                  </a:txBody>
                  <a:tcPr marL="18288" marR="18288" marT="13716" marB="13716" anchor="ctr"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crosoft YaHei"/>
                        </a:rPr>
                        <a:t>价值A</a:t>
                      </a:r>
                    </a:p>
                  </a:txBody>
                  <a:tcPr marL="18288" marR="18288" marT="13716" marB="13716" anchor="ctr"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crosoft YaHei"/>
                        </a:rPr>
                        <a:t>价值B</a:t>
                      </a:r>
                    </a:p>
                  </a:txBody>
                  <a:tcPr marL="18288" marR="18288" marT="13716" marB="13716" anchor="ctr"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crosoft YaHei"/>
                        </a:rPr>
                        <a:t>价值C</a:t>
                      </a:r>
                    </a:p>
                  </a:txBody>
                  <a:tcPr marL="18288" marR="18288" marT="13716" marB="13716" anchor="ctr"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crosoft YaHei"/>
                        </a:rPr>
                        <a:t>价值D</a:t>
                      </a:r>
                    </a:p>
                  </a:txBody>
                  <a:tcPr marL="18288" marR="18288" marT="13716" marB="13716" anchor="ctr"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crosoft YaHei"/>
                        </a:rPr>
                        <a:t>价值E</a:t>
                      </a:r>
                    </a:p>
                  </a:txBody>
                  <a:tcPr marL="18288" marR="18288" marT="13716" marB="13716" anchor="ctr"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crosoft YaHei"/>
                        </a:rPr>
                        <a:t>价值F</a:t>
                      </a:r>
                    </a:p>
                  </a:txBody>
                  <a:tcPr marL="18288" marR="18288" marT="13716" marB="13716" anchor="ctr"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crosoft YaHei"/>
                        </a:rPr>
                        <a:t>价值G</a:t>
                      </a:r>
                    </a:p>
                  </a:txBody>
                  <a:tcPr marL="18288" marR="18288" marT="13716" marB="13716" anchor="ctr"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crosoft YaHei"/>
                        </a:rPr>
                        <a:t>风险总计</a:t>
                      </a:r>
                    </a:p>
                  </a:txBody>
                  <a:tcPr marL="18288" marR="18288" marT="13716" marB="13716" anchor="ctr">
                    <a:solidFill>
                      <a:srgbClr val="0F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风险A</a:t>
                      </a:r>
                    </a:p>
                  </a:txBody>
                  <a:tcPr marL="18288" marR="18288" marT="13716" marB="13716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 dirty="0">
                          <a:solidFill>
                            <a:srgbClr val="0F1E33"/>
                          </a:solidFill>
                          <a:latin typeface="Microsoft YaHei"/>
                        </a:rPr>
                        <a:t>0.16</a:t>
                      </a:r>
                    </a:p>
                  </a:txBody>
                  <a:tcPr marL="18288" marR="18288" marT="13716" marB="13716" anchor="ctr">
                    <a:solidFill>
                      <a:srgbClr val="FCEA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0.21</a:t>
                      </a:r>
                    </a:p>
                  </a:txBody>
                  <a:tcPr marL="18288" marR="18288" marT="13716" marB="13716" anchor="ctr">
                    <a:solidFill>
                      <a:srgbClr val="FCE9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0.18</a:t>
                      </a:r>
                    </a:p>
                  </a:txBody>
                  <a:tcPr marL="18288" marR="18288" marT="13716" marB="13716" anchor="ctr">
                    <a:solidFill>
                      <a:srgbClr val="FCEA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0.25</a:t>
                      </a:r>
                    </a:p>
                  </a:txBody>
                  <a:tcPr marL="18288" marR="18288" marT="13716" marB="13716" anchor="ctr">
                    <a:solidFill>
                      <a:srgbClr val="FCE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0.38</a:t>
                      </a:r>
                    </a:p>
                  </a:txBody>
                  <a:tcPr marL="18288" marR="18288" marT="13716" marB="13716" anchor="ctr">
                    <a:solidFill>
                      <a:srgbClr val="FCE7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0.00</a:t>
                      </a:r>
                    </a:p>
                  </a:txBody>
                  <a:tcPr marL="18288" marR="18288" marT="13716" marB="13716" anchor="ctr">
                    <a:solidFill>
                      <a:srgbClr val="FDED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18288" marR="18288" marT="13716" marB="13716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0.19</a:t>
                      </a:r>
                    </a:p>
                  </a:txBody>
                  <a:tcPr marL="18288" marR="18288" marT="13716" marB="13716" anchor="ctr">
                    <a:solidFill>
                      <a:srgbClr val="E4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风险B</a:t>
                      </a:r>
                    </a:p>
                  </a:txBody>
                  <a:tcPr marL="18288" marR="18288" marT="13716" marB="13716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0.35</a:t>
                      </a:r>
                    </a:p>
                  </a:txBody>
                  <a:tcPr marL="18288" marR="18288" marT="13716" marB="13716" anchor="ctr">
                    <a:solidFill>
                      <a:srgbClr val="FCE7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 dirty="0">
                          <a:solidFill>
                            <a:srgbClr val="0F1E33"/>
                          </a:solidFill>
                          <a:latin typeface="Microsoft YaHei"/>
                        </a:rPr>
                        <a:t>0.42</a:t>
                      </a:r>
                    </a:p>
                  </a:txBody>
                  <a:tcPr marL="18288" marR="18288" marT="13716" marB="13716" anchor="ctr">
                    <a:solidFill>
                      <a:srgbClr val="FCE6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0.54</a:t>
                      </a:r>
                    </a:p>
                  </a:txBody>
                  <a:tcPr marL="18288" marR="18288" marT="13716" marB="13716" anchor="ctr">
                    <a:solidFill>
                      <a:srgbClr val="FCE4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0.46</a:t>
                      </a:r>
                    </a:p>
                  </a:txBody>
                  <a:tcPr marL="18288" marR="18288" marT="13716" marB="13716" anchor="ctr">
                    <a:solidFill>
                      <a:srgbClr val="FCE5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0.77</a:t>
                      </a:r>
                    </a:p>
                  </a:txBody>
                  <a:tcPr marL="18288" marR="18288" marT="13716" marB="13716" anchor="ctr">
                    <a:solidFill>
                      <a:srgbClr val="FBE0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0.93</a:t>
                      </a:r>
                    </a:p>
                  </a:txBody>
                  <a:tcPr marL="18288" marR="18288" marT="13716" marB="13716" anchor="ctr">
                    <a:solidFill>
                      <a:srgbClr val="FBDE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3.07</a:t>
                      </a:r>
                    </a:p>
                  </a:txBody>
                  <a:tcPr marL="18288" marR="18288" marT="13716" marB="13716" anchor="ctr">
                    <a:solidFill>
                      <a:srgbClr val="F7BB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0.45</a:t>
                      </a:r>
                    </a:p>
                  </a:txBody>
                  <a:tcPr marL="18288" marR="18288" marT="13716" marB="13716" anchor="ctr">
                    <a:solidFill>
                      <a:srgbClr val="E4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风险C</a:t>
                      </a:r>
                    </a:p>
                  </a:txBody>
                  <a:tcPr marL="18288" marR="18288" marT="13716" marB="13716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0.75</a:t>
                      </a:r>
                    </a:p>
                  </a:txBody>
                  <a:tcPr marL="18288" marR="18288" marT="13716" marB="13716" anchor="ctr">
                    <a:solidFill>
                      <a:srgbClr val="FB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0.74</a:t>
                      </a:r>
                    </a:p>
                  </a:txBody>
                  <a:tcPr marL="18288" marR="18288" marT="13716" marB="13716" anchor="ctr">
                    <a:solidFill>
                      <a:srgbClr val="FB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 dirty="0">
                          <a:solidFill>
                            <a:srgbClr val="0F1E33"/>
                          </a:solidFill>
                          <a:latin typeface="Microsoft YaHei"/>
                        </a:rPr>
                        <a:t>0.80</a:t>
                      </a:r>
                    </a:p>
                  </a:txBody>
                  <a:tcPr marL="18288" marR="18288" marT="13716" marB="13716" anchor="ctr">
                    <a:solidFill>
                      <a:srgbClr val="FBE0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0.78</a:t>
                      </a:r>
                    </a:p>
                  </a:txBody>
                  <a:tcPr marL="18288" marR="18288" marT="13716" marB="13716" anchor="ctr">
                    <a:solidFill>
                      <a:srgbClr val="FBE0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1.18</a:t>
                      </a:r>
                    </a:p>
                  </a:txBody>
                  <a:tcPr marL="18288" marR="18288" marT="13716" marB="13716" anchor="ctr">
                    <a:solidFill>
                      <a:srgbClr val="FADA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1.28</a:t>
                      </a:r>
                    </a:p>
                  </a:txBody>
                  <a:tcPr marL="18288" marR="18288" marT="13716" marB="13716" anchor="ctr">
                    <a:solidFill>
                      <a:srgbClr val="FAD8C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1.69</a:t>
                      </a:r>
                    </a:p>
                  </a:txBody>
                  <a:tcPr marL="18288" marR="18288" marT="13716" marB="13716" anchor="ctr">
                    <a:solidFill>
                      <a:srgbClr val="FAD2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0.83</a:t>
                      </a:r>
                    </a:p>
                  </a:txBody>
                  <a:tcPr marL="18288" marR="18288" marT="13716" marB="13716" anchor="ctr">
                    <a:solidFill>
                      <a:srgbClr val="E4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风险D</a:t>
                      </a:r>
                    </a:p>
                  </a:txBody>
                  <a:tcPr marL="18288" marR="18288" marT="13716" marB="13716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0.74</a:t>
                      </a:r>
                    </a:p>
                  </a:txBody>
                  <a:tcPr marL="18288" marR="18288" marT="13716" marB="13716" anchor="ctr">
                    <a:solidFill>
                      <a:srgbClr val="FB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0.82</a:t>
                      </a:r>
                    </a:p>
                  </a:txBody>
                  <a:tcPr marL="18288" marR="18288" marT="13716" marB="13716" anchor="ctr">
                    <a:solidFill>
                      <a:srgbClr val="FBE0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0.87</a:t>
                      </a:r>
                    </a:p>
                  </a:txBody>
                  <a:tcPr marL="18288" marR="18288" marT="13716" marB="13716" anchor="ctr">
                    <a:solidFill>
                      <a:srgbClr val="FBD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 dirty="0">
                          <a:solidFill>
                            <a:srgbClr val="0F1E33"/>
                          </a:solidFill>
                          <a:latin typeface="Microsoft YaHei"/>
                        </a:rPr>
                        <a:t>1.14</a:t>
                      </a:r>
                    </a:p>
                  </a:txBody>
                  <a:tcPr marL="18288" marR="18288" marT="13716" marB="13716" anchor="ctr">
                    <a:solidFill>
                      <a:srgbClr val="FADA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 dirty="0">
                          <a:solidFill>
                            <a:srgbClr val="0F1E33"/>
                          </a:solidFill>
                          <a:latin typeface="Microsoft YaHei"/>
                        </a:rPr>
                        <a:t>1.22</a:t>
                      </a:r>
                    </a:p>
                  </a:txBody>
                  <a:tcPr marL="18288" marR="18288" marT="13716" marB="13716" anchor="ctr">
                    <a:solidFill>
                      <a:srgbClr val="FAD9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1.62</a:t>
                      </a:r>
                    </a:p>
                  </a:txBody>
                  <a:tcPr marL="18288" marR="18288" marT="13716" marB="13716" anchor="ctr">
                    <a:solidFill>
                      <a:srgbClr val="FAD3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1.83</a:t>
                      </a:r>
                    </a:p>
                  </a:txBody>
                  <a:tcPr marL="18288" marR="18288" marT="13716" marB="13716" anchor="ctr">
                    <a:solidFill>
                      <a:srgbClr val="F9CF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1.11</a:t>
                      </a:r>
                    </a:p>
                  </a:txBody>
                  <a:tcPr marL="18288" marR="18288" marT="13716" marB="13716" anchor="ctr">
                    <a:solidFill>
                      <a:srgbClr val="E4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风险E</a:t>
                      </a:r>
                    </a:p>
                  </a:txBody>
                  <a:tcPr marL="18288" marR="18288" marT="13716" marB="13716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1.12</a:t>
                      </a:r>
                    </a:p>
                  </a:txBody>
                  <a:tcPr marL="18288" marR="18288" marT="13716" marB="13716" anchor="ctr">
                    <a:solidFill>
                      <a:srgbClr val="FBDB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1.20</a:t>
                      </a:r>
                    </a:p>
                  </a:txBody>
                  <a:tcPr marL="18288" marR="18288" marT="13716" marB="13716" anchor="ctr">
                    <a:solidFill>
                      <a:srgbClr val="FAD9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1.19</a:t>
                      </a:r>
                    </a:p>
                  </a:txBody>
                  <a:tcPr marL="18288" marR="18288" marT="13716" marB="13716" anchor="ctr">
                    <a:solidFill>
                      <a:srgbClr val="FADA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1.31</a:t>
                      </a:r>
                    </a:p>
                  </a:txBody>
                  <a:tcPr marL="18288" marR="18288" marT="13716" marB="13716" anchor="ctr">
                    <a:solidFill>
                      <a:srgbClr val="FAD8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 dirty="0">
                          <a:solidFill>
                            <a:srgbClr val="0F1E33"/>
                          </a:solidFill>
                          <a:latin typeface="Microsoft YaHei"/>
                        </a:rPr>
                        <a:t>1.49</a:t>
                      </a:r>
                    </a:p>
                  </a:txBody>
                  <a:tcPr marL="18288" marR="18288" marT="13716" marB="13716" anchor="ctr">
                    <a:solidFill>
                      <a:srgbClr val="FAD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 dirty="0">
                          <a:solidFill>
                            <a:srgbClr val="0F1E33"/>
                          </a:solidFill>
                          <a:latin typeface="Microsoft YaHei"/>
                        </a:rPr>
                        <a:t>1.84</a:t>
                      </a:r>
                    </a:p>
                  </a:txBody>
                  <a:tcPr marL="18288" marR="18288" marT="13716" marB="13716" anchor="ctr">
                    <a:solidFill>
                      <a:srgbClr val="F9CF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2.23</a:t>
                      </a:r>
                    </a:p>
                  </a:txBody>
                  <a:tcPr marL="18288" marR="18288" marT="13716" marB="13716" anchor="ctr">
                    <a:solidFill>
                      <a:srgbClr val="F9C9A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1.42</a:t>
                      </a:r>
                    </a:p>
                  </a:txBody>
                  <a:tcPr marL="18288" marR="18288" marT="13716" marB="13716" anchor="ctr">
                    <a:solidFill>
                      <a:srgbClr val="E4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风险F</a:t>
                      </a:r>
                    </a:p>
                  </a:txBody>
                  <a:tcPr marL="18288" marR="18288" marT="13716" marB="13716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0.98</a:t>
                      </a:r>
                    </a:p>
                  </a:txBody>
                  <a:tcPr marL="18288" marR="18288" marT="13716" marB="13716" anchor="ctr">
                    <a:solidFill>
                      <a:srgbClr val="FBDD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1.57</a:t>
                      </a:r>
                    </a:p>
                  </a:txBody>
                  <a:tcPr marL="18288" marR="18288" marT="13716" marB="13716" anchor="ctr">
                    <a:solidFill>
                      <a:srgbClr val="FAD4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1.45</a:t>
                      </a:r>
                    </a:p>
                  </a:txBody>
                  <a:tcPr marL="18288" marR="18288" marT="13716" marB="13716" anchor="ctr">
                    <a:solidFill>
                      <a:srgbClr val="FAD5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1.86</a:t>
                      </a:r>
                    </a:p>
                  </a:txBody>
                  <a:tcPr marL="18288" marR="18288" marT="13716" marB="13716" anchor="ctr">
                    <a:solidFill>
                      <a:srgbClr val="F9CF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2.19</a:t>
                      </a:r>
                    </a:p>
                  </a:txBody>
                  <a:tcPr marL="18288" marR="18288" marT="13716" marB="13716" anchor="ctr">
                    <a:solidFill>
                      <a:srgbClr val="F9CA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 dirty="0">
                          <a:solidFill>
                            <a:srgbClr val="0F1E33"/>
                          </a:solidFill>
                          <a:latin typeface="Microsoft YaHei"/>
                        </a:rPr>
                        <a:t>2.49</a:t>
                      </a:r>
                    </a:p>
                  </a:txBody>
                  <a:tcPr marL="18288" marR="18288" marT="13716" marB="13716" anchor="ctr">
                    <a:solidFill>
                      <a:srgbClr val="F8C5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2.91</a:t>
                      </a:r>
                    </a:p>
                  </a:txBody>
                  <a:tcPr marL="18288" marR="18288" marT="13716" marB="13716" anchor="ctr">
                    <a:solidFill>
                      <a:srgbClr val="F7BE9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2.15</a:t>
                      </a:r>
                    </a:p>
                  </a:txBody>
                  <a:tcPr marL="18288" marR="18288" marT="13716" marB="13716" anchor="ctr">
                    <a:solidFill>
                      <a:srgbClr val="E4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风险G</a:t>
                      </a:r>
                    </a:p>
                  </a:txBody>
                  <a:tcPr marL="18288" marR="18288" marT="13716" marB="13716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18288" marR="18288" marT="13716" marB="13716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1.60</a:t>
                      </a:r>
                    </a:p>
                  </a:txBody>
                  <a:tcPr marL="18288" marR="18288" marT="13716" marB="13716" anchor="ctr">
                    <a:solidFill>
                      <a:srgbClr val="FAD3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2.46</a:t>
                      </a:r>
                    </a:p>
                  </a:txBody>
                  <a:tcPr marL="18288" marR="18288" marT="13716" marB="13716" anchor="ctr">
                    <a:solidFill>
                      <a:srgbClr val="F8C5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2.67</a:t>
                      </a:r>
                    </a:p>
                  </a:txBody>
                  <a:tcPr marL="18288" marR="18288" marT="13716" marB="13716" anchor="ctr">
                    <a:solidFill>
                      <a:srgbClr val="F8C2A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3.06</a:t>
                      </a:r>
                    </a:p>
                  </a:txBody>
                  <a:tcPr marL="18288" marR="18288" marT="13716" marB="13716" anchor="ctr">
                    <a:solidFill>
                      <a:srgbClr val="F7BC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3.53</a:t>
                      </a:r>
                    </a:p>
                  </a:txBody>
                  <a:tcPr marL="18288" marR="18288" marT="13716" marB="13716" anchor="ctr">
                    <a:solidFill>
                      <a:srgbClr val="F6B4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 dirty="0">
                          <a:solidFill>
                            <a:srgbClr val="0F1E33"/>
                          </a:solidFill>
                          <a:latin typeface="Microsoft YaHei"/>
                        </a:rPr>
                        <a:t>3.83</a:t>
                      </a:r>
                    </a:p>
                  </a:txBody>
                  <a:tcPr marL="18288" marR="18288" marT="13716" marB="13716" anchor="ctr">
                    <a:solidFill>
                      <a:srgbClr val="F6AF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3.28</a:t>
                      </a:r>
                    </a:p>
                  </a:txBody>
                  <a:tcPr marL="18288" marR="18288" marT="13716" marB="13716" anchor="ctr">
                    <a:solidFill>
                      <a:srgbClr val="E4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价值总计</a:t>
                      </a:r>
                    </a:p>
                  </a:txBody>
                  <a:tcPr marL="18288" marR="18288" marT="13716" marB="13716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0.39</a:t>
                      </a:r>
                    </a:p>
                  </a:txBody>
                  <a:tcPr marL="18288" marR="18288" marT="13716" marB="13716" anchor="ctr"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0.61</a:t>
                      </a:r>
                    </a:p>
                  </a:txBody>
                  <a:tcPr marL="18288" marR="18288" marT="13716" marB="13716" anchor="ctr"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0.77</a:t>
                      </a:r>
                    </a:p>
                  </a:txBody>
                  <a:tcPr marL="18288" marR="18288" marT="13716" marB="13716" anchor="ctr"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0.99</a:t>
                      </a:r>
                    </a:p>
                  </a:txBody>
                  <a:tcPr marL="18288" marR="18288" marT="13716" marB="13716" anchor="ctr"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1.57</a:t>
                      </a:r>
                    </a:p>
                  </a:txBody>
                  <a:tcPr marL="18288" marR="18288" marT="13716" marB="13716" anchor="ctr"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2.12</a:t>
                      </a:r>
                    </a:p>
                  </a:txBody>
                  <a:tcPr marL="18288" marR="18288" marT="13716" marB="13716" anchor="ctr"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2.91</a:t>
                      </a:r>
                    </a:p>
                  </a:txBody>
                  <a:tcPr marL="18288" marR="18288" marT="13716" marB="13716" anchor="ctr"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 dirty="0">
                          <a:solidFill>
                            <a:srgbClr val="0F1E33"/>
                          </a:solidFill>
                          <a:latin typeface="Microsoft YaHei"/>
                        </a:rPr>
                        <a:t>1.00</a:t>
                      </a:r>
                    </a:p>
                  </a:txBody>
                  <a:tcPr marL="18288" marR="18288" marT="13716" marB="13716" anchor="ctr">
                    <a:solidFill>
                      <a:srgbClr val="E4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7" name="文本框 16">
            <a:extLst>
              <a:ext uri="{FF2B5EF4-FFF2-40B4-BE49-F238E27FC236}">
                <a16:creationId xmlns:a16="http://schemas.microsoft.com/office/drawing/2014/main" id="{BA726767-FBD8-41DC-8AC4-E59123FD77E2}"/>
              </a:ext>
            </a:extLst>
          </p:cNvPr>
          <p:cNvSpPr txBox="1"/>
          <p:nvPr/>
        </p:nvSpPr>
        <p:spPr>
          <a:xfrm>
            <a:off x="502920" y="1713830"/>
            <a:ext cx="1280160" cy="138499"/>
          </a:xfrm>
          <a:prstGeom prst="rect">
            <a:avLst/>
          </a:prstGeom>
          <a:noFill/>
        </p:spPr>
        <p:txBody>
          <a:bodyPr wrap="square" lIns="0" tIns="0" rIns="36576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 dirty="0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3M30 </a:t>
            </a: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笔数</a:t>
            </a:r>
            <a:r>
              <a:rPr kumimoji="0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风险</a:t>
            </a:r>
            <a:r>
              <a:rPr kumimoji="0" sz="900" b="1" i="0" u="none" strike="noStrike" kern="1200" cap="none" spc="0" normalizeH="0" baseline="0" noProof="0" dirty="0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 Lift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02920" y="1133856"/>
            <a:ext cx="5257800" cy="429768"/>
          </a:xfrm>
          <a:prstGeom prst="roundRect">
            <a:avLst>
              <a:gd name="adj" fmla="val 13000"/>
            </a:avLst>
          </a:prstGeom>
          <a:solidFill>
            <a:srgbClr val="F8FBFF"/>
          </a:solidFill>
          <a:ln w="762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80" b="1" i="0" u="none" strike="noStrike" kern="1200" cap="none" spc="0" normalizeH="0" baseline="0" noProof="0" dirty="0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• </a:t>
            </a:r>
            <a:r>
              <a:rPr kumimoji="0" sz="780" b="1" i="0" u="none" strike="noStrike" kern="1200" cap="none" spc="0" normalizeH="0" baseline="0" noProof="0" dirty="0" err="1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双优客群低风险：</a:t>
            </a:r>
            <a:r>
              <a:rPr kumimoji="0" sz="780" b="0" i="0" u="none" strike="noStrike" kern="1200" cap="none" spc="0" normalizeH="0" baseline="0" noProof="0" dirty="0" err="1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风险</a:t>
            </a:r>
            <a:r>
              <a:rPr kumimoji="0" sz="780" b="0" i="0" u="none" strike="noStrike" kern="1200" cap="none" spc="0" normalizeH="0" baseline="0" noProof="0" dirty="0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 A × </a:t>
            </a:r>
            <a:r>
              <a:rPr kumimoji="0" sz="780" b="0" i="0" u="none" strike="noStrike" kern="1200" cap="none" spc="0" normalizeH="0" baseline="0" noProof="0" dirty="0" err="1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价值</a:t>
            </a:r>
            <a:r>
              <a:rPr kumimoji="0" sz="780" b="0" i="0" u="none" strike="noStrike" kern="1200" cap="none" spc="0" normalizeH="0" baseline="0" noProof="0" dirty="0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 A–</a:t>
            </a:r>
            <a:r>
              <a:rPr kumimoji="0" sz="780" b="0" i="0" u="none" strike="noStrike" kern="1200" cap="none" spc="0" normalizeH="0" baseline="0" noProof="0" dirty="0" err="1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C，Lift</a:t>
            </a:r>
            <a:r>
              <a:rPr kumimoji="0" sz="780" b="0" i="0" u="none" strike="noStrike" kern="1200" cap="none" spc="0" normalizeH="0" baseline="0" noProof="0" dirty="0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 仅 0.16–0.21，具备提额空间。</a:t>
            </a:r>
            <a:endParaRPr kumimoji="0" lang="en-US" altLang="zh-CN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80" b="1" i="0" u="none" strike="noStrike" kern="1200" cap="none" spc="0" normalizeH="0" baseline="0" noProof="0" dirty="0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• </a:t>
            </a:r>
            <a:r>
              <a:rPr kumimoji="0" sz="780" b="1" i="0" u="none" strike="noStrike" kern="1200" cap="none" spc="0" normalizeH="0" baseline="0" noProof="0" dirty="0" err="1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尾部风险集中：</a:t>
            </a:r>
            <a:r>
              <a:rPr kumimoji="0" sz="780" b="0" i="0" u="none" strike="noStrike" kern="1200" cap="none" spc="0" normalizeH="0" baseline="0" noProof="0" dirty="0" err="1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风险</a:t>
            </a:r>
            <a:r>
              <a:rPr kumimoji="0" sz="780" b="0" i="0" u="none" strike="noStrike" kern="1200" cap="none" spc="0" normalizeH="0" baseline="0" noProof="0" dirty="0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 G × </a:t>
            </a:r>
            <a:r>
              <a:rPr kumimoji="0" sz="780" b="0" i="0" u="none" strike="noStrike" kern="1200" cap="none" spc="0" normalizeH="0" baseline="0" noProof="0" dirty="0" err="1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价值</a:t>
            </a:r>
            <a:r>
              <a:rPr kumimoji="0" sz="780" b="0" i="0" u="none" strike="noStrike" kern="1200" cap="none" spc="0" normalizeH="0" baseline="0" noProof="0" dirty="0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 F/</a:t>
            </a:r>
            <a:r>
              <a:rPr kumimoji="0" sz="780" b="0" i="0" u="none" strike="noStrike" kern="1200" cap="none" spc="0" normalizeH="0" baseline="0" noProof="0" dirty="0" err="1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G，Lift</a:t>
            </a:r>
            <a:r>
              <a:rPr kumimoji="0" sz="780" b="0" i="0" u="none" strike="noStrike" kern="1200" cap="none" spc="0" normalizeH="0" baseline="0" noProof="0" dirty="0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 达 3.53 / 3.83，</a:t>
            </a:r>
            <a:r>
              <a:rPr kumimoji="0" lang="en-US" sz="780" b="0" i="0" u="none" strike="noStrike" kern="1200" cap="none" spc="0" normalizeH="0" baseline="0" noProof="0" dirty="0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,</a:t>
            </a:r>
            <a:r>
              <a:rPr kumimoji="0" lang="zh-CN" altLang="en-US" sz="780" b="0" i="0" u="none" strike="noStrike" kern="1200" cap="none" spc="0" normalizeH="0" baseline="0" noProof="0" dirty="0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高于原风险</a:t>
            </a:r>
            <a:r>
              <a:rPr kumimoji="0" lang="en-US" altLang="zh-CN" sz="780" b="0" i="0" u="none" strike="noStrike" kern="1200" cap="none" spc="0" normalizeH="0" baseline="0" noProof="0" dirty="0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2.12</a:t>
            </a:r>
            <a:r>
              <a:rPr lang="en-US" altLang="zh-CN" sz="780" dirty="0">
                <a:solidFill>
                  <a:srgbClr val="15243A"/>
                </a:solidFill>
                <a:latin typeface="Microsoft YaHei"/>
                <a:ea typeface="微软雅黑"/>
              </a:rPr>
              <a:t>,2.91</a:t>
            </a:r>
            <a:r>
              <a:rPr kumimoji="0" sz="780" b="0" i="0" u="none" strike="noStrike" kern="1200" cap="none" spc="0" normalizeH="0" baseline="0" noProof="0" dirty="0" err="1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适合重点压降</a:t>
            </a:r>
            <a:r>
              <a:rPr kumimoji="0" sz="780" b="0" i="0" u="none" strike="noStrike" kern="1200" cap="none" spc="0" normalizeH="0" baseline="0" noProof="0" dirty="0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。</a:t>
            </a:r>
          </a:p>
        </p:txBody>
      </p:sp>
      <p:sp>
        <p:nvSpPr>
          <p:cNvPr id="3" name="AutoShape 2" descr="已生成图片：价值风险矩阵数据表">
            <a:extLst>
              <a:ext uri="{FF2B5EF4-FFF2-40B4-BE49-F238E27FC236}">
                <a16:creationId xmlns:a16="http://schemas.microsoft.com/office/drawing/2014/main" id="{586397A9-2B7F-47FD-A69B-A5C22B484B7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429C253-5941-47BF-8EC6-01DB04CACAF9}"/>
              </a:ext>
            </a:extLst>
          </p:cNvPr>
          <p:cNvSpPr/>
          <p:nvPr/>
        </p:nvSpPr>
        <p:spPr>
          <a:xfrm>
            <a:off x="7850717" y="1901952"/>
            <a:ext cx="1892300" cy="3809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成交金额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54D2B12-5D84-4C12-99F7-9D21ED64AEF3}"/>
              </a:ext>
            </a:extLst>
          </p:cNvPr>
          <p:cNvSpPr/>
          <p:nvPr/>
        </p:nvSpPr>
        <p:spPr>
          <a:xfrm>
            <a:off x="1783080" y="4682337"/>
            <a:ext cx="1892300" cy="3809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笔数逾期率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9674902-5A98-4DD0-B166-F9C7AB0D9B1F}"/>
              </a:ext>
            </a:extLst>
          </p:cNvPr>
          <p:cNvSpPr/>
          <p:nvPr/>
        </p:nvSpPr>
        <p:spPr>
          <a:xfrm>
            <a:off x="7570472" y="4682336"/>
            <a:ext cx="1892300" cy="3809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金额逾期率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53ABFE7-B753-4C23-9F1F-631064522E98}"/>
              </a:ext>
            </a:extLst>
          </p:cNvPr>
          <p:cNvSpPr/>
          <p:nvPr/>
        </p:nvSpPr>
        <p:spPr>
          <a:xfrm>
            <a:off x="3254587" y="2348611"/>
            <a:ext cx="1892300" cy="3809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成交盈余</a:t>
            </a:r>
          </a:p>
        </p:txBody>
      </p:sp>
      <p:graphicFrame>
        <p:nvGraphicFramePr>
          <p:cNvPr id="33" name="Table 27">
            <a:extLst>
              <a:ext uri="{FF2B5EF4-FFF2-40B4-BE49-F238E27FC236}">
                <a16:creationId xmlns:a16="http://schemas.microsoft.com/office/drawing/2014/main" id="{735C5FC7-FA4A-4E5D-A72E-DBA980E9AF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1167072"/>
              </p:ext>
            </p:extLst>
          </p:nvPr>
        </p:nvGraphicFramePr>
        <p:xfrm>
          <a:off x="463550" y="1901952"/>
          <a:ext cx="52578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crosoft YaHei"/>
                        </a:rPr>
                        <a:t>风险 \ 价值</a:t>
                      </a:r>
                    </a:p>
                  </a:txBody>
                  <a:tcPr anchor="ctr"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crosoft YaHei"/>
                        </a:rPr>
                        <a:t>价值A</a:t>
                      </a:r>
                    </a:p>
                  </a:txBody>
                  <a:tcPr anchor="ctr"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 dirty="0" err="1">
                          <a:solidFill>
                            <a:srgbClr val="FFFFFF"/>
                          </a:solidFill>
                          <a:latin typeface="Microsoft YaHei"/>
                        </a:rPr>
                        <a:t>价值B</a:t>
                      </a:r>
                      <a:endParaRPr sz="600" b="1" dirty="0">
                        <a:solidFill>
                          <a:srgbClr val="FFFFFF"/>
                        </a:solidFill>
                        <a:latin typeface="Microsoft YaHei"/>
                      </a:endParaRPr>
                    </a:p>
                  </a:txBody>
                  <a:tcPr anchor="ctr"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 dirty="0" err="1">
                          <a:solidFill>
                            <a:srgbClr val="FFFFFF"/>
                          </a:solidFill>
                          <a:latin typeface="Microsoft YaHei"/>
                        </a:rPr>
                        <a:t>价值C</a:t>
                      </a:r>
                      <a:endParaRPr sz="600" b="1" dirty="0">
                        <a:solidFill>
                          <a:srgbClr val="FFFFFF"/>
                        </a:solidFill>
                        <a:latin typeface="Microsoft YaHei"/>
                      </a:endParaRPr>
                    </a:p>
                  </a:txBody>
                  <a:tcPr anchor="ctr"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crosoft YaHei"/>
                        </a:rPr>
                        <a:t>价值D</a:t>
                      </a:r>
                    </a:p>
                  </a:txBody>
                  <a:tcPr anchor="ctr"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crosoft YaHei"/>
                        </a:rPr>
                        <a:t>价值E</a:t>
                      </a:r>
                    </a:p>
                  </a:txBody>
                  <a:tcPr anchor="ctr"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crosoft YaHei"/>
                        </a:rPr>
                        <a:t>价值F</a:t>
                      </a:r>
                    </a:p>
                  </a:txBody>
                  <a:tcPr anchor="ctr"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crosoft YaHei"/>
                        </a:rPr>
                        <a:t>价值G</a:t>
                      </a:r>
                    </a:p>
                  </a:txBody>
                  <a:tcPr anchor="ctr"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crosoft YaHei"/>
                        </a:rPr>
                        <a:t>风险总计</a:t>
                      </a:r>
                    </a:p>
                  </a:txBody>
                  <a:tcPr anchor="ctr">
                    <a:solidFill>
                      <a:srgbClr val="0F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风险A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 dirty="0">
                          <a:solidFill>
                            <a:srgbClr val="0F1E33"/>
                          </a:solidFill>
                          <a:latin typeface="Microsoft YaHei"/>
                        </a:rPr>
                        <a:t>2,368</a:t>
                      </a:r>
                    </a:p>
                  </a:txBody>
                  <a:tcPr anchor="ctr">
                    <a:solidFill>
                      <a:srgbClr val="FEF4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 dirty="0">
                          <a:solidFill>
                            <a:srgbClr val="0F1E33"/>
                          </a:solidFill>
                          <a:latin typeface="Microsoft YaHei"/>
                        </a:rPr>
                        <a:t>1,464</a:t>
                      </a:r>
                    </a:p>
                  </a:txBody>
                  <a:tcPr anchor="ctr">
                    <a:solidFill>
                      <a:srgbClr val="FFF5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 dirty="0">
                          <a:solidFill>
                            <a:srgbClr val="0F1E33"/>
                          </a:solidFill>
                          <a:latin typeface="Microsoft YaHei"/>
                        </a:rPr>
                        <a:t>1,216</a:t>
                      </a:r>
                    </a:p>
                  </a:txBody>
                  <a:tcPr anchor="ctr">
                    <a:solidFill>
                      <a:srgbClr val="FFF6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 dirty="0">
                          <a:solidFill>
                            <a:srgbClr val="0F1E33"/>
                          </a:solidFill>
                          <a:latin typeface="Microsoft YaHei"/>
                        </a:rPr>
                        <a:t>1,001</a:t>
                      </a:r>
                    </a:p>
                  </a:txBody>
                  <a:tcPr anchor="ctr">
                    <a:solidFill>
                      <a:srgbClr val="FFF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904</a:t>
                      </a:r>
                    </a:p>
                  </a:txBody>
                  <a:tcPr anchor="ctr"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 dirty="0">
                          <a:solidFill>
                            <a:srgbClr val="0F1E33"/>
                          </a:solidFill>
                          <a:latin typeface="Microsoft YaHei"/>
                        </a:rPr>
                        <a:t>682</a:t>
                      </a:r>
                    </a:p>
                  </a:txBody>
                  <a:tcPr anchor="ctr"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b="0" dirty="0">
                          <a:solidFill>
                            <a:srgbClr val="0F1E33"/>
                          </a:solidFill>
                          <a:latin typeface="Microsoft YaHei"/>
                        </a:rPr>
                        <a:t>-</a:t>
                      </a:r>
                      <a:endParaRPr sz="600" b="0" dirty="0">
                        <a:solidFill>
                          <a:srgbClr val="0F1E33"/>
                        </a:solidFill>
                        <a:latin typeface="Microsoft YaHei"/>
                      </a:endParaRPr>
                    </a:p>
                  </a:txBody>
                  <a:tcPr anchor="ctr"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1,753</a:t>
                      </a:r>
                    </a:p>
                  </a:txBody>
                  <a:tcPr anchor="ctr">
                    <a:solidFill>
                      <a:srgbClr val="E4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风险B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3,775</a:t>
                      </a:r>
                    </a:p>
                  </a:txBody>
                  <a:tcPr anchor="ctr">
                    <a:solidFill>
                      <a:srgbClr val="FEF1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 dirty="0">
                          <a:solidFill>
                            <a:srgbClr val="0F1E33"/>
                          </a:solidFill>
                          <a:latin typeface="Microsoft YaHei"/>
                        </a:rPr>
                        <a:t>2,011</a:t>
                      </a:r>
                    </a:p>
                  </a:txBody>
                  <a:tcPr anchor="ctr">
                    <a:solidFill>
                      <a:srgbClr val="FEF4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 dirty="0">
                          <a:solidFill>
                            <a:srgbClr val="0F1E33"/>
                          </a:solidFill>
                          <a:latin typeface="Microsoft YaHei"/>
                        </a:rPr>
                        <a:t>1,570</a:t>
                      </a:r>
                    </a:p>
                  </a:txBody>
                  <a:tcPr anchor="ctr">
                    <a:solidFill>
                      <a:srgbClr val="FFF5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 dirty="0">
                          <a:solidFill>
                            <a:srgbClr val="0F1E33"/>
                          </a:solidFill>
                          <a:latin typeface="Microsoft YaHei"/>
                        </a:rPr>
                        <a:t>1,274</a:t>
                      </a:r>
                    </a:p>
                  </a:txBody>
                  <a:tcPr anchor="ctr">
                    <a:solidFill>
                      <a:srgbClr val="FFF6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1,029</a:t>
                      </a:r>
                    </a:p>
                  </a:txBody>
                  <a:tcPr anchor="ctr">
                    <a:solidFill>
                      <a:srgbClr val="FFF6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 dirty="0">
                          <a:solidFill>
                            <a:srgbClr val="0F1E33"/>
                          </a:solidFill>
                          <a:latin typeface="Microsoft YaHei"/>
                        </a:rPr>
                        <a:t>860</a:t>
                      </a:r>
                    </a:p>
                  </a:txBody>
                  <a:tcPr anchor="ctr"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877</a:t>
                      </a:r>
                    </a:p>
                  </a:txBody>
                  <a:tcPr anchor="ctr"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1,958</a:t>
                      </a:r>
                    </a:p>
                  </a:txBody>
                  <a:tcPr anchor="ctr">
                    <a:solidFill>
                      <a:srgbClr val="E4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风险C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6,146</a:t>
                      </a:r>
                    </a:p>
                  </a:txBody>
                  <a:tcPr anchor="ctr">
                    <a:solidFill>
                      <a:srgbClr val="FDEC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2,774</a:t>
                      </a:r>
                    </a:p>
                  </a:txBody>
                  <a:tcPr anchor="ctr">
                    <a:solidFill>
                      <a:srgbClr val="FEF3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2,072</a:t>
                      </a:r>
                    </a:p>
                  </a:txBody>
                  <a:tcPr anchor="ctr">
                    <a:solidFill>
                      <a:srgbClr val="FEF4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1,575</a:t>
                      </a:r>
                    </a:p>
                  </a:txBody>
                  <a:tcPr anchor="ctr">
                    <a:solidFill>
                      <a:srgbClr val="FEF5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 dirty="0">
                          <a:solidFill>
                            <a:srgbClr val="0F1E33"/>
                          </a:solidFill>
                          <a:latin typeface="Microsoft YaHei"/>
                        </a:rPr>
                        <a:t>1,315</a:t>
                      </a:r>
                    </a:p>
                  </a:txBody>
                  <a:tcPr anchor="ctr">
                    <a:solidFill>
                      <a:srgbClr val="FFF6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1,090</a:t>
                      </a:r>
                    </a:p>
                  </a:txBody>
                  <a:tcPr anchor="ctr">
                    <a:solidFill>
                      <a:srgbClr val="FFF6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833</a:t>
                      </a:r>
                    </a:p>
                  </a:txBody>
                  <a:tcPr anchor="ctr"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2,024</a:t>
                      </a:r>
                    </a:p>
                  </a:txBody>
                  <a:tcPr anchor="ctr">
                    <a:solidFill>
                      <a:srgbClr val="E4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风险D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6,590</a:t>
                      </a:r>
                    </a:p>
                  </a:txBody>
                  <a:tcPr anchor="ctr">
                    <a:solidFill>
                      <a:srgbClr val="FDEC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3,169</a:t>
                      </a:r>
                    </a:p>
                  </a:txBody>
                  <a:tcPr anchor="ctr">
                    <a:solidFill>
                      <a:srgbClr val="FEF2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2,815</a:t>
                      </a:r>
                    </a:p>
                  </a:txBody>
                  <a:tcPr anchor="ctr">
                    <a:solidFill>
                      <a:srgbClr val="FEF3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1,918</a:t>
                      </a:r>
                    </a:p>
                  </a:txBody>
                  <a:tcPr anchor="ctr">
                    <a:solidFill>
                      <a:srgbClr val="FEF5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1,499</a:t>
                      </a:r>
                    </a:p>
                  </a:txBody>
                  <a:tcPr anchor="ctr">
                    <a:solidFill>
                      <a:srgbClr val="FFF5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1,227</a:t>
                      </a:r>
                    </a:p>
                  </a:txBody>
                  <a:tcPr anchor="ctr">
                    <a:solidFill>
                      <a:srgbClr val="FFF6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974</a:t>
                      </a:r>
                    </a:p>
                  </a:txBody>
                  <a:tcPr anchor="ctr">
                    <a:solidFill>
                      <a:srgbClr val="FFF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1,962</a:t>
                      </a:r>
                    </a:p>
                  </a:txBody>
                  <a:tcPr anchor="ctr">
                    <a:solidFill>
                      <a:srgbClr val="E4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风险E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14,154</a:t>
                      </a:r>
                    </a:p>
                  </a:txBody>
                  <a:tcPr anchor="ctr">
                    <a:solidFill>
                      <a:srgbClr val="FADD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4,329</a:t>
                      </a:r>
                    </a:p>
                  </a:txBody>
                  <a:tcPr anchor="ctr">
                    <a:solidFill>
                      <a:srgbClr val="FEF0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3,198</a:t>
                      </a:r>
                    </a:p>
                  </a:txBody>
                  <a:tcPr anchor="ctr">
                    <a:solidFill>
                      <a:srgbClr val="FEF2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2,333</a:t>
                      </a:r>
                    </a:p>
                  </a:txBody>
                  <a:tcPr anchor="ctr">
                    <a:solidFill>
                      <a:srgbClr val="FEF4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1,771</a:t>
                      </a:r>
                    </a:p>
                  </a:txBody>
                  <a:tcPr anchor="ctr">
                    <a:solidFill>
                      <a:srgbClr val="FEF5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1,346</a:t>
                      </a:r>
                    </a:p>
                  </a:txBody>
                  <a:tcPr anchor="ctr">
                    <a:solidFill>
                      <a:srgbClr val="FFF6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1,059</a:t>
                      </a:r>
                    </a:p>
                  </a:txBody>
                  <a:tcPr anchor="ctr">
                    <a:solidFill>
                      <a:srgbClr val="FFF6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2,062</a:t>
                      </a:r>
                    </a:p>
                  </a:txBody>
                  <a:tcPr anchor="ctr">
                    <a:solidFill>
                      <a:srgbClr val="E4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风险F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b="1" dirty="0">
                          <a:solidFill>
                            <a:srgbClr val="0F1E33"/>
                          </a:solidFill>
                          <a:latin typeface="Microsoft YaHei"/>
                        </a:rPr>
                        <a:t>-</a:t>
                      </a:r>
                      <a:endParaRPr sz="600" b="1" dirty="0">
                        <a:solidFill>
                          <a:srgbClr val="0F1E33"/>
                        </a:solidFill>
                        <a:latin typeface="Microsoft YaHei"/>
                      </a:endParaRPr>
                    </a:p>
                  </a:txBody>
                  <a:tcPr anchor="ctr">
                    <a:solidFill>
                      <a:srgbClr val="F8D2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 dirty="0">
                          <a:solidFill>
                            <a:srgbClr val="0F1E33"/>
                          </a:solidFill>
                          <a:latin typeface="Microsoft YaHei"/>
                        </a:rPr>
                        <a:t>5,909</a:t>
                      </a:r>
                    </a:p>
                  </a:txBody>
                  <a:tcPr anchor="ctr">
                    <a:solidFill>
                      <a:srgbClr val="FDED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4,326</a:t>
                      </a:r>
                    </a:p>
                  </a:txBody>
                  <a:tcPr anchor="ctr">
                    <a:solidFill>
                      <a:srgbClr val="FEF0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3,145</a:t>
                      </a:r>
                    </a:p>
                  </a:txBody>
                  <a:tcPr anchor="ctr">
                    <a:solidFill>
                      <a:srgbClr val="FEF2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2,312</a:t>
                      </a:r>
                    </a:p>
                  </a:txBody>
                  <a:tcPr anchor="ctr">
                    <a:solidFill>
                      <a:srgbClr val="FEF4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1,755</a:t>
                      </a:r>
                    </a:p>
                  </a:txBody>
                  <a:tcPr anchor="ctr">
                    <a:solidFill>
                      <a:srgbClr val="FEF5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 dirty="0">
                          <a:solidFill>
                            <a:srgbClr val="0F1E33"/>
                          </a:solidFill>
                          <a:latin typeface="Microsoft YaHei"/>
                        </a:rPr>
                        <a:t>1,311</a:t>
                      </a:r>
                    </a:p>
                  </a:txBody>
                  <a:tcPr anchor="ctr">
                    <a:solidFill>
                      <a:srgbClr val="FFF6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 dirty="0">
                          <a:solidFill>
                            <a:srgbClr val="0F1E33"/>
                          </a:solidFill>
                          <a:latin typeface="Microsoft YaHei"/>
                        </a:rPr>
                        <a:t>2,200</a:t>
                      </a:r>
                    </a:p>
                  </a:txBody>
                  <a:tcPr anchor="ctr">
                    <a:solidFill>
                      <a:srgbClr val="E4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风险G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b="1" dirty="0">
                          <a:solidFill>
                            <a:srgbClr val="0F1E33"/>
                          </a:solidFill>
                          <a:latin typeface="Microsoft YaHei"/>
                        </a:rPr>
                        <a:t>-</a:t>
                      </a:r>
                      <a:endParaRPr sz="600" b="1" dirty="0">
                        <a:solidFill>
                          <a:srgbClr val="0F1E33"/>
                        </a:solidFill>
                        <a:latin typeface="Microsoft YaHei"/>
                      </a:endParaRPr>
                    </a:p>
                  </a:txBody>
                  <a:tcPr anchor="ctr">
                    <a:solidFill>
                      <a:srgbClr val="F2B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7,506</a:t>
                      </a:r>
                    </a:p>
                  </a:txBody>
                  <a:tcPr anchor="ctr">
                    <a:solidFill>
                      <a:srgbClr val="FCE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7,925</a:t>
                      </a:r>
                    </a:p>
                  </a:txBody>
                  <a:tcPr anchor="ctr">
                    <a:solidFill>
                      <a:srgbClr val="FCE9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6,379</a:t>
                      </a:r>
                    </a:p>
                  </a:txBody>
                  <a:tcPr anchor="ctr">
                    <a:solidFill>
                      <a:srgbClr val="FDEC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3,736</a:t>
                      </a:r>
                    </a:p>
                  </a:txBody>
                  <a:tcPr anchor="ctr">
                    <a:solidFill>
                      <a:srgbClr val="FEF1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3,015</a:t>
                      </a:r>
                    </a:p>
                  </a:txBody>
                  <a:tcPr anchor="ctr">
                    <a:solidFill>
                      <a:srgbClr val="FEF2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 dirty="0">
                          <a:solidFill>
                            <a:srgbClr val="0F1E33"/>
                          </a:solidFill>
                          <a:latin typeface="Microsoft YaHei"/>
                        </a:rPr>
                        <a:t>1,992</a:t>
                      </a:r>
                    </a:p>
                  </a:txBody>
                  <a:tcPr anchor="ctr">
                    <a:solidFill>
                      <a:srgbClr val="FEF4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 dirty="0">
                          <a:solidFill>
                            <a:srgbClr val="0F1E33"/>
                          </a:solidFill>
                          <a:latin typeface="Microsoft YaHei"/>
                        </a:rPr>
                        <a:t>3,128</a:t>
                      </a:r>
                    </a:p>
                  </a:txBody>
                  <a:tcPr anchor="ctr">
                    <a:solidFill>
                      <a:srgbClr val="E4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价值总计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 dirty="0">
                          <a:solidFill>
                            <a:srgbClr val="0F1E33"/>
                          </a:solidFill>
                          <a:latin typeface="Microsoft YaHei"/>
                        </a:rPr>
                        <a:t>4,471</a:t>
                      </a:r>
                    </a:p>
                  </a:txBody>
                  <a:tcPr anchor="ctr"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 dirty="0">
                          <a:solidFill>
                            <a:srgbClr val="0F1E33"/>
                          </a:solidFill>
                          <a:latin typeface="Microsoft YaHei"/>
                        </a:rPr>
                        <a:t>2,666</a:t>
                      </a:r>
                    </a:p>
                  </a:txBody>
                  <a:tcPr anchor="ctr"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 dirty="0">
                          <a:solidFill>
                            <a:srgbClr val="0F1E33"/>
                          </a:solidFill>
                          <a:latin typeface="Microsoft YaHei"/>
                        </a:rPr>
                        <a:t>2,325</a:t>
                      </a:r>
                    </a:p>
                  </a:txBody>
                  <a:tcPr anchor="ctr"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 dirty="0">
                          <a:solidFill>
                            <a:srgbClr val="0F1E33"/>
                          </a:solidFill>
                          <a:latin typeface="Microsoft YaHei"/>
                        </a:rPr>
                        <a:t>2,075</a:t>
                      </a:r>
                    </a:p>
                  </a:txBody>
                  <a:tcPr anchor="ctr"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 dirty="0">
                          <a:solidFill>
                            <a:srgbClr val="0F1E33"/>
                          </a:solidFill>
                          <a:latin typeface="Microsoft YaHei"/>
                        </a:rPr>
                        <a:t>1,876</a:t>
                      </a:r>
                    </a:p>
                  </a:txBody>
                  <a:tcPr anchor="ctr"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 dirty="0">
                          <a:solidFill>
                            <a:srgbClr val="0F1E33"/>
                          </a:solidFill>
                          <a:latin typeface="Microsoft YaHei"/>
                        </a:rPr>
                        <a:t>1,613</a:t>
                      </a:r>
                    </a:p>
                  </a:txBody>
                  <a:tcPr anchor="ctr"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 dirty="0">
                          <a:solidFill>
                            <a:srgbClr val="0F1E33"/>
                          </a:solidFill>
                          <a:latin typeface="Microsoft YaHei"/>
                        </a:rPr>
                        <a:t>1,344</a:t>
                      </a:r>
                    </a:p>
                  </a:txBody>
                  <a:tcPr anchor="ctr"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 dirty="0">
                          <a:solidFill>
                            <a:srgbClr val="0F1E33"/>
                          </a:solidFill>
                          <a:latin typeface="Microsoft YaHei"/>
                        </a:rPr>
                        <a:t>2,108</a:t>
                      </a:r>
                    </a:p>
                  </a:txBody>
                  <a:tcPr anchor="ctr">
                    <a:solidFill>
                      <a:srgbClr val="E4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260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73737"/>
            <a:ext cx="4846320" cy="384048"/>
          </a:xfrm>
          <a:prstGeom prst="rect">
            <a:avLst/>
          </a:prstGeom>
          <a:noFill/>
        </p:spPr>
        <p:txBody>
          <a:bodyPr wrap="square" lIns="0" tIns="0" rIns="36576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风险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 × </a:t>
            </a: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价值模型交叉表现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20262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11971"/>
            <a:ext cx="4389120" cy="215444"/>
          </a:xfrm>
          <a:prstGeom prst="rect">
            <a:avLst/>
          </a:prstGeom>
          <a:noFill/>
        </p:spPr>
        <p:txBody>
          <a:bodyPr wrap="square" lIns="0" tIns="0" rIns="36576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样本分布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：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约</a:t>
            </a:r>
            <a:r>
              <a:rPr lang="en-US" altLang="zh-CN" sz="1400" dirty="0"/>
              <a:t>16%</a:t>
            </a:r>
            <a:r>
              <a:rPr lang="zh-CN" altLang="en-US" sz="1400" dirty="0"/>
              <a:t>可提额，</a:t>
            </a:r>
            <a:r>
              <a:rPr lang="en-US" altLang="zh-CN" sz="1400" dirty="0"/>
              <a:t>39%</a:t>
            </a:r>
            <a:r>
              <a:rPr lang="zh-CN" altLang="en-US" sz="1400" dirty="0"/>
              <a:t>可压降</a:t>
            </a:r>
            <a:endParaRPr kumimoji="0" sz="1250" b="1" i="0" u="none" strike="noStrike" kern="1200" cap="none" spc="0" normalizeH="0" baseline="0" noProof="0" dirty="0">
              <a:ln>
                <a:noFill/>
              </a:ln>
              <a:solidFill>
                <a:srgbClr val="20262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1297692"/>
              </p:ext>
            </p:extLst>
          </p:nvPr>
        </p:nvGraphicFramePr>
        <p:xfrm>
          <a:off x="649553" y="1786002"/>
          <a:ext cx="5257800" cy="1499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crosoft YaHei"/>
                        </a:rPr>
                        <a:t>风险 \ 价值</a:t>
                      </a:r>
                    </a:p>
                  </a:txBody>
                  <a:tcPr marL="18288" marR="18288" marT="13716" marB="13716" anchor="ctr"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crosoft YaHei"/>
                        </a:rPr>
                        <a:t>价值A</a:t>
                      </a:r>
                    </a:p>
                  </a:txBody>
                  <a:tcPr marL="18288" marR="18288" marT="13716" marB="13716" anchor="ctr"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crosoft YaHei"/>
                        </a:rPr>
                        <a:t>价值B</a:t>
                      </a:r>
                    </a:p>
                  </a:txBody>
                  <a:tcPr marL="18288" marR="18288" marT="13716" marB="13716" anchor="ctr"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crosoft YaHei"/>
                        </a:rPr>
                        <a:t>价值C</a:t>
                      </a:r>
                    </a:p>
                  </a:txBody>
                  <a:tcPr marL="18288" marR="18288" marT="13716" marB="13716" anchor="ctr"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crosoft YaHei"/>
                        </a:rPr>
                        <a:t>价值D</a:t>
                      </a:r>
                    </a:p>
                  </a:txBody>
                  <a:tcPr marL="18288" marR="18288" marT="13716" marB="13716" anchor="ctr"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crosoft YaHei"/>
                        </a:rPr>
                        <a:t>价值E</a:t>
                      </a:r>
                    </a:p>
                  </a:txBody>
                  <a:tcPr marL="18288" marR="18288" marT="13716" marB="13716" anchor="ctr"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crosoft YaHei"/>
                        </a:rPr>
                        <a:t>价值F</a:t>
                      </a:r>
                    </a:p>
                  </a:txBody>
                  <a:tcPr marL="18288" marR="18288" marT="13716" marB="13716" anchor="ctr"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crosoft YaHei"/>
                        </a:rPr>
                        <a:t>价值G</a:t>
                      </a:r>
                    </a:p>
                  </a:txBody>
                  <a:tcPr marL="18288" marR="18288" marT="13716" marB="13716" anchor="ctr"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crosoft YaHei"/>
                        </a:rPr>
                        <a:t>风险总计</a:t>
                      </a:r>
                    </a:p>
                  </a:txBody>
                  <a:tcPr marL="18288" marR="18288" marT="13716" marB="13716" anchor="ctr">
                    <a:solidFill>
                      <a:srgbClr val="0F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风险A</a:t>
                      </a:r>
                    </a:p>
                  </a:txBody>
                  <a:tcPr marL="18288" marR="18288" marT="13716" marB="13716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1.69%</a:t>
                      </a:r>
                    </a:p>
                  </a:txBody>
                  <a:tcPr marL="18288" marR="18288" marT="13716" marB="13716" anchor="ctr">
                    <a:solidFill>
                      <a:srgbClr val="FFF2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1.59%</a:t>
                      </a:r>
                    </a:p>
                  </a:txBody>
                  <a:tcPr marL="18288" marR="18288" marT="13716" marB="13716" anchor="ctr">
                    <a:solidFill>
                      <a:srgbClr val="FFF2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0.44%</a:t>
                      </a:r>
                    </a:p>
                  </a:txBody>
                  <a:tcPr marL="18288" marR="18288" marT="13716" marB="13716" anchor="ctr">
                    <a:solidFill>
                      <a:srgbClr val="FFF5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1.00%</a:t>
                      </a:r>
                    </a:p>
                  </a:txBody>
                  <a:tcPr marL="18288" marR="18288" marT="13716" marB="13716" anchor="ctr">
                    <a:solidFill>
                      <a:srgbClr val="FFF4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0.20%</a:t>
                      </a:r>
                    </a:p>
                  </a:txBody>
                  <a:tcPr marL="18288" marR="18288" marT="13716" marB="13716" anchor="ctr">
                    <a:solidFill>
                      <a:srgbClr val="FFF6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0.07%</a:t>
                      </a:r>
                    </a:p>
                  </a:txBody>
                  <a:tcPr marL="18288" marR="18288" marT="13716" marB="13716" anchor="ctr">
                    <a:solidFill>
                      <a:srgbClr val="FFF6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0.01%</a:t>
                      </a:r>
                    </a:p>
                  </a:txBody>
                  <a:tcPr marL="18288" marR="18288" marT="13716" marB="13716" anchor="ctr"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 dirty="0">
                          <a:solidFill>
                            <a:srgbClr val="0F1E33"/>
                          </a:solidFill>
                          <a:latin typeface="Microsoft YaHei"/>
                        </a:rPr>
                        <a:t>5.00%</a:t>
                      </a:r>
                    </a:p>
                  </a:txBody>
                  <a:tcPr marL="18288" marR="18288" marT="13716" marB="13716" anchor="ctr">
                    <a:solidFill>
                      <a:srgbClr val="E4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风险B</a:t>
                      </a:r>
                    </a:p>
                  </a:txBody>
                  <a:tcPr marL="18288" marR="18288" marT="13716" marB="13716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2.04%</a:t>
                      </a:r>
                    </a:p>
                  </a:txBody>
                  <a:tcPr marL="18288" marR="18288" marT="13716" marB="13716" anchor="ctr">
                    <a:solidFill>
                      <a:srgbClr val="FFF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3.83%</a:t>
                      </a:r>
                    </a:p>
                  </a:txBody>
                  <a:tcPr marL="18288" marR="18288" marT="13716" marB="13716" anchor="ctr">
                    <a:solidFill>
                      <a:srgbClr val="FFECC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1.59%</a:t>
                      </a:r>
                    </a:p>
                  </a:txBody>
                  <a:tcPr marL="18288" marR="18288" marT="13716" marB="13716" anchor="ctr">
                    <a:solidFill>
                      <a:srgbClr val="FFF2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5.06%</a:t>
                      </a:r>
                    </a:p>
                  </a:txBody>
                  <a:tcPr marL="18288" marR="18288" marT="13716" marB="13716" anchor="ctr">
                    <a:solidFill>
                      <a:srgbClr val="FFE8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1.46%</a:t>
                      </a:r>
                    </a:p>
                  </a:txBody>
                  <a:tcPr marL="18288" marR="18288" marT="13716" marB="13716" anchor="ctr">
                    <a:solidFill>
                      <a:srgbClr val="FFF3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0.86%</a:t>
                      </a:r>
                    </a:p>
                  </a:txBody>
                  <a:tcPr marL="18288" marR="18288" marT="13716" marB="13716" anchor="ctr">
                    <a:solidFill>
                      <a:srgbClr val="FFF4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0.16%</a:t>
                      </a:r>
                    </a:p>
                  </a:txBody>
                  <a:tcPr marL="18288" marR="18288" marT="13716" marB="13716" anchor="ctr">
                    <a:solidFill>
                      <a:srgbClr val="FFF6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 dirty="0">
                          <a:solidFill>
                            <a:srgbClr val="0F1E33"/>
                          </a:solidFill>
                          <a:latin typeface="Microsoft YaHei"/>
                        </a:rPr>
                        <a:t>15.00%</a:t>
                      </a:r>
                    </a:p>
                  </a:txBody>
                  <a:tcPr marL="18288" marR="18288" marT="13716" marB="13716" anchor="ctr">
                    <a:solidFill>
                      <a:srgbClr val="E4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 dirty="0" err="1">
                          <a:solidFill>
                            <a:srgbClr val="0F1E33"/>
                          </a:solidFill>
                          <a:latin typeface="Microsoft YaHei"/>
                        </a:rPr>
                        <a:t>风险C</a:t>
                      </a:r>
                      <a:endParaRPr sz="600" b="1" dirty="0">
                        <a:solidFill>
                          <a:srgbClr val="0F1E33"/>
                        </a:solidFill>
                        <a:latin typeface="Microsoft YaHei"/>
                      </a:endParaRPr>
                    </a:p>
                  </a:txBody>
                  <a:tcPr marL="18288" marR="18288" marT="13716" marB="13716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0.89%</a:t>
                      </a:r>
                    </a:p>
                  </a:txBody>
                  <a:tcPr marL="18288" marR="18288" marT="13716" marB="13716" anchor="ctr">
                    <a:solidFill>
                      <a:srgbClr val="FFF4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2.71%</a:t>
                      </a:r>
                    </a:p>
                  </a:txBody>
                  <a:tcPr marL="18288" marR="18288" marT="13716" marB="13716" anchor="ctr">
                    <a:solidFill>
                      <a:srgbClr val="FFE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1.57%</a:t>
                      </a:r>
                    </a:p>
                  </a:txBody>
                  <a:tcPr marL="18288" marR="18288" marT="13716" marB="13716" anchor="ctr">
                    <a:solidFill>
                      <a:srgbClr val="FFF2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7.42%</a:t>
                      </a:r>
                    </a:p>
                  </a:txBody>
                  <a:tcPr marL="18288" marR="18288" marT="13716" marB="13716" anchor="ctr">
                    <a:solidFill>
                      <a:srgbClr val="FFE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3.38%</a:t>
                      </a:r>
                    </a:p>
                  </a:txBody>
                  <a:tcPr marL="18288" marR="18288" marT="13716" marB="13716" anchor="ctr">
                    <a:solidFill>
                      <a:srgbClr val="FFED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2.94%</a:t>
                      </a:r>
                    </a:p>
                  </a:txBody>
                  <a:tcPr marL="18288" marR="18288" marT="13716" marB="13716" anchor="ctr">
                    <a:solidFill>
                      <a:srgbClr val="FFE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1.11%</a:t>
                      </a:r>
                    </a:p>
                  </a:txBody>
                  <a:tcPr marL="18288" marR="18288" marT="13716" marB="13716" anchor="ctr">
                    <a:solidFill>
                      <a:srgbClr val="FFF3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 dirty="0">
                          <a:solidFill>
                            <a:srgbClr val="0F1E33"/>
                          </a:solidFill>
                          <a:latin typeface="Microsoft YaHei"/>
                        </a:rPr>
                        <a:t>20.00%</a:t>
                      </a:r>
                    </a:p>
                  </a:txBody>
                  <a:tcPr marL="18288" marR="18288" marT="13716" marB="13716" anchor="ctr">
                    <a:solidFill>
                      <a:srgbClr val="E4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风险D</a:t>
                      </a:r>
                    </a:p>
                  </a:txBody>
                  <a:tcPr marL="18288" marR="18288" marT="13716" marB="13716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 dirty="0">
                          <a:solidFill>
                            <a:srgbClr val="0F1E33"/>
                          </a:solidFill>
                          <a:latin typeface="Microsoft YaHei"/>
                        </a:rPr>
                        <a:t>0.18%</a:t>
                      </a:r>
                    </a:p>
                  </a:txBody>
                  <a:tcPr marL="18288" marR="18288" marT="13716" marB="13716" anchor="ctr">
                    <a:solidFill>
                      <a:srgbClr val="FFF6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0.72%</a:t>
                      </a:r>
                    </a:p>
                  </a:txBody>
                  <a:tcPr marL="18288" marR="18288" marT="13716" marB="13716" anchor="ctr">
                    <a:solidFill>
                      <a:srgbClr val="FFF5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0.48%</a:t>
                      </a:r>
                    </a:p>
                  </a:txBody>
                  <a:tcPr marL="18288" marR="18288" marT="13716" marB="13716" anchor="ctr">
                    <a:solidFill>
                      <a:srgbClr val="FFF5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3.16%</a:t>
                      </a:r>
                    </a:p>
                  </a:txBody>
                  <a:tcPr marL="18288" marR="18288" marT="13716" marB="13716" anchor="ctr">
                    <a:solidFill>
                      <a:srgbClr val="FFEE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1.97%</a:t>
                      </a:r>
                    </a:p>
                  </a:txBody>
                  <a:tcPr marL="18288" marR="18288" marT="13716" marB="13716" anchor="ctr">
                    <a:solidFill>
                      <a:srgbClr val="FFF1D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2.22%</a:t>
                      </a:r>
                    </a:p>
                  </a:txBody>
                  <a:tcPr marL="18288" marR="18288" marT="13716" marB="13716" anchor="ctr">
                    <a:solidFill>
                      <a:srgbClr val="FFF0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1.27%</a:t>
                      </a:r>
                    </a:p>
                  </a:txBody>
                  <a:tcPr marL="18288" marR="18288" marT="13716" marB="13716" anchor="ctr">
                    <a:solidFill>
                      <a:srgbClr val="FFF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 dirty="0">
                          <a:solidFill>
                            <a:srgbClr val="0F1E33"/>
                          </a:solidFill>
                          <a:latin typeface="Microsoft YaHei"/>
                        </a:rPr>
                        <a:t>10.00%</a:t>
                      </a:r>
                    </a:p>
                  </a:txBody>
                  <a:tcPr marL="18288" marR="18288" marT="13716" marB="13716" anchor="ctr">
                    <a:solidFill>
                      <a:srgbClr val="E4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风险E</a:t>
                      </a:r>
                    </a:p>
                  </a:txBody>
                  <a:tcPr marL="18288" marR="18288" marT="13716" marB="13716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0.14%</a:t>
                      </a:r>
                    </a:p>
                  </a:txBody>
                  <a:tcPr marL="18288" marR="18288" marT="13716" marB="13716" anchor="ctr">
                    <a:solidFill>
                      <a:srgbClr val="FFF6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0.71%</a:t>
                      </a:r>
                    </a:p>
                  </a:txBody>
                  <a:tcPr marL="18288" marR="18288" marT="13716" marB="13716" anchor="ctr">
                    <a:solidFill>
                      <a:srgbClr val="FFF5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0.55%</a:t>
                      </a:r>
                    </a:p>
                  </a:txBody>
                  <a:tcPr marL="18288" marR="18288" marT="13716" marB="13716" anchor="ctr">
                    <a:solidFill>
                      <a:srgbClr val="FFF5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4.34%</a:t>
                      </a:r>
                    </a:p>
                  </a:txBody>
                  <a:tcPr marL="18288" marR="18288" marT="13716" marB="13716" anchor="ctr">
                    <a:solidFill>
                      <a:srgbClr val="FFEA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3.57%</a:t>
                      </a:r>
                    </a:p>
                  </a:txBody>
                  <a:tcPr marL="18288" marR="18288" marT="13716" marB="13716" anchor="ctr">
                    <a:solidFill>
                      <a:srgbClr val="FFE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5.56%</a:t>
                      </a:r>
                    </a:p>
                  </a:txBody>
                  <a:tcPr marL="18288" marR="18288" marT="13716" marB="13716" anchor="ctr">
                    <a:solidFill>
                      <a:srgbClr val="FFE7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5.13%</a:t>
                      </a:r>
                    </a:p>
                  </a:txBody>
                  <a:tcPr marL="18288" marR="18288" marT="13716" marB="13716" anchor="ctr">
                    <a:solidFill>
                      <a:srgbClr val="FFE8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 dirty="0">
                          <a:solidFill>
                            <a:srgbClr val="0F1E33"/>
                          </a:solidFill>
                          <a:latin typeface="Microsoft YaHei"/>
                        </a:rPr>
                        <a:t>20.00%</a:t>
                      </a:r>
                    </a:p>
                  </a:txBody>
                  <a:tcPr marL="18288" marR="18288" marT="13716" marB="13716" anchor="ctr">
                    <a:solidFill>
                      <a:srgbClr val="E4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风险F</a:t>
                      </a:r>
                    </a:p>
                  </a:txBody>
                  <a:tcPr marL="18288" marR="18288" marT="13716" marB="13716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0.05%</a:t>
                      </a:r>
                    </a:p>
                  </a:txBody>
                  <a:tcPr marL="18288" marR="18288" marT="13716" marB="13716" anchor="ctr">
                    <a:solidFill>
                      <a:srgbClr val="FFF6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0.41%</a:t>
                      </a:r>
                    </a:p>
                  </a:txBody>
                  <a:tcPr marL="18288" marR="18288" marT="13716" marB="13716" anchor="ctr">
                    <a:solidFill>
                      <a:srgbClr val="FFF5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0.34%</a:t>
                      </a:r>
                    </a:p>
                  </a:txBody>
                  <a:tcPr marL="18288" marR="18288" marT="13716" marB="13716" anchor="ctr"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3.57%</a:t>
                      </a:r>
                    </a:p>
                  </a:txBody>
                  <a:tcPr marL="18288" marR="18288" marT="13716" marB="13716" anchor="ctr">
                    <a:solidFill>
                      <a:srgbClr val="FFE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3.79%</a:t>
                      </a:r>
                    </a:p>
                  </a:txBody>
                  <a:tcPr marL="18288" marR="18288" marT="13716" marB="13716" anchor="ctr">
                    <a:solidFill>
                      <a:srgbClr val="FFECC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7.07%</a:t>
                      </a:r>
                    </a:p>
                  </a:txBody>
                  <a:tcPr marL="18288" marR="18288" marT="13716" marB="13716" anchor="ctr">
                    <a:solidFill>
                      <a:srgbClr val="FFE3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9.77%</a:t>
                      </a:r>
                    </a:p>
                  </a:txBody>
                  <a:tcPr marL="18288" marR="18288" marT="13716" marB="13716" anchor="ctr">
                    <a:solidFill>
                      <a:srgbClr val="FFD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 dirty="0">
                          <a:solidFill>
                            <a:srgbClr val="0F1E33"/>
                          </a:solidFill>
                          <a:latin typeface="Microsoft YaHei"/>
                        </a:rPr>
                        <a:t>25.00%</a:t>
                      </a:r>
                    </a:p>
                  </a:txBody>
                  <a:tcPr marL="18288" marR="18288" marT="13716" marB="13716" anchor="ctr">
                    <a:solidFill>
                      <a:srgbClr val="E4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风险G</a:t>
                      </a:r>
                    </a:p>
                  </a:txBody>
                  <a:tcPr marL="18288" marR="18288" marT="13716" marB="13716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 dirty="0">
                          <a:solidFill>
                            <a:srgbClr val="0F1E33"/>
                          </a:solidFill>
                          <a:latin typeface="Microsoft YaHei"/>
                        </a:rPr>
                        <a:t>0.00%</a:t>
                      </a:r>
                    </a:p>
                  </a:txBody>
                  <a:tcPr marL="18288" marR="18288" marT="13716" marB="13716" anchor="ctr"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0.03%</a:t>
                      </a:r>
                    </a:p>
                  </a:txBody>
                  <a:tcPr marL="18288" marR="18288" marT="13716" marB="13716" anchor="ctr">
                    <a:solidFill>
                      <a:srgbClr val="FFF6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0.03%</a:t>
                      </a:r>
                    </a:p>
                  </a:txBody>
                  <a:tcPr marL="18288" marR="18288" marT="13716" marB="13716" anchor="ctr">
                    <a:solidFill>
                      <a:srgbClr val="FFF6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0.46%</a:t>
                      </a:r>
                    </a:p>
                  </a:txBody>
                  <a:tcPr marL="18288" marR="18288" marT="13716" marB="13716" anchor="ctr">
                    <a:solidFill>
                      <a:srgbClr val="FFF5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0.63%</a:t>
                      </a:r>
                    </a:p>
                  </a:txBody>
                  <a:tcPr marL="18288" marR="18288" marT="13716" marB="13716" anchor="ctr">
                    <a:solidFill>
                      <a:srgbClr val="FFF5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1.28%</a:t>
                      </a:r>
                    </a:p>
                  </a:txBody>
                  <a:tcPr marL="18288" marR="18288" marT="13716" marB="13716" anchor="ctr">
                    <a:solidFill>
                      <a:srgbClr val="FFF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2.56%</a:t>
                      </a:r>
                    </a:p>
                  </a:txBody>
                  <a:tcPr marL="18288" marR="18288" marT="13716" marB="13716" anchor="ctr">
                    <a:solidFill>
                      <a:srgbClr val="FFEF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 dirty="0">
                          <a:solidFill>
                            <a:srgbClr val="0F1E33"/>
                          </a:solidFill>
                          <a:latin typeface="Microsoft YaHei"/>
                        </a:rPr>
                        <a:t>5.00%</a:t>
                      </a:r>
                    </a:p>
                  </a:txBody>
                  <a:tcPr marL="18288" marR="18288" marT="13716" marB="13716" anchor="ctr">
                    <a:solidFill>
                      <a:srgbClr val="E4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价值总计</a:t>
                      </a:r>
                    </a:p>
                  </a:txBody>
                  <a:tcPr marL="18288" marR="18288" marT="13716" marB="13716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5.00%</a:t>
                      </a:r>
                    </a:p>
                  </a:txBody>
                  <a:tcPr marL="18288" marR="18288" marT="13716" marB="13716" anchor="ctr"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10.00%</a:t>
                      </a:r>
                    </a:p>
                  </a:txBody>
                  <a:tcPr marL="18288" marR="18288" marT="13716" marB="13716" anchor="ctr"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5.00%</a:t>
                      </a:r>
                    </a:p>
                  </a:txBody>
                  <a:tcPr marL="18288" marR="18288" marT="13716" marB="13716" anchor="ctr"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25.00%</a:t>
                      </a:r>
                    </a:p>
                  </a:txBody>
                  <a:tcPr marL="18288" marR="18288" marT="13716" marB="13716" anchor="ctr"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15.00%</a:t>
                      </a:r>
                    </a:p>
                  </a:txBody>
                  <a:tcPr marL="18288" marR="18288" marT="13716" marB="13716" anchor="ctr"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20.00%</a:t>
                      </a:r>
                    </a:p>
                  </a:txBody>
                  <a:tcPr marL="18288" marR="18288" marT="13716" marB="13716" anchor="ctr"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20.00%</a:t>
                      </a:r>
                    </a:p>
                  </a:txBody>
                  <a:tcPr marL="18288" marR="18288" marT="13716" marB="13716" anchor="ctr"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 dirty="0">
                          <a:solidFill>
                            <a:srgbClr val="0F1E33"/>
                          </a:solidFill>
                          <a:latin typeface="Microsoft YaHei"/>
                        </a:rPr>
                        <a:t>100.00%</a:t>
                      </a:r>
                    </a:p>
                  </a:txBody>
                  <a:tcPr marL="18288" marR="18288" marT="13716" marB="13716" anchor="ctr">
                    <a:solidFill>
                      <a:srgbClr val="E4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0" name="文本框 19">
            <a:extLst>
              <a:ext uri="{FF2B5EF4-FFF2-40B4-BE49-F238E27FC236}">
                <a16:creationId xmlns:a16="http://schemas.microsoft.com/office/drawing/2014/main" id="{92069266-0775-463C-8B9D-A6E8F754769A}"/>
              </a:ext>
            </a:extLst>
          </p:cNvPr>
          <p:cNvSpPr txBox="1"/>
          <p:nvPr/>
        </p:nvSpPr>
        <p:spPr>
          <a:xfrm>
            <a:off x="6355080" y="3897350"/>
            <a:ext cx="4389120" cy="215444"/>
          </a:xfrm>
          <a:prstGeom prst="rect">
            <a:avLst/>
          </a:prstGeom>
          <a:noFill/>
        </p:spPr>
        <p:txBody>
          <a:bodyPr wrap="square" lIns="0" tIns="0" rIns="36576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dirty="0"/>
              <a:t>盈余（全申请）：</a:t>
            </a:r>
            <a:r>
              <a:rPr lang="zh-CN" altLang="en-US" sz="1400" b="1" dirty="0"/>
              <a:t>高价值客群额度空间更大</a:t>
            </a:r>
            <a:endParaRPr kumimoji="0" sz="1500" b="1" i="0" u="none" strike="noStrike" kern="1200" cap="none" spc="0" normalizeH="0" baseline="0" noProof="0" dirty="0">
              <a:ln>
                <a:noFill/>
              </a:ln>
              <a:solidFill>
                <a:srgbClr val="1F2937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9D40ACD5-1CA0-48ED-944C-0156B58F4AE2}"/>
              </a:ext>
            </a:extLst>
          </p:cNvPr>
          <p:cNvSpPr txBox="1"/>
          <p:nvPr/>
        </p:nvSpPr>
        <p:spPr>
          <a:xfrm>
            <a:off x="502920" y="3897350"/>
            <a:ext cx="4389120" cy="215444"/>
          </a:xfrm>
          <a:prstGeom prst="rect">
            <a:avLst/>
          </a:prstGeom>
          <a:noFill/>
        </p:spPr>
        <p:txBody>
          <a:bodyPr wrap="square" lIns="0" tIns="0" rIns="36576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dirty="0"/>
              <a:t>完件给额率：</a:t>
            </a:r>
            <a:r>
              <a:rPr lang="zh-CN" altLang="en-US" sz="1400" b="1" dirty="0"/>
              <a:t>价值分层有望显著提升投放效率</a:t>
            </a:r>
            <a:endParaRPr kumimoji="0" sz="1250" b="1" i="0" u="none" strike="noStrike" kern="1200" cap="none" spc="0" normalizeH="0" baseline="0" noProof="0" dirty="0">
              <a:ln>
                <a:noFill/>
              </a:ln>
              <a:solidFill>
                <a:srgbClr val="20262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21" name="Table 12">
            <a:extLst>
              <a:ext uri="{FF2B5EF4-FFF2-40B4-BE49-F238E27FC236}">
                <a16:creationId xmlns:a16="http://schemas.microsoft.com/office/drawing/2014/main" id="{76D614C0-0FE4-498E-8872-6BF257415FC8}"/>
              </a:ext>
            </a:extLst>
          </p:cNvPr>
          <p:cNvGraphicFramePr>
            <a:graphicFrameLocks noGrp="1"/>
          </p:cNvGraphicFramePr>
          <p:nvPr/>
        </p:nvGraphicFramePr>
        <p:xfrm>
          <a:off x="502920" y="4754880"/>
          <a:ext cx="5257800" cy="1499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crosoft YaHei"/>
                        </a:rPr>
                        <a:t>风险 \ 价值</a:t>
                      </a:r>
                    </a:p>
                  </a:txBody>
                  <a:tcPr marL="18288" marR="18288" marT="13716" marB="13716" anchor="ctr"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crosoft YaHei"/>
                        </a:rPr>
                        <a:t>价值A</a:t>
                      </a:r>
                    </a:p>
                  </a:txBody>
                  <a:tcPr marL="18288" marR="18288" marT="13716" marB="13716" anchor="ctr"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crosoft YaHei"/>
                        </a:rPr>
                        <a:t>价值B</a:t>
                      </a:r>
                    </a:p>
                  </a:txBody>
                  <a:tcPr marL="18288" marR="18288" marT="13716" marB="13716" anchor="ctr"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crosoft YaHei"/>
                        </a:rPr>
                        <a:t>价值C</a:t>
                      </a:r>
                    </a:p>
                  </a:txBody>
                  <a:tcPr marL="18288" marR="18288" marT="13716" marB="13716" anchor="ctr"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crosoft YaHei"/>
                        </a:rPr>
                        <a:t>价值D</a:t>
                      </a:r>
                    </a:p>
                  </a:txBody>
                  <a:tcPr marL="18288" marR="18288" marT="13716" marB="13716" anchor="ctr"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crosoft YaHei"/>
                        </a:rPr>
                        <a:t>价值E</a:t>
                      </a:r>
                    </a:p>
                  </a:txBody>
                  <a:tcPr marL="18288" marR="18288" marT="13716" marB="13716" anchor="ctr"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crosoft YaHei"/>
                        </a:rPr>
                        <a:t>价值F</a:t>
                      </a:r>
                    </a:p>
                  </a:txBody>
                  <a:tcPr marL="18288" marR="18288" marT="13716" marB="13716" anchor="ctr"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crosoft YaHei"/>
                        </a:rPr>
                        <a:t>价值G</a:t>
                      </a:r>
                    </a:p>
                  </a:txBody>
                  <a:tcPr marL="18288" marR="18288" marT="13716" marB="13716" anchor="ctr"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crosoft YaHei"/>
                        </a:rPr>
                        <a:t>风险总计</a:t>
                      </a:r>
                    </a:p>
                  </a:txBody>
                  <a:tcPr marL="18288" marR="18288" marT="13716" marB="13716" anchor="ctr">
                    <a:solidFill>
                      <a:srgbClr val="0F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风险A</a:t>
                      </a:r>
                    </a:p>
                  </a:txBody>
                  <a:tcPr marL="18288" marR="18288" marT="13716" marB="13716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 dirty="0">
                          <a:solidFill>
                            <a:srgbClr val="0F1E33"/>
                          </a:solidFill>
                          <a:latin typeface="Microsoft YaHei"/>
                        </a:rPr>
                        <a:t>41.29%</a:t>
                      </a:r>
                    </a:p>
                  </a:txBody>
                  <a:tcPr marL="18288" marR="18288" marT="13716" marB="13716" anchor="ctr">
                    <a:solidFill>
                      <a:srgbClr val="ABC9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30.10%</a:t>
                      </a:r>
                    </a:p>
                  </a:txBody>
                  <a:tcPr marL="18288" marR="18288" marT="13716" marB="13716" anchor="ctr">
                    <a:solidFill>
                      <a:srgbClr val="BDD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24.45%</a:t>
                      </a:r>
                    </a:p>
                  </a:txBody>
                  <a:tcPr marL="18288" marR="18288" marT="13716" marB="13716" anchor="ctr">
                    <a:solidFill>
                      <a:srgbClr val="C6D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16.05%</a:t>
                      </a:r>
                    </a:p>
                  </a:txBody>
                  <a:tcPr marL="18288" marR="18288" marT="13716" marB="13716" anchor="ctr">
                    <a:solidFill>
                      <a:srgbClr val="D3E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3.45%</a:t>
                      </a:r>
                    </a:p>
                  </a:txBody>
                  <a:tcPr marL="18288" marR="18288" marT="13716" marB="13716" anchor="ctr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3.19%</a:t>
                      </a:r>
                    </a:p>
                  </a:txBody>
                  <a:tcPr marL="18288" marR="18288" marT="13716" marB="13716" anchor="ctr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18288" marR="18288" marT="13716" marB="13716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29.11%</a:t>
                      </a:r>
                    </a:p>
                  </a:txBody>
                  <a:tcPr marL="18288" marR="18288" marT="13716" marB="13716" anchor="ctr">
                    <a:solidFill>
                      <a:srgbClr val="E4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风险B</a:t>
                      </a:r>
                    </a:p>
                  </a:txBody>
                  <a:tcPr marL="18288" marR="18288" marT="13716" marB="13716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38.76%</a:t>
                      </a:r>
                    </a:p>
                  </a:txBody>
                  <a:tcPr marL="18288" marR="18288" marT="13716" marB="13716" anchor="ctr">
                    <a:solidFill>
                      <a:srgbClr val="AFCC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30.76%</a:t>
                      </a:r>
                    </a:p>
                  </a:txBody>
                  <a:tcPr marL="18288" marR="18288" marT="13716" marB="13716" anchor="ctr">
                    <a:solidFill>
                      <a:srgbClr val="BCD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26.19%</a:t>
                      </a:r>
                    </a:p>
                  </a:txBody>
                  <a:tcPr marL="18288" marR="18288" marT="13716" marB="13716" anchor="ctr">
                    <a:solidFill>
                      <a:srgbClr val="C3D9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19.30%</a:t>
                      </a:r>
                    </a:p>
                  </a:txBody>
                  <a:tcPr marL="18288" marR="18288" marT="13716" marB="13716" anchor="ctr">
                    <a:solidFill>
                      <a:srgbClr val="CEE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8.57%</a:t>
                      </a:r>
                    </a:p>
                  </a:txBody>
                  <a:tcPr marL="18288" marR="18288" marT="13716" marB="13716" anchor="ctr">
                    <a:solidFill>
                      <a:srgbClr val="E0EB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3.16%</a:t>
                      </a:r>
                    </a:p>
                  </a:txBody>
                  <a:tcPr marL="18288" marR="18288" marT="13716" marB="13716" anchor="ctr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1.37%</a:t>
                      </a:r>
                    </a:p>
                  </a:txBody>
                  <a:tcPr marL="18288" marR="18288" marT="13716" marB="13716" anchor="ctr">
                    <a:solidFill>
                      <a:srgbClr val="EBF2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23.45%</a:t>
                      </a:r>
                    </a:p>
                  </a:txBody>
                  <a:tcPr marL="18288" marR="18288" marT="13716" marB="13716" anchor="ctr">
                    <a:solidFill>
                      <a:srgbClr val="E4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风险C</a:t>
                      </a:r>
                    </a:p>
                  </a:txBody>
                  <a:tcPr marL="18288" marR="18288" marT="13716" marB="13716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37.42%</a:t>
                      </a:r>
                    </a:p>
                  </a:txBody>
                  <a:tcPr marL="18288" marR="18288" marT="13716" marB="13716" anchor="ctr">
                    <a:solidFill>
                      <a:srgbClr val="B1CD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32.21%</a:t>
                      </a:r>
                    </a:p>
                  </a:txBody>
                  <a:tcPr marL="18288" marR="18288" marT="13716" marB="13716" anchor="ctr">
                    <a:solidFill>
                      <a:srgbClr val="B9D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 dirty="0">
                          <a:solidFill>
                            <a:srgbClr val="0F1E33"/>
                          </a:solidFill>
                          <a:latin typeface="Microsoft YaHei"/>
                        </a:rPr>
                        <a:t>27.30%</a:t>
                      </a:r>
                    </a:p>
                  </a:txBody>
                  <a:tcPr marL="18288" marR="18288" marT="13716" marB="13716" anchor="ctr">
                    <a:solidFill>
                      <a:srgbClr val="C1D7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21.33%</a:t>
                      </a:r>
                    </a:p>
                  </a:txBody>
                  <a:tcPr marL="18288" marR="18288" marT="13716" marB="13716" anchor="ctr">
                    <a:solidFill>
                      <a:srgbClr val="CBDE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10.94%</a:t>
                      </a:r>
                    </a:p>
                  </a:txBody>
                  <a:tcPr marL="18288" marR="18288" marT="13716" marB="13716" anchor="ctr">
                    <a:solidFill>
                      <a:srgbClr val="DCE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4.40%</a:t>
                      </a:r>
                    </a:p>
                  </a:txBody>
                  <a:tcPr marL="18288" marR="18288" marT="13716" marB="13716" anchor="ctr">
                    <a:solidFill>
                      <a:srgbClr val="E6EF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1.33%</a:t>
                      </a:r>
                    </a:p>
                  </a:txBody>
                  <a:tcPr marL="18288" marR="18288" marT="13716" marB="13716" anchor="ctr">
                    <a:solidFill>
                      <a:srgbClr val="EBF2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18.63%</a:t>
                      </a:r>
                    </a:p>
                  </a:txBody>
                  <a:tcPr marL="18288" marR="18288" marT="13716" marB="13716" anchor="ctr">
                    <a:solidFill>
                      <a:srgbClr val="E4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风险D</a:t>
                      </a:r>
                    </a:p>
                  </a:txBody>
                  <a:tcPr marL="18288" marR="18288" marT="13716" marB="13716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38.55%</a:t>
                      </a:r>
                    </a:p>
                  </a:txBody>
                  <a:tcPr marL="18288" marR="18288" marT="13716" marB="13716" anchor="ctr">
                    <a:solidFill>
                      <a:srgbClr val="AFCC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31.15%</a:t>
                      </a:r>
                    </a:p>
                  </a:txBody>
                  <a:tcPr marL="18288" marR="18288" marT="13716" marB="13716" anchor="ctr">
                    <a:solidFill>
                      <a:srgbClr val="BBD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 dirty="0">
                          <a:solidFill>
                            <a:srgbClr val="0F1E33"/>
                          </a:solidFill>
                          <a:latin typeface="Microsoft YaHei"/>
                        </a:rPr>
                        <a:t>27.84%</a:t>
                      </a:r>
                    </a:p>
                  </a:txBody>
                  <a:tcPr marL="18288" marR="18288" marT="13716" marB="13716" anchor="ctr">
                    <a:solidFill>
                      <a:srgbClr val="C0D7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21.11%</a:t>
                      </a:r>
                    </a:p>
                  </a:txBody>
                  <a:tcPr marL="18288" marR="18288" marT="13716" marB="13716" anchor="ctr">
                    <a:solidFill>
                      <a:srgbClr val="CBDE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11.45%</a:t>
                      </a:r>
                    </a:p>
                  </a:txBody>
                  <a:tcPr marL="18288" marR="18288" marT="13716" marB="13716" anchor="ctr">
                    <a:solidFill>
                      <a:srgbClr val="DBE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4.91%</a:t>
                      </a:r>
                    </a:p>
                  </a:txBody>
                  <a:tcPr marL="18288" marR="18288" marT="13716" marB="13716" anchor="ctr">
                    <a:solidFill>
                      <a:srgbClr val="E6EF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1.57%</a:t>
                      </a:r>
                    </a:p>
                  </a:txBody>
                  <a:tcPr marL="18288" marR="18288" marT="13716" marB="13716" anchor="ctr">
                    <a:solidFill>
                      <a:srgbClr val="EBF2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14.48%</a:t>
                      </a:r>
                    </a:p>
                  </a:txBody>
                  <a:tcPr marL="18288" marR="18288" marT="13716" marB="13716" anchor="ctr">
                    <a:solidFill>
                      <a:srgbClr val="E4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风险E</a:t>
                      </a:r>
                    </a:p>
                  </a:txBody>
                  <a:tcPr marL="18288" marR="18288" marT="13716" marB="13716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35.42%</a:t>
                      </a:r>
                    </a:p>
                  </a:txBody>
                  <a:tcPr marL="18288" marR="18288" marT="13716" marB="13716" anchor="ctr">
                    <a:solidFill>
                      <a:srgbClr val="B4CF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31.22%</a:t>
                      </a:r>
                    </a:p>
                  </a:txBody>
                  <a:tcPr marL="18288" marR="18288" marT="13716" marB="13716" anchor="ctr">
                    <a:solidFill>
                      <a:srgbClr val="BBD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 dirty="0">
                          <a:solidFill>
                            <a:srgbClr val="0F1E33"/>
                          </a:solidFill>
                          <a:latin typeface="Microsoft YaHei"/>
                        </a:rPr>
                        <a:t>25.88%</a:t>
                      </a:r>
                    </a:p>
                  </a:txBody>
                  <a:tcPr marL="18288" marR="18288" marT="13716" marB="13716" anchor="ctr">
                    <a:solidFill>
                      <a:srgbClr val="C3D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18.89%</a:t>
                      </a:r>
                    </a:p>
                  </a:txBody>
                  <a:tcPr marL="18288" marR="18288" marT="13716" marB="13716" anchor="ctr">
                    <a:solidFill>
                      <a:srgbClr val="CFE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11.00%</a:t>
                      </a:r>
                    </a:p>
                  </a:txBody>
                  <a:tcPr marL="18288" marR="18288" marT="13716" marB="13716" anchor="ctr">
                    <a:solidFill>
                      <a:srgbClr val="DCE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4.59%</a:t>
                      </a:r>
                    </a:p>
                  </a:txBody>
                  <a:tcPr marL="18288" marR="18288" marT="13716" marB="13716" anchor="ctr">
                    <a:solidFill>
                      <a:srgbClr val="E6EF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1.16%</a:t>
                      </a:r>
                    </a:p>
                  </a:txBody>
                  <a:tcPr marL="18288" marR="18288" marT="13716" marB="13716" anchor="ctr">
                    <a:solidFill>
                      <a:srgbClr val="ECF2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9.71%</a:t>
                      </a:r>
                    </a:p>
                  </a:txBody>
                  <a:tcPr marL="18288" marR="18288" marT="13716" marB="13716" anchor="ctr">
                    <a:solidFill>
                      <a:srgbClr val="E4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风险F</a:t>
                      </a:r>
                    </a:p>
                  </a:txBody>
                  <a:tcPr marL="18288" marR="18288" marT="13716" marB="13716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30.49%</a:t>
                      </a:r>
                    </a:p>
                  </a:txBody>
                  <a:tcPr marL="18288" marR="18288" marT="13716" marB="13716" anchor="ctr">
                    <a:solidFill>
                      <a:srgbClr val="BCD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26.88%</a:t>
                      </a:r>
                    </a:p>
                  </a:txBody>
                  <a:tcPr marL="18288" marR="18288" marT="13716" marB="13716" anchor="ctr">
                    <a:solidFill>
                      <a:srgbClr val="C2D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 dirty="0">
                          <a:solidFill>
                            <a:srgbClr val="0F1E33"/>
                          </a:solidFill>
                          <a:latin typeface="Microsoft YaHei"/>
                        </a:rPr>
                        <a:t>22.25%</a:t>
                      </a:r>
                    </a:p>
                  </a:txBody>
                  <a:tcPr marL="18288" marR="18288" marT="13716" marB="13716" anchor="ctr">
                    <a:solidFill>
                      <a:srgbClr val="C9DD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15.46%</a:t>
                      </a:r>
                    </a:p>
                  </a:txBody>
                  <a:tcPr marL="18288" marR="18288" marT="13716" marB="13716" anchor="ctr">
                    <a:solidFill>
                      <a:srgbClr val="D4E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10.47%</a:t>
                      </a:r>
                    </a:p>
                  </a:txBody>
                  <a:tcPr marL="18288" marR="18288" marT="13716" marB="13716" anchor="ctr">
                    <a:solidFill>
                      <a:srgbClr val="DCE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5.48%</a:t>
                      </a:r>
                    </a:p>
                  </a:txBody>
                  <a:tcPr marL="18288" marR="18288" marT="13716" marB="13716" anchor="ctr">
                    <a:solidFill>
                      <a:srgbClr val="E5E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1.75%</a:t>
                      </a:r>
                    </a:p>
                  </a:txBody>
                  <a:tcPr marL="18288" marR="18288" marT="13716" marB="13716" anchor="ctr">
                    <a:solidFill>
                      <a:srgbClr val="EBF2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6.84%</a:t>
                      </a:r>
                    </a:p>
                  </a:txBody>
                  <a:tcPr marL="18288" marR="18288" marT="13716" marB="13716" anchor="ctr">
                    <a:solidFill>
                      <a:srgbClr val="E4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风险G</a:t>
                      </a:r>
                    </a:p>
                  </a:txBody>
                  <a:tcPr marL="18288" marR="18288" marT="13716" marB="13716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18288" marR="18288" marT="13716" marB="13716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23.13%</a:t>
                      </a:r>
                    </a:p>
                  </a:txBody>
                  <a:tcPr marL="18288" marR="18288" marT="13716" marB="13716" anchor="ctr">
                    <a:solidFill>
                      <a:srgbClr val="C8DC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 dirty="0">
                          <a:solidFill>
                            <a:srgbClr val="0F1E33"/>
                          </a:solidFill>
                          <a:latin typeface="Microsoft YaHei"/>
                        </a:rPr>
                        <a:t>19.26%</a:t>
                      </a:r>
                    </a:p>
                  </a:txBody>
                  <a:tcPr marL="18288" marR="18288" marT="13716" marB="13716" anchor="ctr">
                    <a:solidFill>
                      <a:srgbClr val="CEE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10.90%</a:t>
                      </a:r>
                    </a:p>
                  </a:txBody>
                  <a:tcPr marL="18288" marR="18288" marT="13716" marB="13716" anchor="ctr">
                    <a:solidFill>
                      <a:srgbClr val="DCE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9.55%</a:t>
                      </a:r>
                    </a:p>
                  </a:txBody>
                  <a:tcPr marL="18288" marR="18288" marT="13716" marB="13716" anchor="ctr">
                    <a:solidFill>
                      <a:srgbClr val="DEE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6.45%</a:t>
                      </a:r>
                    </a:p>
                  </a:txBody>
                  <a:tcPr marL="18288" marR="18288" marT="13716" marB="13716" anchor="ctr">
                    <a:solidFill>
                      <a:srgbClr val="E3E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2.86%</a:t>
                      </a:r>
                    </a:p>
                  </a:txBody>
                  <a:tcPr marL="18288" marR="18288" marT="13716" marB="13716" anchor="ctr">
                    <a:solidFill>
                      <a:srgbClr val="E9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5.60%</a:t>
                      </a:r>
                    </a:p>
                  </a:txBody>
                  <a:tcPr marL="18288" marR="18288" marT="13716" marB="13716" anchor="ctr">
                    <a:solidFill>
                      <a:srgbClr val="E4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价值总计</a:t>
                      </a:r>
                    </a:p>
                  </a:txBody>
                  <a:tcPr marL="18288" marR="18288" marT="13716" marB="13716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39.17%</a:t>
                      </a:r>
                    </a:p>
                  </a:txBody>
                  <a:tcPr marL="18288" marR="18288" marT="13716" marB="13716" anchor="ctr"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30.93%</a:t>
                      </a:r>
                    </a:p>
                  </a:txBody>
                  <a:tcPr marL="18288" marR="18288" marT="13716" marB="13716" anchor="ctr"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26.20%</a:t>
                      </a:r>
                    </a:p>
                  </a:txBody>
                  <a:tcPr marL="18288" marR="18288" marT="13716" marB="13716" anchor="ctr"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19.23%</a:t>
                      </a:r>
                    </a:p>
                  </a:txBody>
                  <a:tcPr marL="18288" marR="18288" marT="13716" marB="13716" anchor="ctr"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10.52%</a:t>
                      </a:r>
                    </a:p>
                  </a:txBody>
                  <a:tcPr marL="18288" marR="18288" marT="13716" marB="13716" anchor="ctr"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4.97%</a:t>
                      </a:r>
                    </a:p>
                  </a:txBody>
                  <a:tcPr marL="18288" marR="18288" marT="13716" marB="13716" anchor="ctr"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1.70%</a:t>
                      </a:r>
                    </a:p>
                  </a:txBody>
                  <a:tcPr marL="18288" marR="18288" marT="13716" marB="13716" anchor="ctr"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 dirty="0">
                          <a:solidFill>
                            <a:srgbClr val="0F1E33"/>
                          </a:solidFill>
                          <a:latin typeface="Microsoft YaHei"/>
                        </a:rPr>
                        <a:t>14.08%</a:t>
                      </a:r>
                    </a:p>
                  </a:txBody>
                  <a:tcPr marL="18288" marR="18288" marT="13716" marB="13716" anchor="ctr">
                    <a:solidFill>
                      <a:srgbClr val="E4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" name="文本框 21">
            <a:extLst>
              <a:ext uri="{FF2B5EF4-FFF2-40B4-BE49-F238E27FC236}">
                <a16:creationId xmlns:a16="http://schemas.microsoft.com/office/drawing/2014/main" id="{73C3B485-8010-457A-A6E4-8A0FAF2628C5}"/>
              </a:ext>
            </a:extLst>
          </p:cNvPr>
          <p:cNvSpPr txBox="1"/>
          <p:nvPr/>
        </p:nvSpPr>
        <p:spPr>
          <a:xfrm>
            <a:off x="649553" y="1566546"/>
            <a:ext cx="914400" cy="201168"/>
          </a:xfrm>
          <a:prstGeom prst="rect">
            <a:avLst/>
          </a:prstGeom>
          <a:noFill/>
        </p:spPr>
        <p:txBody>
          <a:bodyPr wrap="square" lIns="0" tIns="0" rIns="36576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样本占比</a:t>
            </a:r>
            <a:endParaRPr kumimoji="0" sz="900" b="1" i="0" u="none" strike="noStrike" kern="1200" cap="none" spc="0" normalizeH="0" baseline="0" noProof="0" dirty="0">
              <a:ln>
                <a:noFill/>
              </a:ln>
              <a:solidFill>
                <a:srgbClr val="15243A"/>
              </a:solidFill>
              <a:effectLst/>
              <a:uLnTx/>
              <a:uFillTx/>
              <a:latin typeface="Microsoft YaHei"/>
              <a:ea typeface="微软雅黑"/>
              <a:cs typeface="+mn-c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49553" y="1017906"/>
            <a:ext cx="5257800" cy="429768"/>
          </a:xfrm>
          <a:prstGeom prst="roundRect">
            <a:avLst>
              <a:gd name="adj" fmla="val 13000"/>
            </a:avLst>
          </a:prstGeom>
          <a:solidFill>
            <a:srgbClr val="F8FBFF"/>
          </a:solidFill>
          <a:ln w="762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80" b="1" i="0" u="none" strike="noStrike" kern="1200" cap="none" spc="0" normalizeH="0" baseline="0" noProof="0" dirty="0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• </a:t>
            </a:r>
            <a:r>
              <a:rPr kumimoji="0" sz="780" b="1" i="0" u="none" strike="noStrike" kern="1200" cap="none" spc="0" normalizeH="0" baseline="0" noProof="0" dirty="0" err="1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提额潜力：</a:t>
            </a:r>
            <a:r>
              <a:rPr kumimoji="0" sz="780" b="0" i="0" u="none" strike="noStrike" kern="1200" cap="none" spc="0" normalizeH="0" baseline="0" noProof="0" dirty="0" err="1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约</a:t>
            </a:r>
            <a:r>
              <a:rPr kumimoji="0" sz="780" b="0" i="0" u="none" strike="noStrike" kern="1200" cap="none" spc="0" normalizeH="0" baseline="0" noProof="0" dirty="0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 16% </a:t>
            </a:r>
            <a:r>
              <a:rPr kumimoji="0" sz="780" b="0" i="0" u="none" strike="noStrike" kern="1200" cap="none" spc="0" normalizeH="0" baseline="0" noProof="0" dirty="0" err="1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用户集中在「高价值</a:t>
            </a:r>
            <a:r>
              <a:rPr kumimoji="0" sz="780" b="0" i="0" u="none" strike="noStrike" kern="1200" cap="none" spc="0" normalizeH="0" baseline="0" noProof="0" dirty="0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 A–C × </a:t>
            </a:r>
            <a:r>
              <a:rPr kumimoji="0" sz="780" b="0" i="0" u="none" strike="noStrike" kern="1200" cap="none" spc="0" normalizeH="0" baseline="0" noProof="0" dirty="0" err="1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低风险</a:t>
            </a:r>
            <a:r>
              <a:rPr kumimoji="0" sz="780" b="0" i="0" u="none" strike="noStrike" kern="1200" cap="none" spc="0" normalizeH="0" baseline="0" noProof="0" dirty="0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 A–C」，</a:t>
            </a:r>
            <a:r>
              <a:rPr kumimoji="0" sz="780" b="0" i="0" u="none" strike="noStrike" kern="1200" cap="none" spc="0" normalizeH="0" baseline="0" noProof="0" dirty="0" err="1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可作为优先提额客群</a:t>
            </a:r>
            <a:r>
              <a:rPr kumimoji="0" sz="780" b="0" i="0" u="none" strike="noStrike" kern="1200" cap="none" spc="0" normalizeH="0" baseline="0" noProof="0" dirty="0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。</a:t>
            </a:r>
            <a:endParaRPr kumimoji="0" lang="en-US" altLang="zh-CN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80" b="1" i="0" u="none" strike="noStrike" kern="1200" cap="none" spc="0" normalizeH="0" baseline="0" noProof="0" dirty="0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• </a:t>
            </a:r>
            <a:r>
              <a:rPr kumimoji="0" sz="780" b="1" i="0" u="none" strike="noStrike" kern="1200" cap="none" spc="0" normalizeH="0" baseline="0" noProof="0" dirty="0" err="1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风险压降：</a:t>
            </a:r>
            <a:r>
              <a:rPr kumimoji="0" sz="780" b="0" i="0" u="none" strike="noStrike" kern="1200" cap="none" spc="0" normalizeH="0" baseline="0" noProof="0" dirty="0" err="1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约</a:t>
            </a:r>
            <a:r>
              <a:rPr kumimoji="0" sz="780" b="0" i="0" u="none" strike="noStrike" kern="1200" cap="none" spc="0" normalizeH="0" baseline="0" noProof="0" dirty="0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 39% </a:t>
            </a:r>
            <a:r>
              <a:rPr kumimoji="0" sz="780" b="0" i="0" u="none" strike="noStrike" kern="1200" cap="none" spc="0" normalizeH="0" baseline="0" noProof="0" dirty="0" err="1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用户集中在「低价值</a:t>
            </a:r>
            <a:r>
              <a:rPr kumimoji="0" sz="780" b="0" i="0" u="none" strike="noStrike" kern="1200" cap="none" spc="0" normalizeH="0" baseline="0" noProof="0" dirty="0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 E–G × </a:t>
            </a:r>
            <a:r>
              <a:rPr kumimoji="0" sz="780" b="0" i="0" u="none" strike="noStrike" kern="1200" cap="none" spc="0" normalizeH="0" baseline="0" noProof="0" dirty="0" err="1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高风险</a:t>
            </a:r>
            <a:r>
              <a:rPr kumimoji="0" sz="780" b="0" i="0" u="none" strike="noStrike" kern="1200" cap="none" spc="0" normalizeH="0" baseline="0" noProof="0" dirty="0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 E–G」，</a:t>
            </a:r>
            <a:r>
              <a:rPr kumimoji="0" sz="780" b="0" i="0" u="none" strike="noStrike" kern="1200" cap="none" spc="0" normalizeH="0" baseline="0" noProof="0" dirty="0" err="1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具备较大压降空间</a:t>
            </a:r>
            <a:r>
              <a:rPr kumimoji="0" sz="780" b="0" i="0" u="none" strike="noStrike" kern="1200" cap="none" spc="0" normalizeH="0" baseline="0" noProof="0" dirty="0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169663"/>
            <a:ext cx="5257800" cy="475488"/>
          </a:xfrm>
          <a:prstGeom prst="roundRect">
            <a:avLst>
              <a:gd name="adj" fmla="val 13000"/>
            </a:avLst>
          </a:prstGeom>
          <a:solidFill>
            <a:srgbClr val="F8FBFF"/>
          </a:solidFill>
          <a:ln w="762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60" b="1" i="0" u="none" strike="noStrike" kern="1200" cap="none" spc="0" normalizeH="0" baseline="0" noProof="0" dirty="0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• </a:t>
            </a:r>
            <a:r>
              <a:rPr kumimoji="0" sz="760" b="1" i="0" u="none" strike="noStrike" kern="1200" cap="none" spc="0" normalizeH="0" baseline="0" noProof="0" dirty="0" err="1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交叉价值后，通过率明显提升：</a:t>
            </a:r>
            <a:r>
              <a:rPr kumimoji="0" sz="760" b="0" i="0" u="none" strike="noStrike" kern="1200" cap="none" spc="0" normalizeH="0" baseline="0" noProof="0" dirty="0" err="1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价值</a:t>
            </a:r>
            <a:r>
              <a:rPr kumimoji="0" sz="760" b="0" i="0" u="none" strike="noStrike" kern="1200" cap="none" spc="0" normalizeH="0" baseline="0" noProof="0" dirty="0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 A–C </a:t>
            </a:r>
            <a:r>
              <a:rPr kumimoji="0" sz="760" b="0" i="0" u="none" strike="noStrike" kern="1200" cap="none" spc="0" normalizeH="0" baseline="0" noProof="0" dirty="0" err="1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整体</a:t>
            </a:r>
            <a:r>
              <a:rPr kumimoji="0" sz="760" b="0" i="0" u="none" strike="noStrike" kern="1200" cap="none" spc="0" normalizeH="0" baseline="0" noProof="0" dirty="0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 26%–39%，</a:t>
            </a:r>
            <a:r>
              <a:rPr kumimoji="0" sz="760" b="0" i="0" u="none" strike="noStrike" kern="1200" cap="none" spc="0" normalizeH="0" baseline="0" noProof="0" dirty="0" err="1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高于大盘</a:t>
            </a:r>
            <a:r>
              <a:rPr kumimoji="0" sz="760" b="0" i="0" u="none" strike="noStrike" kern="1200" cap="none" spc="0" normalizeH="0" baseline="0" noProof="0" dirty="0">
                <a:ln>
                  <a:noFill/>
                </a:ln>
                <a:solidFill>
                  <a:srgbClr val="15243A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 14%。</a:t>
            </a:r>
            <a:r>
              <a:rPr lang="zh-CN" altLang="en-US" sz="760" dirty="0">
                <a:solidFill>
                  <a:srgbClr val="15243A"/>
                </a:solidFill>
                <a:latin typeface="Microsoft YaHei"/>
                <a:ea typeface="微软雅黑"/>
              </a:rPr>
              <a:t>高于风险</a:t>
            </a:r>
            <a:r>
              <a:rPr lang="en-US" altLang="zh-CN" sz="760" dirty="0">
                <a:solidFill>
                  <a:srgbClr val="15243A"/>
                </a:solidFill>
                <a:latin typeface="Microsoft YaHei"/>
                <a:ea typeface="微软雅黑"/>
              </a:rPr>
              <a:t>A 29.11%</a:t>
            </a:r>
            <a:endParaRPr kumimoji="0" lang="en-US" altLang="zh-CN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AutoShape 2" descr="已生成图片：价值风险矩阵数据表">
            <a:extLst>
              <a:ext uri="{FF2B5EF4-FFF2-40B4-BE49-F238E27FC236}">
                <a16:creationId xmlns:a16="http://schemas.microsoft.com/office/drawing/2014/main" id="{586397A9-2B7F-47FD-A69B-A5C22B484B7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41566" y="11804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" name="Rounded Rectangle 25">
            <a:extLst>
              <a:ext uri="{FF2B5EF4-FFF2-40B4-BE49-F238E27FC236}">
                <a16:creationId xmlns:a16="http://schemas.microsoft.com/office/drawing/2014/main" id="{B8E9B9B6-4D3C-4D1C-9EA6-577DF7219CCB}"/>
              </a:ext>
            </a:extLst>
          </p:cNvPr>
          <p:cNvSpPr/>
          <p:nvPr/>
        </p:nvSpPr>
        <p:spPr>
          <a:xfrm>
            <a:off x="6351272" y="4212573"/>
            <a:ext cx="5257800" cy="475488"/>
          </a:xfrm>
          <a:prstGeom prst="roundRect">
            <a:avLst>
              <a:gd name="adj" fmla="val 13000"/>
            </a:avLst>
          </a:prstGeom>
          <a:solidFill>
            <a:srgbClr val="F8FBFF"/>
          </a:solidFill>
          <a:ln w="762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60" b="0" i="0" u="none" strike="noStrike" kern="1200" cap="none" spc="0" normalizeH="0" baseline="0" noProof="0" dirty="0">
              <a:ln>
                <a:noFill/>
              </a:ln>
              <a:solidFill>
                <a:srgbClr val="15243A"/>
              </a:solidFill>
              <a:effectLst/>
              <a:uLnTx/>
              <a:uFillTx/>
              <a:latin typeface="Microsoft YaHei"/>
              <a:ea typeface="微软雅黑"/>
              <a:cs typeface="+mn-cs"/>
            </a:endParaRPr>
          </a:p>
        </p:txBody>
      </p:sp>
      <p:sp>
        <p:nvSpPr>
          <p:cNvPr id="23" name="Rounded Rectangle 25">
            <a:extLst>
              <a:ext uri="{FF2B5EF4-FFF2-40B4-BE49-F238E27FC236}">
                <a16:creationId xmlns:a16="http://schemas.microsoft.com/office/drawing/2014/main" id="{BC0E8C80-5A53-4ED0-9759-77544DC63071}"/>
              </a:ext>
            </a:extLst>
          </p:cNvPr>
          <p:cNvSpPr/>
          <p:nvPr/>
        </p:nvSpPr>
        <p:spPr>
          <a:xfrm>
            <a:off x="6355080" y="4169663"/>
            <a:ext cx="5257800" cy="475488"/>
          </a:xfrm>
          <a:prstGeom prst="roundRect">
            <a:avLst>
              <a:gd name="adj" fmla="val 13000"/>
            </a:avLst>
          </a:prstGeom>
          <a:solidFill>
            <a:srgbClr val="F7FAFD"/>
          </a:solidFill>
          <a:ln w="8890">
            <a:solidFill>
              <a:srgbClr val="CF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4008" rIns="100584" bIns="36576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sz="700" b="0" dirty="0">
              <a:solidFill>
                <a:srgbClr val="122032"/>
              </a:solidFill>
              <a:latin typeface="Microsoft YaHe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515080" y="4393378"/>
            <a:ext cx="2707472" cy="1138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100"/>
              </a:spcAft>
              <a:defRPr sz="740" b="1">
                <a:solidFill>
                  <a:srgbClr val="0F1E33"/>
                </a:solidFill>
                <a:latin typeface="Microsoft YaHei"/>
              </a:defRPr>
            </a:pPr>
            <a:r>
              <a:rPr dirty="0"/>
              <a:t>•</a:t>
            </a:r>
            <a:r>
              <a:rPr lang="zh-CN" altLang="en-US" b="1" dirty="0"/>
              <a:t>价值分层显著：</a:t>
            </a:r>
            <a:r>
              <a:rPr lang="zh-CN" altLang="en-US" dirty="0"/>
              <a:t> 价值</a:t>
            </a:r>
            <a:r>
              <a:rPr lang="en-US" altLang="zh-CN" dirty="0"/>
              <a:t>A</a:t>
            </a:r>
            <a:r>
              <a:rPr lang="zh-CN" altLang="en-US" dirty="0"/>
              <a:t>盈余 </a:t>
            </a:r>
            <a:r>
              <a:rPr lang="en-US" altLang="zh-CN" b="1" dirty="0"/>
              <a:t>4,471</a:t>
            </a:r>
            <a:r>
              <a:rPr lang="zh-CN" altLang="en-US" dirty="0"/>
              <a:t>，为风险</a:t>
            </a:r>
            <a:r>
              <a:rPr lang="en-US" altLang="zh-CN" dirty="0"/>
              <a:t>A</a:t>
            </a:r>
            <a:r>
              <a:rPr lang="zh-CN" altLang="en-US" dirty="0"/>
              <a:t>的</a:t>
            </a:r>
            <a:r>
              <a:rPr lang="en-US" altLang="zh-CN" dirty="0"/>
              <a:t> </a:t>
            </a:r>
            <a:r>
              <a:rPr lang="en-US" altLang="zh-CN" b="1" dirty="0"/>
              <a:t>1,753</a:t>
            </a:r>
            <a:r>
              <a:rPr lang="zh-CN" altLang="en-US" dirty="0"/>
              <a:t> 的 </a:t>
            </a:r>
            <a:r>
              <a:rPr lang="en-US" altLang="zh-CN" b="1" dirty="0"/>
              <a:t>3.3</a:t>
            </a:r>
            <a:r>
              <a:rPr lang="zh-CN" altLang="en-US" b="1" dirty="0"/>
              <a:t>倍</a:t>
            </a:r>
            <a:endParaRPr lang="en-US" altLang="zh-CN" b="1" dirty="0"/>
          </a:p>
        </p:txBody>
      </p:sp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9641202"/>
              </p:ext>
            </p:extLst>
          </p:nvPr>
        </p:nvGraphicFramePr>
        <p:xfrm>
          <a:off x="6296525" y="4212573"/>
          <a:ext cx="5757752" cy="2324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0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0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83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32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08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08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08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083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084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7844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crosoft YaHei"/>
                        </a:rPr>
                        <a:t>风险 \ 价值</a:t>
                      </a:r>
                    </a:p>
                  </a:txBody>
                  <a:tcPr anchor="ctr"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crosoft YaHei"/>
                        </a:rPr>
                        <a:t>价值A</a:t>
                      </a:r>
                    </a:p>
                  </a:txBody>
                  <a:tcPr anchor="ctr"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 dirty="0" err="1">
                          <a:solidFill>
                            <a:srgbClr val="FFFFFF"/>
                          </a:solidFill>
                          <a:latin typeface="Microsoft YaHei"/>
                        </a:rPr>
                        <a:t>价值B</a:t>
                      </a:r>
                      <a:endParaRPr sz="600" b="1" dirty="0">
                        <a:solidFill>
                          <a:srgbClr val="FFFFFF"/>
                        </a:solidFill>
                        <a:latin typeface="Microsoft YaHei"/>
                      </a:endParaRPr>
                    </a:p>
                  </a:txBody>
                  <a:tcPr anchor="ctr"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crosoft YaHei"/>
                        </a:rPr>
                        <a:t>价值C</a:t>
                      </a:r>
                    </a:p>
                  </a:txBody>
                  <a:tcPr anchor="ctr"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crosoft YaHei"/>
                        </a:rPr>
                        <a:t>价值D</a:t>
                      </a:r>
                    </a:p>
                  </a:txBody>
                  <a:tcPr anchor="ctr"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crosoft YaHei"/>
                        </a:rPr>
                        <a:t>价值E</a:t>
                      </a:r>
                    </a:p>
                  </a:txBody>
                  <a:tcPr anchor="ctr"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crosoft YaHei"/>
                        </a:rPr>
                        <a:t>价值F</a:t>
                      </a:r>
                    </a:p>
                  </a:txBody>
                  <a:tcPr anchor="ctr"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crosoft YaHei"/>
                        </a:rPr>
                        <a:t>价值G</a:t>
                      </a:r>
                    </a:p>
                  </a:txBody>
                  <a:tcPr anchor="ctr"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crosoft YaHei"/>
                        </a:rPr>
                        <a:t>风险总计</a:t>
                      </a:r>
                    </a:p>
                  </a:txBody>
                  <a:tcPr anchor="ctr">
                    <a:solidFill>
                      <a:srgbClr val="0F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66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风险A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 dirty="0">
                          <a:solidFill>
                            <a:srgbClr val="0F1E33"/>
                          </a:solidFill>
                          <a:latin typeface="Microsoft YaHei"/>
                        </a:rPr>
                        <a:t>2,368</a:t>
                      </a:r>
                    </a:p>
                  </a:txBody>
                  <a:tcPr anchor="ctr">
                    <a:solidFill>
                      <a:srgbClr val="FEF4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 dirty="0">
                          <a:solidFill>
                            <a:srgbClr val="0F1E33"/>
                          </a:solidFill>
                          <a:latin typeface="Microsoft YaHei"/>
                        </a:rPr>
                        <a:t>1,464</a:t>
                      </a:r>
                    </a:p>
                  </a:txBody>
                  <a:tcPr anchor="ctr">
                    <a:solidFill>
                      <a:srgbClr val="FFF5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 dirty="0">
                          <a:solidFill>
                            <a:srgbClr val="0F1E33"/>
                          </a:solidFill>
                          <a:latin typeface="Microsoft YaHei"/>
                        </a:rPr>
                        <a:t>1,216</a:t>
                      </a:r>
                    </a:p>
                  </a:txBody>
                  <a:tcPr anchor="ctr">
                    <a:solidFill>
                      <a:srgbClr val="FFF6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 dirty="0">
                          <a:solidFill>
                            <a:srgbClr val="0F1E33"/>
                          </a:solidFill>
                          <a:latin typeface="Microsoft YaHei"/>
                        </a:rPr>
                        <a:t>1,001</a:t>
                      </a:r>
                    </a:p>
                  </a:txBody>
                  <a:tcPr anchor="ctr">
                    <a:solidFill>
                      <a:srgbClr val="FFF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904</a:t>
                      </a:r>
                    </a:p>
                  </a:txBody>
                  <a:tcPr anchor="ctr"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 dirty="0">
                          <a:solidFill>
                            <a:srgbClr val="0F1E33"/>
                          </a:solidFill>
                          <a:latin typeface="Microsoft YaHei"/>
                        </a:rPr>
                        <a:t>682</a:t>
                      </a:r>
                    </a:p>
                  </a:txBody>
                  <a:tcPr anchor="ctr"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b="0" dirty="0">
                          <a:solidFill>
                            <a:srgbClr val="0F1E33"/>
                          </a:solidFill>
                          <a:latin typeface="Microsoft YaHei"/>
                        </a:rPr>
                        <a:t>-</a:t>
                      </a:r>
                      <a:endParaRPr sz="600" b="0" dirty="0">
                        <a:solidFill>
                          <a:srgbClr val="0F1E33"/>
                        </a:solidFill>
                        <a:latin typeface="Microsoft YaHei"/>
                      </a:endParaRPr>
                    </a:p>
                  </a:txBody>
                  <a:tcPr anchor="ctr"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1,753</a:t>
                      </a:r>
                    </a:p>
                  </a:txBody>
                  <a:tcPr anchor="ctr">
                    <a:solidFill>
                      <a:srgbClr val="E4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66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风险B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3,775</a:t>
                      </a:r>
                    </a:p>
                  </a:txBody>
                  <a:tcPr anchor="ctr">
                    <a:solidFill>
                      <a:srgbClr val="FEF1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 dirty="0">
                          <a:solidFill>
                            <a:srgbClr val="0F1E33"/>
                          </a:solidFill>
                          <a:latin typeface="Microsoft YaHei"/>
                        </a:rPr>
                        <a:t>2,011</a:t>
                      </a:r>
                    </a:p>
                  </a:txBody>
                  <a:tcPr anchor="ctr">
                    <a:solidFill>
                      <a:srgbClr val="FEF4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 dirty="0">
                          <a:solidFill>
                            <a:srgbClr val="0F1E33"/>
                          </a:solidFill>
                          <a:latin typeface="Microsoft YaHei"/>
                        </a:rPr>
                        <a:t>1,570</a:t>
                      </a:r>
                    </a:p>
                  </a:txBody>
                  <a:tcPr anchor="ctr">
                    <a:solidFill>
                      <a:srgbClr val="FFF5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 dirty="0">
                          <a:solidFill>
                            <a:srgbClr val="0F1E33"/>
                          </a:solidFill>
                          <a:latin typeface="Microsoft YaHei"/>
                        </a:rPr>
                        <a:t>1,274</a:t>
                      </a:r>
                    </a:p>
                  </a:txBody>
                  <a:tcPr anchor="ctr">
                    <a:solidFill>
                      <a:srgbClr val="FFF6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1,029</a:t>
                      </a:r>
                    </a:p>
                  </a:txBody>
                  <a:tcPr anchor="ctr">
                    <a:solidFill>
                      <a:srgbClr val="FFF6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 dirty="0">
                          <a:solidFill>
                            <a:srgbClr val="0F1E33"/>
                          </a:solidFill>
                          <a:latin typeface="Microsoft YaHei"/>
                        </a:rPr>
                        <a:t>860</a:t>
                      </a:r>
                    </a:p>
                  </a:txBody>
                  <a:tcPr anchor="ctr"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877</a:t>
                      </a:r>
                    </a:p>
                  </a:txBody>
                  <a:tcPr anchor="ctr"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1,958</a:t>
                      </a:r>
                    </a:p>
                  </a:txBody>
                  <a:tcPr anchor="ctr">
                    <a:solidFill>
                      <a:srgbClr val="E4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66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风险C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6,146</a:t>
                      </a:r>
                    </a:p>
                  </a:txBody>
                  <a:tcPr anchor="ctr">
                    <a:solidFill>
                      <a:srgbClr val="FDEC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2,774</a:t>
                      </a:r>
                    </a:p>
                  </a:txBody>
                  <a:tcPr anchor="ctr">
                    <a:solidFill>
                      <a:srgbClr val="FEF3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2,072</a:t>
                      </a:r>
                    </a:p>
                  </a:txBody>
                  <a:tcPr anchor="ctr">
                    <a:solidFill>
                      <a:srgbClr val="FEF4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1,575</a:t>
                      </a:r>
                    </a:p>
                  </a:txBody>
                  <a:tcPr anchor="ctr">
                    <a:solidFill>
                      <a:srgbClr val="FEF5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 dirty="0">
                          <a:solidFill>
                            <a:srgbClr val="0F1E33"/>
                          </a:solidFill>
                          <a:latin typeface="Microsoft YaHei"/>
                        </a:rPr>
                        <a:t>1,315</a:t>
                      </a:r>
                    </a:p>
                  </a:txBody>
                  <a:tcPr anchor="ctr">
                    <a:solidFill>
                      <a:srgbClr val="FFF6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1,090</a:t>
                      </a:r>
                    </a:p>
                  </a:txBody>
                  <a:tcPr anchor="ctr">
                    <a:solidFill>
                      <a:srgbClr val="FFF6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833</a:t>
                      </a:r>
                    </a:p>
                  </a:txBody>
                  <a:tcPr anchor="ctr"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2,024</a:t>
                      </a:r>
                    </a:p>
                  </a:txBody>
                  <a:tcPr anchor="ctr">
                    <a:solidFill>
                      <a:srgbClr val="E4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66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风险D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6,590</a:t>
                      </a:r>
                    </a:p>
                  </a:txBody>
                  <a:tcPr anchor="ctr">
                    <a:solidFill>
                      <a:srgbClr val="FDEC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3,169</a:t>
                      </a:r>
                    </a:p>
                  </a:txBody>
                  <a:tcPr anchor="ctr">
                    <a:solidFill>
                      <a:srgbClr val="FEF2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2,815</a:t>
                      </a:r>
                    </a:p>
                  </a:txBody>
                  <a:tcPr anchor="ctr">
                    <a:solidFill>
                      <a:srgbClr val="FEF3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1,918</a:t>
                      </a:r>
                    </a:p>
                  </a:txBody>
                  <a:tcPr anchor="ctr">
                    <a:solidFill>
                      <a:srgbClr val="FEF5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1,499</a:t>
                      </a:r>
                    </a:p>
                  </a:txBody>
                  <a:tcPr anchor="ctr">
                    <a:solidFill>
                      <a:srgbClr val="FFF5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1,227</a:t>
                      </a:r>
                    </a:p>
                  </a:txBody>
                  <a:tcPr anchor="ctr">
                    <a:solidFill>
                      <a:srgbClr val="FFF6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974</a:t>
                      </a:r>
                    </a:p>
                  </a:txBody>
                  <a:tcPr anchor="ctr">
                    <a:solidFill>
                      <a:srgbClr val="FFF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1,962</a:t>
                      </a:r>
                    </a:p>
                  </a:txBody>
                  <a:tcPr anchor="ctr">
                    <a:solidFill>
                      <a:srgbClr val="E4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766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风险E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14,154</a:t>
                      </a:r>
                    </a:p>
                  </a:txBody>
                  <a:tcPr anchor="ctr">
                    <a:solidFill>
                      <a:srgbClr val="FADD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 dirty="0">
                          <a:solidFill>
                            <a:srgbClr val="0F1E33"/>
                          </a:solidFill>
                          <a:latin typeface="Microsoft YaHei"/>
                        </a:rPr>
                        <a:t>4,329</a:t>
                      </a:r>
                    </a:p>
                  </a:txBody>
                  <a:tcPr anchor="ctr">
                    <a:solidFill>
                      <a:srgbClr val="FEF0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3,198</a:t>
                      </a:r>
                    </a:p>
                  </a:txBody>
                  <a:tcPr anchor="ctr">
                    <a:solidFill>
                      <a:srgbClr val="FEF2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2,333</a:t>
                      </a:r>
                    </a:p>
                  </a:txBody>
                  <a:tcPr anchor="ctr">
                    <a:solidFill>
                      <a:srgbClr val="FEF4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1,771</a:t>
                      </a:r>
                    </a:p>
                  </a:txBody>
                  <a:tcPr anchor="ctr">
                    <a:solidFill>
                      <a:srgbClr val="FEF5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1,346</a:t>
                      </a:r>
                    </a:p>
                  </a:txBody>
                  <a:tcPr anchor="ctr">
                    <a:solidFill>
                      <a:srgbClr val="FFF6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1,059</a:t>
                      </a:r>
                    </a:p>
                  </a:txBody>
                  <a:tcPr anchor="ctr">
                    <a:solidFill>
                      <a:srgbClr val="FFF6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2,062</a:t>
                      </a:r>
                    </a:p>
                  </a:txBody>
                  <a:tcPr anchor="ctr">
                    <a:solidFill>
                      <a:srgbClr val="E4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766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风险F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b="1" dirty="0">
                          <a:solidFill>
                            <a:srgbClr val="0F1E33"/>
                          </a:solidFill>
                          <a:latin typeface="Microsoft YaHei"/>
                        </a:rPr>
                        <a:t>-</a:t>
                      </a:r>
                      <a:endParaRPr sz="600" b="1" dirty="0">
                        <a:solidFill>
                          <a:srgbClr val="0F1E33"/>
                        </a:solidFill>
                        <a:latin typeface="Microsoft YaHei"/>
                      </a:endParaRPr>
                    </a:p>
                  </a:txBody>
                  <a:tcPr anchor="ctr">
                    <a:solidFill>
                      <a:srgbClr val="F8D2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 dirty="0">
                          <a:solidFill>
                            <a:srgbClr val="0F1E33"/>
                          </a:solidFill>
                          <a:latin typeface="Microsoft YaHei"/>
                        </a:rPr>
                        <a:t>5,909</a:t>
                      </a:r>
                    </a:p>
                  </a:txBody>
                  <a:tcPr anchor="ctr">
                    <a:solidFill>
                      <a:srgbClr val="FDED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4,326</a:t>
                      </a:r>
                    </a:p>
                  </a:txBody>
                  <a:tcPr anchor="ctr">
                    <a:solidFill>
                      <a:srgbClr val="FEF0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3,145</a:t>
                      </a:r>
                    </a:p>
                  </a:txBody>
                  <a:tcPr anchor="ctr">
                    <a:solidFill>
                      <a:srgbClr val="FEF2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2,312</a:t>
                      </a:r>
                    </a:p>
                  </a:txBody>
                  <a:tcPr anchor="ctr">
                    <a:solidFill>
                      <a:srgbClr val="FEF4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1,755</a:t>
                      </a:r>
                    </a:p>
                  </a:txBody>
                  <a:tcPr anchor="ctr">
                    <a:solidFill>
                      <a:srgbClr val="FEF5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 dirty="0">
                          <a:solidFill>
                            <a:srgbClr val="0F1E33"/>
                          </a:solidFill>
                          <a:latin typeface="Microsoft YaHei"/>
                        </a:rPr>
                        <a:t>1,311</a:t>
                      </a:r>
                    </a:p>
                  </a:txBody>
                  <a:tcPr anchor="ctr">
                    <a:solidFill>
                      <a:srgbClr val="FFF6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 dirty="0">
                          <a:solidFill>
                            <a:srgbClr val="0F1E33"/>
                          </a:solidFill>
                          <a:latin typeface="Microsoft YaHei"/>
                        </a:rPr>
                        <a:t>2,200</a:t>
                      </a:r>
                    </a:p>
                  </a:txBody>
                  <a:tcPr anchor="ctr">
                    <a:solidFill>
                      <a:srgbClr val="E4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766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风险G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b="1" dirty="0">
                          <a:solidFill>
                            <a:srgbClr val="0F1E33"/>
                          </a:solidFill>
                          <a:latin typeface="Microsoft YaHei"/>
                        </a:rPr>
                        <a:t>-</a:t>
                      </a:r>
                      <a:endParaRPr sz="600" b="1" dirty="0">
                        <a:solidFill>
                          <a:srgbClr val="0F1E33"/>
                        </a:solidFill>
                        <a:latin typeface="Microsoft YaHei"/>
                      </a:endParaRPr>
                    </a:p>
                  </a:txBody>
                  <a:tcPr anchor="ctr">
                    <a:solidFill>
                      <a:srgbClr val="F2B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7,506</a:t>
                      </a:r>
                    </a:p>
                  </a:txBody>
                  <a:tcPr anchor="ctr">
                    <a:solidFill>
                      <a:srgbClr val="FCE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7,925</a:t>
                      </a:r>
                    </a:p>
                  </a:txBody>
                  <a:tcPr anchor="ctr">
                    <a:solidFill>
                      <a:srgbClr val="FCE9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6,379</a:t>
                      </a:r>
                    </a:p>
                  </a:txBody>
                  <a:tcPr anchor="ctr">
                    <a:solidFill>
                      <a:srgbClr val="FDEC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3,736</a:t>
                      </a:r>
                    </a:p>
                  </a:txBody>
                  <a:tcPr anchor="ctr">
                    <a:solidFill>
                      <a:srgbClr val="FEF1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0F1E33"/>
                          </a:solidFill>
                          <a:latin typeface="Microsoft YaHei"/>
                        </a:rPr>
                        <a:t>3,015</a:t>
                      </a:r>
                    </a:p>
                  </a:txBody>
                  <a:tcPr anchor="ctr">
                    <a:solidFill>
                      <a:srgbClr val="FEF2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 dirty="0">
                          <a:solidFill>
                            <a:srgbClr val="0F1E33"/>
                          </a:solidFill>
                          <a:latin typeface="Microsoft YaHei"/>
                        </a:rPr>
                        <a:t>1,992</a:t>
                      </a:r>
                    </a:p>
                  </a:txBody>
                  <a:tcPr anchor="ctr">
                    <a:solidFill>
                      <a:srgbClr val="FEF4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 dirty="0">
                          <a:solidFill>
                            <a:srgbClr val="0F1E33"/>
                          </a:solidFill>
                          <a:latin typeface="Microsoft YaHei"/>
                        </a:rPr>
                        <a:t>3,128</a:t>
                      </a:r>
                    </a:p>
                  </a:txBody>
                  <a:tcPr anchor="ctr">
                    <a:solidFill>
                      <a:srgbClr val="E4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66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0F1E33"/>
                          </a:solidFill>
                          <a:latin typeface="Microsoft YaHei"/>
                        </a:rPr>
                        <a:t>价值总计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 dirty="0">
                          <a:solidFill>
                            <a:srgbClr val="0F1E33"/>
                          </a:solidFill>
                          <a:latin typeface="Microsoft YaHei"/>
                        </a:rPr>
                        <a:t>4,471</a:t>
                      </a:r>
                    </a:p>
                  </a:txBody>
                  <a:tcPr anchor="ctr"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 dirty="0">
                          <a:solidFill>
                            <a:srgbClr val="0F1E33"/>
                          </a:solidFill>
                          <a:latin typeface="Microsoft YaHei"/>
                        </a:rPr>
                        <a:t>2,666</a:t>
                      </a:r>
                    </a:p>
                  </a:txBody>
                  <a:tcPr anchor="ctr"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 dirty="0">
                          <a:solidFill>
                            <a:srgbClr val="0F1E33"/>
                          </a:solidFill>
                          <a:latin typeface="Microsoft YaHei"/>
                        </a:rPr>
                        <a:t>2,325</a:t>
                      </a:r>
                    </a:p>
                  </a:txBody>
                  <a:tcPr anchor="ctr"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 dirty="0">
                          <a:solidFill>
                            <a:srgbClr val="0F1E33"/>
                          </a:solidFill>
                          <a:latin typeface="Microsoft YaHei"/>
                        </a:rPr>
                        <a:t>2,075</a:t>
                      </a:r>
                    </a:p>
                  </a:txBody>
                  <a:tcPr anchor="ctr"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 dirty="0">
                          <a:solidFill>
                            <a:srgbClr val="0F1E33"/>
                          </a:solidFill>
                          <a:latin typeface="Microsoft YaHei"/>
                        </a:rPr>
                        <a:t>1,876</a:t>
                      </a:r>
                    </a:p>
                  </a:txBody>
                  <a:tcPr anchor="ctr"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 dirty="0">
                          <a:solidFill>
                            <a:srgbClr val="0F1E33"/>
                          </a:solidFill>
                          <a:latin typeface="Microsoft YaHei"/>
                        </a:rPr>
                        <a:t>1,613</a:t>
                      </a:r>
                    </a:p>
                  </a:txBody>
                  <a:tcPr anchor="ctr"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 dirty="0">
                          <a:solidFill>
                            <a:srgbClr val="0F1E33"/>
                          </a:solidFill>
                          <a:latin typeface="Microsoft YaHei"/>
                        </a:rPr>
                        <a:t>1,344</a:t>
                      </a:r>
                    </a:p>
                  </a:txBody>
                  <a:tcPr anchor="ctr"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 dirty="0">
                          <a:solidFill>
                            <a:srgbClr val="0F1E33"/>
                          </a:solidFill>
                          <a:latin typeface="Microsoft YaHei"/>
                        </a:rPr>
                        <a:t>2,108</a:t>
                      </a:r>
                    </a:p>
                  </a:txBody>
                  <a:tcPr anchor="ctr">
                    <a:solidFill>
                      <a:srgbClr val="E4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AD4FACCC-492F-4231-BB83-F24FE0E682B6}"/>
              </a:ext>
            </a:extLst>
          </p:cNvPr>
          <p:cNvSpPr/>
          <p:nvPr/>
        </p:nvSpPr>
        <p:spPr>
          <a:xfrm>
            <a:off x="6922666" y="827415"/>
            <a:ext cx="1892300" cy="3809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收入</a:t>
            </a:r>
          </a:p>
        </p:txBody>
      </p:sp>
    </p:spTree>
    <p:extLst>
      <p:ext uri="{BB962C8B-B14F-4D97-AF65-F5344CB8AC3E}">
        <p14:creationId xmlns:p14="http://schemas.microsoft.com/office/powerpoint/2010/main" val="912355230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微软雅黑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微软雅黑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2062</TotalTime>
  <Words>1958</Words>
  <Application>Microsoft Office PowerPoint</Application>
  <PresentationFormat>宽屏</PresentationFormat>
  <Paragraphs>816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-apple-system</vt:lpstr>
      <vt:lpstr>微软雅黑</vt:lpstr>
      <vt:lpstr>微软雅黑</vt:lpstr>
      <vt:lpstr>微软雅黑 Light</vt:lpstr>
      <vt:lpstr>等线</vt:lpstr>
      <vt:lpstr>Arial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昱良</dc:creator>
  <cp:lastModifiedBy>张昱良-Eliam</cp:lastModifiedBy>
  <cp:revision>168</cp:revision>
  <dcterms:created xsi:type="dcterms:W3CDTF">2026-08-31T12:17:08Z</dcterms:created>
  <dcterms:modified xsi:type="dcterms:W3CDTF">2026-09-02T10:01:33Z</dcterms:modified>
</cp:coreProperties>
</file>