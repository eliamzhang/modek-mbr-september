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7" r:id="rId2"/>
    <p:sldId id="284" r:id="rId3"/>
    <p:sldId id="285" r:id="rId4"/>
    <p:sldId id="286" r:id="rId5"/>
    <p:sldId id="280" r:id="rId6"/>
    <p:sldId id="281" r:id="rId7"/>
    <p:sldId id="28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51F6C1B-82C9-4A6B-9774-7BDA4A57FB99}">
          <p14:sldIdLst>
            <p14:sldId id="287"/>
          </p14:sldIdLst>
        </p14:section>
        <p14:section name="draft" id="{9C00BEBA-C7CA-40DB-826E-87AB68072486}">
          <p14:sldIdLst>
            <p14:sldId id="284"/>
            <p14:sldId id="285"/>
            <p14:sldId id="286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110" d="100"/>
          <a:sy n="110" d="100"/>
        </p:scale>
        <p:origin x="2214" y="5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8EBA2-80EF-4252-8597-048A45E2E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21FC56-6680-4AD6-82E5-88A11AFC2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AA0C1-447C-4AEA-81FA-9EB45857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C9B75-A23F-4BC0-AF10-8E3B6D59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F3BAF1-849E-4CFB-97FB-462B79C5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134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48D98-575F-4B86-853A-5626FCCE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1CB4C6-859B-47BA-B600-73580410D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1BEAC3-78C5-45B7-A23B-249EC15E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9A1087-075F-407E-BB28-CDF217CD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DC62BF-1010-4F72-A364-4192F211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560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4CBB0-B952-49F8-A1B8-3979F30A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EC5F22-E42C-4263-A574-0CF3FB326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779609-2E9A-498F-932D-68BAA7EBB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99CF08-A439-43B3-A3F9-168D0F5CD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FEC39-07FE-47BE-B8DE-2AFAE3D5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774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2E4F4-0D12-4C67-A2DE-5D38CFD3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EAA503-16B9-4CA8-8AA5-603157897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8D83A5-8A38-40E5-AB3E-D4138C5D5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0B2CC2-A96A-41D7-A4D7-A284B7D5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BBF648-B851-4DA5-953B-86578FBD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CC2EA2-1228-4FAF-B547-0D8F31FE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962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E7825-95FC-4C1A-AF5F-E36B597A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F39FAA-4C36-4CB6-A320-3DAC5409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B609A8-1E92-437D-B0B0-6111310F1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4226CF-A2B3-4B4E-9300-5E028ABA7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B10009-1111-457E-B430-65E1C279A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7E8ED2-908F-4B1A-8AE5-D192B1A89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9F550B-0F48-4318-996D-4884DECB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8EED0F-6559-4C6F-9CA7-7770DD3D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407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6F64B-E647-4104-B1ED-F93F843D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1D34E7-F38A-4F82-9AB6-F8589C899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3AE06E-5BC2-49FC-AFDD-93822814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46D1A6-6F30-4369-886C-0B9A8E4C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028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9A4833-036F-41C6-B817-DBAF5E3F3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AA5643-CE71-4F55-8C58-D1337D393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6E3F4D-D0ED-4973-9E9A-D6287B44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110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3B291-4439-45D3-BCEE-846EEECB6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A73331-4FF4-49B6-A023-F72C49367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A3C987-2276-42A0-A1E7-E0606F374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22F0A1-047D-4CAC-9C15-FF066542E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2EAEBB-7478-4902-AB86-AE45AA28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A46412-6586-483A-ABB0-E712F839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050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20C44-3AFF-45CD-9780-0D2FBCA4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93764D-8357-41AF-8664-BADF71EFE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68CC22-900C-4216-BFAA-893CFBCC4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52A649-1B04-42E5-84B4-2A037C732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ACB251-B513-433D-A8AC-3FA74F8D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7EE6DA-2AE9-4C28-B829-F80EA98E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549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22334-2A6B-4387-80FD-70E1F1E0E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7C5D0A-2D53-4144-B690-6C700F742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0CEC7-6E44-43BF-A36B-7D08A2F5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AE63B3-0B50-4DF9-8F0E-79A5D718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1FEAD4-D222-409F-A809-BD5B9786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807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E48EF8A-FDFA-4016-9979-C8C5B09F3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B09383-AF7E-4FF6-9616-02B3620BC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39486C-99DC-445E-A433-3EDCCFF5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26F166-1825-4F9D-89FB-66C38CDA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0A879-DDC9-44A8-97E4-649A0365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545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68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B64D2A-B4A2-4991-8631-34442C84D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B2BE11-2F72-49B2-9898-38081781B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DFEC2A-8966-4520-BDC5-D824E4328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38E0C-70A7-465C-B390-CC20D1E8458E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AAC27E-A6AB-47AB-8662-4EC357CAD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2857CC-AAF6-440B-A91D-E387063E6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072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3774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Noto Sans CJK SC"/>
                <a:ea typeface="微软雅黑"/>
                <a:cs typeface="+mn-cs"/>
              </a:rPr>
              <a:t>四类客群矩阵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1613" y="1276357"/>
            <a:ext cx="1379983" cy="374135"/>
          </a:xfrm>
          <a:prstGeom prst="roundRect">
            <a:avLst/>
          </a:prstGeom>
          <a:solidFill>
            <a:srgbClr val="2F6B4F"/>
          </a:solidFill>
          <a:ln w="12700"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价值好</a:t>
            </a: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× </a:t>
            </a:r>
            <a:r>
              <a:rPr kumimoji="0" sz="8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风险好</a:t>
            </a:r>
            <a:endParaRPr kumimoji="0" sz="8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26948" y="1796767"/>
            <a:ext cx="5065776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0100" y="1860776"/>
            <a:ext cx="2790957" cy="144848"/>
          </a:xfrm>
          <a:prstGeom prst="rect">
            <a:avLst/>
          </a:prstGeom>
          <a:noFill/>
        </p:spPr>
        <p:txBody>
          <a:bodyPr wrap="none" lIns="36576" tIns="0" rIns="36576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对应产品</a:t>
            </a:r>
            <a:r>
              <a: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 </a:t>
            </a:r>
            <a:r>
              <a:rPr kumimoji="0" sz="960" b="1" i="0" u="none" strike="noStrike" kern="1200" cap="none" spc="0" normalizeH="0" baseline="0" noProof="0" dirty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3000-5000 </a:t>
            </a:r>
            <a:r>
              <a:rPr kumimoji="0" sz="960" b="1" i="0" u="none" strike="noStrike" kern="1200" cap="none" spc="0" normalizeH="0" baseline="0" noProof="0" dirty="0" err="1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优质</a:t>
            </a:r>
            <a:r>
              <a:rPr kumimoji="0" sz="960" b="1" i="0" u="none" strike="noStrike" kern="1200" cap="none" spc="0" normalizeH="0" baseline="0" noProof="0" dirty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MACC / LACC </a:t>
            </a:r>
            <a:r>
              <a:rPr kumimoji="0" lang="en-US" sz="960" b="1" i="0" u="none" strike="noStrike" kern="1200" cap="none" spc="0" normalizeH="0" baseline="0" noProof="0" dirty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/LOC </a:t>
            </a:r>
            <a:r>
              <a:rPr kumimoji="0" sz="960" b="1" i="0" u="none" strike="noStrike" kern="1200" cap="none" spc="0" normalizeH="0" baseline="0" noProof="0" dirty="0" err="1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候选池</a:t>
            </a:r>
            <a:endParaRPr kumimoji="0" sz="960" b="1" i="0" u="none" strike="noStrike" kern="1200" cap="none" spc="0" normalizeH="0" baseline="0" noProof="0" dirty="0">
              <a:ln>
                <a:noFill/>
              </a:ln>
              <a:solidFill>
                <a:srgbClr val="2F6B4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4088" y="2206876"/>
            <a:ext cx="4533138" cy="15895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1" i="0" u="none" strike="noStrike" kern="1200" cap="none" spc="0" normalizeH="0" baseline="0" noProof="0" dirty="0" err="1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风险低、价值好，适合作为重点经营客群</a:t>
            </a:r>
            <a:r>
              <a:rPr kumimoji="0" sz="910" b="1" i="0" u="none" strike="noStrike" kern="1200" cap="none" spc="0" normalizeH="0" baseline="0" noProof="0" dirty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。</a:t>
            </a:r>
            <a:endParaRPr kumimoji="0" sz="910" b="0" i="0" u="none" strike="noStrike" kern="1200" cap="none" spc="0" normalizeH="0" baseline="0" noProof="0" dirty="0">
              <a:ln>
                <a:noFill/>
              </a:ln>
              <a:solidFill>
                <a:srgbClr val="3F4650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1661" y="2794581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1661" y="2794581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4813" y="2867733"/>
            <a:ext cx="433708" cy="132344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40" dirty="0">
                <a:solidFill>
                  <a:srgbClr val="6B7280"/>
                </a:solidFill>
                <a:latin typeface="Noto Sans CJK SC"/>
              </a:rPr>
              <a:t>样本占比</a:t>
            </a:r>
            <a:endParaRPr kumimoji="0" sz="740" b="0" i="0" u="none" strike="noStrike" kern="1200" cap="none" spc="0" normalizeH="0" baseline="0" noProof="0" dirty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4813" y="3068901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18,934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7249" y="2794581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987249" y="2794581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60401" y="2867733"/>
            <a:ext cx="339132" cy="132344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4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通过率</a:t>
            </a:r>
            <a:endParaRPr kumimoji="0" sz="740" b="0" i="0" u="none" strike="noStrike" kern="1200" cap="none" spc="0" normalizeH="0" baseline="0" noProof="0" dirty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060401" y="3068901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12.00%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62837" y="2794581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62837" y="2794581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35989" y="2867733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人数逾期率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5989" y="3068901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6.30%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8425" y="2794581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38425" y="2794581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11577" y="2867733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金额逾期率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1577" y="3068901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3.00%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32203" y="1357604"/>
            <a:ext cx="1223609" cy="335306"/>
          </a:xfrm>
          <a:prstGeom prst="roundRect">
            <a:avLst/>
          </a:prstGeom>
          <a:solidFill>
            <a:srgbClr val="9A7211"/>
          </a:solidFill>
          <a:ln w="12700">
            <a:solidFill>
              <a:srgbClr val="9A7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价值好</a:t>
            </a: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× </a:t>
            </a:r>
            <a:r>
              <a:rPr kumimoji="0" sz="8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风险差</a:t>
            </a:r>
            <a:endParaRPr kumimoji="0" sz="8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387083" y="1884450"/>
            <a:ext cx="518464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A7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60236" y="1948459"/>
            <a:ext cx="5038344" cy="164592"/>
          </a:xfrm>
          <a:prstGeom prst="rect">
            <a:avLst/>
          </a:prstGeom>
          <a:noFill/>
        </p:spPr>
        <p:txBody>
          <a:bodyPr wrap="none" lIns="36576" tIns="0" rIns="36576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对应产品  </a:t>
            </a:r>
            <a:r>
              <a:rPr kumimoji="0" sz="960" b="1" i="0" u="none" strike="noStrike" kern="1200" cap="none" spc="0" normalizeH="0" baseline="0" noProof="0">
                <a:ln>
                  <a:noFill/>
                </a:ln>
                <a:solidFill>
                  <a:srgbClr val="9A7211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EWA / 超短期产品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5372" y="2286787"/>
            <a:ext cx="4873752" cy="15895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0" i="0" u="none" strike="noStrike" kern="1200" cap="none" spc="0" normalizeH="0" baseline="0" noProof="0" dirty="0" err="1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不适合直接放款大额度或期限，更适合通过短期、小额、即时周转产品承接需求</a:t>
            </a:r>
            <a:endParaRPr kumimoji="0" sz="910" b="0" i="0" u="none" strike="noStrike" kern="1200" cap="none" spc="0" normalizeH="0" baseline="0" noProof="0" dirty="0">
              <a:ln>
                <a:noFill/>
              </a:ln>
              <a:solidFill>
                <a:srgbClr val="3F4650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760033" y="4333239"/>
            <a:ext cx="1408399" cy="381088"/>
          </a:xfrm>
          <a:prstGeom prst="roundRect">
            <a:avLst/>
          </a:prstGeom>
          <a:solidFill>
            <a:srgbClr val="1E4F7A"/>
          </a:solidFill>
          <a:ln w="12700">
            <a:solidFill>
              <a:srgbClr val="1E4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价值差</a:t>
            </a: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× </a:t>
            </a:r>
            <a:r>
              <a:rPr kumimoji="0" sz="8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风险好</a:t>
            </a:r>
            <a:endParaRPr kumimoji="0" sz="8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762320" y="4828228"/>
            <a:ext cx="5065776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4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35472" y="4892236"/>
            <a:ext cx="812851" cy="137345"/>
          </a:xfrm>
          <a:prstGeom prst="rect">
            <a:avLst/>
          </a:prstGeom>
          <a:noFill/>
        </p:spPr>
        <p:txBody>
          <a:bodyPr wrap="none" lIns="36576" tIns="0" rIns="36576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对应产品</a:t>
            </a:r>
            <a:r>
              <a:rPr kumimoji="0" lang="en-US" sz="91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SACC</a:t>
            </a:r>
            <a:endParaRPr kumimoji="0" sz="960" b="1" i="0" u="none" strike="noStrike" kern="1200" cap="none" spc="0" normalizeH="0" baseline="0" noProof="0" dirty="0">
              <a:ln>
                <a:noFill/>
              </a:ln>
              <a:solidFill>
                <a:srgbClr val="1E4F7A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54919" y="5234737"/>
            <a:ext cx="4805619" cy="15895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0" i="0" u="none" strike="noStrike" kern="1200" cap="none" spc="0" normalizeH="0" baseline="0" noProof="0" dirty="0" err="1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不适合作为强经营客群，可通过低额度</a:t>
            </a:r>
            <a:r>
              <a: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Personal Loan </a:t>
            </a:r>
            <a:r>
              <a:rPr kumimoji="0" sz="910" b="0" i="0" u="none" strike="noStrike" kern="1200" cap="none" spc="0" normalizeH="0" baseline="0" noProof="0" dirty="0" err="1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验证稳定需求、复贷表现和真实贡献</a:t>
            </a:r>
            <a:r>
              <a: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4608" y="4328595"/>
            <a:ext cx="1305301" cy="391887"/>
          </a:xfrm>
          <a:prstGeom prst="roundRect">
            <a:avLst/>
          </a:prstGeom>
          <a:solidFill>
            <a:srgbClr val="A2463C"/>
          </a:solidFill>
          <a:ln w="12700">
            <a:solidFill>
              <a:srgbClr val="A24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价值差</a:t>
            </a: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× </a:t>
            </a:r>
            <a:r>
              <a:rPr kumimoji="0" sz="8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风险差</a:t>
            </a:r>
            <a:endParaRPr kumimoji="0" sz="8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404609" y="4830209"/>
            <a:ext cx="518464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24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477762" y="4894217"/>
            <a:ext cx="5038344" cy="164592"/>
          </a:xfrm>
          <a:prstGeom prst="rect">
            <a:avLst/>
          </a:prstGeom>
          <a:noFill/>
        </p:spPr>
        <p:txBody>
          <a:bodyPr wrap="none" lIns="36576" tIns="0" rIns="36576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对应产品</a:t>
            </a:r>
            <a:r>
              <a: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 </a:t>
            </a:r>
            <a:r>
              <a:rPr kumimoji="0" sz="960" b="1" i="0" u="none" strike="noStrike" kern="1200" cap="none" spc="0" normalizeH="0" baseline="0" noProof="0" dirty="0" err="1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原则上不重点承接</a:t>
            </a:r>
            <a:endParaRPr kumimoji="0" sz="960" b="1" i="0" u="none" strike="noStrike" kern="1200" cap="none" spc="0" normalizeH="0" baseline="0" noProof="0" dirty="0">
              <a:ln>
                <a:noFill/>
              </a:ln>
              <a:solidFill>
                <a:srgbClr val="A2463C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404609" y="5247328"/>
            <a:ext cx="4802150" cy="15895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0" i="0" u="none" strike="noStrike" kern="1200" cap="none" spc="0" normalizeH="0" baseline="0" noProof="0" dirty="0" err="1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重点应放在限额、提价、人工审核和谨慎准入</a:t>
            </a:r>
            <a:r>
              <a: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。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23659" y="5857820"/>
            <a:ext cx="1232154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6423659" y="5857820"/>
            <a:ext cx="1232154" cy="27432"/>
          </a:xfrm>
          <a:prstGeom prst="rect">
            <a:avLst/>
          </a:prstGeom>
          <a:solidFill>
            <a:srgbClr val="A2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496811" y="5930972"/>
            <a:ext cx="1085850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样本数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96811" y="6132140"/>
            <a:ext cx="1085850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77,057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28965" y="5857820"/>
            <a:ext cx="1232154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728965" y="5857820"/>
            <a:ext cx="1232154" cy="27432"/>
          </a:xfrm>
          <a:prstGeom prst="rect">
            <a:avLst/>
          </a:prstGeom>
          <a:solidFill>
            <a:srgbClr val="A2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802117" y="5930972"/>
            <a:ext cx="1085850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样本占比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02117" y="6132140"/>
            <a:ext cx="1085850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48.85%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34271" y="5857820"/>
            <a:ext cx="1232154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9034271" y="5857820"/>
            <a:ext cx="1232154" cy="27432"/>
          </a:xfrm>
          <a:prstGeom prst="rect">
            <a:avLst/>
          </a:prstGeom>
          <a:solidFill>
            <a:srgbClr val="A2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107423" y="5930972"/>
            <a:ext cx="1085850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人数逾期率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07423" y="6132140"/>
            <a:ext cx="1085850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22.25%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339577" y="5857820"/>
            <a:ext cx="1232154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0339577" y="5857820"/>
            <a:ext cx="1232154" cy="27432"/>
          </a:xfrm>
          <a:prstGeom prst="rect">
            <a:avLst/>
          </a:prstGeom>
          <a:solidFill>
            <a:srgbClr val="A2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0412729" y="5930972"/>
            <a:ext cx="1085850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金额逾期率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412729" y="6132140"/>
            <a:ext cx="1085850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15.38%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84632" y="777240"/>
            <a:ext cx="10927080" cy="13716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cxnSp>
        <p:nvCxnSpPr>
          <p:cNvPr id="89" name="Connector 88"/>
          <p:cNvCxnSpPr/>
          <p:nvPr/>
        </p:nvCxnSpPr>
        <p:spPr>
          <a:xfrm>
            <a:off x="621792" y="3877056"/>
            <a:ext cx="11100816" cy="0"/>
          </a:xfrm>
          <a:prstGeom prst="line">
            <a:avLst/>
          </a:prstGeom>
          <a:ln w="16510">
            <a:solidFill>
              <a:srgbClr val="75849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108192" y="1115568"/>
            <a:ext cx="0" cy="5394960"/>
          </a:xfrm>
          <a:prstGeom prst="line">
            <a:avLst/>
          </a:prstGeom>
          <a:ln w="16510">
            <a:solidFill>
              <a:srgbClr val="75849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21792" y="3712463"/>
            <a:ext cx="713232" cy="201168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263A5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风险低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018520" y="3712463"/>
            <a:ext cx="713232" cy="201168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263A5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风险高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715000" y="932688"/>
            <a:ext cx="786384" cy="201168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263A5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价值高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715000" y="6547104"/>
            <a:ext cx="786384" cy="201168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263A53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价值低</a:t>
            </a:r>
          </a:p>
        </p:txBody>
      </p:sp>
      <p:sp>
        <p:nvSpPr>
          <p:cNvPr id="64" name="Rectangle 12">
            <a:extLst>
              <a:ext uri="{FF2B5EF4-FFF2-40B4-BE49-F238E27FC236}">
                <a16:creationId xmlns:a16="http://schemas.microsoft.com/office/drawing/2014/main" id="{4FD914A2-F23C-44E4-AB4B-734D717A22BF}"/>
              </a:ext>
            </a:extLst>
          </p:cNvPr>
          <p:cNvSpPr/>
          <p:nvPr/>
        </p:nvSpPr>
        <p:spPr>
          <a:xfrm>
            <a:off x="6386003" y="2799152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65" name="Rectangle 13">
            <a:extLst>
              <a:ext uri="{FF2B5EF4-FFF2-40B4-BE49-F238E27FC236}">
                <a16:creationId xmlns:a16="http://schemas.microsoft.com/office/drawing/2014/main" id="{8033073F-02B2-417A-8060-AE51380D2EF2}"/>
              </a:ext>
            </a:extLst>
          </p:cNvPr>
          <p:cNvSpPr/>
          <p:nvPr/>
        </p:nvSpPr>
        <p:spPr>
          <a:xfrm>
            <a:off x="6386003" y="2799152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67" name="TextBox 14">
            <a:extLst>
              <a:ext uri="{FF2B5EF4-FFF2-40B4-BE49-F238E27FC236}">
                <a16:creationId xmlns:a16="http://schemas.microsoft.com/office/drawing/2014/main" id="{D53B8B82-491C-48DE-98E1-5F01B85A4817}"/>
              </a:ext>
            </a:extLst>
          </p:cNvPr>
          <p:cNvSpPr txBox="1"/>
          <p:nvPr/>
        </p:nvSpPr>
        <p:spPr>
          <a:xfrm>
            <a:off x="6459155" y="2872304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样本数</a:t>
            </a:r>
          </a:p>
        </p:txBody>
      </p:sp>
      <p:sp>
        <p:nvSpPr>
          <p:cNvPr id="71" name="TextBox 15">
            <a:extLst>
              <a:ext uri="{FF2B5EF4-FFF2-40B4-BE49-F238E27FC236}">
                <a16:creationId xmlns:a16="http://schemas.microsoft.com/office/drawing/2014/main" id="{874DC849-CA90-4FE7-9788-92BC201E2EEA}"/>
              </a:ext>
            </a:extLst>
          </p:cNvPr>
          <p:cNvSpPr txBox="1"/>
          <p:nvPr/>
        </p:nvSpPr>
        <p:spPr>
          <a:xfrm>
            <a:off x="6459155" y="3073472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18,934</a:t>
            </a:r>
          </a:p>
        </p:txBody>
      </p:sp>
      <p:sp>
        <p:nvSpPr>
          <p:cNvPr id="96" name="Rectangle 16">
            <a:extLst>
              <a:ext uri="{FF2B5EF4-FFF2-40B4-BE49-F238E27FC236}">
                <a16:creationId xmlns:a16="http://schemas.microsoft.com/office/drawing/2014/main" id="{1E067236-6F83-4217-9DA7-62424105BBD4}"/>
              </a:ext>
            </a:extLst>
          </p:cNvPr>
          <p:cNvSpPr/>
          <p:nvPr/>
        </p:nvSpPr>
        <p:spPr>
          <a:xfrm>
            <a:off x="7661591" y="2799152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97" name="Rectangle 17">
            <a:extLst>
              <a:ext uri="{FF2B5EF4-FFF2-40B4-BE49-F238E27FC236}">
                <a16:creationId xmlns:a16="http://schemas.microsoft.com/office/drawing/2014/main" id="{CA50D63F-AC71-4240-BB45-223D88F8449E}"/>
              </a:ext>
            </a:extLst>
          </p:cNvPr>
          <p:cNvSpPr/>
          <p:nvPr/>
        </p:nvSpPr>
        <p:spPr>
          <a:xfrm>
            <a:off x="7661591" y="2799152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98" name="TextBox 18">
            <a:extLst>
              <a:ext uri="{FF2B5EF4-FFF2-40B4-BE49-F238E27FC236}">
                <a16:creationId xmlns:a16="http://schemas.microsoft.com/office/drawing/2014/main" id="{B42DBFD5-B192-4A39-88CB-0688EB1637DE}"/>
              </a:ext>
            </a:extLst>
          </p:cNvPr>
          <p:cNvSpPr txBox="1"/>
          <p:nvPr/>
        </p:nvSpPr>
        <p:spPr>
          <a:xfrm>
            <a:off x="7734743" y="2872304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样本占比</a:t>
            </a:r>
          </a:p>
        </p:txBody>
      </p:sp>
      <p:sp>
        <p:nvSpPr>
          <p:cNvPr id="99" name="TextBox 19">
            <a:extLst>
              <a:ext uri="{FF2B5EF4-FFF2-40B4-BE49-F238E27FC236}">
                <a16:creationId xmlns:a16="http://schemas.microsoft.com/office/drawing/2014/main" id="{F1468225-AD8D-42ED-A951-AF1042CB0246}"/>
              </a:ext>
            </a:extLst>
          </p:cNvPr>
          <p:cNvSpPr txBox="1"/>
          <p:nvPr/>
        </p:nvSpPr>
        <p:spPr>
          <a:xfrm>
            <a:off x="7734743" y="3073472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12.00%</a:t>
            </a:r>
          </a:p>
        </p:txBody>
      </p:sp>
      <p:sp>
        <p:nvSpPr>
          <p:cNvPr id="100" name="Rectangle 20">
            <a:extLst>
              <a:ext uri="{FF2B5EF4-FFF2-40B4-BE49-F238E27FC236}">
                <a16:creationId xmlns:a16="http://schemas.microsoft.com/office/drawing/2014/main" id="{F26E370B-2987-4C44-97A9-2AFCDA573AB4}"/>
              </a:ext>
            </a:extLst>
          </p:cNvPr>
          <p:cNvSpPr/>
          <p:nvPr/>
        </p:nvSpPr>
        <p:spPr>
          <a:xfrm>
            <a:off x="8937179" y="2799152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01" name="Rectangle 21">
            <a:extLst>
              <a:ext uri="{FF2B5EF4-FFF2-40B4-BE49-F238E27FC236}">
                <a16:creationId xmlns:a16="http://schemas.microsoft.com/office/drawing/2014/main" id="{17418F14-35DF-4B59-82E0-ED955AD5E5F3}"/>
              </a:ext>
            </a:extLst>
          </p:cNvPr>
          <p:cNvSpPr/>
          <p:nvPr/>
        </p:nvSpPr>
        <p:spPr>
          <a:xfrm>
            <a:off x="8937179" y="2799152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02" name="TextBox 22">
            <a:extLst>
              <a:ext uri="{FF2B5EF4-FFF2-40B4-BE49-F238E27FC236}">
                <a16:creationId xmlns:a16="http://schemas.microsoft.com/office/drawing/2014/main" id="{12CFD782-A0F5-4604-8764-6CA90A6B6619}"/>
              </a:ext>
            </a:extLst>
          </p:cNvPr>
          <p:cNvSpPr txBox="1"/>
          <p:nvPr/>
        </p:nvSpPr>
        <p:spPr>
          <a:xfrm>
            <a:off x="9010331" y="2872304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人数逾期率</a:t>
            </a:r>
          </a:p>
        </p:txBody>
      </p:sp>
      <p:sp>
        <p:nvSpPr>
          <p:cNvPr id="103" name="TextBox 23">
            <a:extLst>
              <a:ext uri="{FF2B5EF4-FFF2-40B4-BE49-F238E27FC236}">
                <a16:creationId xmlns:a16="http://schemas.microsoft.com/office/drawing/2014/main" id="{0535F90D-E145-4F2A-97B1-B83306D7961A}"/>
              </a:ext>
            </a:extLst>
          </p:cNvPr>
          <p:cNvSpPr txBox="1"/>
          <p:nvPr/>
        </p:nvSpPr>
        <p:spPr>
          <a:xfrm>
            <a:off x="9010331" y="3073472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6.30%</a:t>
            </a:r>
          </a:p>
        </p:txBody>
      </p:sp>
      <p:sp>
        <p:nvSpPr>
          <p:cNvPr id="104" name="Rectangle 24">
            <a:extLst>
              <a:ext uri="{FF2B5EF4-FFF2-40B4-BE49-F238E27FC236}">
                <a16:creationId xmlns:a16="http://schemas.microsoft.com/office/drawing/2014/main" id="{1D896793-BA07-4127-944A-6E0689ED11F9}"/>
              </a:ext>
            </a:extLst>
          </p:cNvPr>
          <p:cNvSpPr/>
          <p:nvPr/>
        </p:nvSpPr>
        <p:spPr>
          <a:xfrm>
            <a:off x="10212767" y="2799152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05" name="Rectangle 25">
            <a:extLst>
              <a:ext uri="{FF2B5EF4-FFF2-40B4-BE49-F238E27FC236}">
                <a16:creationId xmlns:a16="http://schemas.microsoft.com/office/drawing/2014/main" id="{934A70D4-A7DD-4E5C-8C51-5ACDBA6C21FF}"/>
              </a:ext>
            </a:extLst>
          </p:cNvPr>
          <p:cNvSpPr/>
          <p:nvPr/>
        </p:nvSpPr>
        <p:spPr>
          <a:xfrm>
            <a:off x="10212767" y="2799152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06" name="TextBox 26">
            <a:extLst>
              <a:ext uri="{FF2B5EF4-FFF2-40B4-BE49-F238E27FC236}">
                <a16:creationId xmlns:a16="http://schemas.microsoft.com/office/drawing/2014/main" id="{3A670DF6-D5A2-4B19-96CF-88058C33F675}"/>
              </a:ext>
            </a:extLst>
          </p:cNvPr>
          <p:cNvSpPr txBox="1"/>
          <p:nvPr/>
        </p:nvSpPr>
        <p:spPr>
          <a:xfrm>
            <a:off x="10285919" y="2872304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金额逾期率</a:t>
            </a:r>
          </a:p>
        </p:txBody>
      </p:sp>
      <p:sp>
        <p:nvSpPr>
          <p:cNvPr id="107" name="TextBox 27">
            <a:extLst>
              <a:ext uri="{FF2B5EF4-FFF2-40B4-BE49-F238E27FC236}">
                <a16:creationId xmlns:a16="http://schemas.microsoft.com/office/drawing/2014/main" id="{C81F11DB-D8A9-42C3-903D-1D6D34866172}"/>
              </a:ext>
            </a:extLst>
          </p:cNvPr>
          <p:cNvSpPr txBox="1"/>
          <p:nvPr/>
        </p:nvSpPr>
        <p:spPr>
          <a:xfrm>
            <a:off x="10285919" y="3073472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3.00%</a:t>
            </a:r>
          </a:p>
        </p:txBody>
      </p:sp>
      <p:sp>
        <p:nvSpPr>
          <p:cNvPr id="108" name="Rectangle 12">
            <a:extLst>
              <a:ext uri="{FF2B5EF4-FFF2-40B4-BE49-F238E27FC236}">
                <a16:creationId xmlns:a16="http://schemas.microsoft.com/office/drawing/2014/main" id="{E0CE5DB8-F3FF-4C35-B90B-4E30AB703553}"/>
              </a:ext>
            </a:extLst>
          </p:cNvPr>
          <p:cNvSpPr/>
          <p:nvPr/>
        </p:nvSpPr>
        <p:spPr>
          <a:xfrm>
            <a:off x="752857" y="5857784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09" name="Rectangle 13">
            <a:extLst>
              <a:ext uri="{FF2B5EF4-FFF2-40B4-BE49-F238E27FC236}">
                <a16:creationId xmlns:a16="http://schemas.microsoft.com/office/drawing/2014/main" id="{DECDF4B5-A8E8-4C9A-8BEF-941E9C6E2B0F}"/>
              </a:ext>
            </a:extLst>
          </p:cNvPr>
          <p:cNvSpPr/>
          <p:nvPr/>
        </p:nvSpPr>
        <p:spPr>
          <a:xfrm>
            <a:off x="752857" y="5857784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10" name="TextBox 14">
            <a:extLst>
              <a:ext uri="{FF2B5EF4-FFF2-40B4-BE49-F238E27FC236}">
                <a16:creationId xmlns:a16="http://schemas.microsoft.com/office/drawing/2014/main" id="{A81126DB-1E60-44D6-B995-E7B7FD762799}"/>
              </a:ext>
            </a:extLst>
          </p:cNvPr>
          <p:cNvSpPr txBox="1"/>
          <p:nvPr/>
        </p:nvSpPr>
        <p:spPr>
          <a:xfrm>
            <a:off x="826009" y="5930936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样本数</a:t>
            </a:r>
          </a:p>
        </p:txBody>
      </p:sp>
      <p:sp>
        <p:nvSpPr>
          <p:cNvPr id="111" name="TextBox 15">
            <a:extLst>
              <a:ext uri="{FF2B5EF4-FFF2-40B4-BE49-F238E27FC236}">
                <a16:creationId xmlns:a16="http://schemas.microsoft.com/office/drawing/2014/main" id="{9152A401-CA0A-437C-B823-1CB1A5CFA4D8}"/>
              </a:ext>
            </a:extLst>
          </p:cNvPr>
          <p:cNvSpPr txBox="1"/>
          <p:nvPr/>
        </p:nvSpPr>
        <p:spPr>
          <a:xfrm>
            <a:off x="826009" y="6132104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18,934</a:t>
            </a:r>
          </a:p>
        </p:txBody>
      </p:sp>
      <p:sp>
        <p:nvSpPr>
          <p:cNvPr id="112" name="Rectangle 16">
            <a:extLst>
              <a:ext uri="{FF2B5EF4-FFF2-40B4-BE49-F238E27FC236}">
                <a16:creationId xmlns:a16="http://schemas.microsoft.com/office/drawing/2014/main" id="{8BA057C5-46E5-46BA-BCB1-FEDC1C03666D}"/>
              </a:ext>
            </a:extLst>
          </p:cNvPr>
          <p:cNvSpPr/>
          <p:nvPr/>
        </p:nvSpPr>
        <p:spPr>
          <a:xfrm>
            <a:off x="2028445" y="5857784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13" name="Rectangle 17">
            <a:extLst>
              <a:ext uri="{FF2B5EF4-FFF2-40B4-BE49-F238E27FC236}">
                <a16:creationId xmlns:a16="http://schemas.microsoft.com/office/drawing/2014/main" id="{6CBC9BFE-23D7-41D8-A0AA-83A1F18736E5}"/>
              </a:ext>
            </a:extLst>
          </p:cNvPr>
          <p:cNvSpPr/>
          <p:nvPr/>
        </p:nvSpPr>
        <p:spPr>
          <a:xfrm>
            <a:off x="2028445" y="5857784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14" name="TextBox 18">
            <a:extLst>
              <a:ext uri="{FF2B5EF4-FFF2-40B4-BE49-F238E27FC236}">
                <a16:creationId xmlns:a16="http://schemas.microsoft.com/office/drawing/2014/main" id="{FD1ACB24-0129-4F1C-BA55-1E393C583FCE}"/>
              </a:ext>
            </a:extLst>
          </p:cNvPr>
          <p:cNvSpPr txBox="1"/>
          <p:nvPr/>
        </p:nvSpPr>
        <p:spPr>
          <a:xfrm>
            <a:off x="2101597" y="5930936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样本占比</a:t>
            </a:r>
          </a:p>
        </p:txBody>
      </p:sp>
      <p:sp>
        <p:nvSpPr>
          <p:cNvPr id="115" name="TextBox 19">
            <a:extLst>
              <a:ext uri="{FF2B5EF4-FFF2-40B4-BE49-F238E27FC236}">
                <a16:creationId xmlns:a16="http://schemas.microsoft.com/office/drawing/2014/main" id="{141138F3-FCC6-41DE-BFAE-069F6286079C}"/>
              </a:ext>
            </a:extLst>
          </p:cNvPr>
          <p:cNvSpPr txBox="1"/>
          <p:nvPr/>
        </p:nvSpPr>
        <p:spPr>
          <a:xfrm>
            <a:off x="2101597" y="6132104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12.00%</a:t>
            </a:r>
          </a:p>
        </p:txBody>
      </p:sp>
      <p:sp>
        <p:nvSpPr>
          <p:cNvPr id="116" name="Rectangle 20">
            <a:extLst>
              <a:ext uri="{FF2B5EF4-FFF2-40B4-BE49-F238E27FC236}">
                <a16:creationId xmlns:a16="http://schemas.microsoft.com/office/drawing/2014/main" id="{98606484-4C45-4292-A88B-B2BB6B93C1E8}"/>
              </a:ext>
            </a:extLst>
          </p:cNvPr>
          <p:cNvSpPr/>
          <p:nvPr/>
        </p:nvSpPr>
        <p:spPr>
          <a:xfrm>
            <a:off x="3304033" y="5857784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17" name="Rectangle 21">
            <a:extLst>
              <a:ext uri="{FF2B5EF4-FFF2-40B4-BE49-F238E27FC236}">
                <a16:creationId xmlns:a16="http://schemas.microsoft.com/office/drawing/2014/main" id="{982417F1-FF33-4AED-9CF3-1CD041E4E89C}"/>
              </a:ext>
            </a:extLst>
          </p:cNvPr>
          <p:cNvSpPr/>
          <p:nvPr/>
        </p:nvSpPr>
        <p:spPr>
          <a:xfrm>
            <a:off x="3304033" y="5857784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18" name="TextBox 22">
            <a:extLst>
              <a:ext uri="{FF2B5EF4-FFF2-40B4-BE49-F238E27FC236}">
                <a16:creationId xmlns:a16="http://schemas.microsoft.com/office/drawing/2014/main" id="{92B098E2-F3E1-4CEB-9687-F358DC8AB365}"/>
              </a:ext>
            </a:extLst>
          </p:cNvPr>
          <p:cNvSpPr txBox="1"/>
          <p:nvPr/>
        </p:nvSpPr>
        <p:spPr>
          <a:xfrm>
            <a:off x="3377185" y="5930936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人数逾期率</a:t>
            </a:r>
          </a:p>
        </p:txBody>
      </p:sp>
      <p:sp>
        <p:nvSpPr>
          <p:cNvPr id="119" name="TextBox 23">
            <a:extLst>
              <a:ext uri="{FF2B5EF4-FFF2-40B4-BE49-F238E27FC236}">
                <a16:creationId xmlns:a16="http://schemas.microsoft.com/office/drawing/2014/main" id="{98729146-56F7-47B4-9AA7-418358FED8A9}"/>
              </a:ext>
            </a:extLst>
          </p:cNvPr>
          <p:cNvSpPr txBox="1"/>
          <p:nvPr/>
        </p:nvSpPr>
        <p:spPr>
          <a:xfrm>
            <a:off x="3377185" y="6132104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6.30%</a:t>
            </a:r>
          </a:p>
        </p:txBody>
      </p:sp>
      <p:sp>
        <p:nvSpPr>
          <p:cNvPr id="120" name="Rectangle 24">
            <a:extLst>
              <a:ext uri="{FF2B5EF4-FFF2-40B4-BE49-F238E27FC236}">
                <a16:creationId xmlns:a16="http://schemas.microsoft.com/office/drawing/2014/main" id="{0F753732-702E-46C8-9767-1523823886A7}"/>
              </a:ext>
            </a:extLst>
          </p:cNvPr>
          <p:cNvSpPr/>
          <p:nvPr/>
        </p:nvSpPr>
        <p:spPr>
          <a:xfrm>
            <a:off x="4579621" y="5857784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21" name="Rectangle 25">
            <a:extLst>
              <a:ext uri="{FF2B5EF4-FFF2-40B4-BE49-F238E27FC236}">
                <a16:creationId xmlns:a16="http://schemas.microsoft.com/office/drawing/2014/main" id="{990457D0-78F3-4D94-A99C-BE6AE021FADA}"/>
              </a:ext>
            </a:extLst>
          </p:cNvPr>
          <p:cNvSpPr/>
          <p:nvPr/>
        </p:nvSpPr>
        <p:spPr>
          <a:xfrm>
            <a:off x="4579621" y="5857784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22" name="TextBox 26">
            <a:extLst>
              <a:ext uri="{FF2B5EF4-FFF2-40B4-BE49-F238E27FC236}">
                <a16:creationId xmlns:a16="http://schemas.microsoft.com/office/drawing/2014/main" id="{25A536A1-9D0B-47A4-AA3D-350FCFBB9391}"/>
              </a:ext>
            </a:extLst>
          </p:cNvPr>
          <p:cNvSpPr txBox="1"/>
          <p:nvPr/>
        </p:nvSpPr>
        <p:spPr>
          <a:xfrm>
            <a:off x="4652773" y="5930936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金额逾期率</a:t>
            </a:r>
          </a:p>
        </p:txBody>
      </p:sp>
      <p:sp>
        <p:nvSpPr>
          <p:cNvPr id="123" name="TextBox 27">
            <a:extLst>
              <a:ext uri="{FF2B5EF4-FFF2-40B4-BE49-F238E27FC236}">
                <a16:creationId xmlns:a16="http://schemas.microsoft.com/office/drawing/2014/main" id="{9A01F9F9-9D00-4C3B-B469-CC75B5CFE282}"/>
              </a:ext>
            </a:extLst>
          </p:cNvPr>
          <p:cNvSpPr txBox="1"/>
          <p:nvPr/>
        </p:nvSpPr>
        <p:spPr>
          <a:xfrm>
            <a:off x="4652773" y="6132104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3.00%</a:t>
            </a:r>
          </a:p>
        </p:txBody>
      </p:sp>
    </p:spTree>
    <p:extLst>
      <p:ext uri="{BB962C8B-B14F-4D97-AF65-F5344CB8AC3E}">
        <p14:creationId xmlns:p14="http://schemas.microsoft.com/office/powerpoint/2010/main" val="26805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6042" y="210312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价值模型：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模型识别的是客户价值，不是历史额度策略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80" b="0" i="0" u="none" strike="noStrike" kern="1200" cap="none" spc="0" normalizeH="0" baseline="0" noProof="0">
                <a:ln>
                  <a:noFill/>
                </a:ln>
                <a:solidFill>
                  <a:srgbClr val="636F84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额度决定价值释放的上限，</a:t>
            </a:r>
            <a:r>
              <a:rPr kumimoji="0" sz="128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价值决定额度应该投向哪里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60606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8553" y="1578772"/>
            <a:ext cx="4425696" cy="130013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15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sz="969" b="1" i="0" u="none" strike="noStrike" kern="1200" cap="none" spc="0" normalizeH="0" baseline="0" noProof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模型解决识别问题，不解决因果问题。</a:t>
            </a:r>
            <a:r>
              <a:rPr kumimoji="0" sz="969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 价值模型负责识别“谁值得经营”，额度策略负责“给多少额度去释放价值”，两个阶段职责分离。</a:t>
            </a:r>
          </a:p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15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sz="969" b="1" i="0" u="none" strike="noStrike" kern="1200" cap="none" spc="0" normalizeH="0" baseline="0" noProof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额度可以放大价值，但不能创造价值。</a:t>
            </a:r>
            <a:r>
              <a:rPr kumimoji="0" sz="969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 同样给 5000 额度，稳定低风险的客户长期付息、波动高风险的快速逾期——额度一样，价值可以不同。</a:t>
            </a:r>
          </a:p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15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sz="969" b="1" i="0" u="none" strike="noStrike" kern="1200" cap="none" spc="0" normalizeH="0" baseline="0" noProof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实证证明价值信号存在于额度之外。</a:t>
            </a:r>
            <a:r>
              <a:rPr kumimoji="0" sz="969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 若模型只是在学额度，同额度内部就不该再有区分——所以区分能力来自额度之外。</a:t>
            </a:r>
          </a:p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15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sz="969" b="1" i="0" u="none" strike="noStrike" kern="1200" cap="none" spc="0" normalizeH="0" baseline="0" noProof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价值扩张以风险预算为上限。</a:t>
            </a:r>
            <a:r>
              <a:rPr kumimoji="0" sz="969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 落地采用风险 × 价值联合决策，不追求单客价值最大化，而是风险约束下的组合收益最大化。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42432" y="1400090"/>
            <a:ext cx="587044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30" b="1" i="0" u="none" strike="noStrike" kern="1200" cap="none" spc="0" normalizeH="0" baseline="0" noProof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表2：各总额度区间 × 价值分箱的 3M30 逾期率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42432" y="1656122"/>
          <a:ext cx="5870448" cy="131673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总额度区间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价值1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价值2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价值3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价值4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价值5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有效样本数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500–1000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4.37%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8.04%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7.47%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12.22%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20.59%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5,769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1000–1500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5.73%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8.35%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10.94%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20.14%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28.04%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3,748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1500–2000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7.80%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10.76%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13.55%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16.84%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37.88%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1,254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2000–2500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8.84%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12.08%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17.17%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24.71%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28.12%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2,181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7.05%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9.46%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10.61%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15.91%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22.90%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12,988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742432" y="3046010"/>
            <a:ext cx="58704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3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注：500–1000 段价值2/3 有轻微倒挂（8.04% vs 7.47%），上屏引用「首尾方向全部正确」，不写「全部严格单调」。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2432" y="4066737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30" b="1" i="0" u="none" strike="noStrike" kern="1200" cap="none" spc="0" normalizeH="0" baseline="0" noProof="0" dirty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表1：各申请金额区间 × </a:t>
            </a:r>
            <a:r>
              <a:rPr kumimoji="0" sz="1030" b="1" i="0" u="none" strike="noStrike" kern="1200" cap="none" spc="0" normalizeH="0" baseline="0" noProof="0" dirty="0" err="1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价值分箱的平均收入</a:t>
            </a:r>
            <a:endParaRPr kumimoji="0" sz="1050" b="1" i="0" u="none" strike="noStrike" kern="120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42432" y="4325112"/>
          <a:ext cx="5669278" cy="1828800"/>
        </p:xfrm>
        <a:graphic>
          <a:graphicData uri="http://schemas.openxmlformats.org/drawingml/2006/table">
            <a:tbl>
              <a:tblPr/>
              <a:tblGrid>
                <a:gridCol w="722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9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9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92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申请金额区间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价值1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价值2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价值3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价值4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价值5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500–1000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9,559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6,926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6,081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5,518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3,857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1000–1500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8,596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6,850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6,322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5,446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3,982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1500–2000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8,829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7,103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6,186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5,535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3,928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2000–2500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9,891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7,258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6,465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5,826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4,028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2500–5000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9,288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7,454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6,374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5,467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3,965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5000+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10,388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7,849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6,768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6,322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3,891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9,611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7,284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6,366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5,682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 dirty="0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3,924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12064" y="4069081"/>
            <a:ext cx="442569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30" b="1" i="0" u="none" strike="noStrike" kern="1200" cap="none" spc="0" normalizeH="0" baseline="0" noProof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表3：各申请金额区间 × 价值分箱的平均可支配盈余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12064" y="4325112"/>
          <a:ext cx="4425695" cy="1828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3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 dirty="0" err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申请金额区间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价值1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价值2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价值3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价值4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价值5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500–1000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1,106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763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288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793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287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1000–1500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940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685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731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603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46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1500–2000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1,096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798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729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608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144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2000–2500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1,708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737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496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828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−154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2500–5000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1,196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583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681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569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124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5000+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1,488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931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989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1,010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−353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1,334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745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598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761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90" b="1" dirty="0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84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12064" y="6227065"/>
            <a:ext cx="4425696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3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注：盈余＝收入−支出（可支配余量）；按「价值1最高、价值5最低」首尾判读，中间档并非严格单调；价值5在2000–2500与5000+两段转负（入不敷出）。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0506226-8465-4441-A63A-D9C9A5F454B8}"/>
              </a:ext>
            </a:extLst>
          </p:cNvPr>
          <p:cNvSpPr txBox="1"/>
          <p:nvPr/>
        </p:nvSpPr>
        <p:spPr>
          <a:xfrm>
            <a:off x="398553" y="3569963"/>
            <a:ext cx="45392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69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同申请金额内仍有区分：</a:t>
            </a:r>
            <a:r>
              <a:rPr kumimoji="0" sz="969" b="0" i="0" u="none" strike="noStrike" kern="1200" cap="none" spc="0" normalizeH="0" baseline="0" noProof="0" dirty="0" err="1">
                <a:ln>
                  <a:noFill/>
                </a:ln>
                <a:solidFill>
                  <a:srgbClr val="636F84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价值</a:t>
            </a:r>
            <a:r>
              <a:rPr kumimoji="0" sz="969" b="0" i="0" u="none" strike="noStrike" kern="1200" cap="none" spc="0" normalizeH="0" baseline="0" noProof="0" dirty="0">
                <a:ln>
                  <a:noFill/>
                </a:ln>
                <a:solidFill>
                  <a:srgbClr val="636F84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 1→价值 5 </a:t>
            </a:r>
            <a:r>
              <a:rPr kumimoji="0" sz="969" b="0" i="0" u="none" strike="noStrike" kern="1200" cap="none" spc="0" normalizeH="0" baseline="0" noProof="0" dirty="0" err="1">
                <a:ln>
                  <a:noFill/>
                </a:ln>
                <a:solidFill>
                  <a:srgbClr val="636F84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的平均收入仍然全部单调下降（如</a:t>
            </a:r>
            <a:r>
              <a:rPr kumimoji="0" sz="969" b="0" i="0" u="none" strike="noStrike" kern="1200" cap="none" spc="0" normalizeH="0" baseline="0" noProof="0" dirty="0">
                <a:ln>
                  <a:noFill/>
                </a:ln>
                <a:solidFill>
                  <a:srgbClr val="636F84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 500–1000 段 </a:t>
            </a:r>
            <a:r>
              <a:rPr kumimoji="0" sz="969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9,559→3,857</a:t>
            </a:r>
            <a:r>
              <a:rPr kumimoji="0" sz="969" b="0" i="0" u="none" strike="noStrike" kern="1200" cap="none" spc="0" normalizeH="0" baseline="0" noProof="0" dirty="0">
                <a:ln>
                  <a:noFill/>
                </a:ln>
                <a:solidFill>
                  <a:srgbClr val="636F84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、5000+ 段 </a:t>
            </a:r>
            <a:r>
              <a:rPr kumimoji="0" sz="969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10,388→3,891</a:t>
            </a:r>
            <a:r>
              <a:rPr kumimoji="0" sz="969" b="0" i="0" u="none" strike="noStrike" kern="1200" cap="none" spc="0" normalizeH="0" baseline="0" noProof="0" dirty="0">
                <a:ln>
                  <a:noFill/>
                </a:ln>
                <a:solidFill>
                  <a:srgbClr val="636F84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）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3F84E0B-3D12-4283-82C2-CD5D69069FAE}"/>
              </a:ext>
            </a:extLst>
          </p:cNvPr>
          <p:cNvSpPr txBox="1"/>
          <p:nvPr/>
        </p:nvSpPr>
        <p:spPr>
          <a:xfrm>
            <a:off x="5698499" y="1087982"/>
            <a:ext cx="60949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69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同额度内仍有区分：</a:t>
            </a:r>
            <a:r>
              <a:rPr kumimoji="0" sz="969" b="0" i="0" u="none" strike="noStrike" kern="1200" cap="none" spc="0" normalizeH="0" baseline="0" noProof="0">
                <a:ln>
                  <a:noFill/>
                </a:ln>
                <a:solidFill>
                  <a:srgbClr val="636F84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在总额度 500–2500 四个区间内，逾期率随价值变差单调上升（</a:t>
            </a:r>
            <a:r>
              <a:rPr kumimoji="0" sz="969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4.37%→20.59%</a:t>
            </a:r>
            <a:r>
              <a:rPr kumimoji="0" sz="969" b="0" i="0" u="none" strike="noStrike" kern="1200" cap="none" spc="0" normalizeH="0" baseline="0" noProof="0">
                <a:ln>
                  <a:noFill/>
                </a:ln>
                <a:solidFill>
                  <a:srgbClr val="636F84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 等）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8362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6042" y="210312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价值模型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9959131E-766F-4979-9346-3689943A3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26" y="914140"/>
            <a:ext cx="5538651" cy="5608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CN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风险低，不等于价值高</a:t>
            </a:r>
            <a:b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风险模型主要预测逾期和损失，无法判断客户的用款需求、收入贡献、留存复贷和长期经营价值。只用风险模型，容易把“低风险但低需求、低贡献”的客户误当成重点经营对象。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zh-CN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同一风险水平下，客户价值仍有明显差异</a:t>
            </a:r>
            <a:b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以风险1客群为例：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价值1平均收入为8,351，价值5只有3,265，相差约1.6倍；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价值1通过率42.76%，价值5只有7.01%。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在风险5客群中，价值1平均收入19,425，价值5为4,153，差距更大。说明风险分层完成后，价值模型仍然能够提供显著的增量排序信息。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zh-CN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额度提供价值空间，但不保证价值实现</a:t>
            </a:r>
            <a:b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更准确地说，授信额度本身不会直接产生利息，真正产生价值的是：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实际用款余额 × 利率 × 用款时长，以及客户能否正常还款、留存和复贷。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相同额度下，有的客户充分用款、持续贡献；有的客户使用率低、很快流失；还有的客户早期逾期。额度可以放大价值，但无法判断价值最终能不能实现。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zh-CN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额度资源有限，需要价值模型决定配置顺序</a:t>
            </a:r>
            <a:b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在资本、风险预算和额度总量受限的情况下，不能对所有低风险客户平均分配额度。价值模型的作用是把有限额度优先投向更可能用款、更能持续贡献、风险调整后收益更好的客户。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zh-CN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风险与价值联合使用，才能避免两类错误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低风险、低价值：可以准入，但不应过度配置额度；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高价值、高风险：有经营潜力，但不能因为价值高就盲目提额；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低风险、高价值：才是优先提额、降价和重点经营的核心客群；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高风险、低价值：应限额、提价、人工审核或谨慎准入。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23615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3774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Noto Sans CJK SC"/>
                <a:ea typeface="微软雅黑"/>
                <a:cs typeface="+mn-cs"/>
              </a:rPr>
              <a:t>四类客群矩阵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9882" y="1263142"/>
            <a:ext cx="539496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1614" y="1421892"/>
            <a:ext cx="1170432" cy="228600"/>
          </a:xfrm>
          <a:prstGeom prst="roundRect">
            <a:avLst/>
          </a:prstGeom>
          <a:solidFill>
            <a:srgbClr val="2F6B4F"/>
          </a:solidFill>
          <a:ln w="12700"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价值好 × 风险好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4474" y="2058669"/>
            <a:ext cx="5065776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7626" y="2122678"/>
            <a:ext cx="4919472" cy="164592"/>
          </a:xfrm>
          <a:prstGeom prst="rect">
            <a:avLst/>
          </a:prstGeom>
          <a:noFill/>
        </p:spPr>
        <p:txBody>
          <a:bodyPr wrap="none" lIns="36576" tIns="0" rIns="36576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对应产品  </a:t>
            </a:r>
            <a:r>
              <a:rPr kumimoji="0" sz="96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3000-5000 优质 MACC / LACC 候选池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762" y="2461006"/>
            <a:ext cx="4533138" cy="15895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1" i="0" u="none" strike="noStrike" kern="1200" cap="none" spc="0" normalizeH="0" baseline="0" noProof="0" dirty="0" err="1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风险低、价值好，适合作为重点经营客群</a:t>
            </a:r>
            <a:r>
              <a:rPr kumimoji="0" sz="910" b="1" i="0" u="none" strike="noStrike" kern="1200" cap="none" spc="0" normalizeH="0" baseline="0" noProof="0" dirty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。</a:t>
            </a:r>
            <a:r>
              <a: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762" y="3256534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2762" y="3256534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5914" y="3329686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样本数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914" y="3530854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18,934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38350" y="3256534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38350" y="3256534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11502" y="3329686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样本占比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11502" y="3530854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12.00%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3938" y="3256534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313938" y="3256534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87090" y="3329686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人数逾期率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7090" y="3530854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6.30%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89526" y="3256534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89526" y="3256534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2678" y="3329686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金额逾期率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2678" y="3530854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3.00%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0018" y="1263142"/>
            <a:ext cx="5513832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32204" y="1464310"/>
            <a:ext cx="1170432" cy="228600"/>
          </a:xfrm>
          <a:prstGeom prst="roundRect">
            <a:avLst/>
          </a:prstGeom>
          <a:solidFill>
            <a:srgbClr val="9A7211"/>
          </a:solidFill>
          <a:ln w="12700">
            <a:solidFill>
              <a:srgbClr val="9A7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价值好</a:t>
            </a: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× </a:t>
            </a:r>
            <a:r>
              <a:rPr kumimoji="0" sz="85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风险差</a:t>
            </a:r>
            <a:endParaRPr kumimoji="0" sz="8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404609" y="2058669"/>
            <a:ext cx="518464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A7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77762" y="2122678"/>
            <a:ext cx="5038344" cy="164592"/>
          </a:xfrm>
          <a:prstGeom prst="rect">
            <a:avLst/>
          </a:prstGeom>
          <a:noFill/>
        </p:spPr>
        <p:txBody>
          <a:bodyPr wrap="none" lIns="36576" tIns="0" rIns="36576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对应产品  </a:t>
            </a:r>
            <a:r>
              <a:rPr kumimoji="0" sz="960" b="1" i="0" u="none" strike="noStrike" kern="1200" cap="none" spc="0" normalizeH="0" baseline="0" noProof="0">
                <a:ln>
                  <a:noFill/>
                </a:ln>
                <a:solidFill>
                  <a:srgbClr val="9A7211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EWA / 超短期产品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2898" y="2461006"/>
            <a:ext cx="4873752" cy="30777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1" i="0" u="none" strike="noStrike" kern="1200" cap="none" spc="0" normalizeH="0" baseline="0" noProof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客户具备一定经营价值，但风险压力已经抬升。</a:t>
            </a:r>
            <a:r>
              <a:rPr kumimoji="0" sz="910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不适合直接放款大额度或期限，更适合通过短期、小额、即时周转产品承接需求，并控制风险暴露。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2898" y="2982213"/>
            <a:ext cx="2011063" cy="149593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9" b="1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策略：</a:t>
            </a:r>
            <a:r>
              <a:rPr kumimoji="0" sz="869" b="1" i="0" u="none" strike="noStrike" kern="1200" cap="none" spc="0" normalizeH="0" baseline="0" noProof="0" dirty="0" err="1">
                <a:ln>
                  <a:noFill/>
                </a:ln>
                <a:solidFill>
                  <a:srgbClr val="9A7211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短期承接</a:t>
            </a:r>
            <a:r>
              <a:rPr kumimoji="0" sz="869" b="1" i="0" u="none" strike="noStrike" kern="1200" cap="none" spc="0" normalizeH="0" baseline="0" noProof="0" dirty="0">
                <a:ln>
                  <a:noFill/>
                </a:ln>
                <a:solidFill>
                  <a:srgbClr val="9A7211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/ </a:t>
            </a:r>
            <a:r>
              <a:rPr kumimoji="0" sz="869" b="1" i="0" u="none" strike="noStrike" kern="1200" cap="none" spc="0" normalizeH="0" baseline="0" noProof="0" dirty="0" err="1">
                <a:ln>
                  <a:noFill/>
                </a:ln>
                <a:solidFill>
                  <a:srgbClr val="9A7211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小额控制</a:t>
            </a:r>
            <a:r>
              <a:rPr kumimoji="0" sz="869" b="1" i="0" u="none" strike="noStrike" kern="1200" cap="none" spc="0" normalizeH="0" baseline="0" noProof="0" dirty="0">
                <a:ln>
                  <a:noFill/>
                </a:ln>
                <a:solidFill>
                  <a:srgbClr val="9A7211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/ </a:t>
            </a:r>
            <a:r>
              <a:rPr kumimoji="0" sz="869" b="1" i="0" u="none" strike="noStrike" kern="1200" cap="none" spc="0" normalizeH="0" baseline="0" noProof="0" dirty="0" err="1">
                <a:ln>
                  <a:noFill/>
                </a:ln>
                <a:solidFill>
                  <a:srgbClr val="9A7211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即时周转</a:t>
            </a:r>
            <a:r>
              <a:rPr kumimoji="0" sz="869" b="1" i="0" u="none" strike="noStrike" kern="1200" cap="none" spc="0" normalizeH="0" baseline="0" noProof="0" dirty="0">
                <a:ln>
                  <a:noFill/>
                </a:ln>
                <a:solidFill>
                  <a:srgbClr val="9A7211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9882" y="3951478"/>
            <a:ext cx="539496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778764" y="4116469"/>
            <a:ext cx="1170432" cy="228600"/>
          </a:xfrm>
          <a:prstGeom prst="roundRect">
            <a:avLst/>
          </a:prstGeom>
          <a:solidFill>
            <a:srgbClr val="1E4F7A"/>
          </a:solidFill>
          <a:ln w="12700">
            <a:solidFill>
              <a:srgbClr val="1E4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价值差 × 风险好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1050" y="4458970"/>
            <a:ext cx="5065776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4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54202" y="4522978"/>
            <a:ext cx="4919472" cy="164592"/>
          </a:xfrm>
          <a:prstGeom prst="rect">
            <a:avLst/>
          </a:prstGeom>
          <a:noFill/>
        </p:spPr>
        <p:txBody>
          <a:bodyPr wrap="none" lIns="36576" tIns="0" rIns="36576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对应产品  </a:t>
            </a:r>
            <a:r>
              <a:rPr kumimoji="0" sz="960" b="1" i="0" u="none" strike="noStrike" kern="1200" cap="none" spc="0" normalizeH="0" baseline="0" noProof="0">
                <a:ln>
                  <a:noFill/>
                </a:ln>
                <a:solidFill>
                  <a:srgbClr val="1E4F7A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低额度 Personal Loan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2762" y="5149342"/>
            <a:ext cx="4805619" cy="30777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1" i="0" u="none" strike="noStrike" kern="1200" cap="none" spc="0" normalizeH="0" baseline="0" noProof="0" dirty="0" err="1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风险相对可控，但收入、额度承接和转化能力偏弱。</a:t>
            </a:r>
            <a:r>
              <a:rPr kumimoji="0" sz="910" b="0" i="0" u="none" strike="noStrike" kern="1200" cap="none" spc="0" normalizeH="0" baseline="0" noProof="0" dirty="0" err="1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不适合作为强经营客群，可通过低额度</a:t>
            </a:r>
            <a:r>
              <a: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Personal Loan </a:t>
            </a:r>
            <a:r>
              <a:rPr kumimoji="0" sz="910" b="0" i="0" u="none" strike="noStrike" kern="1200" cap="none" spc="0" normalizeH="0" baseline="0" noProof="0" dirty="0" err="1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验证稳定需求、复贷表现和真实贡献</a:t>
            </a:r>
            <a:r>
              <a: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40018" y="3951478"/>
            <a:ext cx="5513832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6404609" y="4116070"/>
            <a:ext cx="1170432" cy="228600"/>
          </a:xfrm>
          <a:prstGeom prst="roundRect">
            <a:avLst/>
          </a:prstGeom>
          <a:solidFill>
            <a:srgbClr val="A2463C"/>
          </a:solidFill>
          <a:ln w="12700">
            <a:solidFill>
              <a:srgbClr val="A24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价值差 × 风险差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4609" y="4454397"/>
            <a:ext cx="518464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24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477762" y="4518405"/>
            <a:ext cx="5038344" cy="164592"/>
          </a:xfrm>
          <a:prstGeom prst="rect">
            <a:avLst/>
          </a:prstGeom>
          <a:noFill/>
        </p:spPr>
        <p:txBody>
          <a:bodyPr wrap="none" lIns="36576" tIns="0" rIns="36576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0" i="0" u="none" strike="noStrike" kern="1200" cap="none" spc="0" normalizeH="0" baseline="0" noProof="0" dirty="0" err="1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对应产品</a:t>
            </a:r>
            <a:r>
              <a: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 </a:t>
            </a:r>
            <a:r>
              <a:rPr kumimoji="0" sz="960" b="1" i="0" u="none" strike="noStrike" kern="1200" cap="none" spc="0" normalizeH="0" baseline="0" noProof="0" dirty="0" err="1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原则上不重点承接</a:t>
            </a:r>
            <a:endParaRPr kumimoji="0" sz="960" b="1" i="0" u="none" strike="noStrike" kern="1200" cap="none" spc="0" normalizeH="0" baseline="0" noProof="0" dirty="0">
              <a:ln>
                <a:noFill/>
              </a:ln>
              <a:solidFill>
                <a:srgbClr val="A2463C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422898" y="5149342"/>
            <a:ext cx="4802150" cy="30777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1" i="0" u="none" strike="noStrike" kern="1200" cap="none" spc="0" normalizeH="0" baseline="0" noProof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同时处在高风险、弱价值位置，风险暴露明显。</a:t>
            </a:r>
            <a:r>
              <a:rPr kumimoji="0" sz="910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该客群不建议绑定扩展型产品，重点应放在限额、提价、人工审核和谨慎准入。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22898" y="5944870"/>
            <a:ext cx="1232154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6422898" y="5944870"/>
            <a:ext cx="1232154" cy="27432"/>
          </a:xfrm>
          <a:prstGeom prst="rect">
            <a:avLst/>
          </a:prstGeom>
          <a:solidFill>
            <a:srgbClr val="A2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496050" y="6018022"/>
            <a:ext cx="1085850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样本数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96050" y="6219190"/>
            <a:ext cx="1085850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77,057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28204" y="5944870"/>
            <a:ext cx="1232154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728204" y="5944870"/>
            <a:ext cx="1232154" cy="27432"/>
          </a:xfrm>
          <a:prstGeom prst="rect">
            <a:avLst/>
          </a:prstGeom>
          <a:solidFill>
            <a:srgbClr val="A2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801356" y="6018022"/>
            <a:ext cx="1085850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样本占比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01356" y="6219190"/>
            <a:ext cx="1085850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48.85%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33510" y="5944870"/>
            <a:ext cx="1232154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9033510" y="5944870"/>
            <a:ext cx="1232154" cy="27432"/>
          </a:xfrm>
          <a:prstGeom prst="rect">
            <a:avLst/>
          </a:prstGeom>
          <a:solidFill>
            <a:srgbClr val="A2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106662" y="6018022"/>
            <a:ext cx="1085850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人数逾期率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06662" y="6219190"/>
            <a:ext cx="1085850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22.25%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338816" y="5944870"/>
            <a:ext cx="1232154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0338816" y="5944870"/>
            <a:ext cx="1232154" cy="27432"/>
          </a:xfrm>
          <a:prstGeom prst="rect">
            <a:avLst/>
          </a:prstGeom>
          <a:solidFill>
            <a:srgbClr val="A2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0411968" y="6018022"/>
            <a:ext cx="1085850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金额逾期率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411968" y="6219190"/>
            <a:ext cx="1085850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15.38%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84632" y="777240"/>
            <a:ext cx="10927080" cy="13716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129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10312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效果：跨时间稳定，分箱单调，交叉分化清晰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585216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60" b="0" i="0" u="none" strike="noStrike" kern="1200" cap="none" spc="0" normalizeH="0" baseline="0" noProof="0">
                <a:ln>
                  <a:noFill/>
                </a:ln>
                <a:solidFill>
                  <a:srgbClr val="636F84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风险与价值两个维度各自排序成立，交叉后两端分化</a:t>
            </a:r>
            <a:r>
              <a:rPr kumimoji="0" sz="126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近 5 倍</a:t>
            </a:r>
            <a:r>
              <a:rPr kumimoji="0" sz="1260" b="0" i="0" u="none" strike="noStrike" kern="1200" cap="none" spc="0" normalizeH="0" baseline="0" noProof="0">
                <a:ln>
                  <a:noFill/>
                </a:ln>
                <a:solidFill>
                  <a:srgbClr val="636F84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——联合分层具备数据基础。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4DD557-F88C-471A-8315-115E25447C86}"/>
              </a:ext>
            </a:extLst>
          </p:cNvPr>
          <p:cNvGrpSpPr/>
          <p:nvPr/>
        </p:nvGrpSpPr>
        <p:grpSpPr>
          <a:xfrm>
            <a:off x="512064" y="1207008"/>
            <a:ext cx="5376672" cy="729508"/>
            <a:chOff x="512064" y="1207008"/>
            <a:chExt cx="5376672" cy="896112"/>
          </a:xfrm>
        </p:grpSpPr>
        <p:sp>
          <p:nvSpPr>
            <p:cNvPr id="5" name="Rectangle 4"/>
            <p:cNvSpPr/>
            <p:nvPr/>
          </p:nvSpPr>
          <p:spPr>
            <a:xfrm>
              <a:off x="512064" y="1207008"/>
              <a:ext cx="2633472" cy="896112"/>
            </a:xfrm>
            <a:prstGeom prst="rect">
              <a:avLst/>
            </a:prstGeom>
            <a:solidFill>
              <a:srgbClr val="E3EB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46304" tIns="128016" bIns="54864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A0A0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AUC（OOT）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1F4E79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0.7294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60606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INS 0.7015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12064" y="1207008"/>
              <a:ext cx="2633472" cy="54864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55264" y="1207008"/>
              <a:ext cx="2633472" cy="896112"/>
            </a:xfrm>
            <a:prstGeom prst="rect">
              <a:avLst/>
            </a:prstGeom>
            <a:solidFill>
              <a:srgbClr val="E3EB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46304" tIns="128016" bIns="54864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1" i="0" u="none" strike="noStrike" kern="1200" cap="none" spc="0" normalizeH="0" baseline="0" noProof="0">
                  <a:ln>
                    <a:noFill/>
                  </a:ln>
                  <a:solidFill>
                    <a:srgbClr val="0A0A0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KS（OOT）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500" b="1" i="0" u="none" strike="noStrike" kern="1200" cap="none" spc="0" normalizeH="0" baseline="0" noProof="0">
                  <a:ln>
                    <a:noFill/>
                  </a:ln>
                  <a:solidFill>
                    <a:srgbClr val="1F4E79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0.3467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60606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INS 0.2939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255264" y="1207008"/>
              <a:ext cx="2633472" cy="54864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512064" y="2111199"/>
            <a:ext cx="5376672" cy="1417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150"/>
              </a:spcAft>
              <a:buClrTx/>
              <a:buSzTx/>
              <a:buFontTx/>
              <a:buNone/>
              <a:tabLst/>
              <a:defRPr/>
            </a:pPr>
            <a:r>
              <a:rPr kumimoji="0" sz="88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模型概况：</a:t>
            </a:r>
            <a:r>
              <a:rPr kumimoji="0" sz="880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新客价值模型 1.0，LightGBM 二分类，17 个银行流水特征，建模样本 </a:t>
            </a:r>
            <a:r>
              <a:rPr kumimoji="0" sz="88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56,330</a:t>
            </a:r>
            <a:r>
              <a:rPr kumimoji="0" sz="880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（成交客户，2024-04 起）；目标=「3 个月利息收入低于 160」的弱价值标记（占比 </a:t>
            </a:r>
            <a:r>
              <a:rPr kumimoji="0" sz="88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27.12%</a:t>
            </a:r>
            <a:r>
              <a:rPr kumimoji="0" sz="880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）；原始分越高=弱价值概率越高，对外价值 1（最好）→ 5（最弱）。</a:t>
            </a:r>
          </a:p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150"/>
              </a:spcAft>
              <a:buClrTx/>
              <a:buSzTx/>
              <a:buFontTx/>
              <a:buNone/>
              <a:tabLst/>
              <a:defRPr/>
            </a:pPr>
            <a:r>
              <a:rPr kumimoji="0" sz="88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分箱单调：</a:t>
            </a:r>
            <a:r>
              <a:rPr kumimoji="0" sz="880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申请样本 151,579，价值 1→5：收入 </a:t>
            </a:r>
            <a:r>
              <a:rPr kumimoji="0" sz="88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9,611→3,924</a:t>
            </a:r>
            <a:r>
              <a:rPr kumimoji="0" sz="880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、通过率 </a:t>
            </a:r>
            <a:r>
              <a:rPr kumimoji="0" sz="88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41.04%→6.57%</a:t>
            </a:r>
            <a:r>
              <a:rPr kumimoji="0" sz="880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、3M30 逾期率 </a:t>
            </a:r>
            <a:r>
              <a:rPr kumimoji="0" sz="88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7.05%→22.90%</a:t>
            </a:r>
            <a:r>
              <a:rPr kumimoji="0" sz="880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，逐档单调、无倒挂。</a:t>
            </a:r>
          </a:p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150"/>
              </a:spcAft>
              <a:buClrTx/>
              <a:buSzTx/>
              <a:buFontTx/>
              <a:buNone/>
              <a:tabLst/>
              <a:defRPr/>
            </a:pPr>
            <a:r>
              <a:rPr kumimoji="0" sz="88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风险模型对照：</a:t>
            </a:r>
            <a:r>
              <a:rPr kumimoji="0" sz="880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风险 1→5，3M30 逾期率 </a:t>
            </a:r>
            <a:r>
              <a:rPr kumimoji="0" sz="88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5.92%→22.02%</a:t>
            </a:r>
            <a:r>
              <a:rPr kumimoji="0" sz="880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、通过率 </a:t>
            </a:r>
            <a:r>
              <a:rPr kumimoji="0" sz="88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32.91%→7.49%</a:t>
            </a:r>
            <a:r>
              <a:rPr kumimoji="0" sz="880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，排序清晰、无倒挂——两个维度各自成立，联合分层成立。</a:t>
            </a:r>
          </a:p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150"/>
              </a:spcAft>
              <a:buClrTx/>
              <a:buSzTx/>
              <a:buFontTx/>
              <a:buNone/>
              <a:tabLst/>
              <a:defRPr/>
            </a:pPr>
            <a:r>
              <a:rPr kumimoji="0" sz="88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交叉结果与使用边界：</a:t>
            </a:r>
            <a:r>
              <a:rPr kumimoji="0" sz="880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申请样本 157,741，最好格「风险1×价值1」</a:t>
            </a:r>
            <a:r>
              <a:rPr kumimoji="0" sz="88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5.74%</a:t>
            </a:r>
            <a:r>
              <a:rPr kumimoji="0" sz="880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、最差格「风险5×价值5」</a:t>
            </a:r>
            <a:r>
              <a:rPr kumimoji="0" sz="880" b="1" i="0" u="none" strike="noStrike" kern="1200" cap="none" spc="0" normalizeH="0" baseline="0" noProof="0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27.05%</a:t>
            </a:r>
            <a:r>
              <a:rPr kumimoji="0" sz="880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；样本集中于最差格（46,235，29.3%），价值5档占 46.45%。预测性模型回答「当前策略下谁更可能贡献价值」，OOT 弱价值概率低估约 2.15pp，适合排序分层，概率阈值/定价需先校准。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8" y="4145701"/>
            <a:ext cx="1089964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表4：风险 × </a:t>
            </a:r>
            <a:r>
              <a:rPr kumimoji="0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价值</a:t>
            </a: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3M30 </a:t>
            </a:r>
            <a:r>
              <a:rPr kumimoji="0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人数逾期率</a:t>
            </a:r>
            <a:endParaRPr kumimoji="0" sz="1050" b="1" i="0" u="none" strike="noStrike" kern="120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12068" y="4401733"/>
          <a:ext cx="10899644" cy="153619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2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2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20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20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价值 \ 风险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风险1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风险2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风险3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风险4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风险5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价值1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2F6B4F"/>
                          </a:solidFill>
                          <a:latin typeface="微软雅黑"/>
                          <a:ea typeface="微软雅黑"/>
                        </a:rPr>
                        <a:t>5.74%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EFF7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5.99%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10.57%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10.55%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10.42%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2F6B4F"/>
                          </a:solidFill>
                          <a:latin typeface="微软雅黑"/>
                          <a:ea typeface="微软雅黑"/>
                        </a:rPr>
                        <a:t>7.05%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价值2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5.46%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8.38%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9.69%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13.80%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14.34%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9.46%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价值3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6.35%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8.38%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10.78%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11.76%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 dirty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14.61%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10.61%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价值4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8.04%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8.15%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14.88%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16.80%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20.27%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15.91%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价值5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11.54%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10.83%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13.31%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19.28%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27.05%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CF1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22.90%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2F6B4F"/>
                          </a:solidFill>
                          <a:latin typeface="微软雅黑"/>
                          <a:ea typeface="微软雅黑"/>
                        </a:rPr>
                        <a:t>5.92%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7.79%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11.70%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15.16%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A2463C"/>
                          </a:solidFill>
                          <a:latin typeface="微软雅黑"/>
                          <a:ea typeface="微软雅黑"/>
                        </a:rPr>
                        <a:t>22.02%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13.19%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4072" y="6029365"/>
            <a:ext cx="1089964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注：价值1×风险5（96 个观察）、价值5×风险1（26 个观察）样本不足 100，上屏时在热力矩阵中淡化处理，不单独引用。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A464A7CB-ACEC-48F8-BCE9-4085AF94C5AB}"/>
              </a:ext>
            </a:extLst>
          </p:cNvPr>
          <p:cNvSpPr txBox="1"/>
          <p:nvPr/>
        </p:nvSpPr>
        <p:spPr>
          <a:xfrm>
            <a:off x="6381880" y="1163998"/>
            <a:ext cx="5376673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表8：入模变量重要度 Top10</a:t>
            </a:r>
          </a:p>
        </p:txBody>
      </p:sp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94FC042B-CB34-404F-9B62-BD772C038300}"/>
              </a:ext>
            </a:extLst>
          </p:cNvPr>
          <p:cNvGraphicFramePr>
            <a:graphicFrameLocks noGrp="1"/>
          </p:cNvGraphicFramePr>
          <p:nvPr/>
        </p:nvGraphicFramePr>
        <p:xfrm>
          <a:off x="6381880" y="1438318"/>
          <a:ext cx="5376672" cy="2816352"/>
        </p:xfrm>
        <a:graphic>
          <a:graphicData uri="http://schemas.openxmlformats.org/drawingml/2006/table">
            <a:tbl>
              <a:tblPr/>
              <a:tblGrid>
                <a:gridCol w="405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8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6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排名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变量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重要度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2700" cap="flat">
                      <a:noFill/>
                    </a:lnT>
                    <a:lnB w="19050" cap="flat">
                      <a:solidFill>
                        <a:srgbClr val="0A0A0A"/>
                      </a:solidFill>
                    </a:lnB>
                    <a:solidFill>
                      <a:srgbClr val="EF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bank_txn_income_wages_sum_182d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近 182 天工资收入汇总金额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20.25%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bank_txn_income_global_mean_56d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 dirty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近 56 </a:t>
                      </a:r>
                      <a:r>
                        <a:rPr sz="780" b="0" dirty="0" err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天收入均值</a:t>
                      </a:r>
                      <a:endParaRPr sz="800" b="1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15.60%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bank_txn_balance_debit_mean_168d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 dirty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近 168 </a:t>
                      </a:r>
                      <a:r>
                        <a:rPr sz="780" b="0" dirty="0" err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</a:rPr>
                        <a:t>天借方金额均值</a:t>
                      </a:r>
                      <a:endParaRPr sz="800" b="1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15.23%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bank_txn_lender_repay_bnpl_amount_sum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先买后付（BNPL）还款金额总和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6.98%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bank_txn_category_cluster_transfers_share_28d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近 28 天转账簇金额占比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6.32%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 dirty="0" err="1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bank_txn_lender_repay_loan_count_max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个人贷款还款单机构最大累计笔数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4.98%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bank_txn_balance_cv_56d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近 56 天余额变异系数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4.91%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bank_txn_lender_disburse_loan_amount_avg_l168d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近 168 天个人贷款放款金额均值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4.75%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bank_txn_category_insurance_debit_amt_14d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近 14 天保险出账金额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4.56%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bank_txn_category_cluster_debt_avg_ticket_168d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3F4650"/>
                          </a:solidFill>
                          <a:latin typeface="微软雅黑"/>
                          <a:ea typeface="微软雅黑"/>
                        </a:rPr>
                        <a:t>债务支出簇近 168 天平均客单价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 dirty="0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3.60%</a:t>
                      </a:r>
                    </a:p>
                  </a:txBody>
                  <a:tcPr marL="31750" marR="31750" marT="15240" marB="15240" anchor="ctr">
                    <a:lnL w="12700" cap="flat">
                      <a:noFill/>
                    </a:lnL>
                    <a:lnR w="12700" cap="flat"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6D6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3774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Noto Sans CJK SC"/>
                <a:ea typeface="微软雅黑"/>
                <a:cs typeface="+mn-cs"/>
              </a:rPr>
              <a:t>四类客群矩阵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9882" y="1263142"/>
            <a:ext cx="539496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4474" y="1446022"/>
            <a:ext cx="1353312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风险 1-2 × 价值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07514" y="1446022"/>
            <a:ext cx="1170432" cy="228600"/>
          </a:xfrm>
          <a:prstGeom prst="roundRect">
            <a:avLst/>
          </a:prstGeom>
          <a:solidFill>
            <a:srgbClr val="2F6B4F"/>
          </a:solidFill>
          <a:ln w="12700"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价值好 × 风险好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4474" y="1729486"/>
            <a:ext cx="5065776" cy="25603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优先经营客群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4474" y="2058669"/>
            <a:ext cx="5065776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7626" y="2122678"/>
            <a:ext cx="4919472" cy="164592"/>
          </a:xfrm>
          <a:prstGeom prst="rect">
            <a:avLst/>
          </a:prstGeom>
          <a:noFill/>
        </p:spPr>
        <p:txBody>
          <a:bodyPr wrap="none" lIns="36576" tIns="0" rIns="36576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对应产品  </a:t>
            </a:r>
            <a:r>
              <a:rPr kumimoji="0" sz="96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3000-5000 优质 MACC / LACC 候选池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762" y="2461006"/>
            <a:ext cx="4533138" cy="30777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1" i="0" u="none" strike="noStrike" kern="1200" cap="none" spc="0" normalizeH="0" baseline="0" noProof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风险低、价值好，适合作为重点经营客群。</a:t>
            </a:r>
            <a:r>
              <a:rPr kumimoji="0" sz="910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当前优先承接 3000-5000 优质 MACC，后续可从中筛选更优质、更稳定人群，作为 LACC / 循环贷的扩展候选。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762" y="2982213"/>
            <a:ext cx="5029200" cy="201168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9" b="1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策略：</a:t>
            </a:r>
            <a:r>
              <a:rPr kumimoji="0" sz="869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优先经营 / 优质 MACC / LACC 候选 / 循环贷候选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762" y="3256534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2762" y="3256534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5914" y="3329686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样本数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914" y="3530854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18,934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38350" y="3256534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38350" y="3256534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11502" y="3329686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样本占比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11502" y="3530854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12.00%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3938" y="3256534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313938" y="3256534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87090" y="3329686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人数逾期率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7090" y="3530854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6.30%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89526" y="3256534"/>
            <a:ext cx="1202436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89526" y="3256534"/>
            <a:ext cx="1202436" cy="27432"/>
          </a:xfrm>
          <a:prstGeom prst="rect">
            <a:avLst/>
          </a:prstGeom>
          <a:solidFill>
            <a:srgbClr val="2F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62678" y="3329686"/>
            <a:ext cx="1056132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金额逾期率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2678" y="3530854"/>
            <a:ext cx="1056132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3.00%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0018" y="1263142"/>
            <a:ext cx="5513832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404609" y="1446022"/>
            <a:ext cx="1353312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7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9A7211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风险 4-5 × 价值 1-2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7650" y="1446022"/>
            <a:ext cx="1170432" cy="228600"/>
          </a:xfrm>
          <a:prstGeom prst="roundRect">
            <a:avLst/>
          </a:prstGeom>
          <a:solidFill>
            <a:srgbClr val="9A7211"/>
          </a:solidFill>
          <a:ln w="12700">
            <a:solidFill>
              <a:srgbClr val="9A7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价值好 × 风险差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4609" y="1729486"/>
            <a:ext cx="5184648" cy="25603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9A7211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谨慎经营客群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4609" y="2058669"/>
            <a:ext cx="518464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A72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77762" y="2122678"/>
            <a:ext cx="5038344" cy="164592"/>
          </a:xfrm>
          <a:prstGeom prst="rect">
            <a:avLst/>
          </a:prstGeom>
          <a:noFill/>
        </p:spPr>
        <p:txBody>
          <a:bodyPr wrap="none" lIns="36576" tIns="0" rIns="36576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对应产品  </a:t>
            </a:r>
            <a:r>
              <a:rPr kumimoji="0" sz="960" b="1" i="0" u="none" strike="noStrike" kern="1200" cap="none" spc="0" normalizeH="0" baseline="0" noProof="0">
                <a:ln>
                  <a:noFill/>
                </a:ln>
                <a:solidFill>
                  <a:srgbClr val="9A7211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EWA / 超短期产品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2898" y="2461006"/>
            <a:ext cx="4873752" cy="30777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1" i="0" u="none" strike="noStrike" kern="1200" cap="none" spc="0" normalizeH="0" baseline="0" noProof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客户具备一定经营价值，但风险压力已经抬升。</a:t>
            </a:r>
            <a:r>
              <a:rPr kumimoji="0" sz="910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不适合直接放款大额度或期限，更适合通过短期、小额、即时周转产品承接需求，并控制风险暴露。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2898" y="2982213"/>
            <a:ext cx="5148072" cy="201168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9" b="1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策略：</a:t>
            </a:r>
            <a:r>
              <a:rPr kumimoji="0" sz="869" b="1" i="0" u="none" strike="noStrike" kern="1200" cap="none" spc="0" normalizeH="0" baseline="0" noProof="0">
                <a:ln>
                  <a:noFill/>
                </a:ln>
                <a:solidFill>
                  <a:srgbClr val="9A7211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短期承接 / 小额控制 / 即时周转 / 风险暴露控制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22898" y="3256534"/>
            <a:ext cx="2537460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422898" y="3256534"/>
            <a:ext cx="2537460" cy="27432"/>
          </a:xfrm>
          <a:prstGeom prst="rect">
            <a:avLst/>
          </a:prstGeom>
          <a:solidFill>
            <a:srgbClr val="9A7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96050" y="3329686"/>
            <a:ext cx="2391156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定位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6050" y="3530854"/>
            <a:ext cx="2391156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80" b="1" i="0" u="none" strike="noStrike" kern="1200" cap="none" spc="0" normalizeH="0" baseline="0" noProof="0">
                <a:ln>
                  <a:noFill/>
                </a:ln>
                <a:solidFill>
                  <a:srgbClr val="9A7211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有价值但风险高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33510" y="3256534"/>
            <a:ext cx="2537460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033510" y="3256534"/>
            <a:ext cx="2537460" cy="27432"/>
          </a:xfrm>
          <a:prstGeom prst="rect">
            <a:avLst/>
          </a:prstGeom>
          <a:solidFill>
            <a:srgbClr val="9A7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106662" y="3329686"/>
            <a:ext cx="2391156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人数逾期率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06662" y="3530854"/>
            <a:ext cx="2391156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80" b="1" i="0" u="none" strike="noStrike" kern="1200" cap="none" spc="0" normalizeH="0" baseline="0" noProof="0">
                <a:ln>
                  <a:noFill/>
                </a:ln>
                <a:solidFill>
                  <a:srgbClr val="9A7211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12.90%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9882" y="3951478"/>
            <a:ext cx="539496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744474" y="4134358"/>
            <a:ext cx="1353312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4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1E4F7A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风险 1-2 × 价值 4-5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07514" y="4134358"/>
            <a:ext cx="1170432" cy="228600"/>
          </a:xfrm>
          <a:prstGeom prst="roundRect">
            <a:avLst/>
          </a:prstGeom>
          <a:solidFill>
            <a:srgbClr val="1E4F7A"/>
          </a:solidFill>
          <a:ln w="12700">
            <a:solidFill>
              <a:srgbClr val="1E4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价值差 × 风险好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4474" y="4417822"/>
            <a:ext cx="5065776" cy="25603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E4F7A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收益验证客群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4474" y="4747006"/>
            <a:ext cx="5065776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4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17626" y="4811014"/>
            <a:ext cx="4919472" cy="164592"/>
          </a:xfrm>
          <a:prstGeom prst="rect">
            <a:avLst/>
          </a:prstGeom>
          <a:noFill/>
        </p:spPr>
        <p:txBody>
          <a:bodyPr wrap="none" lIns="36576" tIns="0" rIns="36576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对应产品  </a:t>
            </a:r>
            <a:r>
              <a:rPr kumimoji="0" sz="960" b="1" i="0" u="none" strike="noStrike" kern="1200" cap="none" spc="0" normalizeH="0" baseline="0" noProof="0">
                <a:ln>
                  <a:noFill/>
                </a:ln>
                <a:solidFill>
                  <a:srgbClr val="1E4F7A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低额度 Personal Loan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2762" y="5149342"/>
            <a:ext cx="4805619" cy="30777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1" i="0" u="none" strike="noStrike" kern="1200" cap="none" spc="0" normalizeH="0" baseline="0" noProof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风险相对可控，但收入、额度承接和转化能力偏弱。</a:t>
            </a:r>
            <a:r>
              <a:rPr kumimoji="0" sz="910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不适合作为强经营客群，可通过低额度 Personal Loan 验证稳定需求、复贷表现和真实贡献。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2762" y="5670550"/>
            <a:ext cx="5029200" cy="201168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9" b="1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策略：</a:t>
            </a:r>
            <a:r>
              <a:rPr kumimoji="0" sz="869" b="1" i="0" u="none" strike="noStrike" kern="1200" cap="none" spc="0" normalizeH="0" baseline="0" noProof="0">
                <a:ln>
                  <a:noFill/>
                </a:ln>
                <a:solidFill>
                  <a:srgbClr val="1E4F7A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低额度验证 / 收益观察 / 复贷跟踪 / 贡献评估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2762" y="5944870"/>
            <a:ext cx="2478024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62762" y="5944870"/>
            <a:ext cx="2478024" cy="27432"/>
          </a:xfrm>
          <a:prstGeom prst="rect">
            <a:avLst/>
          </a:prstGeom>
          <a:solidFill>
            <a:srgbClr val="1E4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35914" y="6018022"/>
            <a:ext cx="2331720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定位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5914" y="6219190"/>
            <a:ext cx="2331720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80" b="1" i="0" u="none" strike="noStrike" kern="1200" cap="none" spc="0" normalizeH="0" baseline="0" noProof="0">
                <a:ln>
                  <a:noFill/>
                </a:ln>
                <a:solidFill>
                  <a:srgbClr val="1E4F7A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低风险但价值弱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13938" y="5944870"/>
            <a:ext cx="2478024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313938" y="5944870"/>
            <a:ext cx="2478024" cy="27432"/>
          </a:xfrm>
          <a:prstGeom prst="rect">
            <a:avLst/>
          </a:prstGeom>
          <a:solidFill>
            <a:srgbClr val="1E4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387090" y="6018022"/>
            <a:ext cx="2331720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观察重点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87090" y="6219190"/>
            <a:ext cx="2331720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80" b="1" i="0" u="none" strike="noStrike" kern="1200" cap="none" spc="0" normalizeH="0" baseline="0" noProof="0">
                <a:ln>
                  <a:noFill/>
                </a:ln>
                <a:solidFill>
                  <a:srgbClr val="1E4F7A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稳定需求 / 复贷 / 真实贡献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40018" y="3951478"/>
            <a:ext cx="5513832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6404609" y="4134358"/>
            <a:ext cx="1353312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24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风险 4-5 × 价值 4-5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867650" y="4134358"/>
            <a:ext cx="1170432" cy="228600"/>
          </a:xfrm>
          <a:prstGeom prst="roundRect">
            <a:avLst/>
          </a:prstGeom>
          <a:solidFill>
            <a:srgbClr val="A2463C"/>
          </a:solidFill>
          <a:ln w="12700">
            <a:solidFill>
              <a:srgbClr val="A24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价值差 × 风险差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4609" y="4417822"/>
            <a:ext cx="5184648" cy="25603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优先风险控制客群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4609" y="4747006"/>
            <a:ext cx="518464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24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477762" y="4811014"/>
            <a:ext cx="5038344" cy="164592"/>
          </a:xfrm>
          <a:prstGeom prst="rect">
            <a:avLst/>
          </a:prstGeom>
          <a:noFill/>
        </p:spPr>
        <p:txBody>
          <a:bodyPr wrap="none" lIns="36576" tIns="0" rIns="36576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对应产品  </a:t>
            </a:r>
            <a:r>
              <a:rPr kumimoji="0" sz="960" b="1" i="0" u="none" strike="noStrike" kern="1200" cap="none" spc="0" normalizeH="0" baseline="0" noProof="0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原则上不重点承接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22898" y="5149342"/>
            <a:ext cx="4802150" cy="30777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1" i="0" u="none" strike="noStrike" kern="1200" cap="none" spc="0" normalizeH="0" baseline="0" noProof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同时处在高风险、弱价值位置，风险暴露明显。</a:t>
            </a:r>
            <a:r>
              <a:rPr kumimoji="0" sz="910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该客群不建议绑定扩展型产品，重点应放在限额、提价、人工审核和谨慎准入。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22898" y="5670550"/>
            <a:ext cx="5148072" cy="201168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9" b="1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策略：</a:t>
            </a:r>
            <a:r>
              <a:rPr kumimoji="0" sz="869" b="1" i="0" u="none" strike="noStrike" kern="1200" cap="none" spc="0" normalizeH="0" baseline="0" noProof="0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限额 / 提价 / 人工审核 / 谨慎准入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22898" y="5944870"/>
            <a:ext cx="1232154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6422898" y="5944870"/>
            <a:ext cx="1232154" cy="27432"/>
          </a:xfrm>
          <a:prstGeom prst="rect">
            <a:avLst/>
          </a:prstGeom>
          <a:solidFill>
            <a:srgbClr val="A2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496050" y="6018022"/>
            <a:ext cx="1085850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样本数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96050" y="6219190"/>
            <a:ext cx="1085850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77,057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28204" y="5944870"/>
            <a:ext cx="1232154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728204" y="5944870"/>
            <a:ext cx="1232154" cy="27432"/>
          </a:xfrm>
          <a:prstGeom prst="rect">
            <a:avLst/>
          </a:prstGeom>
          <a:solidFill>
            <a:srgbClr val="A2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801356" y="6018022"/>
            <a:ext cx="1085850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样本占比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01356" y="6219190"/>
            <a:ext cx="1085850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48.85%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33510" y="5944870"/>
            <a:ext cx="1232154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9033510" y="5944870"/>
            <a:ext cx="1232154" cy="27432"/>
          </a:xfrm>
          <a:prstGeom prst="rect">
            <a:avLst/>
          </a:prstGeom>
          <a:solidFill>
            <a:srgbClr val="A2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106662" y="6018022"/>
            <a:ext cx="1085850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人数逾期率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06662" y="6219190"/>
            <a:ext cx="1085850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22.25%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338816" y="5944870"/>
            <a:ext cx="1232154" cy="402336"/>
          </a:xfrm>
          <a:prstGeom prst="rect">
            <a:avLst/>
          </a:prstGeom>
          <a:solidFill>
            <a:srgbClr val="FAFBFC"/>
          </a:solidFill>
          <a:ln w="6350">
            <a:solidFill>
              <a:srgbClr val="EB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0338816" y="5944870"/>
            <a:ext cx="1232154" cy="27432"/>
          </a:xfrm>
          <a:prstGeom prst="rect">
            <a:avLst/>
          </a:prstGeom>
          <a:solidFill>
            <a:srgbClr val="A2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0411968" y="6018022"/>
            <a:ext cx="1085850" cy="164592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3M30 金额逾期率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411968" y="6219190"/>
            <a:ext cx="1085850" cy="128016"/>
          </a:xfrm>
          <a:prstGeom prst="rect">
            <a:avLst/>
          </a:prstGeom>
          <a:noFill/>
        </p:spPr>
        <p:txBody>
          <a:bodyPr wrap="none" lIns="27432" tIns="9144" rIns="27432" bIns="9144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40" b="1" i="0" u="none" strike="noStrike" kern="1200" cap="none" spc="0" normalizeH="0" baseline="0" noProof="0">
                <a:ln>
                  <a:noFill/>
                </a:ln>
                <a:solidFill>
                  <a:srgbClr val="A2463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15.38%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84632" y="777240"/>
            <a:ext cx="10927080" cy="13716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488" y="237744"/>
            <a:ext cx="73152" cy="256032"/>
          </a:xfrm>
          <a:prstGeom prst="rect">
            <a:avLst/>
          </a:prstGeom>
          <a:solidFill>
            <a:srgbClr val="BE2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3504" y="201168"/>
            <a:ext cx="1024128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1" i="0" u="none" strike="noStrike" kern="1200" cap="none" spc="0" normalizeH="0" baseline="0" noProof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客户画像总览：价值来源、风险来源与经营边界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85216"/>
            <a:ext cx="111099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4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三页画像合并：</a:t>
            </a:r>
            <a:r>
              <a:rPr kumimoji="0" sz="94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价值差并非高负债</a:t>
            </a:r>
            <a:r>
              <a:rPr kumimoji="0" sz="940" b="0" i="0" u="none" strike="noStrike" kern="1200" cap="none" spc="0" normalizeH="0" baseline="0" noProof="0">
                <a:ln>
                  <a:noFill/>
                </a:ln>
                <a:solidFill>
                  <a:srgbClr val="636F84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；高价值高风险来自高支出、高波动与风险消费；</a:t>
            </a:r>
            <a:r>
              <a:rPr kumimoji="0" sz="94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低价值低风险可低额度验证</a:t>
            </a:r>
            <a:r>
              <a:rPr kumimoji="0" sz="940" b="0" i="0" u="none" strike="noStrike" kern="1200" cap="none" spc="0" normalizeH="0" baseline="0" noProof="0">
                <a:ln>
                  <a:noFill/>
                </a:ln>
                <a:solidFill>
                  <a:srgbClr val="636F84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960120"/>
            <a:ext cx="10899648" cy="9144"/>
          </a:xfrm>
          <a:prstGeom prst="rect">
            <a:avLst/>
          </a:prstGeom>
          <a:solidFill>
            <a:srgbClr val="DB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12064" y="1124712"/>
            <a:ext cx="3438144" cy="5413248"/>
          </a:xfrm>
          <a:prstGeom prst="roundRect">
            <a:avLst/>
          </a:prstGeom>
          <a:solidFill>
            <a:srgbClr val="F6F9FD"/>
          </a:solidFill>
          <a:ln w="762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" y="1225296"/>
            <a:ext cx="3209544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1" i="0" u="none" strike="noStrike" kern="1200" cap="none" spc="0" normalizeH="0" baseline="0" noProof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① 价值画像由收入体量、工资连续性与职业可识别性共同决定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691640"/>
            <a:ext cx="320954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40" b="0" i="0" u="none" strike="noStrike" kern="1200" cap="none" spc="0" normalizeH="0" baseline="0" noProof="0">
                <a:ln>
                  <a:noFill/>
                </a:ln>
                <a:solidFill>
                  <a:srgbClr val="636F84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价值差更像「职业现金流弱」，并非负债更重或多头更多。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" y="2066543"/>
            <a:ext cx="649224" cy="1645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9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高收入体量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53312" y="2066543"/>
            <a:ext cx="649224" cy="1645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9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工资更连续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2066543"/>
            <a:ext cx="649224" cy="1645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9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主业更清晰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1488" y="2066543"/>
            <a:ext cx="850392" cy="1645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9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福利收入依赖低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496312"/>
            <a:ext cx="320954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10" b="1" i="0" u="none" strike="noStrike" kern="1200" cap="none" spc="0" normalizeH="0" baseline="0" noProof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表5：画像对比（价值 1/2 档 vs 4/5 档）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9224" y="2715768"/>
          <a:ext cx="3145536" cy="2249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993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490" b="1">
                          <a:solidFill>
                            <a:srgbClr val="1F2A37"/>
                          </a:solidFill>
                          <a:latin typeface="Noto Sans CJK SC"/>
                        </a:rPr>
                        <a:t>画像维度</a:t>
                      </a:r>
                    </a:p>
                  </a:txBody>
                  <a:tcPr marL="22860" marR="22860" marT="10160" marB="10160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490" b="1">
                          <a:solidFill>
                            <a:srgbClr val="1F2A37"/>
                          </a:solidFill>
                          <a:latin typeface="Noto Sans CJK SC"/>
                        </a:rPr>
                        <a:t>价值好</a:t>
                      </a:r>
                    </a:p>
                  </a:txBody>
                  <a:tcPr marL="22860" marR="22860" marT="10160" marB="10160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490" b="1">
                          <a:solidFill>
                            <a:srgbClr val="1F2A37"/>
                          </a:solidFill>
                          <a:latin typeface="Noto Sans CJK SC"/>
                        </a:rPr>
                        <a:t>价值差</a:t>
                      </a:r>
                    </a:p>
                  </a:txBody>
                  <a:tcPr marL="22860" marR="22860" marT="10160" marB="10160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490" b="1">
                          <a:solidFill>
                            <a:srgbClr val="1F2A37"/>
                          </a:solidFill>
                          <a:latin typeface="Noto Sans CJK SC"/>
                        </a:rPr>
                        <a:t>画像解读</a:t>
                      </a:r>
                    </a:p>
                  </a:txBody>
                  <a:tcPr marL="22860" marR="22860" marT="10160" marB="10160">
                    <a:solidFill>
                      <a:srgbClr val="EF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93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工资收入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4E79"/>
                          </a:solidFill>
                          <a:latin typeface="Noto Sans CJK SC"/>
                        </a:rPr>
                        <a:t>41,139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4E79"/>
                          </a:solidFill>
                          <a:latin typeface="Noto Sans CJK SC"/>
                        </a:rPr>
                        <a:t>11,130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价值好约为 3.7 倍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93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总收入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4E79"/>
                          </a:solidFill>
                          <a:latin typeface="Noto Sans CJK SC"/>
                        </a:rPr>
                        <a:t>140,807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4E79"/>
                          </a:solidFill>
                          <a:latin typeface="Noto Sans CJK SC"/>
                        </a:rPr>
                        <a:t>59,771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 dirty="0" err="1">
                          <a:solidFill>
                            <a:srgbClr val="1F2A37"/>
                          </a:solidFill>
                          <a:latin typeface="Noto Sans CJK SC"/>
                        </a:rPr>
                        <a:t>整体资金体量更高</a:t>
                      </a:r>
                      <a:endParaRPr sz="509" b="0" dirty="0">
                        <a:solidFill>
                          <a:srgbClr val="1F2A37"/>
                        </a:solidFill>
                        <a:latin typeface="Noto Sans CJK SC"/>
                      </a:endParaRP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93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工资入账次数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 dirty="0">
                          <a:solidFill>
                            <a:srgbClr val="1F4E79"/>
                          </a:solidFill>
                          <a:latin typeface="Noto Sans CJK SC"/>
                        </a:rPr>
                        <a:t>20.5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4E79"/>
                          </a:solidFill>
                          <a:latin typeface="Noto Sans CJK SC"/>
                        </a:rPr>
                        <a:t>10.6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工资现金流更连续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93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主行业入账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4E79"/>
                          </a:solidFill>
                          <a:latin typeface="Noto Sans CJK SC"/>
                        </a:rPr>
                        <a:t>40,916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4E79"/>
                          </a:solidFill>
                          <a:latin typeface="Noto Sans CJK SC"/>
                        </a:rPr>
                        <a:t>16,067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职业主收入更强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93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Centrelink 收入占比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4E79"/>
                          </a:solidFill>
                          <a:latin typeface="Noto Sans CJK SC"/>
                        </a:rPr>
                        <a:t>2.1%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4E79"/>
                          </a:solidFill>
                          <a:latin typeface="Noto Sans CJK SC"/>
                        </a:rPr>
                        <a:t>14.6%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价值差更依赖福利收入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93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发薪周期标准差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4E79"/>
                          </a:solidFill>
                          <a:latin typeface="Noto Sans CJK SC"/>
                        </a:rPr>
                        <a:t>2.72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4E79"/>
                          </a:solidFill>
                          <a:latin typeface="Noto Sans CJK SC"/>
                        </a:rPr>
                        <a:t>3.79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价值差发薪更不稳定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93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行业识别缺失率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4E79"/>
                          </a:solidFill>
                          <a:latin typeface="Noto Sans CJK SC"/>
                        </a:rPr>
                        <a:t>3.5%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4E79"/>
                          </a:solidFill>
                          <a:latin typeface="Noto Sans CJK SC"/>
                        </a:rPr>
                        <a:t>30.7%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价值差职业信息更弱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93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可支配盈余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4E79"/>
                          </a:solidFill>
                          <a:latin typeface="Noto Sans CJK SC"/>
                        </a:rPr>
                        <a:t>1,334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4E79"/>
                          </a:solidFill>
                          <a:latin typeface="Noto Sans CJK SC"/>
                        </a:rPr>
                        <a:t>84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 dirty="0" err="1">
                          <a:solidFill>
                            <a:srgbClr val="1F2A37"/>
                          </a:solidFill>
                          <a:latin typeface="Noto Sans CJK SC"/>
                        </a:rPr>
                        <a:t>价值差可支配空间有限</a:t>
                      </a:r>
                      <a:endParaRPr sz="455" b="0" dirty="0">
                        <a:solidFill>
                          <a:srgbClr val="1F2A37"/>
                        </a:solidFill>
                        <a:latin typeface="Noto Sans CJK SC"/>
                      </a:endParaRP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9224" y="5093207"/>
            <a:ext cx="3145536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95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结构补充：价值好人群 couple 占比更高（43.8% vs 29.1%），Lead Partner / Owned Channels 占比也更高；该差异仅作结构描述，不解释为因果。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" y="5925312"/>
            <a:ext cx="3145536" cy="512064"/>
          </a:xfrm>
          <a:prstGeom prst="rect">
            <a:avLst/>
          </a:prstGeom>
          <a:solidFill>
            <a:srgbClr val="FFF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9224" y="5925312"/>
            <a:ext cx="41148" cy="5120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3232" y="5948172"/>
            <a:ext cx="3035808" cy="484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05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信贷还款金额与次数在价值差人群中反而更低（5,963 / 13.5 vs 20,439 / 29.4），</a:t>
            </a:r>
            <a:r>
              <a:rPr kumimoji="0" sz="52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当前数据不支持「价值差 = 高负债 / 多头更多」</a:t>
            </a:r>
            <a:r>
              <a:rPr kumimoji="0" sz="505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42816" y="1124712"/>
            <a:ext cx="3438144" cy="5413248"/>
          </a:xfrm>
          <a:prstGeom prst="roundRect">
            <a:avLst/>
          </a:prstGeom>
          <a:solidFill>
            <a:srgbClr val="FFFAF0"/>
          </a:solidFill>
          <a:ln w="762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79976" y="1225296"/>
            <a:ext cx="3209544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1" i="0" u="none" strike="noStrike" kern="1200" cap="none" spc="0" normalizeH="0" baseline="0" noProof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② 高价值但高风险：收入更高，但资金波动与风险消费同步放大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9976" y="1691640"/>
            <a:ext cx="320954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40" b="0" i="0" u="none" strike="noStrike" kern="1200" cap="none" spc="0" normalizeH="0" baseline="0" noProof="0">
                <a:ln>
                  <a:noFill/>
                </a:ln>
                <a:solidFill>
                  <a:srgbClr val="636F84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这类客户的价值来自收入端，风险则来自高支出、高波动和账户异常。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9976" y="2066543"/>
            <a:ext cx="448056" cy="1645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90" b="1" i="0" u="none" strike="noStrike" kern="1200" cap="none" spc="0" normalizeH="0" baseline="0" noProof="0">
                <a:ln>
                  <a:noFill/>
                </a:ln>
                <a:solidFill>
                  <a:srgbClr val="C47E0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高收入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82896" y="2066543"/>
            <a:ext cx="448056" cy="1645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90" b="1" i="0" u="none" strike="noStrike" kern="1200" cap="none" spc="0" normalizeH="0" baseline="0" noProof="0">
                <a:ln>
                  <a:noFill/>
                </a:ln>
                <a:solidFill>
                  <a:srgbClr val="C47E0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高支出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85816" y="2066543"/>
            <a:ext cx="448056" cy="1645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90" b="1" i="0" u="none" strike="noStrike" kern="1200" cap="none" spc="0" normalizeH="0" baseline="0" noProof="0">
                <a:ln>
                  <a:noFill/>
                </a:ln>
                <a:solidFill>
                  <a:srgbClr val="C47E0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高赌博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88736" y="2066543"/>
            <a:ext cx="448056" cy="1645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90" b="1" i="0" u="none" strike="noStrike" kern="1200" cap="none" spc="0" normalizeH="0" baseline="0" noProof="0">
                <a:ln>
                  <a:noFill/>
                </a:ln>
                <a:solidFill>
                  <a:srgbClr val="C47E0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高波动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976" y="2496312"/>
            <a:ext cx="320954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10" b="1" i="0" u="none" strike="noStrike" kern="1200" cap="none" spc="0" normalizeH="0" baseline="0" noProof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表6：画像对比（价值好且风险好 vs 价值好但风险差）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379976" y="2715768"/>
          <a:ext cx="3145536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37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490" b="1">
                          <a:solidFill>
                            <a:srgbClr val="1F2A37"/>
                          </a:solidFill>
                          <a:latin typeface="Noto Sans CJK SC"/>
                        </a:rPr>
                        <a:t>画像维度</a:t>
                      </a:r>
                    </a:p>
                  </a:txBody>
                  <a:tcPr marL="22860" marR="22860" marT="10160" marB="10160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490" b="1">
                          <a:solidFill>
                            <a:srgbClr val="1F2A37"/>
                          </a:solidFill>
                          <a:latin typeface="Noto Sans CJK SC"/>
                        </a:rPr>
                        <a:t>价值好且风险好</a:t>
                      </a:r>
                    </a:p>
                  </a:txBody>
                  <a:tcPr marL="22860" marR="22860" marT="10160" marB="10160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490" b="1">
                          <a:solidFill>
                            <a:srgbClr val="1F2A37"/>
                          </a:solidFill>
                          <a:latin typeface="Noto Sans CJK SC"/>
                        </a:rPr>
                        <a:t>价值好但风险差</a:t>
                      </a:r>
                    </a:p>
                  </a:txBody>
                  <a:tcPr marL="22860" marR="22860" marT="10160" marB="10160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490" b="1">
                          <a:solidFill>
                            <a:srgbClr val="1F2A37"/>
                          </a:solidFill>
                          <a:latin typeface="Noto Sans CJK SC"/>
                        </a:rPr>
                        <a:t>风险信号</a:t>
                      </a:r>
                    </a:p>
                  </a:txBody>
                  <a:tcPr marL="22860" marR="22860" marT="10160" marB="10160">
                    <a:solidFill>
                      <a:srgbClr val="EF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工资收入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C47E00"/>
                          </a:solidFill>
                          <a:latin typeface="Noto Sans CJK SC"/>
                        </a:rPr>
                        <a:t>34,024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C47E00"/>
                          </a:solidFill>
                          <a:latin typeface="Noto Sans CJK SC"/>
                        </a:rPr>
                        <a:t>50,253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收入能力并不弱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总收入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C47E00"/>
                          </a:solidFill>
                          <a:latin typeface="Noto Sans CJK SC"/>
                        </a:rPr>
                        <a:t>96,943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C47E00"/>
                          </a:solidFill>
                          <a:latin typeface="Noto Sans CJK SC"/>
                        </a:rPr>
                        <a:t>191,383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资金体量约 2 倍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总支出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C47E00"/>
                          </a:solidFill>
                          <a:latin typeface="Noto Sans CJK SC"/>
                        </a:rPr>
                        <a:t>92,348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C47E00"/>
                          </a:solidFill>
                          <a:latin typeface="Noto Sans CJK SC"/>
                        </a:rPr>
                        <a:t>193,711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收支几乎打平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赌博支出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C47E00"/>
                          </a:solidFill>
                          <a:latin typeface="Noto Sans CJK SC"/>
                        </a:rPr>
                        <a:t>2,398 / 2.5%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C47E00"/>
                          </a:solidFill>
                          <a:latin typeface="Noto Sans CJK SC"/>
                        </a:rPr>
                        <a:t>7,416 / 5.2%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金额与占比同时升高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余额波动标准差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C47E00"/>
                          </a:solidFill>
                          <a:latin typeface="Noto Sans CJK SC"/>
                        </a:rPr>
                        <a:t>4,947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C47E00"/>
                          </a:solidFill>
                          <a:latin typeface="Noto Sans CJK SC"/>
                        </a:rPr>
                        <a:t>8,442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账户波动显著放大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余额异常天数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C47E00"/>
                          </a:solidFill>
                          <a:latin typeface="Noto Sans CJK SC"/>
                        </a:rPr>
                        <a:t>3.82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C47E00"/>
                          </a:solidFill>
                          <a:latin typeface="Noto Sans CJK SC"/>
                        </a:rPr>
                        <a:t>5.13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账户异常更多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收入波动 CV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C47E00"/>
                          </a:solidFill>
                          <a:latin typeface="Noto Sans CJK SC"/>
                        </a:rPr>
                        <a:t>1.83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C47E00"/>
                          </a:solidFill>
                          <a:latin typeface="Noto Sans CJK SC"/>
                        </a:rPr>
                        <a:t>2.10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收入稳定性更弱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4379976" y="4873751"/>
            <a:ext cx="3145536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95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注：赌博支出为金额 / 占比。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79976" y="5925312"/>
            <a:ext cx="3145536" cy="512064"/>
          </a:xfrm>
          <a:prstGeom prst="rect">
            <a:avLst/>
          </a:prstGeom>
          <a:solidFill>
            <a:srgbClr val="FFF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379976" y="5925312"/>
            <a:ext cx="41148" cy="512064"/>
          </a:xfrm>
          <a:prstGeom prst="rect">
            <a:avLst/>
          </a:prstGeom>
          <a:solidFill>
            <a:srgbClr val="C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443984" y="5948172"/>
            <a:ext cx="3035808" cy="484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1" i="0" u="none" strike="noStrike" kern="1200" cap="none" spc="0" normalizeH="0" baseline="0" noProof="0">
                <a:ln>
                  <a:noFill/>
                </a:ln>
                <a:solidFill>
                  <a:srgbClr val="9A7211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不宜因价值高直接扩额</a:t>
            </a:r>
            <a:r>
              <a:rPr kumimoji="0" sz="505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；优先用小额、短期产品承接，并持续观察赌博支出、余额异常和收入波动。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3568" y="1124712"/>
            <a:ext cx="3438144" cy="5413248"/>
          </a:xfrm>
          <a:prstGeom prst="roundRect">
            <a:avLst/>
          </a:prstGeom>
          <a:solidFill>
            <a:srgbClr val="F6FCF8"/>
          </a:solidFill>
          <a:ln w="7620">
            <a:solidFill>
              <a:srgbClr val="DB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110728" y="1225296"/>
            <a:ext cx="3209544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0" b="1" i="0" u="none" strike="noStrike" kern="1200" cap="none" spc="0" normalizeH="0" baseline="0" noProof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③ 低价值但低风险：收入偏弱，但支出克制、账户稳定、还款更活跃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0728" y="1691640"/>
            <a:ext cx="320954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40" b="0" i="0" u="none" strike="noStrike" kern="1200" cap="none" spc="0" normalizeH="0" baseline="0" noProof="0">
                <a:ln>
                  <a:noFill/>
                </a:ln>
                <a:solidFill>
                  <a:srgbClr val="636F84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这类客户不是高收入客群，而是行为更保守、风险相对可控的低收入客群。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10728" y="2066543"/>
            <a:ext cx="448056" cy="1645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307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90" b="1" i="0" u="none" strike="noStrike" kern="1200" cap="none" spc="0" normalizeH="0" baseline="0" noProof="0">
                <a:ln>
                  <a:noFill/>
                </a:ln>
                <a:solidFill>
                  <a:srgbClr val="30785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低收入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13648" y="2066543"/>
            <a:ext cx="448056" cy="1645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307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90" b="1" i="0" u="none" strike="noStrike" kern="1200" cap="none" spc="0" normalizeH="0" baseline="0" noProof="0">
                <a:ln>
                  <a:noFill/>
                </a:ln>
                <a:solidFill>
                  <a:srgbClr val="30785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低支出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16568" y="2066543"/>
            <a:ext cx="448056" cy="1645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307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90" b="1" i="0" u="none" strike="noStrike" kern="1200" cap="none" spc="0" normalizeH="0" baseline="0" noProof="0">
                <a:ln>
                  <a:noFill/>
                </a:ln>
                <a:solidFill>
                  <a:srgbClr val="30785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低赌博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19488" y="2066543"/>
            <a:ext cx="448056" cy="1645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307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90" b="1" i="0" u="none" strike="noStrike" kern="1200" cap="none" spc="0" normalizeH="0" baseline="0" noProof="0">
                <a:ln>
                  <a:noFill/>
                </a:ln>
                <a:solidFill>
                  <a:srgbClr val="30785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低波动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22408" y="2066543"/>
            <a:ext cx="649224" cy="1645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307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90" b="1" i="0" u="none" strike="noStrike" kern="1200" cap="none" spc="0" normalizeH="0" baseline="0" noProof="0">
                <a:ln>
                  <a:noFill/>
                </a:ln>
                <a:solidFill>
                  <a:srgbClr val="30785C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有还款活动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10728" y="2496312"/>
            <a:ext cx="320954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10" b="1" i="0" u="none" strike="noStrike" kern="1200" cap="none" spc="0" normalizeH="0" baseline="0" noProof="0">
                <a:ln>
                  <a:noFill/>
                </a:ln>
                <a:solidFill>
                  <a:srgbClr val="1F2A37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表7：画像对比（价值差但风险好 vs 价值差且风险差）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8110728" y="2715768"/>
          <a:ext cx="3145536" cy="2249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993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490" b="1">
                          <a:solidFill>
                            <a:srgbClr val="1F2A37"/>
                          </a:solidFill>
                          <a:latin typeface="Noto Sans CJK SC"/>
                        </a:rPr>
                        <a:t>画像维度</a:t>
                      </a:r>
                    </a:p>
                  </a:txBody>
                  <a:tcPr marL="22860" marR="22860" marT="10160" marB="10160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490" b="1">
                          <a:solidFill>
                            <a:srgbClr val="1F2A37"/>
                          </a:solidFill>
                          <a:latin typeface="Noto Sans CJK SC"/>
                        </a:rPr>
                        <a:t>价值差但风险好</a:t>
                      </a:r>
                    </a:p>
                  </a:txBody>
                  <a:tcPr marL="22860" marR="22860" marT="10160" marB="10160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490" b="1">
                          <a:solidFill>
                            <a:srgbClr val="1F2A37"/>
                          </a:solidFill>
                          <a:latin typeface="Noto Sans CJK SC"/>
                        </a:rPr>
                        <a:t>价值差且风险差</a:t>
                      </a:r>
                    </a:p>
                  </a:txBody>
                  <a:tcPr marL="22860" marR="22860" marT="10160" marB="10160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490" b="1">
                          <a:solidFill>
                            <a:srgbClr val="1F2A37"/>
                          </a:solidFill>
                          <a:latin typeface="Noto Sans CJK SC"/>
                        </a:rPr>
                        <a:t>风险信号</a:t>
                      </a:r>
                    </a:p>
                  </a:txBody>
                  <a:tcPr marL="22860" marR="22860" marT="10160" marB="10160">
                    <a:solidFill>
                      <a:srgbClr val="EF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93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工资收入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30785C"/>
                          </a:solidFill>
                          <a:latin typeface="Noto Sans CJK SC"/>
                        </a:rPr>
                        <a:t>8,750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30785C"/>
                          </a:solidFill>
                          <a:latin typeface="Noto Sans CJK SC"/>
                        </a:rPr>
                        <a:t>13,314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低风险并非来自高收入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93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Centrelink 收入占比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30785C"/>
                          </a:solidFill>
                          <a:latin typeface="Noto Sans CJK SC"/>
                        </a:rPr>
                        <a:t>22.1%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30785C"/>
                          </a:solidFill>
                          <a:latin typeface="Noto Sans CJK SC"/>
                        </a:rPr>
                        <a:t>5.9%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收入结构偏福利类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93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总支出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30785C"/>
                          </a:solidFill>
                          <a:latin typeface="Noto Sans CJK SC"/>
                        </a:rPr>
                        <a:t>43,062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30785C"/>
                          </a:solidFill>
                          <a:latin typeface="Noto Sans CJK SC"/>
                        </a:rPr>
                        <a:t>75,496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支出更克制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93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赌博支出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30785C"/>
                          </a:solidFill>
                          <a:latin typeface="Noto Sans CJK SC"/>
                        </a:rPr>
                        <a:t>531.7 / 1.3%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30785C"/>
                          </a:solidFill>
                          <a:latin typeface="Noto Sans CJK SC"/>
                        </a:rPr>
                        <a:t>2,067 / 3.7%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风险消费更低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93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余额波动标准差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30785C"/>
                          </a:solidFill>
                          <a:latin typeface="Noto Sans CJK SC"/>
                        </a:rPr>
                        <a:t>478.1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30785C"/>
                          </a:solidFill>
                          <a:latin typeface="Noto Sans CJK SC"/>
                        </a:rPr>
                        <a:t>1,181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账户波动更小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93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余额异常天数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30785C"/>
                          </a:solidFill>
                          <a:latin typeface="Noto Sans CJK SC"/>
                        </a:rPr>
                        <a:t>3.45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30785C"/>
                          </a:solidFill>
                          <a:latin typeface="Noto Sans CJK SC"/>
                        </a:rPr>
                        <a:t>5.22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账户异常更少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93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信贷还款金额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30785C"/>
                          </a:solidFill>
                          <a:latin typeface="Noto Sans CJK SC"/>
                        </a:rPr>
                        <a:t>7,582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30785C"/>
                          </a:solidFill>
                          <a:latin typeface="Noto Sans CJK SC"/>
                        </a:rPr>
                        <a:t>4,133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还款活动更活跃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93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贷款还款次数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30785C"/>
                          </a:solidFill>
                          <a:latin typeface="Noto Sans CJK SC"/>
                        </a:rPr>
                        <a:t>15.9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30785C"/>
                          </a:solidFill>
                          <a:latin typeface="Noto Sans CJK SC"/>
                        </a:rPr>
                        <a:t>10.8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509" b="0">
                          <a:solidFill>
                            <a:srgbClr val="1F2A37"/>
                          </a:solidFill>
                          <a:latin typeface="Noto Sans CJK SC"/>
                        </a:rPr>
                        <a:t>还款活动相对更多</a:t>
                      </a:r>
                    </a:p>
                  </a:txBody>
                  <a:tcPr marL="22860" marR="22860" marT="10160" marB="1016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8110728" y="5093207"/>
            <a:ext cx="3145536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95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注：赌博支出为金额 / 占比。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10728" y="5925312"/>
            <a:ext cx="3145536" cy="512064"/>
          </a:xfrm>
          <a:prstGeom prst="rect">
            <a:avLst/>
          </a:prstGeom>
          <a:solidFill>
            <a:srgbClr val="FFF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110728" y="5925312"/>
            <a:ext cx="41148" cy="512064"/>
          </a:xfrm>
          <a:prstGeom prst="rect">
            <a:avLst/>
          </a:prstGeom>
          <a:solidFill>
            <a:srgbClr val="30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174736" y="5948172"/>
            <a:ext cx="3035808" cy="484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1" i="0" u="none" strike="noStrike" kern="1200" cap="none" spc="0" normalizeH="0" baseline="0" noProof="0">
                <a:ln>
                  <a:noFill/>
                </a:ln>
                <a:solidFill>
                  <a:srgbClr val="2F6B4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不宜因价值弱一刀切拒绝</a:t>
            </a:r>
            <a:r>
              <a:rPr kumimoji="0" sz="505" b="0" i="0" u="none" strike="noStrike" kern="1200" cap="none" spc="0" normalizeH="0" baseline="0" noProof="0">
                <a:ln>
                  <a:noFill/>
                </a:ln>
                <a:solidFill>
                  <a:srgbClr val="3F46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；可用低额度 Personal Loan 验证其额度使用、复贷与真实贡献。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1969</Words>
  <Application>Microsoft Office PowerPoint</Application>
  <PresentationFormat>宽屏</PresentationFormat>
  <Paragraphs>537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Noto Sans CJK SC</vt:lpstr>
      <vt:lpstr>Microsoft YaHei</vt:lpstr>
      <vt:lpstr>Microsoft YaHei</vt:lpstr>
      <vt:lpstr>等线</vt:lpstr>
      <vt:lpstr>等线 Light</vt:lpstr>
      <vt:lpstr>Arial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昱良</dc:creator>
  <cp:lastModifiedBy>昱良</cp:lastModifiedBy>
  <cp:revision>36</cp:revision>
  <dcterms:created xsi:type="dcterms:W3CDTF">2026-08-31T05:46:19Z</dcterms:created>
  <dcterms:modified xsi:type="dcterms:W3CDTF">2026-08-31T11:50:58Z</dcterms:modified>
</cp:coreProperties>
</file>