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"/>
  </p:notesMasterIdLst>
  <p:sldIdLst>
    <p:sldId id="292" r:id="rId3"/>
    <p:sldId id="293" r:id="rId4"/>
    <p:sldId id="294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091D931-C6EF-4AAA-8AF6-ED6BA379CE5A}">
          <p14:sldIdLst>
            <p14:sldId id="292"/>
            <p14:sldId id="293"/>
          </p14:sldIdLst>
        </p14:section>
        <p14:section name="draft" id="{4A55A2FB-9C68-4E40-8234-62AC1197D950}">
          <p14:sldIdLst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7419" autoAdjust="0"/>
  </p:normalViewPr>
  <p:slideViewPr>
    <p:cSldViewPr snapToGrid="0" showGuides="1">
      <p:cViewPr varScale="1">
        <p:scale>
          <a:sx n="161" d="100"/>
          <a:sy n="161" d="100"/>
        </p:scale>
        <p:origin x="2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D1ABA1-3A8B-4F78-8FC2-CC35DC6ACD0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9672A-4FCD-4626-A8DC-612F10E6B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525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为什么要做价值模型：识别出风险以外的信息，找到最有价值的地方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可以用在两个方向：提额、投放</a:t>
            </a:r>
            <a:endParaRPr lang="en-US" altLang="zh-CN" dirty="0"/>
          </a:p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F9672A-4FCD-4626-A8DC-612F10E6BE2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2445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A74C0-4492-4B6E-82F1-847BE75ED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48B1CD-FA7B-40D0-A752-65ED19491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0D2C4A-DB2C-4ABD-8E4A-C2D6567ED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5C06B2-F499-418D-862E-A5CEFBE46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15A32-7731-485E-B4AA-B08F6E15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09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BF095-51A9-4DBD-ADF5-FBC7F025D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FAC3E3-9B46-4488-91C0-9AA4E1C00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6CF6FB-AFA3-49D3-8B12-177CC50BF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A48375-639C-4148-B536-C14EEAB93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6F5F55-6771-4B3A-B141-C9A8EADBF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947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3066A-A401-4B7A-9261-A371FD0AB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7292A1-C559-48E9-B92C-ED860403C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2C8781-CF2A-499C-94E1-8719D4E4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163101-8B73-4C25-BC55-7659EE25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C74310-F05B-403D-9C21-A7BC4B09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227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05B945-F937-4281-BF3D-8B65E94A5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2C8FAA-08B8-4E14-8258-1ED1E0987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5EF507-EE1E-4906-8E12-3AE95ECCC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705F97-FB45-4ADE-AAD3-111BDC253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2C1D9F-14FE-4CA6-8B97-0A26596D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BA541B-5155-44EE-9B69-870C6F9B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793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83019-4550-438C-AF1D-AFDAB5CF2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B7705E-DF06-4579-90EE-2E83BED56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2142CC-217D-4372-8E14-D6443AC4C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5A6281-7CA3-4246-8E55-C3CA74040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3FC874-1075-4BFE-8585-AA328CCAD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623710D-E3D8-4F62-8215-989A61AA8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A00496-D08A-4F79-9AB1-6DB3C9CF4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58F5C5-7812-4992-B30D-C2BBB2D98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197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BCC04B-3A70-46FA-BD6F-1BAF41A9D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792B4D-D45E-4DC2-AB5B-BD8349596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0CF96A-7B5D-4FB4-98A1-C2BB5207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D0F25D-89EF-4CDF-AB3F-9EA0BE989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084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F08A2A-4DDF-4321-B7C0-84BEB946F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F69043-3DAA-483F-905A-71EC27212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BDED16-87A9-4637-8821-C726D514F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10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F5E25E-ACFB-43EA-8A88-1269FC1C3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4982BD-284D-46CF-8CFC-17A25BE45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DA268B-3287-4EA4-B656-666D9FBE2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D1276A-35B8-4DEF-AC08-B5D6EA90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14578D-C269-4781-8E26-9ABFBAAAE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DAA54B-C9B3-4D8A-BA0D-93979BF92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224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E888E7-4030-41D6-8519-EC2610F5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1FEBED0-012F-474B-AB92-7FD8A0EF54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A7A0F1-DA2C-4FB3-8467-CAAB0D4BF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786A97-7223-4D44-951E-F866B79BF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E55755-29B7-4375-A1B1-E510CFB82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C7FB22-B785-4E00-A396-651FC141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056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E86F8-7C3C-48F9-A140-DF7ECDDA2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DC504E-A9B0-4526-8809-044E41474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55E44F-A10B-45EB-B982-AAD32F8F4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A374D6-1026-46FD-B9FF-E36AA2175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C33D93-F50E-45EC-9C08-292AF188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84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B34DD52-860B-430C-9C85-E4533FEABE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B86C01-6C80-4FA1-88FA-839883FCB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78CEC8-0D67-490E-A721-C15C79772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EFA70B-E61C-4E29-A6C8-FABE110F2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BE4441-8A8F-46BB-9599-110363C0D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554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8EBA2-80EF-4252-8597-048A45E2E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21FC56-6680-4AD6-82E5-88A11AFC2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AA0C1-447C-4AEA-81FA-9EB45857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C9B75-A23F-4BC0-AF10-8E3B6D59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3BAF1-849E-4CFB-97FB-462B79C5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570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48D98-575F-4B86-853A-5626FCCE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1CB4C6-859B-47BA-B600-73580410D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BEAC3-78C5-45B7-A23B-249EC15E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9A1087-075F-407E-BB28-CDF217CD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DC62BF-1010-4F72-A364-4192F211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754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4CBB0-B952-49F8-A1B8-3979F30A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C5F22-E42C-4263-A574-0CF3FB326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779609-2E9A-498F-932D-68BAA7EB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9CF08-A439-43B3-A3F9-168D0F5C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FEC39-07FE-47BE-B8DE-2AFAE3D5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013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2E4F4-0D12-4C67-A2DE-5D38CFD3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EAA503-16B9-4CA8-8AA5-603157897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8D83A5-8A38-40E5-AB3E-D4138C5D5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0B2CC2-A96A-41D7-A4D7-A284B7D5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BBF648-B851-4DA5-953B-86578FBD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CC2EA2-1228-4FAF-B547-0D8F31FE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993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E7825-95FC-4C1A-AF5F-E36B597A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F39FAA-4C36-4CB6-A320-3DAC5409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B609A8-1E92-437D-B0B0-6111310F1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4226CF-A2B3-4B4E-9300-5E028ABA7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B10009-1111-457E-B430-65E1C279A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7E8ED2-908F-4B1A-8AE5-D192B1A8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9F550B-0F48-4318-996D-4884DECB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8EED0F-6559-4C6F-9CA7-7770DD3D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807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6F64B-E647-4104-B1ED-F93F843D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1D34E7-F38A-4F82-9AB6-F8589C899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3AE06E-5BC2-49FC-AFDD-93822814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46D1A6-6F30-4369-886C-0B9A8E4C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9691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9A4833-036F-41C6-B817-DBAF5E3F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AA5643-CE71-4F55-8C58-D1337D393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6E3F4D-D0ED-4973-9E9A-D6287B44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8703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3B291-4439-45D3-BCEE-846EEECB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A73331-4FF4-49B6-A023-F72C49367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A3C987-2276-42A0-A1E7-E0606F374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22F0A1-047D-4CAC-9C15-FF066542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2EAEBB-7478-4902-AB86-AE45AA28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A46412-6586-483A-ABB0-E712F839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5001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20C44-3AFF-45CD-9780-0D2FBCA4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93764D-8357-41AF-8664-BADF71EFE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8CC22-900C-4216-BFAA-893CFBCC4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52A649-1B04-42E5-84B4-2A037C73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ACB251-B513-433D-A8AC-3FA74F8D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EE6DA-2AE9-4C28-B829-F80EA98E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4623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22334-2A6B-4387-80FD-70E1F1E0E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7C5D0A-2D53-4144-B690-6C700F742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0CEC7-6E44-43BF-A36B-7D08A2F5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AE63B3-0B50-4DF9-8F0E-79A5D718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1FEAD4-D222-409F-A809-BD5B9786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8860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48EF8A-FDFA-4016-9979-C8C5B09F3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B09383-AF7E-4FF6-9616-02B3620BC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9486C-99DC-445E-A433-3EDCCFF5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6F166-1825-4F9D-89FB-66C38CDA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0A879-DDC9-44A8-97E4-649A0365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6763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009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A16D2E2-87AE-4739-8608-CEE8873A6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34A209-DDC2-4959-A160-BDC500046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34EE6D-3BAE-4835-9108-B29A33070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26AE31-865A-4DEE-BB2A-053A2D21B7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F3D2F2-3DD8-465E-8B4F-77319A921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994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B64D2A-B4A2-4991-8631-34442C84D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B2BE11-2F72-49B2-9898-38081781B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DFEC2A-8966-4520-BDC5-D824E4328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AC27E-A6AB-47AB-8662-4EC357CAD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2857CC-AAF6-440B-A91D-E387063E6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53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252331"/>
            <a:ext cx="1423467" cy="284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50" b="1">
                <a:solidFill>
                  <a:srgbClr val="1F3A5B"/>
                </a:solidFill>
                <a:latin typeface="Microsoft YaHei"/>
              </a:defRPr>
            </a:pPr>
            <a:r>
              <a:rPr kumimoji="0" sz="1850" b="1" i="0" u="none" strike="noStrike" kern="1200" cap="none" spc="0" normalizeH="0" baseline="0" noProof="0" dirty="0" err="1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四类客群矩阵</a:t>
            </a:r>
            <a:endParaRPr kumimoji="0" sz="1850" b="1" i="0" u="none" strike="noStrike" kern="1200" cap="none" spc="0" normalizeH="0" baseline="0" noProof="0" dirty="0">
              <a:ln>
                <a:noFill/>
              </a:ln>
              <a:solidFill>
                <a:srgbClr val="1F3A5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12064" y="3602736"/>
            <a:ext cx="11155680" cy="0"/>
          </a:xfrm>
          <a:prstGeom prst="line">
            <a:avLst/>
          </a:prstGeom>
          <a:ln w="11430">
            <a:solidFill>
              <a:srgbClr val="7A8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0760" y="804672"/>
            <a:ext cx="0" cy="5623560"/>
          </a:xfrm>
          <a:prstGeom prst="line">
            <a:avLst/>
          </a:prstGeom>
          <a:ln w="11430">
            <a:solidFill>
              <a:srgbClr val="7A8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9349" y="3493008"/>
            <a:ext cx="355867" cy="1414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风险低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95925" y="3493008"/>
            <a:ext cx="355867" cy="1414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风险高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8017" y="722376"/>
            <a:ext cx="365485" cy="1461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1">
                <a:solidFill>
                  <a:srgbClr val="1F3A5B"/>
                </a:solidFill>
                <a:latin typeface="Microsoft YaHei"/>
              </a:defRPr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2826" y="6528816"/>
            <a:ext cx="355867" cy="1414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896112"/>
            <a:ext cx="70852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价值好 × 风险好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124712"/>
            <a:ext cx="1333698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268343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683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稳健经营型优质客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2683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1655064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8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 dirty="0">
                <a:ln>
                  <a:noFill/>
                </a:ln>
                <a:solidFill>
                  <a:srgbClr val="2683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经营策略：重点经营</a:t>
            </a:r>
            <a:r>
              <a:rPr kumimoji="0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｜3000-5000 </a:t>
            </a:r>
            <a:r>
              <a:rPr kumimoji="0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优质</a:t>
            </a:r>
            <a:r>
              <a:rPr kumimoji="0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MACC / LACC / LOC </a:t>
            </a:r>
            <a:r>
              <a:rPr kumimoji="0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候选池</a:t>
            </a:r>
            <a:endParaRPr kumimoji="0" sz="860" b="0" i="0" u="none" strike="noStrike" kern="1200" cap="none" spc="0" normalizeH="0" baseline="0" noProof="0" dirty="0">
              <a:ln>
                <a:noFill/>
              </a:ln>
              <a:solidFill>
                <a:srgbClr val="2F364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73368" y="896112"/>
            <a:ext cx="70852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价值好 × 风险差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1124712"/>
            <a:ext cx="15004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B5790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B579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高薪高波动型周转客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73368" y="1655064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>
                <a:ln>
                  <a:noFill/>
                </a:ln>
                <a:solidFill>
                  <a:srgbClr val="B579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经营策略：短周期小额承接</a:t>
            </a:r>
            <a:r>
              <a:rPr kumimoji="0" sz="860" b="0" i="0" u="none" strike="noStrike" kern="1200" cap="none" spc="0" normalizeH="0" baseline="0" noProof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｜EWA / 超短期产品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3493" y="3750533"/>
            <a:ext cx="70852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价值差 × 风险好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3493" y="3979133"/>
            <a:ext cx="15004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1B538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1B53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低收入克制型刚需客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1B538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63493" y="4509485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5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 dirty="0" err="1">
                <a:ln>
                  <a:noFill/>
                </a:ln>
                <a:solidFill>
                  <a:srgbClr val="1B53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经营策略：低额度验证</a:t>
            </a:r>
            <a:r>
              <a:rPr kumimoji="0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｜SACC</a:t>
            </a:r>
            <a:r>
              <a:rPr kumimoji="0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/ </a:t>
            </a:r>
            <a:r>
              <a:rPr kumimoji="0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低额</a:t>
            </a:r>
            <a:r>
              <a:rPr kumimoji="0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Personal Loan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9765" y="3783521"/>
            <a:ext cx="70852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价值差 × 风险差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9765" y="4012121"/>
            <a:ext cx="15004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C83D3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C83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现金流脆弱型谨慎客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09765" y="4542473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3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>
                <a:ln>
                  <a:noFill/>
                </a:ln>
                <a:solidFill>
                  <a:srgbClr val="C83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经营策略：原则上不重点承接</a:t>
            </a:r>
            <a:r>
              <a:rPr kumimoji="0" sz="860" b="0" i="0" u="none" strike="noStrike" kern="1200" cap="none" spc="0" normalizeH="0" baseline="0" noProof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｜限额 / 提价 / 人工审核 / 谨慎准入</a:t>
            </a:r>
          </a:p>
        </p:txBody>
      </p:sp>
      <p:sp>
        <p:nvSpPr>
          <p:cNvPr id="116" name="Rounded Rectangle 20">
            <a:extLst>
              <a:ext uri="{FF2B5EF4-FFF2-40B4-BE49-F238E27FC236}">
                <a16:creationId xmlns:a16="http://schemas.microsoft.com/office/drawing/2014/main" id="{1ECF688C-6E3F-4C0E-ABD4-2EE749A8E409}"/>
              </a:ext>
            </a:extLst>
          </p:cNvPr>
          <p:cNvSpPr/>
          <p:nvPr/>
        </p:nvSpPr>
        <p:spPr>
          <a:xfrm>
            <a:off x="658368" y="1396118"/>
            <a:ext cx="832104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高收入稳现金流</a:t>
            </a:r>
          </a:p>
        </p:txBody>
      </p:sp>
      <p:sp>
        <p:nvSpPr>
          <p:cNvPr id="117" name="Rounded Rectangle 21">
            <a:extLst>
              <a:ext uri="{FF2B5EF4-FFF2-40B4-BE49-F238E27FC236}">
                <a16:creationId xmlns:a16="http://schemas.microsoft.com/office/drawing/2014/main" id="{1CBC9896-18ED-4F66-A930-AC5965EA2488}"/>
              </a:ext>
            </a:extLst>
          </p:cNvPr>
          <p:cNvSpPr/>
          <p:nvPr/>
        </p:nvSpPr>
        <p:spPr>
          <a:xfrm>
            <a:off x="15453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用信成熟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18" name="Rounded Rectangle 22">
            <a:extLst>
              <a:ext uri="{FF2B5EF4-FFF2-40B4-BE49-F238E27FC236}">
                <a16:creationId xmlns:a16="http://schemas.microsoft.com/office/drawing/2014/main" id="{0EE4068E-A424-44FA-A1AE-B95E543A2B7B}"/>
              </a:ext>
            </a:extLst>
          </p:cNvPr>
          <p:cNvSpPr/>
          <p:nvPr/>
        </p:nvSpPr>
        <p:spPr>
          <a:xfrm>
            <a:off x="22311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履约稳健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19" name="Rounded Rectangle 23">
            <a:extLst>
              <a:ext uri="{FF2B5EF4-FFF2-40B4-BE49-F238E27FC236}">
                <a16:creationId xmlns:a16="http://schemas.microsoft.com/office/drawing/2014/main" id="{866029C3-0908-4601-B0B5-470A21370530}"/>
              </a:ext>
            </a:extLst>
          </p:cNvPr>
          <p:cNvSpPr/>
          <p:nvPr/>
        </p:nvSpPr>
        <p:spPr>
          <a:xfrm>
            <a:off x="29169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高额度诉求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25" name="Rounded Rectangle 40">
            <a:extLst>
              <a:ext uri="{FF2B5EF4-FFF2-40B4-BE49-F238E27FC236}">
                <a16:creationId xmlns:a16="http://schemas.microsoft.com/office/drawing/2014/main" id="{DF5A399C-DE9E-439B-8A34-67D4CEF4DB29}"/>
              </a:ext>
            </a:extLst>
          </p:cNvPr>
          <p:cNvSpPr/>
          <p:nvPr/>
        </p:nvSpPr>
        <p:spPr>
          <a:xfrm>
            <a:off x="6373368" y="138119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纸面富裕</a:t>
            </a:r>
          </a:p>
        </p:txBody>
      </p:sp>
      <p:sp>
        <p:nvSpPr>
          <p:cNvPr id="126" name="Rounded Rectangle 41">
            <a:extLst>
              <a:ext uri="{FF2B5EF4-FFF2-40B4-BE49-F238E27FC236}">
                <a16:creationId xmlns:a16="http://schemas.microsoft.com/office/drawing/2014/main" id="{D17DA79E-22C1-4DB6-92D5-E4C642F7B63C}"/>
              </a:ext>
            </a:extLst>
          </p:cNvPr>
          <p:cNvSpPr/>
          <p:nvPr/>
        </p:nvSpPr>
        <p:spPr>
          <a:xfrm>
            <a:off x="6958584" y="138119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现金过山车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27" name="Rounded Rectangle 42">
            <a:extLst>
              <a:ext uri="{FF2B5EF4-FFF2-40B4-BE49-F238E27FC236}">
                <a16:creationId xmlns:a16="http://schemas.microsoft.com/office/drawing/2014/main" id="{DC5BA0FF-6073-431A-8F9D-AB909101B25A}"/>
              </a:ext>
            </a:extLst>
          </p:cNvPr>
          <p:cNvSpPr/>
          <p:nvPr/>
        </p:nvSpPr>
        <p:spPr>
          <a:xfrm>
            <a:off x="7543800" y="138119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高支出高波动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28" name="Rounded Rectangle 43">
            <a:extLst>
              <a:ext uri="{FF2B5EF4-FFF2-40B4-BE49-F238E27FC236}">
                <a16:creationId xmlns:a16="http://schemas.microsoft.com/office/drawing/2014/main" id="{A4D1AD08-9A3F-4FE7-AFEC-6C25CDC8B0B8}"/>
              </a:ext>
            </a:extLst>
          </p:cNvPr>
          <p:cNvSpPr/>
          <p:nvPr/>
        </p:nvSpPr>
        <p:spPr>
          <a:xfrm>
            <a:off x="8330184" y="138119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周转需求强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29" name="Rounded Rectangle 44">
            <a:extLst>
              <a:ext uri="{FF2B5EF4-FFF2-40B4-BE49-F238E27FC236}">
                <a16:creationId xmlns:a16="http://schemas.microsoft.com/office/drawing/2014/main" id="{4C841FC0-EB41-4881-80AF-BA5DAF26D3A4}"/>
              </a:ext>
            </a:extLst>
          </p:cNvPr>
          <p:cNvSpPr/>
          <p:nvPr/>
        </p:nvSpPr>
        <p:spPr>
          <a:xfrm>
            <a:off x="9116568" y="1381193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高额度诉求</a:t>
            </a:r>
          </a:p>
        </p:txBody>
      </p:sp>
      <p:sp>
        <p:nvSpPr>
          <p:cNvPr id="130" name="Rounded Rectangle 62">
            <a:extLst>
              <a:ext uri="{FF2B5EF4-FFF2-40B4-BE49-F238E27FC236}">
                <a16:creationId xmlns:a16="http://schemas.microsoft.com/office/drawing/2014/main" id="{4A853437-FAF5-4581-B771-2FB269A62555}"/>
              </a:ext>
            </a:extLst>
          </p:cNvPr>
          <p:cNvSpPr/>
          <p:nvPr/>
        </p:nvSpPr>
        <p:spPr>
          <a:xfrm>
            <a:off x="663493" y="425345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紧预算人群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1" name="Rounded Rectangle 63">
            <a:extLst>
              <a:ext uri="{FF2B5EF4-FFF2-40B4-BE49-F238E27FC236}">
                <a16:creationId xmlns:a16="http://schemas.microsoft.com/office/drawing/2014/main" id="{94C06805-ECBB-44FD-A329-6A2418DB2A87}"/>
              </a:ext>
            </a:extLst>
          </p:cNvPr>
          <p:cNvSpPr/>
          <p:nvPr/>
        </p:nvSpPr>
        <p:spPr>
          <a:xfrm>
            <a:off x="1248709" y="425345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福利依赖型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2" name="Rounded Rectangle 64">
            <a:extLst>
              <a:ext uri="{FF2B5EF4-FFF2-40B4-BE49-F238E27FC236}">
                <a16:creationId xmlns:a16="http://schemas.microsoft.com/office/drawing/2014/main" id="{1AC0652A-826D-4584-B80B-12FED471DE71}"/>
              </a:ext>
            </a:extLst>
          </p:cNvPr>
          <p:cNvSpPr/>
          <p:nvPr/>
        </p:nvSpPr>
        <p:spPr>
          <a:xfrm>
            <a:off x="2035093" y="425345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克制过日子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3" name="Rounded Rectangle 65">
            <a:extLst>
              <a:ext uri="{FF2B5EF4-FFF2-40B4-BE49-F238E27FC236}">
                <a16:creationId xmlns:a16="http://schemas.microsoft.com/office/drawing/2014/main" id="{0EFEF779-1BA0-4BDD-9D10-3FF083279EDE}"/>
              </a:ext>
            </a:extLst>
          </p:cNvPr>
          <p:cNvSpPr/>
          <p:nvPr/>
        </p:nvSpPr>
        <p:spPr>
          <a:xfrm>
            <a:off x="2620309" y="4253453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小额刚需党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5" name="Rounded Rectangle 84">
            <a:extLst>
              <a:ext uri="{FF2B5EF4-FFF2-40B4-BE49-F238E27FC236}">
                <a16:creationId xmlns:a16="http://schemas.microsoft.com/office/drawing/2014/main" id="{8E8C2170-1413-41B3-8914-31EC5C290A85}"/>
              </a:ext>
            </a:extLst>
          </p:cNvPr>
          <p:cNvSpPr/>
          <p:nvPr/>
        </p:nvSpPr>
        <p:spPr>
          <a:xfrm>
            <a:off x="6409765" y="4253229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现金告急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6" name="Rounded Rectangle 85">
            <a:extLst>
              <a:ext uri="{FF2B5EF4-FFF2-40B4-BE49-F238E27FC236}">
                <a16:creationId xmlns:a16="http://schemas.microsoft.com/office/drawing/2014/main" id="{600E8349-AFD6-46C7-B409-59612E132C5D}"/>
              </a:ext>
            </a:extLst>
          </p:cNvPr>
          <p:cNvSpPr/>
          <p:nvPr/>
        </p:nvSpPr>
        <p:spPr>
          <a:xfrm>
            <a:off x="7196149" y="4253229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收支失衡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7" name="Rounded Rectangle 86">
            <a:extLst>
              <a:ext uri="{FF2B5EF4-FFF2-40B4-BE49-F238E27FC236}">
                <a16:creationId xmlns:a16="http://schemas.microsoft.com/office/drawing/2014/main" id="{44A9AC8C-29FE-4895-81FF-69BAA02B4A60}"/>
              </a:ext>
            </a:extLst>
          </p:cNvPr>
          <p:cNvSpPr/>
          <p:nvPr/>
        </p:nvSpPr>
        <p:spPr>
          <a:xfrm>
            <a:off x="7982533" y="4253229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还款乏力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8" name="Rounded Rectangle 88">
            <a:extLst>
              <a:ext uri="{FF2B5EF4-FFF2-40B4-BE49-F238E27FC236}">
                <a16:creationId xmlns:a16="http://schemas.microsoft.com/office/drawing/2014/main" id="{FB12DEF9-0204-47DE-B33B-B08A965A503D}"/>
              </a:ext>
            </a:extLst>
          </p:cNvPr>
          <p:cNvSpPr/>
          <p:nvPr/>
        </p:nvSpPr>
        <p:spPr>
          <a:xfrm>
            <a:off x="8657665" y="4253229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高危边缘客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9" name="Rounded Rectangle 138"/>
          <p:cNvSpPr/>
          <p:nvPr/>
        </p:nvSpPr>
        <p:spPr>
          <a:xfrm>
            <a:off x="676656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740664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40664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4.15%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0664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四类中等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865376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929384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申请通过率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929384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42.76%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929384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054096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118103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自动/人工通过率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118103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12.81%/29.95%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118103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自动/人工均高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242816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4306824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通过后成交率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4306824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83.13%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06824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稳定成交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76656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740664" y="2489799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3M30人数逾期率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740664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5.74%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40664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865376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1929384" y="2489799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3M30金额逾期率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1929384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2.62%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929384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054096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3118103" y="248716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平均PTI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118103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5.13%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118103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4242816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4306824" y="248716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平均收入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306824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8,351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306824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676656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740664" y="291236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毛/净盈余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40664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588/217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40664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收支为正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1865376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1929384" y="291236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平均申请额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929384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2,589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929384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3054096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3118103" y="2914995"/>
            <a:ext cx="968214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件均额度</a:t>
            </a: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/</a:t>
            </a: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满足率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3118103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1,627/62.8%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118103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额度最高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4242816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4306824" y="2914995"/>
            <a:ext cx="916918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3M30观察样本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4306824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1,203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306824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观察样本充足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382512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6446520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446520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0</a:t>
            </a:r>
            <a:r>
              <a:rPr kumimoji="0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.</a:t>
            </a:r>
            <a:r>
              <a:rPr kumimoji="0" lang="en-US" altLang="zh-CN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</a:t>
            </a:r>
            <a:r>
              <a:rPr kumimoji="0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446520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样本极少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571232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7635240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申请通过率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635240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26.94%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7635240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次高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8759952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8823960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自动/人工通过率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823960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8.54%/18.41%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823960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审批仍有承接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9948672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10012680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通过后成交率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012680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84.51%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012680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6382512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6446520" y="2489799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3M30人数逾期率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6446520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10.42%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46520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风险抬升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7571232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7635240" y="2489799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3M30金额逾期率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7635240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7.96%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635240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8759952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8823960" y="248716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平均PTI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823960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4.36%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8823960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中等偏低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9948672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10012680" y="248716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平均收入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0012680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19,425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0012680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382512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6446520" y="291236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毛/净盈余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446520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11,021/10,620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446520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静态最佳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7571232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7635240" y="291236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平均申请额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635240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2,625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7635240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8759952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8823960" y="2914995"/>
            <a:ext cx="968214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件均额度</a:t>
            </a: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/</a:t>
            </a: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满足率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8823960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1,449/55.2%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8823960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中高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9948672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32" name="TextBox 231"/>
          <p:cNvSpPr txBox="1"/>
          <p:nvPr/>
        </p:nvSpPr>
        <p:spPr>
          <a:xfrm>
            <a:off x="10012680" y="2914995"/>
            <a:ext cx="916918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3M30观察样本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33" name="TextBox 232"/>
          <p:cNvSpPr txBox="1"/>
          <p:nvPr/>
        </p:nvSpPr>
        <p:spPr>
          <a:xfrm>
            <a:off x="10012680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96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012680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观察样本较少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76656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740664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40664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0.62%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40664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样本较少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1865376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1929384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申请通过率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929384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7.01%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929384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偏低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3054096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44" name="TextBox 243"/>
          <p:cNvSpPr txBox="1"/>
          <p:nvPr/>
        </p:nvSpPr>
        <p:spPr>
          <a:xfrm>
            <a:off x="3118103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自动/人工通过率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3118103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1.12%/5.89%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3118103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审批偏弱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4242816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48" name="TextBox 247"/>
          <p:cNvSpPr txBox="1"/>
          <p:nvPr/>
        </p:nvSpPr>
        <p:spPr>
          <a:xfrm>
            <a:off x="4306824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通过后成交率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4306824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89.86%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4306824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676656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740664" y="5452455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3M30人数逾期率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53" name="TextBox 252"/>
          <p:cNvSpPr txBox="1"/>
          <p:nvPr/>
        </p:nvSpPr>
        <p:spPr>
          <a:xfrm>
            <a:off x="740664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11.54%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40664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中等偏高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1865376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1929384" y="5452455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3M30金额逾期率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57" name="TextBox 256"/>
          <p:cNvSpPr txBox="1"/>
          <p:nvPr/>
        </p:nvSpPr>
        <p:spPr>
          <a:xfrm>
            <a:off x="1929384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5.21%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929384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中等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3054096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0" name="TextBox 259"/>
          <p:cNvSpPr txBox="1"/>
          <p:nvPr/>
        </p:nvSpPr>
        <p:spPr>
          <a:xfrm>
            <a:off x="3118103" y="544982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平均PTI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3118103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5.07%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3118103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4242816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4" name="TextBox 263"/>
          <p:cNvSpPr txBox="1"/>
          <p:nvPr/>
        </p:nvSpPr>
        <p:spPr>
          <a:xfrm>
            <a:off x="4306824" y="544982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平均收入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4306824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3,265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4306824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267" name="Rounded Rectangle 266"/>
          <p:cNvSpPr/>
          <p:nvPr/>
        </p:nvSpPr>
        <p:spPr>
          <a:xfrm>
            <a:off x="676656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8" name="TextBox 267"/>
          <p:cNvSpPr txBox="1"/>
          <p:nvPr/>
        </p:nvSpPr>
        <p:spPr>
          <a:xfrm>
            <a:off x="740664" y="5875020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毛/净盈余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740664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-425/-719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740664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承压明显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1865376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72" name="TextBox 271"/>
          <p:cNvSpPr txBox="1"/>
          <p:nvPr/>
        </p:nvSpPr>
        <p:spPr>
          <a:xfrm>
            <a:off x="1929384" y="5875020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平均申请额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929384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1,763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929384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偏低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3054096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76" name="TextBox 275"/>
          <p:cNvSpPr txBox="1"/>
          <p:nvPr/>
        </p:nvSpPr>
        <p:spPr>
          <a:xfrm>
            <a:off x="3118103" y="5877651"/>
            <a:ext cx="968214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件均额度</a:t>
            </a: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/</a:t>
            </a: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满足率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77" name="TextBox 276"/>
          <p:cNvSpPr txBox="1"/>
          <p:nvPr/>
        </p:nvSpPr>
        <p:spPr>
          <a:xfrm>
            <a:off x="3118103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973/55.2%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3118103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偏低</a:t>
            </a:r>
          </a:p>
        </p:txBody>
      </p:sp>
      <p:sp>
        <p:nvSpPr>
          <p:cNvPr id="279" name="Rounded Rectangle 278"/>
          <p:cNvSpPr/>
          <p:nvPr/>
        </p:nvSpPr>
        <p:spPr>
          <a:xfrm>
            <a:off x="4242816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80" name="TextBox 279"/>
          <p:cNvSpPr txBox="1"/>
          <p:nvPr/>
        </p:nvSpPr>
        <p:spPr>
          <a:xfrm>
            <a:off x="4306824" y="5877651"/>
            <a:ext cx="916918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3M30观察样本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4306824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26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4306824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观察样本少</a:t>
            </a:r>
          </a:p>
        </p:txBody>
      </p:sp>
      <p:sp>
        <p:nvSpPr>
          <p:cNvPr id="283" name="Rounded Rectangle 282"/>
          <p:cNvSpPr/>
          <p:nvPr/>
        </p:nvSpPr>
        <p:spPr>
          <a:xfrm>
            <a:off x="6382512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6446520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6446520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29.31%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6446520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样本最多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7571232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7635240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申请通过率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7635240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4.83%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7635240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291" name="Rounded Rectangle 290"/>
          <p:cNvSpPr/>
          <p:nvPr/>
        </p:nvSpPr>
        <p:spPr>
          <a:xfrm>
            <a:off x="8759952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92" name="TextBox 291"/>
          <p:cNvSpPr txBox="1"/>
          <p:nvPr/>
        </p:nvSpPr>
        <p:spPr>
          <a:xfrm>
            <a:off x="8823960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自动/人工通过率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8823960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0.62%/4.21%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8823960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自动/人工最低</a:t>
            </a:r>
          </a:p>
        </p:txBody>
      </p:sp>
      <p:sp>
        <p:nvSpPr>
          <p:cNvPr id="295" name="Rounded Rectangle 294"/>
          <p:cNvSpPr/>
          <p:nvPr/>
        </p:nvSpPr>
        <p:spPr>
          <a:xfrm>
            <a:off x="9948672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10012680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通过后成交率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0012680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88.57%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0012680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次高</a:t>
            </a:r>
          </a:p>
        </p:txBody>
      </p:sp>
      <p:sp>
        <p:nvSpPr>
          <p:cNvPr id="299" name="Rounded Rectangle 298"/>
          <p:cNvSpPr/>
          <p:nvPr/>
        </p:nvSpPr>
        <p:spPr>
          <a:xfrm>
            <a:off x="6382512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00" name="TextBox 299"/>
          <p:cNvSpPr txBox="1"/>
          <p:nvPr/>
        </p:nvSpPr>
        <p:spPr>
          <a:xfrm>
            <a:off x="6446520" y="5452455"/>
            <a:ext cx="1009892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3M30人数逾期率</a:t>
            </a:r>
            <a:r>
              <a:rPr kumimoji="0" 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 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6446520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27.05%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6446520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303" name="Rounded Rectangle 302"/>
          <p:cNvSpPr/>
          <p:nvPr/>
        </p:nvSpPr>
        <p:spPr>
          <a:xfrm>
            <a:off x="7571232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04" name="TextBox 303"/>
          <p:cNvSpPr txBox="1"/>
          <p:nvPr/>
        </p:nvSpPr>
        <p:spPr>
          <a:xfrm>
            <a:off x="7635240" y="5452455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3M30金额逾期率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7635240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20.82%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7635240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8759952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08" name="TextBox 307"/>
          <p:cNvSpPr txBox="1"/>
          <p:nvPr/>
        </p:nvSpPr>
        <p:spPr>
          <a:xfrm>
            <a:off x="8823960" y="544982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平均PTI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8823960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3.72%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8823960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311" name="Rounded Rectangle 310"/>
          <p:cNvSpPr/>
          <p:nvPr/>
        </p:nvSpPr>
        <p:spPr>
          <a:xfrm>
            <a:off x="9948672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12" name="TextBox 311"/>
          <p:cNvSpPr txBox="1"/>
          <p:nvPr/>
        </p:nvSpPr>
        <p:spPr>
          <a:xfrm>
            <a:off x="10012680" y="544982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平均收入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0012680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4,153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0012680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偏低</a:t>
            </a:r>
          </a:p>
        </p:txBody>
      </p:sp>
      <p:sp>
        <p:nvSpPr>
          <p:cNvPr id="315" name="Rounded Rectangle 314"/>
          <p:cNvSpPr/>
          <p:nvPr/>
        </p:nvSpPr>
        <p:spPr>
          <a:xfrm>
            <a:off x="6382512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16" name="TextBox 315"/>
          <p:cNvSpPr txBox="1"/>
          <p:nvPr/>
        </p:nvSpPr>
        <p:spPr>
          <a:xfrm>
            <a:off x="6446520" y="5875020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毛/净盈余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6446520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580/308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6446520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净盈余偏低</a:t>
            </a:r>
          </a:p>
        </p:txBody>
      </p:sp>
      <p:sp>
        <p:nvSpPr>
          <p:cNvPr id="319" name="Rounded Rectangle 318"/>
          <p:cNvSpPr/>
          <p:nvPr/>
        </p:nvSpPr>
        <p:spPr>
          <a:xfrm>
            <a:off x="7571232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20" name="TextBox 319"/>
          <p:cNvSpPr txBox="1"/>
          <p:nvPr/>
        </p:nvSpPr>
        <p:spPr>
          <a:xfrm>
            <a:off x="7635240" y="5875020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平均申请额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7635240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1,678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7635240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323" name="Rounded Rectangle 322"/>
          <p:cNvSpPr/>
          <p:nvPr/>
        </p:nvSpPr>
        <p:spPr>
          <a:xfrm>
            <a:off x="8759952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24" name="TextBox 323"/>
          <p:cNvSpPr txBox="1"/>
          <p:nvPr/>
        </p:nvSpPr>
        <p:spPr>
          <a:xfrm>
            <a:off x="8823960" y="5877651"/>
            <a:ext cx="968214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件均额度</a:t>
            </a: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/</a:t>
            </a: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满足率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25" name="TextBox 324"/>
          <p:cNvSpPr txBox="1"/>
          <p:nvPr/>
        </p:nvSpPr>
        <p:spPr>
          <a:xfrm>
            <a:off x="8823960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760/45.3%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8823960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327" name="Rounded Rectangle 326"/>
          <p:cNvSpPr/>
          <p:nvPr/>
        </p:nvSpPr>
        <p:spPr>
          <a:xfrm>
            <a:off x="9948672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28" name="TextBox 327"/>
          <p:cNvSpPr txBox="1"/>
          <p:nvPr/>
        </p:nvSpPr>
        <p:spPr>
          <a:xfrm>
            <a:off x="10012680" y="5877651"/>
            <a:ext cx="916918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3M30观察样本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29" name="TextBox 328"/>
          <p:cNvSpPr txBox="1"/>
          <p:nvPr/>
        </p:nvSpPr>
        <p:spPr>
          <a:xfrm>
            <a:off x="10012680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1,560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10012680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观察样本最多</a:t>
            </a:r>
          </a:p>
        </p:txBody>
      </p:sp>
    </p:spTree>
    <p:extLst>
      <p:ext uri="{BB962C8B-B14F-4D97-AF65-F5344CB8AC3E}">
        <p14:creationId xmlns:p14="http://schemas.microsoft.com/office/powerpoint/2010/main" val="2286103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56032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50" b="1">
                <a:solidFill>
                  <a:srgbClr val="1F3A5B"/>
                </a:solidFill>
                <a:latin typeface="微软雅黑"/>
                <a:ea typeface="微软雅黑"/>
              </a:rPr>
              <a:t>价值好与风险好的区别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0">
                <a:solidFill>
                  <a:srgbClr val="606060"/>
                </a:solidFill>
                <a:latin typeface="微软雅黑"/>
                <a:ea typeface="微软雅黑"/>
              </a:rPr>
              <a:t>两种“好”来自不同维度:风险好=支出与行为,价值好=收入与现金流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969264"/>
            <a:ext cx="11164824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12064" y="1188720"/>
            <a:ext cx="2272283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风险好:低支出 · 低波动 · 还款更可控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48939" y="1188720"/>
            <a:ext cx="2386583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价值好:高收入 · 现金流连续 · 发薪稳定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591056"/>
            <a:ext cx="108996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0A0A0A"/>
                </a:solidFill>
                <a:latin typeface="微软雅黑"/>
                <a:ea typeface="微软雅黑"/>
              </a:rPr>
              <a:t>风险好 vs 价值好:关键指标对比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12064" y="1865376"/>
          <a:ext cx="10899648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>
                    <a:lnB w="19050" cap="flat">
                      <a:solidFill>
                        <a:srgbClr val="0A0A0A"/>
                      </a:solidFill>
                    </a:lnB>
                    <a:solidFill>
                      <a:srgbClr val="E3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风险好(1/2)</a:t>
                      </a:r>
                    </a:p>
                  </a:txBody>
                  <a:tcPr>
                    <a:lnB w="19050" cap="flat">
                      <a:solidFill>
                        <a:srgbClr val="0A0A0A"/>
                      </a:solidFill>
                    </a:lnB>
                    <a:solidFill>
                      <a:srgbClr val="E3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价值好(1/2)</a:t>
                      </a:r>
                    </a:p>
                  </a:txBody>
                  <a:tcPr>
                    <a:lnB w="19050" cap="flat">
                      <a:solidFill>
                        <a:srgbClr val="0A0A0A"/>
                      </a:solidFill>
                    </a:lnB>
                    <a:solidFill>
                      <a:srgbClr val="E3EB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差异解读</a:t>
                      </a:r>
                    </a:p>
                  </a:txBody>
                  <a:tcPr>
                    <a:lnB w="19050" cap="flat">
                      <a:solidFill>
                        <a:srgbClr val="0A0A0A"/>
                      </a:solidFill>
                    </a:lnB>
                    <a:solidFill>
                      <a:srgbClr val="E3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工资收入总额</a:t>
                      </a:r>
                    </a:p>
                  </a:txBody>
                  <a:tcP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20,922</a:t>
                      </a:r>
                    </a:p>
                  </a:txBody>
                  <a:tcP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41,139</a:t>
                      </a:r>
                    </a:p>
                  </a:txBody>
                  <a:tcP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价值好近 2 倍——收入是价值核心</a:t>
                      </a:r>
                    </a:p>
                  </a:txBody>
                  <a:tcP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总收入金额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70,151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140,807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价值好近 2 倍——资金体量差距明显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工资入账次数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13.7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20.5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价值好更频繁——现金流更连续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主行业入账金额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24,203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40,916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价值好约 1.7 倍——主业收入更强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Centrelink收入占比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10.2%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2.1%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风险好更高——收入结构偏福利/保守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发薪周期标准差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2.99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2.72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价值好更稳定(数值更小)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总支出金额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66,684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139,715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价值好更高——资金进出体量更大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赌博支出占比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2.0%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3.8%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风险好更低——消费风险偏好弱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余额波动标准差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2,688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6,360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风险好更小——账户波动低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信贷还款金额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15,780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20,439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价值好更高——还款体量更大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贷款还款次数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25.3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29.4</a:t>
                      </a: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 dirty="0" err="1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价值好略多</a:t>
                      </a:r>
                      <a:r>
                        <a:rPr sz="800" b="0" dirty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——</a:t>
                      </a:r>
                      <a:r>
                        <a:rPr sz="800" b="0" dirty="0" err="1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还款活动更活跃</a:t>
                      </a:r>
                      <a:endParaRPr sz="800" b="0" dirty="0">
                        <a:solidFill>
                          <a:srgbClr val="606060"/>
                        </a:solidFill>
                        <a:latin typeface="微软雅黑"/>
                        <a:ea typeface="微软雅黑"/>
                      </a:endParaRPr>
                    </a:p>
                  </a:txBody>
                  <a:tcP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12064" y="4489704"/>
            <a:ext cx="108996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数值口径:风险/价值分箱 1/2 组均值;家庭/渠道结构仅在价值分箱下可对齐,未列本表,且不直接作为风险因果。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6217920"/>
            <a:ext cx="11164824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072" y="6281928"/>
            <a:ext cx="64008" cy="25603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" y="625449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>
                <a:solidFill>
                  <a:srgbClr val="0A0A0A"/>
                </a:solidFill>
                <a:latin typeface="微软雅黑"/>
                <a:ea typeface="微软雅黑"/>
              </a:rPr>
              <a:t>两类“好”不重叠:价值好×风险好(优先经营)与价值差×风险好(收益验证)是两类不同人群,经营策略需分开制定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0312"/>
            <a:ext cx="80467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00" b="1" i="0" u="none" strike="noStrike" kern="1200" cap="none" spc="0" normalizeH="0" baseline="0" noProof="0">
                <a:ln>
                  <a:noFill/>
                </a:ln>
                <a:solidFill>
                  <a:srgbClr val="18264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两类模型关注的人群本质不同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58368"/>
            <a:ext cx="98755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4B5669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同样使用银行流水，但一个偏向识别“经济基础”，一个偏向识别“风险迹象”。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0149840" cy="27432"/>
          </a:xfrm>
          <a:prstGeom prst="rect">
            <a:avLst/>
          </a:prstGeom>
          <a:solidFill>
            <a:srgbClr val="BD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4892040" cy="3154680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73152" cy="3154680"/>
          </a:xfrm>
          <a:prstGeom prst="rect">
            <a:avLst/>
          </a:prstGeom>
          <a:solidFill>
            <a:srgbClr val="BD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51560" cy="256032"/>
          </a:xfrm>
          <a:prstGeom prst="roundRect">
            <a:avLst/>
          </a:prstGeom>
          <a:solidFill>
            <a:srgbClr val="F5F0E5"/>
          </a:solidFill>
          <a:ln w="7620">
            <a:solidFill>
              <a:srgbClr val="BD8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6384" y="1412748"/>
            <a:ext cx="941832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BD8B3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资质模型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00784"/>
            <a:ext cx="44348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18264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更关注“经济基础与资金实力”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434840" cy="20116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230" b="1" i="0" u="none" strike="noStrike" kern="1200" cap="none" spc="0" normalizeH="0" baseline="0" noProof="0">
                <a:ln>
                  <a:noFill/>
                </a:ln>
                <a:solidFill>
                  <a:srgbClr val="24314E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Top 特征：</a:t>
            </a: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44506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工资收入、总收入、账户余额、BNPL 还款及转账行为</a:t>
            </a:r>
          </a:p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230" b="1" i="0" u="none" strike="noStrike" kern="1200" cap="none" spc="0" normalizeH="0" baseline="0" noProof="0">
                <a:ln>
                  <a:noFill/>
                </a:ln>
                <a:solidFill>
                  <a:srgbClr val="24314E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核心判断：</a:t>
            </a: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44506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赚多少钱、账户里有多少钱、资金是否有一定沉淀</a:t>
            </a:r>
          </a:p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230" b="1" i="0" u="none" strike="noStrike" kern="1200" cap="none" spc="0" normalizeH="0" baseline="0" noProof="0">
                <a:ln>
                  <a:noFill/>
                </a:ln>
                <a:solidFill>
                  <a:srgbClr val="24314E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典型变量：</a:t>
            </a: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44506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近182天工资收入、近56天总收入均值、近168天日均余额</a:t>
            </a:r>
          </a:p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230" b="1" i="0" u="none" strike="noStrike" kern="1200" cap="none" spc="0" normalizeH="0" baseline="0" noProof="0">
                <a:ln>
                  <a:noFill/>
                </a:ln>
                <a:solidFill>
                  <a:srgbClr val="24314E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识别人群：</a:t>
            </a: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44506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收入水平较高、资金相对充足、整体经济基础更好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170432"/>
            <a:ext cx="4892040" cy="3154680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577840" y="1170432"/>
            <a:ext cx="73152" cy="3154680"/>
          </a:xfrm>
          <a:prstGeom prst="rect">
            <a:avLst/>
          </a:prstGeom>
          <a:solidFill>
            <a:srgbClr val="995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06440" y="1371600"/>
            <a:ext cx="1051560" cy="256032"/>
          </a:xfrm>
          <a:prstGeom prst="roundRect">
            <a:avLst/>
          </a:prstGeom>
          <a:solidFill>
            <a:srgbClr val="F5F0E5"/>
          </a:solidFill>
          <a:ln w="7620">
            <a:solidFill>
              <a:srgbClr val="99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61303" y="1412748"/>
            <a:ext cx="941832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995349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风险模型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700784"/>
            <a:ext cx="44348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18264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更关注“风险行为与资金稳定性”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130552"/>
            <a:ext cx="4434840" cy="20116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230" b="1" i="0" u="none" strike="noStrike" kern="1200" cap="none" spc="0" normalizeH="0" baseline="0" noProof="0">
                <a:ln>
                  <a:noFill/>
                </a:ln>
                <a:solidFill>
                  <a:srgbClr val="24314E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Top 特征：</a:t>
            </a: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44506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债务交易、拒付、余额波动、现金预支及余额分布异常</a:t>
            </a:r>
          </a:p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230" b="1" i="0" u="none" strike="noStrike" kern="1200" cap="none" spc="0" normalizeH="0" baseline="0" noProof="0">
                <a:ln>
                  <a:noFill/>
                </a:ln>
                <a:solidFill>
                  <a:srgbClr val="24314E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核心判断：</a:t>
            </a: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44506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是否有债务压力、履约异常、短期资金紧张或账户异常波动</a:t>
            </a:r>
          </a:p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230" b="1" i="0" u="none" strike="noStrike" kern="1200" cap="none" spc="0" normalizeH="0" baseline="0" noProof="0">
                <a:ln>
                  <a:noFill/>
                </a:ln>
                <a:solidFill>
                  <a:srgbClr val="24314E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典型变量：</a:t>
            </a: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44506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债务交易占比、拒付次数、余额标准差、现金预支金额、余额峰度</a:t>
            </a:r>
          </a:p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230" b="1" i="0" u="none" strike="noStrike" kern="1200" cap="none" spc="0" normalizeH="0" baseline="0" noProof="0">
                <a:ln>
                  <a:noFill/>
                </a:ln>
                <a:solidFill>
                  <a:srgbClr val="24314E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识别人群：</a:t>
            </a: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44506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资金稳定性较差、借贷行为更明显、存在潜在风险迹象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98848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8264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核心回答不同</a:t>
            </a:r>
          </a:p>
        </p:txBody>
      </p:sp>
      <p:sp>
        <p:nvSpPr>
          <p:cNvPr id="18" name="Straight Connector 17"/>
          <p:cNvSpPr/>
          <p:nvPr/>
        </p:nvSpPr>
        <p:spPr>
          <a:xfrm>
            <a:off x="1828800" y="4773168"/>
            <a:ext cx="7223760" cy="0"/>
          </a:xfrm>
          <a:prstGeom prst="lineInv">
            <a:avLst/>
          </a:prstGeom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4800600"/>
            <a:ext cx="406908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4919472"/>
            <a:ext cx="3703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8264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资质模型回答：这个客户的经济条件怎么样？</a:t>
            </a:r>
          </a:p>
        </p:txBody>
      </p:sp>
      <p:sp>
        <p:nvSpPr>
          <p:cNvPr id="21" name="Oval 20"/>
          <p:cNvSpPr/>
          <p:nvPr/>
        </p:nvSpPr>
        <p:spPr>
          <a:xfrm>
            <a:off x="5047488" y="4736592"/>
            <a:ext cx="621792" cy="621792"/>
          </a:xfrm>
          <a:prstGeom prst="ellipse">
            <a:avLst/>
          </a:prstGeom>
          <a:solidFill>
            <a:srgbClr val="F5F0E5"/>
          </a:solidFill>
          <a:ln w="10160">
            <a:solidFill>
              <a:srgbClr val="BD8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38928" y="4892040"/>
            <a:ext cx="43891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BD8B3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4800600"/>
            <a:ext cx="416052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63640" y="4919472"/>
            <a:ext cx="3794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8264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风险模型回答：这个客户未来出风险的可能性多大？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504688"/>
            <a:ext cx="9966960" cy="74980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02920" y="5504688"/>
            <a:ext cx="73152" cy="749808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3232" y="5577840"/>
            <a:ext cx="9418320" cy="58521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8264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核心结论：资质模型看“经济基础”，风险模型看“风险迹象”。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60" b="0" i="0" u="none" strike="noStrike" kern="1200" cap="none" spc="0" normalizeH="0" baseline="0" noProof="0">
                <a:ln>
                  <a:noFill/>
                </a:ln>
                <a:solidFill>
                  <a:srgbClr val="4B5669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因此，即使风险水平接近，收入和资金实力也可能不同；经济基础较好，也不代表没有风险行为。两者交叉，才能分层筛出不同客群。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716</Words>
  <Application>Microsoft Office PowerPoint</Application>
  <PresentationFormat>宽屏</PresentationFormat>
  <Paragraphs>256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Microsoft YaHei</vt:lpstr>
      <vt:lpstr>Microsoft YaHei</vt:lpstr>
      <vt:lpstr>等线</vt:lpstr>
      <vt:lpstr>等线 Light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昱良</dc:creator>
  <cp:lastModifiedBy>昱良</cp:lastModifiedBy>
  <cp:revision>37</cp:revision>
  <dcterms:created xsi:type="dcterms:W3CDTF">2026-08-31T12:17:08Z</dcterms:created>
  <dcterms:modified xsi:type="dcterms:W3CDTF">2026-09-01T09:08:58Z</dcterms:modified>
</cp:coreProperties>
</file>