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"/>
  </p:notesMasterIdLst>
  <p:sldIdLst>
    <p:sldId id="290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9091D931-C6EF-4AAA-8AF6-ED6BA379CE5A}">
          <p14:sldIdLst>
            <p14:sldId id="290"/>
          </p14:sldIdLst>
        </p14:section>
        <p14:section name="draft" id="{4A55A2FB-9C68-4E40-8234-62AC1197D950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947" autoAdjust="0"/>
  </p:normalViewPr>
  <p:slideViewPr>
    <p:cSldViewPr snapToGrid="0" showGuides="1">
      <p:cViewPr varScale="1">
        <p:scale>
          <a:sx n="133" d="100"/>
          <a:sy n="133" d="100"/>
        </p:scale>
        <p:origin x="13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D1ABA1-3A8B-4F78-8FC2-CC35DC6ACD02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9672A-4FCD-4626-A8DC-612F10E6BE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95254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8F9672A-4FCD-4626-A8DC-612F10E6BE2A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24454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FA74C0-4492-4B6E-82F1-847BE75ED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B48B1CD-FA7B-40D0-A752-65ED19491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00D2C4A-DB2C-4ABD-8E4A-C2D6567ED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B5C06B2-F499-418D-862E-A5CEFBE46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15A32-7731-485E-B4AA-B08F6E151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1098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EBF095-51A9-4DBD-ADF5-FBC7F025D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FFAC3E3-9B46-4488-91C0-9AA4E1C00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6CF6FB-AFA3-49D3-8B12-177CC50BF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9A48375-639C-4148-B536-C14EEAB93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6F5F55-6771-4B3A-B141-C9A8EADBF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49470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C3066A-A401-4B7A-9261-A371FD0AB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47292A1-C559-48E9-B92C-ED860403C4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C2C8781-CF2A-499C-94E1-8719D4E4A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163101-8B73-4C25-BC55-7659EE25C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C74310-F05B-403D-9C21-A7BC4B094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82276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05B945-F937-4281-BF3D-8B65E94A5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2C8FAA-08B8-4E14-8258-1ED1E09872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45EF507-EE1E-4906-8E12-3AE95ECCCF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1705F97-FB45-4ADE-AAD3-111BDC253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52C1D9F-14FE-4CA6-8B97-0A26596D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4BA541B-5155-44EE-9B69-870C6F9BC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8793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C83019-4550-438C-AF1D-AFDAB5CF2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7B7705E-DF06-4579-90EE-2E83BED56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C2142CC-217D-4372-8E14-D6443AC4C4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75A6281-7CA3-4246-8E55-C3CA740402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83FC874-1075-4BFE-8585-AA328CCADF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623710D-E3D8-4F62-8215-989A61AA8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DA00496-D08A-4F79-9AB1-6DB3C9CF4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158F5C5-7812-4992-B30D-C2BBB2D98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9197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BCC04B-3A70-46FA-BD6F-1BAF41A9D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5792B4D-D45E-4DC2-AB5B-BD8349596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70CF96A-7B5D-4FB4-98A1-C2BB5207F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8D0F25D-89EF-4CDF-AB3F-9EA0BE989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3084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0F08A2A-4DDF-4321-B7C0-84BEB946F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F69043-3DAA-483F-905A-71EC27212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3BDED16-87A9-4637-8821-C726D514F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410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F5E25E-ACFB-43EA-8A88-1269FC1C3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4982BD-284D-46CF-8CFC-17A25BE45A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EDA268B-3287-4EA4-B656-666D9FBE2A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9D1276A-35B8-4DEF-AC08-B5D6EA90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A14578D-C269-4781-8E26-9ABFBAAAE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4DAA54B-C9B3-4D8A-BA0D-93979BF92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224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E888E7-4030-41D6-8519-EC2610F59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1FEBED0-012F-474B-AB92-7FD8A0EF54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BA7A0F1-DA2C-4FB3-8467-CAAB0D4BFE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E786A97-7223-4D44-951E-F866B79BF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E55755-29B7-4375-A1B1-E510CFB82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FC7FB22-B785-4E00-A396-651FC1416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7056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BE86F8-7C3C-48F9-A140-DF7ECDDA2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8DC504E-A9B0-4526-8809-044E414740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55E44F-A10B-45EB-B982-AAD32F8F4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A374D6-1026-46FD-B9FF-E36AA2175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C33D93-F50E-45EC-9C08-292AF188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7842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B34DD52-860B-430C-9C85-E4533FEABE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B86C01-6C80-4FA1-88FA-839883FCB7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E78CEC8-0D67-490E-A721-C15C79772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EFA70B-E61C-4E29-A6C8-FABE110F2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FBE4441-8A8F-46BB-9599-110363C0D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65542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B8EBA2-80EF-4252-8597-048A45E2E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B21FC56-6680-4AD6-82E5-88A11AFC2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7AA0C1-447C-4AEA-81FA-9EB45857E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5CC9B75-A23F-4BC0-AF10-8E3B6D59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F3BAF1-849E-4CFB-97FB-462B79C5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45701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348D98-575F-4B86-853A-5626FCCE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51CB4C6-859B-47BA-B600-73580410D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1BEAC3-78C5-45B7-A23B-249EC15E9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9A1087-075F-407E-BB28-CDF217CD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DC62BF-1010-4F72-A364-4192F2116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97541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4CBB0-B952-49F8-A1B8-3979F30A3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EC5F22-E42C-4263-A574-0CF3FB326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779609-2E9A-498F-932D-68BAA7EBB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99CF08-A439-43B3-A3F9-168D0F5CD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DFEC39-07FE-47BE-B8DE-2AFAE3D5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90132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2E4F4-0D12-4C67-A2DE-5D38CFD33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EAA503-16B9-4CA8-8AA5-603157897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8D83A5-8A38-40E5-AB3E-D4138C5D5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0B2CC2-A96A-41D7-A4D7-A284B7D5A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3BBF648-B851-4DA5-953B-86578FBD0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CC2EA2-1228-4FAF-B547-0D8F31FE6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29931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E7825-95FC-4C1A-AF5F-E36B597AB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F39FAA-4C36-4CB6-A320-3DAC5409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B609A8-1E92-437D-B0B0-6111310F1D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94226CF-A2B3-4B4E-9300-5E028ABA7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BB10009-1111-457E-B430-65E1C279A3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7E8ED2-908F-4B1A-8AE5-D192B1A89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49F550B-0F48-4318-996D-4884DECB1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28EED0F-6559-4C6F-9CA7-7770DD3D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98077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16F64B-E647-4104-B1ED-F93F843D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1D34E7-F38A-4F82-9AB6-F8589C899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B3AE06E-5BC2-49FC-AFDD-93822814B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F46D1A6-6F30-4369-886C-0B9A8E4C5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89691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9A4833-036F-41C6-B817-DBAF5E3F3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1AA5643-CE71-4F55-8C58-D1337D393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6E3F4D-D0ED-4973-9E9A-D6287B443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28703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F3B291-4439-45D3-BCEE-846EEECB6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A73331-4FF4-49B6-A023-F72C49367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FA3C987-2276-42A0-A1E7-E0606F374A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22F0A1-047D-4CAC-9C15-FF066542E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2EAEBB-7478-4902-AB86-AE45AA28F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4A46412-6586-483A-ABB0-E712F839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65001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320C44-3AFF-45CD-9780-0D2FBCA4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793764D-8357-41AF-8664-BADF71EFE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868CC22-900C-4216-BFAA-893CFBCC43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C52A649-1B04-42E5-84B4-2A037C732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DACB251-B513-433D-A8AC-3FA74F8D4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7EE6DA-2AE9-4C28-B829-F80EA98E4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64623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022334-2A6B-4387-80FD-70E1F1E0E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7C5D0A-2D53-4144-B690-6C700F742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50CEC7-6E44-43BF-A36B-7D08A2F5C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AE63B3-0B50-4DF9-8F0E-79A5D718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1FEAD4-D222-409F-A809-BD5B9786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488609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48EF8A-FDFA-4016-9979-C8C5B09F32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B09383-AF7E-4FF6-9616-02B3620BC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39486C-99DC-445E-A433-3EDCCFF5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26F166-1825-4F9D-89FB-66C38CDA1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0A879-DDC9-44A8-97E4-649A0365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967631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0097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A16D2E2-87AE-4739-8608-CEE8873A6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A34A209-DDC2-4959-A160-BDC500046B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34EE6D-3BAE-4835-9108-B29A330706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826AE31-865A-4DEE-BB2A-053A2D21B7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F3D2F2-3DD8-465E-8B4F-77319A9210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6994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0B64D2A-B4A2-4991-8631-34442C84D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B2BE11-2F72-49B2-9898-38081781B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DFEC2A-8966-4520-BDC5-D824E4328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AAC27E-A6AB-47AB-8662-4EC357CAD7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2857CC-AAF6-440B-A91D-E387063E6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4533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40080" y="338328"/>
            <a:ext cx="19202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50" b="1">
                <a:solidFill>
                  <a:srgbClr val="1F3A5B"/>
                </a:solidFill>
                <a:latin typeface="Microsoft YaHei"/>
              </a:defRPr>
            </a:pPr>
            <a:r>
              <a:rPr kumimoji="0" sz="1850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四类客群矩阵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12064" y="3602736"/>
            <a:ext cx="11155680" cy="0"/>
          </a:xfrm>
          <a:prstGeom prst="line">
            <a:avLst/>
          </a:prstGeom>
          <a:ln w="11430">
            <a:solidFill>
              <a:srgbClr val="7A8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080760" y="804672"/>
            <a:ext cx="0" cy="5623560"/>
          </a:xfrm>
          <a:prstGeom prst="line">
            <a:avLst/>
          </a:prstGeom>
          <a:ln w="11430">
            <a:solidFill>
              <a:srgbClr val="7A8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28016" y="3493008"/>
            <a:ext cx="457200" cy="1463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19" b="1">
                <a:solidFill>
                  <a:srgbClr val="1F3A5B"/>
                </a:solidFill>
                <a:latin typeface="Microsoft YaHei"/>
              </a:defRPr>
            </a:pPr>
            <a:r>
              <a:rPr kumimoji="0" sz="919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风险低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39728" y="3493008"/>
            <a:ext cx="512064" cy="1463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19" b="1">
                <a:solidFill>
                  <a:srgbClr val="1F3A5B"/>
                </a:solidFill>
                <a:latin typeface="Microsoft YaHei"/>
              </a:defRPr>
            </a:pPr>
            <a:r>
              <a:rPr kumimoji="0" sz="919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风险高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722376"/>
            <a:ext cx="457200" cy="1554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50" b="1">
                <a:solidFill>
                  <a:srgbClr val="1F3A5B"/>
                </a:solidFill>
                <a:latin typeface="Microsoft YaHei"/>
              </a:defRPr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价值高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6528816"/>
            <a:ext cx="457200" cy="1554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19" b="1">
                <a:solidFill>
                  <a:srgbClr val="1F3A5B"/>
                </a:solidFill>
                <a:latin typeface="Microsoft YaHei"/>
              </a:defRPr>
            </a:pPr>
            <a:r>
              <a:rPr kumimoji="0" sz="919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价值低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896112"/>
            <a:ext cx="239207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价值好 × 风险好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124712"/>
            <a:ext cx="3488436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268343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稳健经营型优质客</a:t>
            </a:r>
            <a:endParaRPr kumimoji="0" sz="1300" b="1" i="0" u="none" strike="noStrike" kern="1200" cap="none" spc="0" normalizeH="0" baseline="0" noProof="0" dirty="0">
              <a:ln>
                <a:noFill/>
              </a:ln>
              <a:solidFill>
                <a:srgbClr val="268343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58368" y="1655064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8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经营策略：重点经营</a:t>
            </a:r>
            <a:r>
              <a:rPr kumimoji="0" sz="860" b="0" i="0" u="none" strike="noStrike" kern="1200" cap="none" spc="0" normalizeH="0" baseline="0" noProof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｜3000-5000 优质 MACC / LACC / LOC 候选池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2075688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58368" y="2075688"/>
            <a:ext cx="1588008" cy="32004"/>
          </a:xfrm>
          <a:prstGeom prst="rect">
            <a:avLst/>
          </a:prstGeom>
          <a:solidFill>
            <a:srgbClr val="268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13232" y="2139696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240280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268343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4.15%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56103" y="2075688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356103" y="2075688"/>
            <a:ext cx="1588008" cy="32004"/>
          </a:xfrm>
          <a:prstGeom prst="rect">
            <a:avLst/>
          </a:prstGeom>
          <a:solidFill>
            <a:srgbClr val="268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410967" y="2139696"/>
            <a:ext cx="605935" cy="1046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lang="zh-CN" altLang="en-US" sz="680" b="0" i="0" u="none" strike="noStrike" kern="1200" cap="none" spc="0" normalizeH="0" baseline="0" noProof="0" dirty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申请样本</a:t>
            </a:r>
            <a:r>
              <a:rPr kumimoji="0" sz="680" b="0" i="0" u="none" strike="noStrike" kern="1200" cap="none" spc="0" normalizeH="0" baseline="0" noProof="0" dirty="0" err="1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通过率</a:t>
            </a:r>
            <a:endParaRPr kumimoji="0" sz="680" b="0" i="0" u="none" strike="noStrike" kern="1200" cap="none" spc="0" normalizeH="0" baseline="0" noProof="0" dirty="0">
              <a:ln>
                <a:noFill/>
              </a:ln>
              <a:solidFill>
                <a:srgbClr val="68717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410967" y="2240280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268343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42.76%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53839" y="2075688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053839" y="2075688"/>
            <a:ext cx="1588008" cy="32004"/>
          </a:xfrm>
          <a:prstGeom prst="rect">
            <a:avLst/>
          </a:prstGeom>
          <a:solidFill>
            <a:srgbClr val="268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108703" y="2139696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3M30逾期率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8703" y="2240280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268343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5.74%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3368" y="896112"/>
            <a:ext cx="239207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价值好 × 风险差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73368" y="1124712"/>
            <a:ext cx="3488436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B57900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B5790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高薪高波动型周转客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73368" y="1655064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B5790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经营策略：短周期小额承接</a:t>
            </a:r>
            <a:r>
              <a:rPr kumimoji="0" sz="860" b="0" i="0" u="none" strike="noStrike" kern="1200" cap="none" spc="0" normalizeH="0" baseline="0" noProof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｜EWA / 超短期产品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73368" y="2075688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6373368" y="2075688"/>
            <a:ext cx="1588008" cy="32004"/>
          </a:xfrm>
          <a:prstGeom prst="rect">
            <a:avLst/>
          </a:prstGeom>
          <a:solidFill>
            <a:srgbClr val="B5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428231" y="2139696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28231" y="2240280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B5790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B5790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0.33%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71104" y="2075688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8071104" y="2075688"/>
            <a:ext cx="1588008" cy="32004"/>
          </a:xfrm>
          <a:prstGeom prst="rect">
            <a:avLst/>
          </a:prstGeom>
          <a:solidFill>
            <a:srgbClr val="B5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8125968" y="2139696"/>
            <a:ext cx="605935" cy="1046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lang="zh-CN" altLang="en-US" sz="680" b="0" i="0" u="none" strike="noStrike" kern="1200" cap="none" spc="0" normalizeH="0" baseline="0" noProof="0" dirty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申请样本通过率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25968" y="2240280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B5790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B5790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26.94%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768840" y="2075688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9768840" y="2075688"/>
            <a:ext cx="1588008" cy="32004"/>
          </a:xfrm>
          <a:prstGeom prst="rect">
            <a:avLst/>
          </a:prstGeom>
          <a:solidFill>
            <a:srgbClr val="B5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823704" y="2139696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3M30逾期率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23704" y="2240280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B5790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B5790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10.42%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3493" y="3750533"/>
            <a:ext cx="239207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价值差 × 风险好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3493" y="3979133"/>
            <a:ext cx="3488436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1B5380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低收入克制型刚需客</a:t>
            </a:r>
            <a:endParaRPr kumimoji="0" sz="1300" b="1" i="0" u="none" strike="noStrike" kern="1200" cap="none" spc="0" normalizeH="0" baseline="0" noProof="0" dirty="0">
              <a:ln>
                <a:noFill/>
              </a:ln>
              <a:solidFill>
                <a:srgbClr val="1B5380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63493" y="4509485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经营策略：低额度验证</a:t>
            </a:r>
            <a:r>
              <a:rPr kumimoji="0" sz="860" b="0" i="0" u="none" strike="noStrike" kern="1200" cap="none" spc="0" normalizeH="0" baseline="0" noProof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｜SACC / 低额 Personal Loan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63493" y="4930109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663493" y="4930109"/>
            <a:ext cx="1588008" cy="32004"/>
          </a:xfrm>
          <a:prstGeom prst="rect">
            <a:avLst/>
          </a:prstGeom>
          <a:solidFill>
            <a:srgbClr val="1B5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718357" y="4994117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8357" y="5094701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1B538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0.62%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361228" y="4930109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2361228" y="4930109"/>
            <a:ext cx="1588008" cy="32004"/>
          </a:xfrm>
          <a:prstGeom prst="rect">
            <a:avLst/>
          </a:prstGeom>
          <a:solidFill>
            <a:srgbClr val="1B5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2416092" y="4994117"/>
            <a:ext cx="605935" cy="1046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lang="zh-CN" altLang="en-US" sz="680" b="0" i="0" u="none" strike="noStrike" kern="1200" cap="none" spc="0" normalizeH="0" baseline="0" noProof="0" dirty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申请样本通过率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16092" y="5094701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1B538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7.01%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058964" y="4930109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4058964" y="4930109"/>
            <a:ext cx="1588008" cy="32004"/>
          </a:xfrm>
          <a:prstGeom prst="rect">
            <a:avLst/>
          </a:prstGeom>
          <a:solidFill>
            <a:srgbClr val="1B5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113828" y="4994117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3M30逾期率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3828" y="5094701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1B538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11.54%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409765" y="3783521"/>
            <a:ext cx="239207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价值差 × 风险差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9765" y="4012121"/>
            <a:ext cx="3488436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C83D30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C83D3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现金流脆弱型谨慎客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9765" y="4542473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3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C83D3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经营策略：原则上不重点承接</a:t>
            </a:r>
            <a:r>
              <a:rPr kumimoji="0" sz="860" b="0" i="0" u="none" strike="noStrike" kern="1200" cap="none" spc="0" normalizeH="0" baseline="0" noProof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｜限额 / 提价 / 人工审核 / 谨慎准入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409765" y="4963097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6409765" y="4963097"/>
            <a:ext cx="1588008" cy="32004"/>
          </a:xfrm>
          <a:prstGeom prst="rect">
            <a:avLst/>
          </a:prstGeom>
          <a:solidFill>
            <a:srgbClr val="C83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464628" y="5027105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464628" y="5127689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C83D3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C83D3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29.31%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107501" y="4963097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8107501" y="4963097"/>
            <a:ext cx="1588008" cy="32004"/>
          </a:xfrm>
          <a:prstGeom prst="rect">
            <a:avLst/>
          </a:prstGeom>
          <a:solidFill>
            <a:srgbClr val="C83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8162365" y="5027105"/>
            <a:ext cx="605935" cy="1046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lang="zh-CN" altLang="en-US" sz="680" b="0" i="0" u="none" strike="noStrike" kern="1200" cap="none" spc="0" normalizeH="0" baseline="0" noProof="0" dirty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申请样本通过率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162365" y="5127689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C83D3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C83D3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4.83%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805237" y="4963097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04" name="Rectangle 103"/>
          <p:cNvSpPr/>
          <p:nvPr/>
        </p:nvSpPr>
        <p:spPr>
          <a:xfrm>
            <a:off x="9805237" y="4963097"/>
            <a:ext cx="1588008" cy="32004"/>
          </a:xfrm>
          <a:prstGeom prst="rect">
            <a:avLst/>
          </a:prstGeom>
          <a:solidFill>
            <a:srgbClr val="C83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9860101" y="5027105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3M30逾期率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860101" y="5127689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C83D3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C83D3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27.05%</a:t>
            </a:r>
          </a:p>
        </p:txBody>
      </p:sp>
      <p:sp>
        <p:nvSpPr>
          <p:cNvPr id="112" name="TextBox 19">
            <a:extLst>
              <a:ext uri="{FF2B5EF4-FFF2-40B4-BE49-F238E27FC236}">
                <a16:creationId xmlns:a16="http://schemas.microsoft.com/office/drawing/2014/main" id="{88C4A176-7E03-4166-84BA-EF63D5A7427F}"/>
              </a:ext>
            </a:extLst>
          </p:cNvPr>
          <p:cNvSpPr txBox="1"/>
          <p:nvPr/>
        </p:nvSpPr>
        <p:spPr>
          <a:xfrm>
            <a:off x="657721" y="2549292"/>
            <a:ext cx="5065776" cy="5309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总收入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 96,943 / </a:t>
            </a: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总支出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 92,348；发薪最稳（std 2.50），</a:t>
            </a: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福利依赖</a:t>
            </a:r>
            <a:r>
              <a:rPr lang="zh-CN" altLang="en-US"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最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低（2.7%）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还款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 24,276元 / 34.0次，履约最积极，显著高于低价值两组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赌博</a:t>
            </a:r>
            <a:r>
              <a:rPr lang="zh-CN" altLang="en-US"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支出占比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 2.5%；3M30余额逾期率 2.62%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平均申请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 2,589，件均额度 1,627，均处高位；额度满足率 62.8%</a:t>
            </a:r>
          </a:p>
        </p:txBody>
      </p:sp>
      <p:sp>
        <p:nvSpPr>
          <p:cNvPr id="113" name="TextBox 39">
            <a:extLst>
              <a:ext uri="{FF2B5EF4-FFF2-40B4-BE49-F238E27FC236}">
                <a16:creationId xmlns:a16="http://schemas.microsoft.com/office/drawing/2014/main" id="{85D55E45-D984-4C64-9691-02A586C191BF}"/>
              </a:ext>
            </a:extLst>
          </p:cNvPr>
          <p:cNvSpPr txBox="1"/>
          <p:nvPr/>
        </p:nvSpPr>
        <p:spPr>
          <a:xfrm>
            <a:off x="6395904" y="2535605"/>
            <a:ext cx="5659077" cy="6668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平均收入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 19,425，net surplus 10,620，静态偿付能力最佳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3M30人数 / </a:t>
            </a: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余额逾期率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 10.42% / 7.96%，</a:t>
            </a: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余额逾期率约为人数的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 76.4%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总收入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 191,383、工资 50,253，均最高；总支出 193,711 </a:t>
            </a: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已超收入，金额波动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 std 8,442，处高位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赌博支出</a:t>
            </a:r>
            <a:r>
              <a:rPr lang="zh-CN" altLang="en-US"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占比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 5.2%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平均申请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 2,625，最高；件均额度 1,449，额度满足率 55.2%</a:t>
            </a:r>
          </a:p>
        </p:txBody>
      </p:sp>
      <p:sp>
        <p:nvSpPr>
          <p:cNvPr id="114" name="TextBox 61">
            <a:extLst>
              <a:ext uri="{FF2B5EF4-FFF2-40B4-BE49-F238E27FC236}">
                <a16:creationId xmlns:a16="http://schemas.microsoft.com/office/drawing/2014/main" id="{0F371E02-4778-4531-8B45-6AD05A45ADEA}"/>
              </a:ext>
            </a:extLst>
          </p:cNvPr>
          <p:cNvSpPr txBox="1"/>
          <p:nvPr/>
        </p:nvSpPr>
        <p:spPr>
          <a:xfrm>
            <a:off x="708498" y="5376281"/>
            <a:ext cx="5065776" cy="5309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总收入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 45,568、工资 8,750，均最低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Centrelink </a:t>
            </a: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占比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 22.1%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赌博占比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 1.3%、</a:t>
            </a: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余额波动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 std 478.1、余额异常 3.45天，均最低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平均申请仅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 1,763、件均 973</a:t>
            </a:r>
            <a:r>
              <a:rPr lang="zh-CN" altLang="en-US"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，额度满足率</a:t>
            </a:r>
            <a:r>
              <a:rPr lang="en-US" altLang="zh-CN" sz="800" dirty="0"/>
              <a:t>55.2% 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；通过后成交率 89.86%</a:t>
            </a:r>
            <a:r>
              <a:rPr lang="zh-CN" altLang="en-US"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sz="800" dirty="0">
              <a:solidFill>
                <a:srgbClr val="3D3C3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5" name="TextBox 83">
            <a:extLst>
              <a:ext uri="{FF2B5EF4-FFF2-40B4-BE49-F238E27FC236}">
                <a16:creationId xmlns:a16="http://schemas.microsoft.com/office/drawing/2014/main" id="{8B4027D7-EAF7-4B49-9E31-3C41DB852E66}"/>
              </a:ext>
            </a:extLst>
          </p:cNvPr>
          <p:cNvSpPr txBox="1"/>
          <p:nvPr/>
        </p:nvSpPr>
        <p:spPr>
          <a:xfrm>
            <a:off x="6373368" y="5376994"/>
            <a:ext cx="5065776" cy="394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平均申请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 1,678、件均额度仅 760，额度覆盖率约 45.3%，</a:t>
            </a: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均最低</a:t>
            </a:r>
            <a:endParaRPr sz="800" dirty="0">
              <a:solidFill>
                <a:srgbClr val="3D3C3A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发薪周期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 std 4.01、余额异常 5.22天，均最高</a:t>
            </a:r>
          </a:p>
          <a:p>
            <a:pPr>
              <a:spcAft>
                <a:spcPts val="100"/>
              </a:spcAft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还款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 4,133元 / 10.8次，均低于“</a:t>
            </a:r>
            <a:r>
              <a:rPr kumimoji="0" lang="zh-CN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低收入克制型刚需客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”与“</a:t>
            </a:r>
            <a:r>
              <a:rPr kumimoji="0" lang="zh-CN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稳健经营型优质客</a:t>
            </a:r>
          </a:p>
        </p:txBody>
      </p:sp>
      <p:sp>
        <p:nvSpPr>
          <p:cNvPr id="116" name="Rounded Rectangle 20">
            <a:extLst>
              <a:ext uri="{FF2B5EF4-FFF2-40B4-BE49-F238E27FC236}">
                <a16:creationId xmlns:a16="http://schemas.microsoft.com/office/drawing/2014/main" id="{1ECF688C-6E3F-4C0E-ABD4-2EE749A8E409}"/>
              </a:ext>
            </a:extLst>
          </p:cNvPr>
          <p:cNvSpPr/>
          <p:nvPr/>
        </p:nvSpPr>
        <p:spPr>
          <a:xfrm>
            <a:off x="658368" y="1396118"/>
            <a:ext cx="832104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高收入稳现金流</a:t>
            </a:r>
          </a:p>
        </p:txBody>
      </p:sp>
      <p:sp>
        <p:nvSpPr>
          <p:cNvPr id="117" name="Rounded Rectangle 21">
            <a:extLst>
              <a:ext uri="{FF2B5EF4-FFF2-40B4-BE49-F238E27FC236}">
                <a16:creationId xmlns:a16="http://schemas.microsoft.com/office/drawing/2014/main" id="{1CBC9896-18ED-4F66-A930-AC5965EA2488}"/>
              </a:ext>
            </a:extLst>
          </p:cNvPr>
          <p:cNvSpPr/>
          <p:nvPr/>
        </p:nvSpPr>
        <p:spPr>
          <a:xfrm>
            <a:off x="1545336" y="139611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用信成熟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8" name="Rounded Rectangle 22">
            <a:extLst>
              <a:ext uri="{FF2B5EF4-FFF2-40B4-BE49-F238E27FC236}">
                <a16:creationId xmlns:a16="http://schemas.microsoft.com/office/drawing/2014/main" id="{0EE4068E-A424-44FA-A1AE-B95E543A2B7B}"/>
              </a:ext>
            </a:extLst>
          </p:cNvPr>
          <p:cNvSpPr/>
          <p:nvPr/>
        </p:nvSpPr>
        <p:spPr>
          <a:xfrm>
            <a:off x="2231136" y="139611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履约稳健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9" name="Rounded Rectangle 23">
            <a:extLst>
              <a:ext uri="{FF2B5EF4-FFF2-40B4-BE49-F238E27FC236}">
                <a16:creationId xmlns:a16="http://schemas.microsoft.com/office/drawing/2014/main" id="{866029C3-0908-4601-B0B5-470A21370530}"/>
              </a:ext>
            </a:extLst>
          </p:cNvPr>
          <p:cNvSpPr/>
          <p:nvPr/>
        </p:nvSpPr>
        <p:spPr>
          <a:xfrm>
            <a:off x="2916936" y="139611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高额度诉求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5" name="Rounded Rectangle 40">
            <a:extLst>
              <a:ext uri="{FF2B5EF4-FFF2-40B4-BE49-F238E27FC236}">
                <a16:creationId xmlns:a16="http://schemas.microsoft.com/office/drawing/2014/main" id="{DF5A399C-DE9E-439B-8A34-67D4CEF4DB29}"/>
              </a:ext>
            </a:extLst>
          </p:cNvPr>
          <p:cNvSpPr/>
          <p:nvPr/>
        </p:nvSpPr>
        <p:spPr>
          <a:xfrm>
            <a:off x="6373368" y="138119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纸面富裕</a:t>
            </a:r>
          </a:p>
        </p:txBody>
      </p:sp>
      <p:sp>
        <p:nvSpPr>
          <p:cNvPr id="126" name="Rounded Rectangle 41">
            <a:extLst>
              <a:ext uri="{FF2B5EF4-FFF2-40B4-BE49-F238E27FC236}">
                <a16:creationId xmlns:a16="http://schemas.microsoft.com/office/drawing/2014/main" id="{D17DA79E-22C1-4DB6-92D5-E4C642F7B63C}"/>
              </a:ext>
            </a:extLst>
          </p:cNvPr>
          <p:cNvSpPr/>
          <p:nvPr/>
        </p:nvSpPr>
        <p:spPr>
          <a:xfrm>
            <a:off x="6958584" y="138119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现金过山车</a:t>
            </a:r>
            <a:endParaRPr kumimoji="0" lang="zh-CN" altLang="en-US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7" name="Rounded Rectangle 42">
            <a:extLst>
              <a:ext uri="{FF2B5EF4-FFF2-40B4-BE49-F238E27FC236}">
                <a16:creationId xmlns:a16="http://schemas.microsoft.com/office/drawing/2014/main" id="{DC5BA0FF-6073-431A-8F9D-AB909101B25A}"/>
              </a:ext>
            </a:extLst>
          </p:cNvPr>
          <p:cNvSpPr/>
          <p:nvPr/>
        </p:nvSpPr>
        <p:spPr>
          <a:xfrm>
            <a:off x="7543800" y="1381193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高支出高波动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8" name="Rounded Rectangle 43">
            <a:extLst>
              <a:ext uri="{FF2B5EF4-FFF2-40B4-BE49-F238E27FC236}">
                <a16:creationId xmlns:a16="http://schemas.microsoft.com/office/drawing/2014/main" id="{A4D1AD08-9A3F-4FE7-AFEC-6C25CDC8B0B8}"/>
              </a:ext>
            </a:extLst>
          </p:cNvPr>
          <p:cNvSpPr/>
          <p:nvPr/>
        </p:nvSpPr>
        <p:spPr>
          <a:xfrm>
            <a:off x="8330184" y="1381193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周转需求强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9" name="Rounded Rectangle 44">
            <a:extLst>
              <a:ext uri="{FF2B5EF4-FFF2-40B4-BE49-F238E27FC236}">
                <a16:creationId xmlns:a16="http://schemas.microsoft.com/office/drawing/2014/main" id="{4C841FC0-EB41-4881-80AF-BA5DAF26D3A4}"/>
              </a:ext>
            </a:extLst>
          </p:cNvPr>
          <p:cNvSpPr/>
          <p:nvPr/>
        </p:nvSpPr>
        <p:spPr>
          <a:xfrm>
            <a:off x="9116568" y="1381193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高额度诉求</a:t>
            </a:r>
          </a:p>
        </p:txBody>
      </p:sp>
      <p:sp>
        <p:nvSpPr>
          <p:cNvPr id="130" name="Rounded Rectangle 62">
            <a:extLst>
              <a:ext uri="{FF2B5EF4-FFF2-40B4-BE49-F238E27FC236}">
                <a16:creationId xmlns:a16="http://schemas.microsoft.com/office/drawing/2014/main" id="{4A853437-FAF5-4581-B771-2FB269A62555}"/>
              </a:ext>
            </a:extLst>
          </p:cNvPr>
          <p:cNvSpPr/>
          <p:nvPr/>
        </p:nvSpPr>
        <p:spPr>
          <a:xfrm>
            <a:off x="663493" y="425345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紧预算人群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1" name="Rounded Rectangle 63">
            <a:extLst>
              <a:ext uri="{FF2B5EF4-FFF2-40B4-BE49-F238E27FC236}">
                <a16:creationId xmlns:a16="http://schemas.microsoft.com/office/drawing/2014/main" id="{94C06805-ECBB-44FD-A329-6A2418DB2A87}"/>
              </a:ext>
            </a:extLst>
          </p:cNvPr>
          <p:cNvSpPr/>
          <p:nvPr/>
        </p:nvSpPr>
        <p:spPr>
          <a:xfrm>
            <a:off x="1248709" y="4253453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福利依赖型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2" name="Rounded Rectangle 64">
            <a:extLst>
              <a:ext uri="{FF2B5EF4-FFF2-40B4-BE49-F238E27FC236}">
                <a16:creationId xmlns:a16="http://schemas.microsoft.com/office/drawing/2014/main" id="{1AC0652A-826D-4584-B80B-12FED471DE71}"/>
              </a:ext>
            </a:extLst>
          </p:cNvPr>
          <p:cNvSpPr/>
          <p:nvPr/>
        </p:nvSpPr>
        <p:spPr>
          <a:xfrm>
            <a:off x="2035093" y="425345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克制过日子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3" name="Rounded Rectangle 65">
            <a:extLst>
              <a:ext uri="{FF2B5EF4-FFF2-40B4-BE49-F238E27FC236}">
                <a16:creationId xmlns:a16="http://schemas.microsoft.com/office/drawing/2014/main" id="{0EFEF779-1BA0-4BDD-9D10-3FF083279EDE}"/>
              </a:ext>
            </a:extLst>
          </p:cNvPr>
          <p:cNvSpPr/>
          <p:nvPr/>
        </p:nvSpPr>
        <p:spPr>
          <a:xfrm>
            <a:off x="2620309" y="4253453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小额刚需党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5" name="Rounded Rectangle 84">
            <a:extLst>
              <a:ext uri="{FF2B5EF4-FFF2-40B4-BE49-F238E27FC236}">
                <a16:creationId xmlns:a16="http://schemas.microsoft.com/office/drawing/2014/main" id="{8E8C2170-1413-41B3-8914-31EC5C290A85}"/>
              </a:ext>
            </a:extLst>
          </p:cNvPr>
          <p:cNvSpPr/>
          <p:nvPr/>
        </p:nvSpPr>
        <p:spPr>
          <a:xfrm>
            <a:off x="6409765" y="4253229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现金告急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6" name="Rounded Rectangle 85">
            <a:extLst>
              <a:ext uri="{FF2B5EF4-FFF2-40B4-BE49-F238E27FC236}">
                <a16:creationId xmlns:a16="http://schemas.microsoft.com/office/drawing/2014/main" id="{600E8349-AFD6-46C7-B409-59612E132C5D}"/>
              </a:ext>
            </a:extLst>
          </p:cNvPr>
          <p:cNvSpPr/>
          <p:nvPr/>
        </p:nvSpPr>
        <p:spPr>
          <a:xfrm>
            <a:off x="7196149" y="4253229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收支失衡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7" name="Rounded Rectangle 86">
            <a:extLst>
              <a:ext uri="{FF2B5EF4-FFF2-40B4-BE49-F238E27FC236}">
                <a16:creationId xmlns:a16="http://schemas.microsoft.com/office/drawing/2014/main" id="{44A9AC8C-29FE-4895-81FF-69BAA02B4A60}"/>
              </a:ext>
            </a:extLst>
          </p:cNvPr>
          <p:cNvSpPr/>
          <p:nvPr/>
        </p:nvSpPr>
        <p:spPr>
          <a:xfrm>
            <a:off x="7982533" y="4253229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还款乏力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8" name="Rounded Rectangle 88">
            <a:extLst>
              <a:ext uri="{FF2B5EF4-FFF2-40B4-BE49-F238E27FC236}">
                <a16:creationId xmlns:a16="http://schemas.microsoft.com/office/drawing/2014/main" id="{FB12DEF9-0204-47DE-B33B-B08A965A503D}"/>
              </a:ext>
            </a:extLst>
          </p:cNvPr>
          <p:cNvSpPr/>
          <p:nvPr/>
        </p:nvSpPr>
        <p:spPr>
          <a:xfrm>
            <a:off x="8657665" y="4253229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高危边缘客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8625044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831</TotalTime>
  <Words>328</Words>
  <Application>Microsoft Office PowerPoint</Application>
  <PresentationFormat>宽屏</PresentationFormat>
  <Paragraphs>75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Microsoft YaHei</vt:lpstr>
      <vt:lpstr>Microsoft YaHei</vt:lpstr>
      <vt:lpstr>等线</vt:lpstr>
      <vt:lpstr>等线 Light</vt:lpstr>
      <vt:lpstr>Arial</vt:lpstr>
      <vt:lpstr>Office 主题​​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昱良</dc:creator>
  <cp:lastModifiedBy>昱良</cp:lastModifiedBy>
  <cp:revision>31</cp:revision>
  <dcterms:created xsi:type="dcterms:W3CDTF">2026-08-31T12:17:08Z</dcterms:created>
  <dcterms:modified xsi:type="dcterms:W3CDTF">2026-09-01T05:53:57Z</dcterms:modified>
</cp:coreProperties>
</file>