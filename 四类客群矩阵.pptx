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8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52" d="100"/>
          <a:sy n="152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A74C0-4492-4B6E-82F1-847BE75ED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B48B1CD-FA7B-40D0-A752-65ED19491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0D2C4A-DB2C-4ABD-8E4A-C2D6567E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5C06B2-F499-418D-862E-A5CEFBE46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15A32-7731-485E-B4AA-B08F6E151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09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BF095-51A9-4DBD-ADF5-FBC7F025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AC3E3-9B46-4488-91C0-9AA4E1C00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6CF6FB-AFA3-49D3-8B12-177CC50B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A48375-639C-4148-B536-C14EEAB93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6F5F55-6771-4B3A-B141-C9A8EADBF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947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C3066A-A401-4B7A-9261-A371FD0AB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7292A1-C559-48E9-B92C-ED860403C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C8781-CF2A-499C-94E1-8719D4E4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163101-8B73-4C25-BC55-7659EE25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C74310-F05B-403D-9C21-A7BC4B094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227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05B945-F937-4281-BF3D-8B65E94A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2C8FAA-08B8-4E14-8258-1ED1E0987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45EF507-EE1E-4906-8E12-3AE95ECCC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705F97-FB45-4ADE-AAD3-111BDC25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52C1D9F-14FE-4CA6-8B97-0A26596D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BA541B-5155-44EE-9B69-870C6F9B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79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83019-4550-438C-AF1D-AFDAB5CF2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B7705E-DF06-4579-90EE-2E83BED56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C2142CC-217D-4372-8E14-D6443AC4C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5A6281-7CA3-4246-8E55-C3CA7404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83FC874-1075-4BFE-8585-AA328CCAD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23710D-E3D8-4F62-8215-989A61AA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DA00496-D08A-4F79-9AB1-6DB3C9CF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58F5C5-7812-4992-B30D-C2BBB2D98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919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CC04B-3A70-46FA-BD6F-1BAF41A9D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5792B4D-D45E-4DC2-AB5B-BD834959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0CF96A-7B5D-4FB4-98A1-C2BB5207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8D0F25D-89EF-4CDF-AB3F-9EA0BE989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3084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F08A2A-4DDF-4321-B7C0-84BEB946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F69043-3DAA-483F-905A-71EC27212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BDED16-87A9-4637-8821-C726D514F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410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F5E25E-ACFB-43EA-8A88-1269FC1C3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982BD-284D-46CF-8CFC-17A25BE45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DA268B-3287-4EA4-B656-666D9FBE2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D1276A-35B8-4DEF-AC08-B5D6EA90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14578D-C269-4781-8E26-9ABFBAAA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DAA54B-C9B3-4D8A-BA0D-93979BF92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24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E888E7-4030-41D6-8519-EC2610F59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1FEBED0-012F-474B-AB92-7FD8A0EF54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A7A0F1-DA2C-4FB3-8467-CAAB0D4BFE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786A97-7223-4D44-951E-F866B79BF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E55755-29B7-4375-A1B1-E510CFB8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C7FB22-B785-4E00-A396-651FC141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7056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BE86F8-7C3C-48F9-A140-DF7ECDDA2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8DC504E-A9B0-4526-8809-044E41474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55E44F-A10B-45EB-B982-AAD32F8F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374D6-1026-46FD-B9FF-E36AA217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C33D93-F50E-45EC-9C08-292AF188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7842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34DD52-860B-430C-9C85-E4533FEAB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B86C01-6C80-4FA1-88FA-839883FCB7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78CEC8-0D67-490E-A721-C15C79772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EFA70B-E61C-4E29-A6C8-FABE110F2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BE4441-8A8F-46BB-9599-110363C0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554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570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9754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90132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99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8077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89691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2870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5001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64623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48860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6763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0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A16D2E2-87AE-4739-8608-CEE8873A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4A209-DDC2-4959-A160-BDC500046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34EE6D-3BAE-4835-9108-B29A330706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AA53-B6C0-4D1B-8E8C-333540490368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26AE31-865A-4DEE-BB2A-053A2D21B7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F3D2F2-3DD8-465E-8B4F-77319A921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994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53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12064" y="329184"/>
            <a:ext cx="73152" cy="21945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38328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四类客群矩阵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10058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横轴 风险（左低 → 右高）　｜　纵轴 价值（下低 → 上高）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658368"/>
            <a:ext cx="5394960" cy="2962656"/>
          </a:xfrm>
          <a:prstGeom prst="roundRect">
            <a:avLst>
              <a:gd name="adj" fmla="val 4000"/>
            </a:avLst>
          </a:prstGeom>
          <a:solidFill>
            <a:srgbClr val="E6F2E9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658368"/>
            <a:ext cx="5394960" cy="457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713232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价值好 × 风险好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47088" y="71323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E6F2E9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5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优先经营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941832"/>
            <a:ext cx="50657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稳健经营型优质客</a:t>
            </a:r>
            <a:r>
              <a:rPr sz="85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  ｜ 提额核心 · 投放核心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1188719"/>
            <a:ext cx="5065776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8" rIns="64008" tIns="0" bIns="0"/>
          <a:lstStyle/>
          <a:p>
            <a:pPr algn="l"/>
            <a:r>
              <a:rPr sz="85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对应产品  </a:t>
            </a:r>
            <a:r>
              <a:rPr sz="95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3000-5000 优质 MACC / LACC / LOC 候选池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472184"/>
            <a:ext cx="5065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风险低、价值好，适合作为重点经营客群。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1636776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样本占比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4.15%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1636776"/>
            <a:ext cx="1615440" cy="3657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01824" y="1636776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通过率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42.76%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01824" y="1636776"/>
            <a:ext cx="1615440" cy="3657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26992" y="1636776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3M30 人数逾期率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5.74%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26992" y="1636776"/>
            <a:ext cx="1615440" cy="3657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029967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画像要点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2167127"/>
            <a:ext cx="5065776" cy="109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194560"/>
            <a:ext cx="5065776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高收入稳现金流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：总收入 96,943 / 总支出 92,348，发薪周期最稳定（std 2.50），福利依赖低（Centrelink 2.7%）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成熟信贷客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：还款 24,276 元 / 34.0 次，信贷履约最积极，显著高于低价值两组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低风险行为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：赌博占比 2.5%、余额异常 3.82 天；3M30 金额逾期率 2.62%，仅为人数逾期率 5.74% 的约 45.6%，发生率与金额损失双低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高额度诉求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：平均申请金额 2,589、件均总额度 1,627，均处四象限高位；当前额度仅覆盖申请额约 62.8%，存在逐步提额空间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3346704"/>
            <a:ext cx="832104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高收入稳现金流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63624" y="3346704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成熟信贷客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49424" y="3346704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低风险行为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35224" y="3346704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高额度诉求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9904" y="658368"/>
            <a:ext cx="5394960" cy="2962656"/>
          </a:xfrm>
          <a:prstGeom prst="roundRect">
            <a:avLst>
              <a:gd name="adj" fmla="val 4000"/>
            </a:avLst>
          </a:prstGeom>
          <a:solidFill>
            <a:srgbClr val="FAF3E0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9904" y="658368"/>
            <a:ext cx="539496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54496" y="713232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价值好 × 风险差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4927" y="71323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5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谨慎经营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941832"/>
            <a:ext cx="50657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高薪高波动型周转客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54496" y="1188719"/>
            <a:ext cx="5065776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8" rIns="64008" tIns="0" bIns="0"/>
          <a:lstStyle/>
          <a:p>
            <a:pPr algn="l"/>
            <a:r>
              <a:rPr sz="85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对应产品  </a:t>
            </a:r>
            <a:r>
              <a:rPr sz="95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EWA / 超短期产品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496" y="1472184"/>
            <a:ext cx="5065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不适合直接放款大额度或期限，更适合通过短期、小额、即时周转产品承接需求。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54496" y="1636776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样本占比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0.33%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1636776"/>
            <a:ext cx="1615440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79664" y="1636776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通过率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26.94%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9664" y="1636776"/>
            <a:ext cx="1615440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04832" y="1636776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3M30 人数逾期率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10.42%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04832" y="1636776"/>
            <a:ext cx="1615440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54496" y="2029967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画像要点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54496" y="2167127"/>
            <a:ext cx="5065776" cy="1097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54496" y="2194560"/>
            <a:ext cx="5065776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纸面富裕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：申请时平均收入 19,425，gross / net surplus 11,021 / 10,620，静态偿付四象限最好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动态脆弱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：但 3M30 人数 / 金额逾期率仍达 10.42% / 7.96%，金额约为人数逾期率的 76.4%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高支出高波动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：总收入 191,383、工资 50,253 四象限最高，总支出 193,711 已略超收入；余额波动 std 8,442 显著偏高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风险消费偏高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：赌博支出 7,416（占比 5.2%）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额度诉求强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：平均申请金额 2,625 四象限最高，件均总额度 1,449、仅覆盖申请额约 55.2%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Microsoft YaHei"/>
                <a:ea typeface="Microsoft YaHei"/>
                <a:cs typeface="Microsoft YaHei"/>
              </a:rPr>
              <a:t>短借短还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：需求虽高但不宜一次性满足，适合用小额、短周期产品分段承接，以实际履约换取后续额度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4496" y="3346704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纸面富裕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39712" y="3346704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动态脆弱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24928" y="3346704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高支出高波动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11312" y="3346704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风险消费偏高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97696" y="3346704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额度诉求强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83496" y="3346704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短借短还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2064" y="3730752"/>
            <a:ext cx="5394960" cy="2962656"/>
          </a:xfrm>
          <a:prstGeom prst="roundRect">
            <a:avLst>
              <a:gd name="adj" fmla="val 4000"/>
            </a:avLst>
          </a:prstGeom>
          <a:solidFill>
            <a:srgbClr val="E3EBF4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2064" y="3730752"/>
            <a:ext cx="5394960" cy="457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76656" y="3785615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价值差 × 风险好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47088" y="3785615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E3EBF4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收益验证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" y="4014215"/>
            <a:ext cx="50657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低收入克制型刚需客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" y="4261104"/>
            <a:ext cx="5065776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8" rIns="64008" tIns="0" bIns="0"/>
          <a:lstStyle/>
          <a:p>
            <a:pPr algn="l"/>
            <a:r>
              <a:rPr sz="85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对应产品  </a:t>
            </a:r>
            <a:r>
              <a:rPr sz="9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SACC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6656" y="4544568"/>
            <a:ext cx="5065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不适合作为强经营客群，可通过低额度 Personal Loan 验证稳定需求、复贷表现和真实贡献。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76656" y="4709160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样本占比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0.62%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6656" y="4709160"/>
            <a:ext cx="1615440" cy="3657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01824" y="4709160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通过率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7.01%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01824" y="4709160"/>
            <a:ext cx="1615440" cy="3657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26992" y="4709160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3M30 人数逾期率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11.54%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26992" y="4709160"/>
            <a:ext cx="1615440" cy="3657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6656" y="5102352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画像要点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" y="5239512"/>
            <a:ext cx="5065776" cy="1097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6656" y="5266944"/>
            <a:ext cx="5065776" cy="1115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收入偏低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：总收入 45,568、工资 8,750，均为四象限最低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福利依赖较高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：Centrelink 占比 22.1%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量入为出、低风险行为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：赌博占比 1.3%、余额波动 std 478.1、余额异常 3.45 天，均为四象限最低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小额强承接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：平均申请金额仅 1,763、件均总额度 973，但通过后成交率 89.86% 为四象限最高；额度诉求不大，承接意愿强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偿付空间薄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：申请样本 gross / net surplus 为 -425 / -719，现金余量为负；成交样本回升至 889 / 674，审批筛出相对可承接者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76656" y="6419088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收入偏低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261872" y="6419088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福利依赖较高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48256" y="6419088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量入为出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33472" y="641908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低风险行为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319272" y="641908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小额强承接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005072" y="641908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偿付空间薄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89904" y="3730752"/>
            <a:ext cx="5394960" cy="2962656"/>
          </a:xfrm>
          <a:prstGeom prst="roundRect">
            <a:avLst>
              <a:gd name="adj" fmla="val 4000"/>
            </a:avLst>
          </a:prstGeom>
          <a:solidFill>
            <a:srgbClr val="F9E9E7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89904" y="3730752"/>
            <a:ext cx="5394960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254496" y="3785615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价值差 × 风险差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424927" y="3785615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9E9E7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5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风险控制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54496" y="4014215"/>
            <a:ext cx="50657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现金流脆弱型谨慎客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54496" y="4261104"/>
            <a:ext cx="5065776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8" rIns="64008" tIns="0" bIns="0"/>
          <a:lstStyle/>
          <a:p>
            <a:pPr algn="l"/>
            <a:r>
              <a:rPr sz="85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对应产品  </a:t>
            </a:r>
            <a:r>
              <a:rPr sz="95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原则上不重点承接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54496" y="4544568"/>
            <a:ext cx="5065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重点应放在限额、提价、人工审核和谨慎准入。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54496" y="4709160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样本占比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29.31%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54496" y="4709160"/>
            <a:ext cx="1615440" cy="3657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979664" y="4709160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通过率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4.83%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979664" y="4709160"/>
            <a:ext cx="1615440" cy="3657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9704832" y="4709160"/>
            <a:ext cx="161544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36576" tIns="54864" bIns="0"/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  <a:ea typeface="Microsoft YaHei"/>
                <a:cs typeface="Microsoft YaHei"/>
              </a:rPr>
              <a:t>3M30 人数逾期率</a:t>
            </a:r>
          </a:p>
          <a:p>
            <a:pPr algn="l">
              <a:spcBef>
                <a:spcPts val="100"/>
              </a:spcBef>
            </a:pPr>
            <a:r>
              <a:rPr sz="11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27.05%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04832" y="4709160"/>
            <a:ext cx="1615440" cy="3657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54496" y="5102352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画像要点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54496" y="5239512"/>
            <a:ext cx="5065776" cy="109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54496" y="5266944"/>
            <a:ext cx="5065776" cy="1115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小额迫切需求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：平均申请金额 1,678、件均总额度仅 760、额度覆盖率约 45.3%（四象限最低），通过后成交率仍达 88.57%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现金流不稳定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：发薪周期 std 4.01、余额异常 5.22 天，均为四象限最高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还款活动弱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：还款 4,133 元 / 10.8 次，均低于价值差×风险好与价值好×风险好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人工审核依赖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：通过件中人工审核占 87.18%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高逾期风险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：3M30 人数逾期率 27.05%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金额损失偏重</a:t>
            </a:r>
            <a:r>
              <a:rPr sz="800" b="0">
                <a:solidFill>
                  <a:srgbClr val="3D3C3A"/>
                </a:solidFill>
                <a:latin typeface="Microsoft YaHei"/>
                <a:ea typeface="Microsoft YaHei"/>
                <a:cs typeface="Microsoft YaHei"/>
              </a:rPr>
              <a:t>：3M30 金额逾期率 20.82%，约为人数逾期率的 77.0%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54496" y="6419088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小额迫切需求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040880" y="6419088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现金流不稳定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827264" y="641908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还款活动弱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513064" y="6419088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人工审核依赖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299448" y="641908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高逾期风险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985248" y="6419088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金额损失偏重</a:t>
            </a:r>
          </a:p>
        </p:txBody>
      </p:sp>
    </p:spTree>
    <p:extLst>
      <p:ext uri="{BB962C8B-B14F-4D97-AF65-F5344CB8AC3E}">
        <p14:creationId xmlns:p14="http://schemas.microsoft.com/office/powerpoint/2010/main" val="268055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</Words>
  <Application>Microsoft Office PowerPoint</Application>
  <PresentationFormat>宽屏</PresentationFormat>
  <Paragraphs>49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Noto Sans CJK SC</vt:lpstr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1</cp:revision>
  <dcterms:created xsi:type="dcterms:W3CDTF">2026-08-31T12:17:08Z</dcterms:created>
  <dcterms:modified xsi:type="dcterms:W3CDTF">2026-08-31T12:17:13Z</dcterms:modified>
</cp:coreProperties>
</file>