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2" r:id="rId3"/>
    <p:sldId id="29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2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419" autoAdjust="0"/>
  </p:normalViewPr>
  <p:slideViewPr>
    <p:cSldViewPr snapToGrid="0" showGuides="1">
      <p:cViewPr varScale="1">
        <p:scale>
          <a:sx n="161" d="100"/>
          <a:sy n="161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CN" altLang="en-US" dirty="0"/>
              <a:t>为什么要做价值模型：识别出风险以外的信息，找到最有价值的地方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可以用在两个方向：提额、投放</a:t>
            </a:r>
            <a:endParaRPr lang="en-US" altLang="zh-CN" dirty="0"/>
          </a:p>
          <a:p>
            <a:pPr marL="228600" indent="-228600">
              <a:buAutoNum type="arabicPeriod"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252331"/>
            <a:ext cx="1423467" cy="284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 dirty="0" err="1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四类客群矩阵</a:t>
            </a:r>
            <a:endParaRPr kumimoji="0" sz="1850" b="1" i="0" u="none" strike="noStrike" kern="1200" cap="none" spc="0" normalizeH="0" baseline="0" noProof="0" dirty="0">
              <a:ln>
                <a:noFill/>
              </a:ln>
              <a:solidFill>
                <a:srgbClr val="1F3A5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9349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95925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8017" y="722376"/>
            <a:ext cx="365485" cy="146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2826" y="6528816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1333698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稳健经营型优质客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268343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｜3000-5000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优质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MACC / LACC / LOC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候选池</a:t>
            </a:r>
            <a:endParaRPr kumimoji="0" sz="860" b="0" i="0" u="none" strike="noStrike" kern="1200" cap="none" spc="0" normalizeH="0" baseline="0" noProof="0" dirty="0">
              <a:ln>
                <a:noFill/>
              </a:ln>
              <a:solidFill>
                <a:srgbClr val="2F364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｜EWA / 超短期产品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低收入克制型刚需客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B538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｜SACC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低额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Personal Loan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｜限额 / 提价 / 人工审核 / 谨慎准入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67665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74066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066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四类中等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86537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2938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2938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2938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05409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118103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118103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12.81%/29.95%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18103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自动/人工均高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4281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30682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30682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83.13%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0682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稳定成交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7665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74066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74066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066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86537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2938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92938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2.62%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2938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05409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118103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18103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5.13%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18103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24281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4306824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8,351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30682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7665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74066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4066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588/217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4066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收支为正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86537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2938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2938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2,589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2938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305409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3118103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3118103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1,627/62.8%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8103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额度最高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24281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306824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430682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1,203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30682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观察样本充足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38251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644652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4652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.</a:t>
            </a: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4652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样本极少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757123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63524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63524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3524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75995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2396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82396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8.54%/18.41%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82396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审批仍有承接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94867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001268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1268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84.51%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1268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638251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44652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644652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4652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风险抬升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57123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763524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763524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7.96%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63524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875995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882396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82396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4.36%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82396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中等偏低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994867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1001268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01268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19,425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01268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38251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44652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4652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11,021/10,620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44652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静态最佳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57123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763524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63524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2,625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63524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875995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8823960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882396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1,449/55.2%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2396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中高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94867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10012680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001268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96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01268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观察样本较少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665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4066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4066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066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样本较少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86537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192938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92938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92938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05409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4" name="TextBox 243"/>
          <p:cNvSpPr txBox="1"/>
          <p:nvPr/>
        </p:nvSpPr>
        <p:spPr>
          <a:xfrm>
            <a:off x="3118103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118103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1.12%/5.89%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118103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审批偏弱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24281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430682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30682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89.86%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30682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67665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2" name="TextBox 251"/>
          <p:cNvSpPr txBox="1"/>
          <p:nvPr/>
        </p:nvSpPr>
        <p:spPr>
          <a:xfrm>
            <a:off x="74066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3" name="TextBox 252"/>
          <p:cNvSpPr txBox="1"/>
          <p:nvPr/>
        </p:nvSpPr>
        <p:spPr>
          <a:xfrm>
            <a:off x="74066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066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中等偏高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86537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192938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192938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5.21%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92938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305409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0" name="TextBox 259"/>
          <p:cNvSpPr txBox="1"/>
          <p:nvPr/>
        </p:nvSpPr>
        <p:spPr>
          <a:xfrm>
            <a:off x="3118103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118103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5.07%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118103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424281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4306824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30682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3,265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30682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67665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8" name="TextBox 267"/>
          <p:cNvSpPr txBox="1"/>
          <p:nvPr/>
        </p:nvSpPr>
        <p:spPr>
          <a:xfrm>
            <a:off x="74066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74066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-425/-719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4066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承压明显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86537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2938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2938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1,763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92938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305409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6" name="TextBox 275"/>
          <p:cNvSpPr txBox="1"/>
          <p:nvPr/>
        </p:nvSpPr>
        <p:spPr>
          <a:xfrm>
            <a:off x="3118103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3118103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973/55.2%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118103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24281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306824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30682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30682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观察样本少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638251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44652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44652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644652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样本最多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57123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763524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63524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63524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875995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882396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882396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0.62%/4.21%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2396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自动/人工最低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994867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1001268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01268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88.57%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01268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38251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0" name="TextBox 299"/>
          <p:cNvSpPr txBox="1"/>
          <p:nvPr/>
        </p:nvSpPr>
        <p:spPr>
          <a:xfrm>
            <a:off x="6446520" y="5452455"/>
            <a:ext cx="1009892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1" name="TextBox 300"/>
          <p:cNvSpPr txBox="1"/>
          <p:nvPr/>
        </p:nvSpPr>
        <p:spPr>
          <a:xfrm>
            <a:off x="644652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44652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757123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4" name="TextBox 303"/>
          <p:cNvSpPr txBox="1"/>
          <p:nvPr/>
        </p:nvSpPr>
        <p:spPr>
          <a:xfrm>
            <a:off x="7635240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5" name="TextBox 304"/>
          <p:cNvSpPr txBox="1"/>
          <p:nvPr/>
        </p:nvSpPr>
        <p:spPr>
          <a:xfrm>
            <a:off x="763524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20.82%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63524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875995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882396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82396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3.72%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82396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994867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2" name="TextBox 311"/>
          <p:cNvSpPr txBox="1"/>
          <p:nvPr/>
        </p:nvSpPr>
        <p:spPr>
          <a:xfrm>
            <a:off x="1001268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01268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4,153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01268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315" name="Rounded Rectangle 314"/>
          <p:cNvSpPr/>
          <p:nvPr/>
        </p:nvSpPr>
        <p:spPr>
          <a:xfrm>
            <a:off x="638251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6" name="TextBox 315"/>
          <p:cNvSpPr txBox="1"/>
          <p:nvPr/>
        </p:nvSpPr>
        <p:spPr>
          <a:xfrm>
            <a:off x="644652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580/308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44652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净盈余偏低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757123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763524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63524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63524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875995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4" name="TextBox 323"/>
          <p:cNvSpPr txBox="1"/>
          <p:nvPr/>
        </p:nvSpPr>
        <p:spPr>
          <a:xfrm>
            <a:off x="8823960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5" name="TextBox 324"/>
          <p:cNvSpPr txBox="1"/>
          <p:nvPr/>
        </p:nvSpPr>
        <p:spPr>
          <a:xfrm>
            <a:off x="882396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760/45.3%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882396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994867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8" name="TextBox 327"/>
          <p:cNvSpPr txBox="1"/>
          <p:nvPr/>
        </p:nvSpPr>
        <p:spPr>
          <a:xfrm>
            <a:off x="10012680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9" name="TextBox 328"/>
          <p:cNvSpPr txBox="1"/>
          <p:nvPr/>
        </p:nvSpPr>
        <p:spPr>
          <a:xfrm>
            <a:off x="1001268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1,560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001268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观察样本最多</a:t>
            </a:r>
          </a:p>
        </p:txBody>
      </p:sp>
    </p:spTree>
    <p:extLst>
      <p:ext uri="{BB962C8B-B14F-4D97-AF65-F5344CB8AC3E}">
        <p14:creationId xmlns:p14="http://schemas.microsoft.com/office/powerpoint/2010/main" val="228610381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50" b="1">
                <a:solidFill>
                  <a:srgbClr val="1F3A5B"/>
                </a:solidFill>
                <a:latin typeface="微软雅黑"/>
                <a:ea typeface="微软雅黑"/>
              </a:rPr>
              <a:t>价值好与风险好的区别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两种“好”来自不同维度:风险好=支出与行为,价值好=收入与现金流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969264"/>
            <a:ext cx="11164824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" y="1097280"/>
            <a:ext cx="5413248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" y="1124712"/>
            <a:ext cx="5358384" cy="54864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07007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B57900"/>
                </a:solidFill>
                <a:latin typeface="微软雅黑"/>
                <a:ea typeface="微软雅黑"/>
              </a:rPr>
              <a:t>风险好人群画像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27348" y="1225295"/>
            <a:ext cx="1869948" cy="237744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低支出 · 低波动 · 还款更可控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627631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609343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收入端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39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总收入金额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70,151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129,605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4942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工资收入总额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20,922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30,752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7860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Centrelink收入占比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10.2%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3.1%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07791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发薪周期std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2.99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3.35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383280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36499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行为端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675887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总支出金额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66,684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≈ 风险差一半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0507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赌博支出占比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2.0%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4.7%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3425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余额波动std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2,688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风险差 4,757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09744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79145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还款端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10235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信贷还款金额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15,780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高于风险差 10,305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43153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贷款还款次数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25.3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高于风险差 18.2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1097280"/>
            <a:ext cx="5413248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1928" y="1124712"/>
            <a:ext cx="535838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207007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价值好人群画像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1225295"/>
            <a:ext cx="1984248" cy="237744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18288" bIns="18288"/>
          <a:lstStyle/>
          <a:p>
            <a:pPr algn="ctr"/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高收入 · 现金流连续 · 发薪稳定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27631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1609343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收入体量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920239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总收入金额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140,807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59,771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24942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工资收入总额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41,139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11,130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57860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主行业入账金额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40,916</a:t>
            </a:r>
            <a:r>
              <a:rPr sz="800" b="1">
                <a:solidFill>
                  <a:srgbClr val="D6A00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16,067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54096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现金流质量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46704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工资入账次数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20.5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10.6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675887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发薪周期std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2.72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3.79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00507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Centrelink收入占比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2.1%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14.6%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480560"/>
            <a:ext cx="64008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4622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家庭与渠道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773168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couple占比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43.8%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29.1%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102352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Lead Partner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19.3%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11.6%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31536"/>
            <a:ext cx="513892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Owned Channels</a:t>
            </a: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  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11.8%</a:t>
            </a: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  </a:t>
            </a:r>
            <a:r>
              <a:rPr sz="700" b="0">
                <a:solidFill>
                  <a:srgbClr val="8A8A8A"/>
                </a:solidFill>
                <a:latin typeface="微软雅黑"/>
                <a:ea typeface="微软雅黑"/>
              </a:rPr>
              <a:t>价值差 7.9%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" y="5815584"/>
            <a:ext cx="11164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数值口径:左卡为风险分箱 1/2 组均值、右卡为价值分箱 1/2 组均值,行内灰字为对应 4/5 组对照;家庭/渠道结构差异不直接作为风险因果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2064" y="6144768"/>
            <a:ext cx="1116482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" y="6208776"/>
            <a:ext cx="64008" cy="25603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944" y="6181344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两类“好”不重叠:价值好×风险好(优先经营)与价值差×风险好(收益验证)是两类不同人群,经营策略需分开制定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428</Words>
  <Application>Microsoft Office PowerPoint</Application>
  <PresentationFormat>宽屏</PresentationFormat>
  <Paragraphs>181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35</cp:revision>
  <dcterms:created xsi:type="dcterms:W3CDTF">2026-08-31T12:17:08Z</dcterms:created>
  <dcterms:modified xsi:type="dcterms:W3CDTF">2026-09-01T06:58:05Z</dcterms:modified>
</cp:coreProperties>
</file>