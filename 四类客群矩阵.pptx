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"/>
  </p:notesMasterIdLst>
  <p:sldIdLst>
    <p:sldId id="292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9091D931-C6EF-4AAA-8AF6-ED6BA379CE5A}">
          <p14:sldIdLst>
            <p14:sldId id="292"/>
          </p14:sldIdLst>
        </p14:section>
        <p14:section name="draft" id="{4A55A2FB-9C68-4E40-8234-62AC1197D950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7419" autoAdjust="0"/>
  </p:normalViewPr>
  <p:slideViewPr>
    <p:cSldViewPr snapToGrid="0" showGuides="1">
      <p:cViewPr varScale="1">
        <p:scale>
          <a:sx n="161" d="100"/>
          <a:sy n="161" d="100"/>
        </p:scale>
        <p:origin x="2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D1ABA1-3A8B-4F78-8FC2-CC35DC6ACD02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9672A-4FCD-4626-A8DC-612F10E6BE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9525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CN" altLang="en-US" dirty="0"/>
              <a:t>为什么要做价值模型：识别出风险以外的信息，找到最有价值的地方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可以用在两个方向：提额、投放</a:t>
            </a:r>
            <a:endParaRPr lang="en-US" altLang="zh-CN" dirty="0"/>
          </a:p>
          <a:p>
            <a:pPr marL="228600" indent="-228600">
              <a:buAutoNum type="arabicPeriod"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8F9672A-4FCD-4626-A8DC-612F10E6BE2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2445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A74C0-4492-4B6E-82F1-847BE75ED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B48B1CD-FA7B-40D0-A752-65ED19491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0D2C4A-DB2C-4ABD-8E4A-C2D6567ED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5C06B2-F499-418D-862E-A5CEFBE46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15A32-7731-485E-B4AA-B08F6E151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109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BF095-51A9-4DBD-ADF5-FBC7F025D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FAC3E3-9B46-4488-91C0-9AA4E1C00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6CF6FB-AFA3-49D3-8B12-177CC50B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A48375-639C-4148-B536-C14EEAB93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6F5F55-6771-4B3A-B141-C9A8EADBF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4947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C3066A-A401-4B7A-9261-A371FD0AB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7292A1-C559-48E9-B92C-ED860403C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2C8781-CF2A-499C-94E1-8719D4E4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163101-8B73-4C25-BC55-7659EE25C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C74310-F05B-403D-9C21-A7BC4B094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227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05B945-F937-4281-BF3D-8B65E94A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2C8FAA-08B8-4E14-8258-1ED1E09872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45EF507-EE1E-4906-8E12-3AE95ECCCF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705F97-FB45-4ADE-AAD3-111BDC253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52C1D9F-14FE-4CA6-8B97-0A26596D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4BA541B-5155-44EE-9B69-870C6F9BC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79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C83019-4550-438C-AF1D-AFDAB5CF2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B7705E-DF06-4579-90EE-2E83BED56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C2142CC-217D-4372-8E14-D6443AC4C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5A6281-7CA3-4246-8E55-C3CA740402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83FC874-1075-4BFE-8585-AA328CCAD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623710D-E3D8-4F62-8215-989A61AA8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DA00496-D08A-4F79-9AB1-6DB3C9CF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58F5C5-7812-4992-B30D-C2BBB2D98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9197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BCC04B-3A70-46FA-BD6F-1BAF41A9D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5792B4D-D45E-4DC2-AB5B-BD834959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0CF96A-7B5D-4FB4-98A1-C2BB5207F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8D0F25D-89EF-4CDF-AB3F-9EA0BE989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3084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0F08A2A-4DDF-4321-B7C0-84BEB946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F69043-3DAA-483F-905A-71EC27212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BDED16-87A9-4637-8821-C726D514F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410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F5E25E-ACFB-43EA-8A88-1269FC1C3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982BD-284D-46CF-8CFC-17A25BE45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DA268B-3287-4EA4-B656-666D9FBE2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D1276A-35B8-4DEF-AC08-B5D6EA90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14578D-C269-4781-8E26-9ABFBAAA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DAA54B-C9B3-4D8A-BA0D-93979BF92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24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E888E7-4030-41D6-8519-EC2610F59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1FEBED0-012F-474B-AB92-7FD8A0EF54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A7A0F1-DA2C-4FB3-8467-CAAB0D4BFE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786A97-7223-4D44-951E-F866B79BF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E55755-29B7-4375-A1B1-E510CFB8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C7FB22-B785-4E00-A396-651FC141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7056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BE86F8-7C3C-48F9-A140-DF7ECDDA2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8DC504E-A9B0-4526-8809-044E41474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55E44F-A10B-45EB-B982-AAD32F8F4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A374D6-1026-46FD-B9FF-E36AA217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C33D93-F50E-45EC-9C08-292AF188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7842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B34DD52-860B-430C-9C85-E4533FEABE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B86C01-6C80-4FA1-88FA-839883FCB7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78CEC8-0D67-490E-A721-C15C79772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EFA70B-E61C-4E29-A6C8-FABE110F2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BE4441-8A8F-46BB-9599-110363C0D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5542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570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97541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90132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2993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8077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89691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2870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5001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64623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48860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6763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009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A16D2E2-87AE-4739-8608-CEE8873A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34A209-DDC2-4959-A160-BDC500046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34EE6D-3BAE-4835-9108-B29A330706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26AE31-865A-4DEE-BB2A-053A2D21B7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F3D2F2-3DD8-465E-8B4F-77319A921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6994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453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252331"/>
            <a:ext cx="1423467" cy="284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50" b="1">
                <a:solidFill>
                  <a:srgbClr val="1F3A5B"/>
                </a:solidFill>
                <a:latin typeface="Microsoft YaHei"/>
              </a:defRPr>
            </a:pPr>
            <a:r>
              <a:rPr kumimoji="0" sz="1850" b="1" i="0" u="none" strike="noStrike" kern="1200" cap="none" spc="0" normalizeH="0" baseline="0" noProof="0" dirty="0" err="1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四类客群矩阵</a:t>
            </a:r>
            <a:endParaRPr kumimoji="0" sz="1850" b="1" i="0" u="none" strike="noStrike" kern="1200" cap="none" spc="0" normalizeH="0" baseline="0" noProof="0" dirty="0">
              <a:ln>
                <a:noFill/>
              </a:ln>
              <a:solidFill>
                <a:srgbClr val="1F3A5B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12064" y="3602736"/>
            <a:ext cx="11155680" cy="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80760" y="804672"/>
            <a:ext cx="0" cy="562356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29349" y="3493008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风险低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95925" y="3493008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风险高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8017" y="722376"/>
            <a:ext cx="365485" cy="14619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50" b="1">
                <a:solidFill>
                  <a:srgbClr val="1F3A5B"/>
                </a:solidFill>
                <a:latin typeface="Microsoft YaHei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2826" y="6528816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896112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价值好 × 风险好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124712"/>
            <a:ext cx="1333698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268343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稳健经营型优质客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268343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 dirty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经营策略：重点经营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｜3000-5000 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优质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MACC / LACC / LOC 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候选池</a:t>
            </a:r>
            <a:endParaRPr kumimoji="0" sz="860" b="0" i="0" u="none" strike="noStrike" kern="1200" cap="none" spc="0" normalizeH="0" baseline="0" noProof="0" dirty="0">
              <a:ln>
                <a:noFill/>
              </a:ln>
              <a:solidFill>
                <a:srgbClr val="2F364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373368" y="896112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价值好 × 风险差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1124712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B5790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高薪高波动型周转客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3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经营策略：短周期小额承接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｜EWA / 超短期产品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493" y="3750533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价值差 × 风险好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3493" y="3979133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1B538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低收入克制型刚需客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1B538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63493" y="4509485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 dirty="0" err="1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经营策略：低额度验证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｜SACC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/ 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低额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Personal Loan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9765" y="3783521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价值差 × 风险差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9765" y="4012121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C83D3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现金流脆弱型谨慎客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9765" y="4542473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3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经营策略：原则上不重点承接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｜限额 / 提价 / 人工审核 / 谨慎准入</a:t>
            </a:r>
          </a:p>
        </p:txBody>
      </p:sp>
      <p:sp>
        <p:nvSpPr>
          <p:cNvPr id="116" name="Rounded Rectangle 20">
            <a:extLst>
              <a:ext uri="{FF2B5EF4-FFF2-40B4-BE49-F238E27FC236}">
                <a16:creationId xmlns:a16="http://schemas.microsoft.com/office/drawing/2014/main" id="{1ECF688C-6E3F-4C0E-ABD4-2EE749A8E409}"/>
              </a:ext>
            </a:extLst>
          </p:cNvPr>
          <p:cNvSpPr/>
          <p:nvPr/>
        </p:nvSpPr>
        <p:spPr>
          <a:xfrm>
            <a:off x="658368" y="1396118"/>
            <a:ext cx="832104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高收入稳现金流</a:t>
            </a:r>
          </a:p>
        </p:txBody>
      </p:sp>
      <p:sp>
        <p:nvSpPr>
          <p:cNvPr id="117" name="Rounded Rectangle 21">
            <a:extLst>
              <a:ext uri="{FF2B5EF4-FFF2-40B4-BE49-F238E27FC236}">
                <a16:creationId xmlns:a16="http://schemas.microsoft.com/office/drawing/2014/main" id="{1CBC9896-18ED-4F66-A930-AC5965EA2488}"/>
              </a:ext>
            </a:extLst>
          </p:cNvPr>
          <p:cNvSpPr/>
          <p:nvPr/>
        </p:nvSpPr>
        <p:spPr>
          <a:xfrm>
            <a:off x="15453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用信成熟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18" name="Rounded Rectangle 22">
            <a:extLst>
              <a:ext uri="{FF2B5EF4-FFF2-40B4-BE49-F238E27FC236}">
                <a16:creationId xmlns:a16="http://schemas.microsoft.com/office/drawing/2014/main" id="{0EE4068E-A424-44FA-A1AE-B95E543A2B7B}"/>
              </a:ext>
            </a:extLst>
          </p:cNvPr>
          <p:cNvSpPr/>
          <p:nvPr/>
        </p:nvSpPr>
        <p:spPr>
          <a:xfrm>
            <a:off x="22311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履约稳健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19" name="Rounded Rectangle 23">
            <a:extLst>
              <a:ext uri="{FF2B5EF4-FFF2-40B4-BE49-F238E27FC236}">
                <a16:creationId xmlns:a16="http://schemas.microsoft.com/office/drawing/2014/main" id="{866029C3-0908-4601-B0B5-470A21370530}"/>
              </a:ext>
            </a:extLst>
          </p:cNvPr>
          <p:cNvSpPr/>
          <p:nvPr/>
        </p:nvSpPr>
        <p:spPr>
          <a:xfrm>
            <a:off x="29169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高额度诉求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5" name="Rounded Rectangle 40">
            <a:extLst>
              <a:ext uri="{FF2B5EF4-FFF2-40B4-BE49-F238E27FC236}">
                <a16:creationId xmlns:a16="http://schemas.microsoft.com/office/drawing/2014/main" id="{DF5A399C-DE9E-439B-8A34-67D4CEF4DB29}"/>
              </a:ext>
            </a:extLst>
          </p:cNvPr>
          <p:cNvSpPr/>
          <p:nvPr/>
        </p:nvSpPr>
        <p:spPr>
          <a:xfrm>
            <a:off x="6373368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纸面富裕</a:t>
            </a:r>
          </a:p>
        </p:txBody>
      </p:sp>
      <p:sp>
        <p:nvSpPr>
          <p:cNvPr id="126" name="Rounded Rectangle 41">
            <a:extLst>
              <a:ext uri="{FF2B5EF4-FFF2-40B4-BE49-F238E27FC236}">
                <a16:creationId xmlns:a16="http://schemas.microsoft.com/office/drawing/2014/main" id="{D17DA79E-22C1-4DB6-92D5-E4C642F7B63C}"/>
              </a:ext>
            </a:extLst>
          </p:cNvPr>
          <p:cNvSpPr/>
          <p:nvPr/>
        </p:nvSpPr>
        <p:spPr>
          <a:xfrm>
            <a:off x="6958584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现金过山车</a:t>
            </a:r>
            <a:endParaRPr kumimoji="0" lang="zh-CN" altLang="en-US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7" name="Rounded Rectangle 42">
            <a:extLst>
              <a:ext uri="{FF2B5EF4-FFF2-40B4-BE49-F238E27FC236}">
                <a16:creationId xmlns:a16="http://schemas.microsoft.com/office/drawing/2014/main" id="{DC5BA0FF-6073-431A-8F9D-AB909101B25A}"/>
              </a:ext>
            </a:extLst>
          </p:cNvPr>
          <p:cNvSpPr/>
          <p:nvPr/>
        </p:nvSpPr>
        <p:spPr>
          <a:xfrm>
            <a:off x="7543800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高支出高波动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8" name="Rounded Rectangle 43">
            <a:extLst>
              <a:ext uri="{FF2B5EF4-FFF2-40B4-BE49-F238E27FC236}">
                <a16:creationId xmlns:a16="http://schemas.microsoft.com/office/drawing/2014/main" id="{A4D1AD08-9A3F-4FE7-AFEC-6C25CDC8B0B8}"/>
              </a:ext>
            </a:extLst>
          </p:cNvPr>
          <p:cNvSpPr/>
          <p:nvPr/>
        </p:nvSpPr>
        <p:spPr>
          <a:xfrm>
            <a:off x="8330184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周转需求强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9" name="Rounded Rectangle 44">
            <a:extLst>
              <a:ext uri="{FF2B5EF4-FFF2-40B4-BE49-F238E27FC236}">
                <a16:creationId xmlns:a16="http://schemas.microsoft.com/office/drawing/2014/main" id="{4C841FC0-EB41-4881-80AF-BA5DAF26D3A4}"/>
              </a:ext>
            </a:extLst>
          </p:cNvPr>
          <p:cNvSpPr/>
          <p:nvPr/>
        </p:nvSpPr>
        <p:spPr>
          <a:xfrm>
            <a:off x="9116568" y="138119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高额度诉求</a:t>
            </a:r>
          </a:p>
        </p:txBody>
      </p:sp>
      <p:sp>
        <p:nvSpPr>
          <p:cNvPr id="130" name="Rounded Rectangle 62">
            <a:extLst>
              <a:ext uri="{FF2B5EF4-FFF2-40B4-BE49-F238E27FC236}">
                <a16:creationId xmlns:a16="http://schemas.microsoft.com/office/drawing/2014/main" id="{4A853437-FAF5-4581-B771-2FB269A62555}"/>
              </a:ext>
            </a:extLst>
          </p:cNvPr>
          <p:cNvSpPr/>
          <p:nvPr/>
        </p:nvSpPr>
        <p:spPr>
          <a:xfrm>
            <a:off x="6634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紧预算人群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1" name="Rounded Rectangle 63">
            <a:extLst>
              <a:ext uri="{FF2B5EF4-FFF2-40B4-BE49-F238E27FC236}">
                <a16:creationId xmlns:a16="http://schemas.microsoft.com/office/drawing/2014/main" id="{94C06805-ECBB-44FD-A329-6A2418DB2A87}"/>
              </a:ext>
            </a:extLst>
          </p:cNvPr>
          <p:cNvSpPr/>
          <p:nvPr/>
        </p:nvSpPr>
        <p:spPr>
          <a:xfrm>
            <a:off x="1248709" y="425345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福利依赖型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2" name="Rounded Rectangle 64">
            <a:extLst>
              <a:ext uri="{FF2B5EF4-FFF2-40B4-BE49-F238E27FC236}">
                <a16:creationId xmlns:a16="http://schemas.microsoft.com/office/drawing/2014/main" id="{1AC0652A-826D-4584-B80B-12FED471DE71}"/>
              </a:ext>
            </a:extLst>
          </p:cNvPr>
          <p:cNvSpPr/>
          <p:nvPr/>
        </p:nvSpPr>
        <p:spPr>
          <a:xfrm>
            <a:off x="20350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克制过日子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3" name="Rounded Rectangle 65">
            <a:extLst>
              <a:ext uri="{FF2B5EF4-FFF2-40B4-BE49-F238E27FC236}">
                <a16:creationId xmlns:a16="http://schemas.microsoft.com/office/drawing/2014/main" id="{0EFEF779-1BA0-4BDD-9D10-3FF083279EDE}"/>
              </a:ext>
            </a:extLst>
          </p:cNvPr>
          <p:cNvSpPr/>
          <p:nvPr/>
        </p:nvSpPr>
        <p:spPr>
          <a:xfrm>
            <a:off x="2620309" y="425345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小额刚需党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5" name="Rounded Rectangle 84">
            <a:extLst>
              <a:ext uri="{FF2B5EF4-FFF2-40B4-BE49-F238E27FC236}">
                <a16:creationId xmlns:a16="http://schemas.microsoft.com/office/drawing/2014/main" id="{8E8C2170-1413-41B3-8914-31EC5C290A85}"/>
              </a:ext>
            </a:extLst>
          </p:cNvPr>
          <p:cNvSpPr/>
          <p:nvPr/>
        </p:nvSpPr>
        <p:spPr>
          <a:xfrm>
            <a:off x="6409765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现金告急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6" name="Rounded Rectangle 85">
            <a:extLst>
              <a:ext uri="{FF2B5EF4-FFF2-40B4-BE49-F238E27FC236}">
                <a16:creationId xmlns:a16="http://schemas.microsoft.com/office/drawing/2014/main" id="{600E8349-AFD6-46C7-B409-59612E132C5D}"/>
              </a:ext>
            </a:extLst>
          </p:cNvPr>
          <p:cNvSpPr/>
          <p:nvPr/>
        </p:nvSpPr>
        <p:spPr>
          <a:xfrm>
            <a:off x="7196149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收支失衡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7" name="Rounded Rectangle 86">
            <a:extLst>
              <a:ext uri="{FF2B5EF4-FFF2-40B4-BE49-F238E27FC236}">
                <a16:creationId xmlns:a16="http://schemas.microsoft.com/office/drawing/2014/main" id="{44A9AC8C-29FE-4895-81FF-69BAA02B4A60}"/>
              </a:ext>
            </a:extLst>
          </p:cNvPr>
          <p:cNvSpPr/>
          <p:nvPr/>
        </p:nvSpPr>
        <p:spPr>
          <a:xfrm>
            <a:off x="7982533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还款乏力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8" name="Rounded Rectangle 88">
            <a:extLst>
              <a:ext uri="{FF2B5EF4-FFF2-40B4-BE49-F238E27FC236}">
                <a16:creationId xmlns:a16="http://schemas.microsoft.com/office/drawing/2014/main" id="{FB12DEF9-0204-47DE-B33B-B08A965A503D}"/>
              </a:ext>
            </a:extLst>
          </p:cNvPr>
          <p:cNvSpPr/>
          <p:nvPr/>
        </p:nvSpPr>
        <p:spPr>
          <a:xfrm>
            <a:off x="8657665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高危边缘客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9" name="Rounded Rectangle 138"/>
          <p:cNvSpPr/>
          <p:nvPr/>
        </p:nvSpPr>
        <p:spPr>
          <a:xfrm>
            <a:off x="67665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740664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0664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4.15%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0664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四类中等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86537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929384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29384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42.76%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29384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05409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3118103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118103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12.81%/29.95%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118103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自动/人工均高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24281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4306824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4306824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83.13%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306824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稳定成交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7665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740664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740664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5.74%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40664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86537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29384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1929384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2.62%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929384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05409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3118103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118103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5.13%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118103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424281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4306824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306824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8,351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306824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7665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740664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40664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588/217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40664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收支为正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186537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29384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929384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2,589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929384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305409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3118103" y="2914995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3118103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1,627/62.8%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8103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额度最高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424281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4306824" y="2914995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4306824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1,203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306824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观察样本充足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638251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644652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4652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</a:t>
            </a:r>
            <a:r>
              <a:rPr kumimoji="0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.</a:t>
            </a:r>
            <a:r>
              <a:rPr kumimoji="0" lang="en-US" altLang="zh-CN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</a:t>
            </a:r>
            <a:r>
              <a:rPr kumimoji="0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44652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样本极少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757123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763524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63524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26.94%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63524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次高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875995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882396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82396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8.54%/18.41%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82396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审批仍有承接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994867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1001268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1268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84.51%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1268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638251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6446520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05" name="TextBox 204"/>
          <p:cNvSpPr txBox="1"/>
          <p:nvPr/>
        </p:nvSpPr>
        <p:spPr>
          <a:xfrm>
            <a:off x="644652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10.42%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44652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风险抬升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757123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7635240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763524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7.96%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763524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875995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8823960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82396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4.36%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882396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中等偏低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994867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10012680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001268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19,425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001268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638251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446520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44652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11,021/10,620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44652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静态最佳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757123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7635240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63524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2,625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763524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875995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8823960" y="2914995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882396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1,449/55.2%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82396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中高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94867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32" name="TextBox 231"/>
          <p:cNvSpPr txBox="1"/>
          <p:nvPr/>
        </p:nvSpPr>
        <p:spPr>
          <a:xfrm>
            <a:off x="10012680" y="2914995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1001268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96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01268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观察样本较少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7665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36" name="TextBox 235"/>
          <p:cNvSpPr txBox="1"/>
          <p:nvPr/>
        </p:nvSpPr>
        <p:spPr>
          <a:xfrm>
            <a:off x="740664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740664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0.62%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40664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样本较少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86537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0" name="TextBox 239"/>
          <p:cNvSpPr txBox="1"/>
          <p:nvPr/>
        </p:nvSpPr>
        <p:spPr>
          <a:xfrm>
            <a:off x="1929384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929384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7.01%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929384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305409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4" name="TextBox 243"/>
          <p:cNvSpPr txBox="1"/>
          <p:nvPr/>
        </p:nvSpPr>
        <p:spPr>
          <a:xfrm>
            <a:off x="3118103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118103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1.12%/5.89%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118103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审批偏弱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424281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8" name="TextBox 247"/>
          <p:cNvSpPr txBox="1"/>
          <p:nvPr/>
        </p:nvSpPr>
        <p:spPr>
          <a:xfrm>
            <a:off x="4306824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4306824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89.86%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306824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67665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52" name="TextBox 251"/>
          <p:cNvSpPr txBox="1"/>
          <p:nvPr/>
        </p:nvSpPr>
        <p:spPr>
          <a:xfrm>
            <a:off x="740664" y="5452455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53" name="TextBox 252"/>
          <p:cNvSpPr txBox="1"/>
          <p:nvPr/>
        </p:nvSpPr>
        <p:spPr>
          <a:xfrm>
            <a:off x="740664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11.54%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40664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中等偏高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186537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1929384" y="5452455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57" name="TextBox 256"/>
          <p:cNvSpPr txBox="1"/>
          <p:nvPr/>
        </p:nvSpPr>
        <p:spPr>
          <a:xfrm>
            <a:off x="1929384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5.21%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929384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中等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305409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0" name="TextBox 259"/>
          <p:cNvSpPr txBox="1"/>
          <p:nvPr/>
        </p:nvSpPr>
        <p:spPr>
          <a:xfrm>
            <a:off x="3118103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118103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5.07%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3118103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424281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4" name="TextBox 263"/>
          <p:cNvSpPr txBox="1"/>
          <p:nvPr/>
        </p:nvSpPr>
        <p:spPr>
          <a:xfrm>
            <a:off x="4306824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4306824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3,265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306824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267" name="Rounded Rectangle 266"/>
          <p:cNvSpPr/>
          <p:nvPr/>
        </p:nvSpPr>
        <p:spPr>
          <a:xfrm>
            <a:off x="67665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8" name="TextBox 267"/>
          <p:cNvSpPr txBox="1"/>
          <p:nvPr/>
        </p:nvSpPr>
        <p:spPr>
          <a:xfrm>
            <a:off x="740664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740664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-425/-719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740664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承压明显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86537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2" name="TextBox 271"/>
          <p:cNvSpPr txBox="1"/>
          <p:nvPr/>
        </p:nvSpPr>
        <p:spPr>
          <a:xfrm>
            <a:off x="1929384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29384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1,763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929384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305409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6" name="TextBox 275"/>
          <p:cNvSpPr txBox="1"/>
          <p:nvPr/>
        </p:nvSpPr>
        <p:spPr>
          <a:xfrm>
            <a:off x="3118103" y="5877651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77" name="TextBox 276"/>
          <p:cNvSpPr txBox="1"/>
          <p:nvPr/>
        </p:nvSpPr>
        <p:spPr>
          <a:xfrm>
            <a:off x="3118103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973/55.2%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118103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424281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0" name="TextBox 279"/>
          <p:cNvSpPr txBox="1"/>
          <p:nvPr/>
        </p:nvSpPr>
        <p:spPr>
          <a:xfrm>
            <a:off x="4306824" y="5877651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81" name="TextBox 280"/>
          <p:cNvSpPr txBox="1"/>
          <p:nvPr/>
        </p:nvSpPr>
        <p:spPr>
          <a:xfrm>
            <a:off x="4306824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4306824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观察样本少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638251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4" name="TextBox 283"/>
          <p:cNvSpPr txBox="1"/>
          <p:nvPr/>
        </p:nvSpPr>
        <p:spPr>
          <a:xfrm>
            <a:off x="644652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644652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29.31%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644652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样本最多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757123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8" name="TextBox 287"/>
          <p:cNvSpPr txBox="1"/>
          <p:nvPr/>
        </p:nvSpPr>
        <p:spPr>
          <a:xfrm>
            <a:off x="763524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763524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4.83%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763524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875995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882396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882396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0.62%/4.21%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882396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自动/人工最低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994867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96" name="TextBox 295"/>
          <p:cNvSpPr txBox="1"/>
          <p:nvPr/>
        </p:nvSpPr>
        <p:spPr>
          <a:xfrm>
            <a:off x="1001268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001268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88.57%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001268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次高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38251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0" name="TextBox 299"/>
          <p:cNvSpPr txBox="1"/>
          <p:nvPr/>
        </p:nvSpPr>
        <p:spPr>
          <a:xfrm>
            <a:off x="6446520" y="5452455"/>
            <a:ext cx="1009892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01" name="TextBox 300"/>
          <p:cNvSpPr txBox="1"/>
          <p:nvPr/>
        </p:nvSpPr>
        <p:spPr>
          <a:xfrm>
            <a:off x="644652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27.05%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44652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757123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4" name="TextBox 303"/>
          <p:cNvSpPr txBox="1"/>
          <p:nvPr/>
        </p:nvSpPr>
        <p:spPr>
          <a:xfrm>
            <a:off x="7635240" y="5452455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05" name="TextBox 304"/>
          <p:cNvSpPr txBox="1"/>
          <p:nvPr/>
        </p:nvSpPr>
        <p:spPr>
          <a:xfrm>
            <a:off x="763524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20.82%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63524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307" name="Rounded Rectangle 306"/>
          <p:cNvSpPr/>
          <p:nvPr/>
        </p:nvSpPr>
        <p:spPr>
          <a:xfrm>
            <a:off x="875995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8" name="TextBox 307"/>
          <p:cNvSpPr txBox="1"/>
          <p:nvPr/>
        </p:nvSpPr>
        <p:spPr>
          <a:xfrm>
            <a:off x="8823960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882396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3.72%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882396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11" name="Rounded Rectangle 310"/>
          <p:cNvSpPr/>
          <p:nvPr/>
        </p:nvSpPr>
        <p:spPr>
          <a:xfrm>
            <a:off x="994867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12" name="TextBox 311"/>
          <p:cNvSpPr txBox="1"/>
          <p:nvPr/>
        </p:nvSpPr>
        <p:spPr>
          <a:xfrm>
            <a:off x="10012680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001268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4,153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01268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315" name="Rounded Rectangle 314"/>
          <p:cNvSpPr/>
          <p:nvPr/>
        </p:nvSpPr>
        <p:spPr>
          <a:xfrm>
            <a:off x="638251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16" name="TextBox 315"/>
          <p:cNvSpPr txBox="1"/>
          <p:nvPr/>
        </p:nvSpPr>
        <p:spPr>
          <a:xfrm>
            <a:off x="6446520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644652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580/308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644652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净盈余偏低</a:t>
            </a:r>
          </a:p>
        </p:txBody>
      </p:sp>
      <p:sp>
        <p:nvSpPr>
          <p:cNvPr id="319" name="Rounded Rectangle 318"/>
          <p:cNvSpPr/>
          <p:nvPr/>
        </p:nvSpPr>
        <p:spPr>
          <a:xfrm>
            <a:off x="757123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0" name="TextBox 319"/>
          <p:cNvSpPr txBox="1"/>
          <p:nvPr/>
        </p:nvSpPr>
        <p:spPr>
          <a:xfrm>
            <a:off x="7635240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763524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1,678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63524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875995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4" name="TextBox 323"/>
          <p:cNvSpPr txBox="1"/>
          <p:nvPr/>
        </p:nvSpPr>
        <p:spPr>
          <a:xfrm>
            <a:off x="8823960" y="5877651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25" name="TextBox 324"/>
          <p:cNvSpPr txBox="1"/>
          <p:nvPr/>
        </p:nvSpPr>
        <p:spPr>
          <a:xfrm>
            <a:off x="882396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760/45.3%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882396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27" name="Rounded Rectangle 326"/>
          <p:cNvSpPr/>
          <p:nvPr/>
        </p:nvSpPr>
        <p:spPr>
          <a:xfrm>
            <a:off x="994867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8" name="TextBox 327"/>
          <p:cNvSpPr txBox="1"/>
          <p:nvPr/>
        </p:nvSpPr>
        <p:spPr>
          <a:xfrm>
            <a:off x="10012680" y="5877651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29" name="TextBox 328"/>
          <p:cNvSpPr txBox="1"/>
          <p:nvPr/>
        </p:nvSpPr>
        <p:spPr>
          <a:xfrm>
            <a:off x="1001268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1,560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1001268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观察样本最多</a:t>
            </a:r>
          </a:p>
        </p:txBody>
      </p:sp>
    </p:spTree>
    <p:extLst>
      <p:ext uri="{BB962C8B-B14F-4D97-AF65-F5344CB8AC3E}">
        <p14:creationId xmlns:p14="http://schemas.microsoft.com/office/powerpoint/2010/main" val="2286103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843</TotalTime>
  <Words>428</Words>
  <Application>Microsoft Office PowerPoint</Application>
  <PresentationFormat>宽屏</PresentationFormat>
  <Paragraphs>181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Microsoft YaHei</vt:lpstr>
      <vt:lpstr>Microsoft YaHei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35</cp:revision>
  <dcterms:created xsi:type="dcterms:W3CDTF">2026-08-31T12:17:08Z</dcterms:created>
  <dcterms:modified xsi:type="dcterms:W3CDTF">2026-09-01T06:58:05Z</dcterms:modified>
</cp:coreProperties>
</file>