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"/>
  </p:notesMasterIdLst>
  <p:sldIdLst>
    <p:sldId id="290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9091D931-C6EF-4AAA-8AF6-ED6BA379CE5A}">
          <p14:sldIdLst>
            <p14:sldId id="290"/>
          </p14:sldIdLst>
        </p14:section>
        <p14:section name="draft" id="{4A55A2FB-9C68-4E40-8234-62AC1197D950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947" autoAdjust="0"/>
  </p:normalViewPr>
  <p:slideViewPr>
    <p:cSldViewPr snapToGrid="0" showGuides="1">
      <p:cViewPr varScale="1">
        <p:scale>
          <a:sx n="133" d="100"/>
          <a:sy n="133" d="100"/>
        </p:scale>
        <p:origin x="13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D1ABA1-3A8B-4F78-8FC2-CC35DC6ACD02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9672A-4FCD-4626-A8DC-612F10E6BE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9525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8F9672A-4FCD-4626-A8DC-612F10E6BE2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2445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A74C0-4492-4B6E-82F1-847BE75ED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B48B1CD-FA7B-40D0-A752-65ED19491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0D2C4A-DB2C-4ABD-8E4A-C2D6567ED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5C06B2-F499-418D-862E-A5CEFBE46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15A32-7731-485E-B4AA-B08F6E151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109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BF095-51A9-4DBD-ADF5-FBC7F025D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FAC3E3-9B46-4488-91C0-9AA4E1C00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6CF6FB-AFA3-49D3-8B12-177CC50B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A48375-639C-4148-B536-C14EEAB93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6F5F55-6771-4B3A-B141-C9A8EADBF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4947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C3066A-A401-4B7A-9261-A371FD0AB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7292A1-C559-48E9-B92C-ED860403C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2C8781-CF2A-499C-94E1-8719D4E4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163101-8B73-4C25-BC55-7659EE25C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C74310-F05B-403D-9C21-A7BC4B094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227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05B945-F937-4281-BF3D-8B65E94A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2C8FAA-08B8-4E14-8258-1ED1E09872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45EF507-EE1E-4906-8E12-3AE95ECCCF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705F97-FB45-4ADE-AAD3-111BDC253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52C1D9F-14FE-4CA6-8B97-0A26596D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4BA541B-5155-44EE-9B69-870C6F9BC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79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C83019-4550-438C-AF1D-AFDAB5CF2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B7705E-DF06-4579-90EE-2E83BED56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C2142CC-217D-4372-8E14-D6443AC4C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5A6281-7CA3-4246-8E55-C3CA740402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83FC874-1075-4BFE-8585-AA328CCAD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623710D-E3D8-4F62-8215-989A61AA8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DA00496-D08A-4F79-9AB1-6DB3C9CF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58F5C5-7812-4992-B30D-C2BBB2D98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9197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BCC04B-3A70-46FA-BD6F-1BAF41A9D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5792B4D-D45E-4DC2-AB5B-BD834959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0CF96A-7B5D-4FB4-98A1-C2BB5207F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8D0F25D-89EF-4CDF-AB3F-9EA0BE989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3084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0F08A2A-4DDF-4321-B7C0-84BEB946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F69043-3DAA-483F-905A-71EC27212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BDED16-87A9-4637-8821-C726D514F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410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F5E25E-ACFB-43EA-8A88-1269FC1C3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982BD-284D-46CF-8CFC-17A25BE45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DA268B-3287-4EA4-B656-666D9FBE2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D1276A-35B8-4DEF-AC08-B5D6EA90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14578D-C269-4781-8E26-9ABFBAAA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DAA54B-C9B3-4D8A-BA0D-93979BF92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24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E888E7-4030-41D6-8519-EC2610F59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1FEBED0-012F-474B-AB92-7FD8A0EF54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A7A0F1-DA2C-4FB3-8467-CAAB0D4BFE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786A97-7223-4D44-951E-F866B79BF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E55755-29B7-4375-A1B1-E510CFB8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C7FB22-B785-4E00-A396-651FC141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7056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BE86F8-7C3C-48F9-A140-DF7ECDDA2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8DC504E-A9B0-4526-8809-044E41474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55E44F-A10B-45EB-B982-AAD32F8F4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A374D6-1026-46FD-B9FF-E36AA217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C33D93-F50E-45EC-9C08-292AF188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7842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B34DD52-860B-430C-9C85-E4533FEABE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B86C01-6C80-4FA1-88FA-839883FCB7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78CEC8-0D67-490E-A721-C15C79772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EFA70B-E61C-4E29-A6C8-FABE110F2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BE4441-8A8F-46BB-9599-110363C0D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5542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570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97541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90132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2993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8077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89691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2870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5001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64623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48860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6763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009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A16D2E2-87AE-4739-8608-CEE8873A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34A209-DDC2-4959-A160-BDC500046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34EE6D-3BAE-4835-9108-B29A330706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26AE31-865A-4DEE-BB2A-053A2D21B7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F3D2F2-3DD8-465E-8B4F-77319A921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6994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453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338328"/>
            <a:ext cx="19202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50" b="1">
                <a:solidFill>
                  <a:srgbClr val="1F3A5B"/>
                </a:solidFill>
                <a:latin typeface="Microsoft YaHei"/>
              </a:defRPr>
            </a:pPr>
            <a:r>
              <a:rPr kumimoji="0" sz="1850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四类客群矩阵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12064" y="3602736"/>
            <a:ext cx="11155680" cy="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80760" y="804672"/>
            <a:ext cx="0" cy="562356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8016" y="3493008"/>
            <a:ext cx="45720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9728" y="3493008"/>
            <a:ext cx="512064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722376"/>
            <a:ext cx="457200" cy="1554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50" b="1">
                <a:solidFill>
                  <a:srgbClr val="1F3A5B"/>
                </a:solidFill>
                <a:latin typeface="Microsoft YaHei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6528816"/>
            <a:ext cx="457200" cy="1554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896112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价值好 × 风险好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124712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268343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稳健经营型优质客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经营策略：重点经营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｜3000-5000 优质 MACC / LACC / LOC 候选池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58368" y="2075688"/>
            <a:ext cx="1588008" cy="32004"/>
          </a:xfrm>
          <a:prstGeom prst="rect">
            <a:avLst/>
          </a:prstGeom>
          <a:solidFill>
            <a:srgbClr val="268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13232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268343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4.15%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56103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56103" y="2075688"/>
            <a:ext cx="1588008" cy="32004"/>
          </a:xfrm>
          <a:prstGeom prst="rect">
            <a:avLst/>
          </a:prstGeom>
          <a:solidFill>
            <a:srgbClr val="268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410967" y="2139696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</a:t>
            </a:r>
            <a:r>
              <a:rPr kumimoji="0" sz="680" b="0" i="0" u="none" strike="noStrike" kern="1200" cap="none" spc="0" normalizeH="0" baseline="0" noProof="0" dirty="0" err="1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通过率</a:t>
            </a:r>
            <a:endParaRPr kumimoji="0" sz="680" b="0" i="0" u="none" strike="noStrike" kern="1200" cap="none" spc="0" normalizeH="0" baseline="0" noProof="0" dirty="0">
              <a:ln>
                <a:noFill/>
              </a:ln>
              <a:solidFill>
                <a:srgbClr val="68717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10967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268343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42.76%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53839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053839" y="2075688"/>
            <a:ext cx="1588008" cy="32004"/>
          </a:xfrm>
          <a:prstGeom prst="rect">
            <a:avLst/>
          </a:prstGeom>
          <a:solidFill>
            <a:srgbClr val="268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108703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8703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268343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896112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价值好 × 风险差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1124712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B5790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高薪高波动型周转客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3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经营策略：短周期小额承接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｜EWA / 超短期产品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73368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6373368" y="2075688"/>
            <a:ext cx="1588008" cy="32004"/>
          </a:xfrm>
          <a:prstGeom prst="rect">
            <a:avLst/>
          </a:prstGeom>
          <a:solidFill>
            <a:srgbClr val="B5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428231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28231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B5790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0.33%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1104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8071104" y="2075688"/>
            <a:ext cx="1588008" cy="32004"/>
          </a:xfrm>
          <a:prstGeom prst="rect">
            <a:avLst/>
          </a:prstGeom>
          <a:solidFill>
            <a:srgbClr val="B5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125968" y="2139696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申请样本通过率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25968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B5790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26.94%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68840" y="2075688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9768840" y="2075688"/>
            <a:ext cx="1588008" cy="32004"/>
          </a:xfrm>
          <a:prstGeom prst="rect">
            <a:avLst/>
          </a:prstGeom>
          <a:solidFill>
            <a:srgbClr val="B5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823704" y="2139696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23704" y="2240280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B5790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10.42%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493" y="3750533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价值差 × 风险好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3493" y="3979133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1B538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低收入克制型刚需客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3493" y="4509485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经营策略：低额度验证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｜SACC / 低额 Personal Loan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63493" y="4930109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663493" y="4930109"/>
            <a:ext cx="1588008" cy="32004"/>
          </a:xfrm>
          <a:prstGeom prst="rect">
            <a:avLst/>
          </a:prstGeom>
          <a:solidFill>
            <a:srgbClr val="1B5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18357" y="4994117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8357" y="5094701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1B538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0.62%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361228" y="4930109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2361228" y="4930109"/>
            <a:ext cx="1588008" cy="32004"/>
          </a:xfrm>
          <a:prstGeom prst="rect">
            <a:avLst/>
          </a:prstGeom>
          <a:solidFill>
            <a:srgbClr val="1B5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416092" y="4994117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申请样本通过率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16092" y="5094701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1B538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7.01%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058964" y="4930109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4058964" y="4930109"/>
            <a:ext cx="1588008" cy="32004"/>
          </a:xfrm>
          <a:prstGeom prst="rect">
            <a:avLst/>
          </a:prstGeom>
          <a:solidFill>
            <a:srgbClr val="1B53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113828" y="4994117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3828" y="5094701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1B538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11.54%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9765" y="3783521"/>
            <a:ext cx="239207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价值差 × 风险差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9765" y="4012121"/>
            <a:ext cx="34884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C83D3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现金流脆弱型谨慎客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9765" y="4542473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3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经营策略：原则上不重点承接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｜限额 / 提价 / 人工审核 / 谨慎准入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09765" y="4963097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6409765" y="4963097"/>
            <a:ext cx="1588008" cy="32004"/>
          </a:xfrm>
          <a:prstGeom prst="rect">
            <a:avLst/>
          </a:prstGeom>
          <a:solidFill>
            <a:srgbClr val="C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464628" y="5027105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64628" y="5127689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C83D3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29.31%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107501" y="4963097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8107501" y="4963097"/>
            <a:ext cx="1588008" cy="32004"/>
          </a:xfrm>
          <a:prstGeom prst="rect">
            <a:avLst/>
          </a:prstGeom>
          <a:solidFill>
            <a:srgbClr val="C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8162365" y="5027105"/>
            <a:ext cx="605935" cy="1046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lang="zh-CN" altLang="en-US" sz="680" b="0" i="0" u="none" strike="noStrike" kern="1200" cap="none" spc="0" normalizeH="0" baseline="0" noProof="0" dirty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申请样本通过率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62365" y="5127689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C83D3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4.83%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805237" y="4963097"/>
            <a:ext cx="1588008" cy="35661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D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9805237" y="4963097"/>
            <a:ext cx="1588008" cy="32004"/>
          </a:xfrm>
          <a:prstGeom prst="rect">
            <a:avLst/>
          </a:prstGeom>
          <a:solidFill>
            <a:srgbClr val="C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9860101" y="5027105"/>
            <a:ext cx="1478280" cy="1005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80" b="0">
                <a:solidFill>
                  <a:srgbClr val="68717D"/>
                </a:solidFill>
                <a:latin typeface="Microsoft YaHei"/>
              </a:defRPr>
            </a:pPr>
            <a:r>
              <a:rPr kumimoji="0" sz="680" b="0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3M30逾期率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860101" y="5127689"/>
            <a:ext cx="1478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50" b="1">
                <a:solidFill>
                  <a:srgbClr val="C83D30"/>
                </a:solidFill>
                <a:latin typeface="Microsoft YaHei"/>
              </a:defRPr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27.05%</a:t>
            </a:r>
          </a:p>
        </p:txBody>
      </p:sp>
      <p:sp>
        <p:nvSpPr>
          <p:cNvPr id="112" name="TextBox 19">
            <a:extLst>
              <a:ext uri="{FF2B5EF4-FFF2-40B4-BE49-F238E27FC236}">
                <a16:creationId xmlns:a16="http://schemas.microsoft.com/office/drawing/2014/main" id="{88C4A176-7E03-4166-84BA-EF63D5A7427F}"/>
              </a:ext>
            </a:extLst>
          </p:cNvPr>
          <p:cNvSpPr txBox="1"/>
          <p:nvPr/>
        </p:nvSpPr>
        <p:spPr>
          <a:xfrm>
            <a:off x="708498" y="2404872"/>
            <a:ext cx="5065776" cy="986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总收入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96,943 /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总支出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92,348，发薪周期最稳定（std 2.50），福利依赖低（2.7%）</a:t>
            </a:r>
          </a:p>
          <a:p>
            <a:pPr marL="171450" marR="0" lvl="0" indent="-17145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还款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24,276 元 / 34.0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次，信贷履约最积极，显著高于低价值两组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solidFill>
                <a:srgbClr val="3D3C3A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赌博占比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2.5%、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余额异常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3.82 天；3M30 </a:t>
            </a: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金额逾期率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2.62%，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3D3C3A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平均申请金额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2,589、件均总额度 1,627，均处四象限高位；额度</a:t>
            </a: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满足率</a:t>
            </a: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 62.8%</a:t>
            </a:r>
          </a:p>
        </p:txBody>
      </p:sp>
      <p:sp>
        <p:nvSpPr>
          <p:cNvPr id="113" name="TextBox 39">
            <a:extLst>
              <a:ext uri="{FF2B5EF4-FFF2-40B4-BE49-F238E27FC236}">
                <a16:creationId xmlns:a16="http://schemas.microsoft.com/office/drawing/2014/main" id="{85D55E45-D984-4C64-9691-02A586C191BF}"/>
              </a:ext>
            </a:extLst>
          </p:cNvPr>
          <p:cNvSpPr txBox="1"/>
          <p:nvPr/>
        </p:nvSpPr>
        <p:spPr>
          <a:xfrm>
            <a:off x="6283090" y="2454638"/>
            <a:ext cx="5659077" cy="1245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申请时平均收入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19,425，net surplus 10,620，静态偿付四象限最好</a:t>
            </a:r>
          </a:p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但 3M30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人数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/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金额逾期率仍达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10.42% / 7.96%，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金额约为人数逾期率的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76.4%</a:t>
            </a:r>
          </a:p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总收入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191,383、工资 50,253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四象限最高，总支出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193,711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已略超收入；余额波动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std 8,442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显著偏高</a:t>
            </a:r>
            <a:endParaRPr sz="800" dirty="0">
              <a:solidFill>
                <a:srgbClr val="3D3C3A"/>
              </a:solidFill>
              <a:latin typeface="Microsoft YaHei"/>
              <a:ea typeface="Microsoft YaHei"/>
            </a:endParaRPr>
          </a:p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赌博支出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7,416（占比 5.2%）</a:t>
            </a:r>
          </a:p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平均申请金额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2,625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四象限最高，件均总额度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1,449、</a:t>
            </a:r>
            <a:r>
              <a:rPr lang="zh-CN" altLang="en-US" sz="800" dirty="0">
                <a:solidFill>
                  <a:srgbClr val="3D3C3A"/>
                </a:solidFill>
                <a:latin typeface="Microsoft YaHei"/>
                <a:ea typeface="Microsoft YaHei"/>
              </a:rPr>
              <a:t>额度满足率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55.2%</a:t>
            </a:r>
          </a:p>
        </p:txBody>
      </p:sp>
      <p:sp>
        <p:nvSpPr>
          <p:cNvPr id="114" name="TextBox 61">
            <a:extLst>
              <a:ext uri="{FF2B5EF4-FFF2-40B4-BE49-F238E27FC236}">
                <a16:creationId xmlns:a16="http://schemas.microsoft.com/office/drawing/2014/main" id="{0F371E02-4778-4531-8B45-6AD05A45ADEA}"/>
              </a:ext>
            </a:extLst>
          </p:cNvPr>
          <p:cNvSpPr txBox="1"/>
          <p:nvPr/>
        </p:nvSpPr>
        <p:spPr>
          <a:xfrm>
            <a:off x="708498" y="5376281"/>
            <a:ext cx="5065776" cy="986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总收入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45,568、工资 8,750，均为四象限最低</a:t>
            </a:r>
          </a:p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Centrelink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占比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22.1%</a:t>
            </a:r>
          </a:p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赌博占比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1.3%、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余额波动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std 478.1、余额异常 3.45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天，均为四象限最低</a:t>
            </a:r>
            <a:endParaRPr sz="800" dirty="0">
              <a:solidFill>
                <a:srgbClr val="3D3C3A"/>
              </a:solidFill>
              <a:latin typeface="Microsoft YaHei"/>
              <a:ea typeface="Microsoft YaHei"/>
            </a:endParaRPr>
          </a:p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平均申请金额仅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1,763、件均</a:t>
            </a:r>
            <a:r>
              <a:rPr lang="zh-CN" altLang="en-US" sz="800" dirty="0">
                <a:solidFill>
                  <a:srgbClr val="3D3C3A"/>
                </a:solidFill>
                <a:latin typeface="Microsoft YaHei"/>
                <a:ea typeface="Microsoft YaHei"/>
              </a:rPr>
              <a:t>为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973，但通过后成交率 89.86%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为四象限最高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；</a:t>
            </a:r>
          </a:p>
        </p:txBody>
      </p:sp>
      <p:sp>
        <p:nvSpPr>
          <p:cNvPr id="115" name="TextBox 83">
            <a:extLst>
              <a:ext uri="{FF2B5EF4-FFF2-40B4-BE49-F238E27FC236}">
                <a16:creationId xmlns:a16="http://schemas.microsoft.com/office/drawing/2014/main" id="{8B4027D7-EAF7-4B49-9E31-3C41DB852E66}"/>
              </a:ext>
            </a:extLst>
          </p:cNvPr>
          <p:cNvSpPr txBox="1"/>
          <p:nvPr/>
        </p:nvSpPr>
        <p:spPr>
          <a:xfrm>
            <a:off x="6373368" y="5376994"/>
            <a:ext cx="5065776" cy="986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平均申请金额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1,678、件均总额度仅 760、额度覆盖率约 45.3%（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四象限最低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）</a:t>
            </a:r>
            <a:endParaRPr lang="en-US" sz="800" dirty="0">
              <a:solidFill>
                <a:srgbClr val="3D3C3A"/>
              </a:solidFill>
              <a:latin typeface="Microsoft YaHei"/>
              <a:ea typeface="Microsoft YaHei"/>
            </a:endParaRPr>
          </a:p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发薪周期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std 4.01、余额异常 5.22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天，均为四象限最高</a:t>
            </a:r>
            <a:endParaRPr sz="800" dirty="0">
              <a:solidFill>
                <a:srgbClr val="3D3C3A"/>
              </a:solidFill>
              <a:latin typeface="Microsoft YaHei"/>
              <a:ea typeface="Microsoft YaHei"/>
            </a:endParaRPr>
          </a:p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还款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4,133 元 / 10.8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次，均低于价值差×风险好与价值好×风险好</a:t>
            </a:r>
            <a:endParaRPr sz="800" dirty="0">
              <a:solidFill>
                <a:srgbClr val="3D3C3A"/>
              </a:solidFill>
              <a:latin typeface="Microsoft YaHei"/>
              <a:ea typeface="Microsoft YaHei"/>
            </a:endParaRPr>
          </a:p>
          <a:p>
            <a:pPr marL="171450" indent="-171450">
              <a:lnSpc>
                <a:spcPct val="200000"/>
              </a:lnSpc>
              <a:spcAft>
                <a:spcPts val="100"/>
              </a:spcAft>
              <a:buFont typeface="Arial" panose="020B0604020202020204" pitchFamily="34" charset="0"/>
              <a:buChar char="•"/>
              <a:defRPr/>
            </a:pP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3M30 </a:t>
            </a:r>
            <a:r>
              <a:rPr sz="800" dirty="0" err="1">
                <a:solidFill>
                  <a:srgbClr val="3D3C3A"/>
                </a:solidFill>
                <a:latin typeface="Microsoft YaHei"/>
                <a:ea typeface="Microsoft YaHei"/>
              </a:rPr>
              <a:t>人数逾期率</a:t>
            </a:r>
            <a:r>
              <a:rPr sz="800" dirty="0">
                <a:solidFill>
                  <a:srgbClr val="3D3C3A"/>
                </a:solidFill>
                <a:latin typeface="Microsoft YaHei"/>
                <a:ea typeface="Microsoft YaHei"/>
              </a:rPr>
              <a:t> 27.05%</a:t>
            </a:r>
          </a:p>
        </p:txBody>
      </p:sp>
      <p:sp>
        <p:nvSpPr>
          <p:cNvPr id="116" name="Rounded Rectangle 20">
            <a:extLst>
              <a:ext uri="{FF2B5EF4-FFF2-40B4-BE49-F238E27FC236}">
                <a16:creationId xmlns:a16="http://schemas.microsoft.com/office/drawing/2014/main" id="{1ECF688C-6E3F-4C0E-ABD4-2EE749A8E409}"/>
              </a:ext>
            </a:extLst>
          </p:cNvPr>
          <p:cNvSpPr/>
          <p:nvPr/>
        </p:nvSpPr>
        <p:spPr>
          <a:xfrm>
            <a:off x="658368" y="1396118"/>
            <a:ext cx="832104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高收入稳现金流</a:t>
            </a:r>
          </a:p>
        </p:txBody>
      </p:sp>
      <p:sp>
        <p:nvSpPr>
          <p:cNvPr id="117" name="Rounded Rectangle 21">
            <a:extLst>
              <a:ext uri="{FF2B5EF4-FFF2-40B4-BE49-F238E27FC236}">
                <a16:creationId xmlns:a16="http://schemas.microsoft.com/office/drawing/2014/main" id="{1CBC9896-18ED-4F66-A930-AC5965EA2488}"/>
              </a:ext>
            </a:extLst>
          </p:cNvPr>
          <p:cNvSpPr/>
          <p:nvPr/>
        </p:nvSpPr>
        <p:spPr>
          <a:xfrm>
            <a:off x="15453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成熟信贷客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8" name="Rounded Rectangle 22">
            <a:extLst>
              <a:ext uri="{FF2B5EF4-FFF2-40B4-BE49-F238E27FC236}">
                <a16:creationId xmlns:a16="http://schemas.microsoft.com/office/drawing/2014/main" id="{0EE4068E-A424-44FA-A1AE-B95E543A2B7B}"/>
              </a:ext>
            </a:extLst>
          </p:cNvPr>
          <p:cNvSpPr/>
          <p:nvPr/>
        </p:nvSpPr>
        <p:spPr>
          <a:xfrm>
            <a:off x="22311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低风险行为</a:t>
            </a:r>
          </a:p>
        </p:txBody>
      </p:sp>
      <p:sp>
        <p:nvSpPr>
          <p:cNvPr id="119" name="Rounded Rectangle 23">
            <a:extLst>
              <a:ext uri="{FF2B5EF4-FFF2-40B4-BE49-F238E27FC236}">
                <a16:creationId xmlns:a16="http://schemas.microsoft.com/office/drawing/2014/main" id="{866029C3-0908-4601-B0B5-470A21370530}"/>
              </a:ext>
            </a:extLst>
          </p:cNvPr>
          <p:cNvSpPr/>
          <p:nvPr/>
        </p:nvSpPr>
        <p:spPr>
          <a:xfrm>
            <a:off x="29169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高额度诉求</a:t>
            </a:r>
          </a:p>
        </p:txBody>
      </p:sp>
      <p:sp>
        <p:nvSpPr>
          <p:cNvPr id="125" name="Rounded Rectangle 40">
            <a:extLst>
              <a:ext uri="{FF2B5EF4-FFF2-40B4-BE49-F238E27FC236}">
                <a16:creationId xmlns:a16="http://schemas.microsoft.com/office/drawing/2014/main" id="{DF5A399C-DE9E-439B-8A34-67D4CEF4DB29}"/>
              </a:ext>
            </a:extLst>
          </p:cNvPr>
          <p:cNvSpPr/>
          <p:nvPr/>
        </p:nvSpPr>
        <p:spPr>
          <a:xfrm>
            <a:off x="6373368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纸面富裕</a:t>
            </a:r>
          </a:p>
        </p:txBody>
      </p:sp>
      <p:sp>
        <p:nvSpPr>
          <p:cNvPr id="126" name="Rounded Rectangle 41">
            <a:extLst>
              <a:ext uri="{FF2B5EF4-FFF2-40B4-BE49-F238E27FC236}">
                <a16:creationId xmlns:a16="http://schemas.microsoft.com/office/drawing/2014/main" id="{D17DA79E-22C1-4DB6-92D5-E4C642F7B63C}"/>
              </a:ext>
            </a:extLst>
          </p:cNvPr>
          <p:cNvSpPr/>
          <p:nvPr/>
        </p:nvSpPr>
        <p:spPr>
          <a:xfrm>
            <a:off x="6958584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动态脆弱</a:t>
            </a:r>
          </a:p>
        </p:txBody>
      </p:sp>
      <p:sp>
        <p:nvSpPr>
          <p:cNvPr id="127" name="Rounded Rectangle 42">
            <a:extLst>
              <a:ext uri="{FF2B5EF4-FFF2-40B4-BE49-F238E27FC236}">
                <a16:creationId xmlns:a16="http://schemas.microsoft.com/office/drawing/2014/main" id="{DC5BA0FF-6073-431A-8F9D-AB909101B25A}"/>
              </a:ext>
            </a:extLst>
          </p:cNvPr>
          <p:cNvSpPr/>
          <p:nvPr/>
        </p:nvSpPr>
        <p:spPr>
          <a:xfrm>
            <a:off x="7543800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高支出高波动</a:t>
            </a:r>
          </a:p>
        </p:txBody>
      </p:sp>
      <p:sp>
        <p:nvSpPr>
          <p:cNvPr id="128" name="Rounded Rectangle 43">
            <a:extLst>
              <a:ext uri="{FF2B5EF4-FFF2-40B4-BE49-F238E27FC236}">
                <a16:creationId xmlns:a16="http://schemas.microsoft.com/office/drawing/2014/main" id="{A4D1AD08-9A3F-4FE7-AFEC-6C25CDC8B0B8}"/>
              </a:ext>
            </a:extLst>
          </p:cNvPr>
          <p:cNvSpPr/>
          <p:nvPr/>
        </p:nvSpPr>
        <p:spPr>
          <a:xfrm>
            <a:off x="8330184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风险消费偏高</a:t>
            </a:r>
          </a:p>
        </p:txBody>
      </p:sp>
      <p:sp>
        <p:nvSpPr>
          <p:cNvPr id="129" name="Rounded Rectangle 44">
            <a:extLst>
              <a:ext uri="{FF2B5EF4-FFF2-40B4-BE49-F238E27FC236}">
                <a16:creationId xmlns:a16="http://schemas.microsoft.com/office/drawing/2014/main" id="{4C841FC0-EB41-4881-80AF-BA5DAF26D3A4}"/>
              </a:ext>
            </a:extLst>
          </p:cNvPr>
          <p:cNvSpPr/>
          <p:nvPr/>
        </p:nvSpPr>
        <p:spPr>
          <a:xfrm>
            <a:off x="9116568" y="138119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额度诉求强</a:t>
            </a:r>
          </a:p>
        </p:txBody>
      </p:sp>
      <p:sp>
        <p:nvSpPr>
          <p:cNvPr id="130" name="Rounded Rectangle 62">
            <a:extLst>
              <a:ext uri="{FF2B5EF4-FFF2-40B4-BE49-F238E27FC236}">
                <a16:creationId xmlns:a16="http://schemas.microsoft.com/office/drawing/2014/main" id="{4A853437-FAF5-4581-B771-2FB269A62555}"/>
              </a:ext>
            </a:extLst>
          </p:cNvPr>
          <p:cNvSpPr/>
          <p:nvPr/>
        </p:nvSpPr>
        <p:spPr>
          <a:xfrm>
            <a:off x="6634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收入偏低</a:t>
            </a:r>
          </a:p>
        </p:txBody>
      </p:sp>
      <p:sp>
        <p:nvSpPr>
          <p:cNvPr id="131" name="Rounded Rectangle 63">
            <a:extLst>
              <a:ext uri="{FF2B5EF4-FFF2-40B4-BE49-F238E27FC236}">
                <a16:creationId xmlns:a16="http://schemas.microsoft.com/office/drawing/2014/main" id="{94C06805-ECBB-44FD-A329-6A2418DB2A87}"/>
              </a:ext>
            </a:extLst>
          </p:cNvPr>
          <p:cNvSpPr/>
          <p:nvPr/>
        </p:nvSpPr>
        <p:spPr>
          <a:xfrm>
            <a:off x="1248709" y="425345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福利依赖较高</a:t>
            </a:r>
          </a:p>
        </p:txBody>
      </p:sp>
      <p:sp>
        <p:nvSpPr>
          <p:cNvPr id="132" name="Rounded Rectangle 64">
            <a:extLst>
              <a:ext uri="{FF2B5EF4-FFF2-40B4-BE49-F238E27FC236}">
                <a16:creationId xmlns:a16="http://schemas.microsoft.com/office/drawing/2014/main" id="{1AC0652A-826D-4584-B80B-12FED471DE71}"/>
              </a:ext>
            </a:extLst>
          </p:cNvPr>
          <p:cNvSpPr/>
          <p:nvPr/>
        </p:nvSpPr>
        <p:spPr>
          <a:xfrm>
            <a:off x="20350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量入为出</a:t>
            </a:r>
          </a:p>
        </p:txBody>
      </p:sp>
      <p:sp>
        <p:nvSpPr>
          <p:cNvPr id="133" name="Rounded Rectangle 65">
            <a:extLst>
              <a:ext uri="{FF2B5EF4-FFF2-40B4-BE49-F238E27FC236}">
                <a16:creationId xmlns:a16="http://schemas.microsoft.com/office/drawing/2014/main" id="{0EFEF779-1BA0-4BDD-9D10-3FF083279EDE}"/>
              </a:ext>
            </a:extLst>
          </p:cNvPr>
          <p:cNvSpPr/>
          <p:nvPr/>
        </p:nvSpPr>
        <p:spPr>
          <a:xfrm>
            <a:off x="2620309" y="425345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低风险行为</a:t>
            </a:r>
          </a:p>
        </p:txBody>
      </p:sp>
      <p:sp>
        <p:nvSpPr>
          <p:cNvPr id="134" name="Rounded Rectangle 66">
            <a:extLst>
              <a:ext uri="{FF2B5EF4-FFF2-40B4-BE49-F238E27FC236}">
                <a16:creationId xmlns:a16="http://schemas.microsoft.com/office/drawing/2014/main" id="{19FB5484-27D3-4E5E-BFB8-4FB7567E1FF1}"/>
              </a:ext>
            </a:extLst>
          </p:cNvPr>
          <p:cNvSpPr/>
          <p:nvPr/>
        </p:nvSpPr>
        <p:spPr>
          <a:xfrm>
            <a:off x="3306109" y="425345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小额强承接</a:t>
            </a:r>
          </a:p>
        </p:txBody>
      </p:sp>
      <p:sp>
        <p:nvSpPr>
          <p:cNvPr id="135" name="Rounded Rectangle 84">
            <a:extLst>
              <a:ext uri="{FF2B5EF4-FFF2-40B4-BE49-F238E27FC236}">
                <a16:creationId xmlns:a16="http://schemas.microsoft.com/office/drawing/2014/main" id="{8E8C2170-1413-41B3-8914-31EC5C290A85}"/>
              </a:ext>
            </a:extLst>
          </p:cNvPr>
          <p:cNvSpPr/>
          <p:nvPr/>
        </p:nvSpPr>
        <p:spPr>
          <a:xfrm>
            <a:off x="6409765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小额迫切需求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6" name="Rounded Rectangle 85">
            <a:extLst>
              <a:ext uri="{FF2B5EF4-FFF2-40B4-BE49-F238E27FC236}">
                <a16:creationId xmlns:a16="http://schemas.microsoft.com/office/drawing/2014/main" id="{600E8349-AFD6-46C7-B409-59612E132C5D}"/>
              </a:ext>
            </a:extLst>
          </p:cNvPr>
          <p:cNvSpPr/>
          <p:nvPr/>
        </p:nvSpPr>
        <p:spPr>
          <a:xfrm>
            <a:off x="7196149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现金流不稳定</a:t>
            </a:r>
          </a:p>
        </p:txBody>
      </p:sp>
      <p:sp>
        <p:nvSpPr>
          <p:cNvPr id="137" name="Rounded Rectangle 86">
            <a:extLst>
              <a:ext uri="{FF2B5EF4-FFF2-40B4-BE49-F238E27FC236}">
                <a16:creationId xmlns:a16="http://schemas.microsoft.com/office/drawing/2014/main" id="{44A9AC8C-29FE-4895-81FF-69BAA02B4A60}"/>
              </a:ext>
            </a:extLst>
          </p:cNvPr>
          <p:cNvSpPr/>
          <p:nvPr/>
        </p:nvSpPr>
        <p:spPr>
          <a:xfrm>
            <a:off x="7982533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还款活动弱</a:t>
            </a:r>
          </a:p>
        </p:txBody>
      </p:sp>
      <p:sp>
        <p:nvSpPr>
          <p:cNvPr id="138" name="Rounded Rectangle 88">
            <a:extLst>
              <a:ext uri="{FF2B5EF4-FFF2-40B4-BE49-F238E27FC236}">
                <a16:creationId xmlns:a16="http://schemas.microsoft.com/office/drawing/2014/main" id="{FB12DEF9-0204-47DE-B33B-B08A965A503D}"/>
              </a:ext>
            </a:extLst>
          </p:cNvPr>
          <p:cNvSpPr/>
          <p:nvPr/>
        </p:nvSpPr>
        <p:spPr>
          <a:xfrm>
            <a:off x="8657665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/>
                <a:ea typeface="Microsoft YaHei"/>
                <a:cs typeface="Microsoft YaHei"/>
              </a:rPr>
              <a:t>高逾期风险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62504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797</TotalTime>
  <Words>299</Words>
  <Application>Microsoft Office PowerPoint</Application>
  <PresentationFormat>宽屏</PresentationFormat>
  <Paragraphs>77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Microsoft YaHei</vt:lpstr>
      <vt:lpstr>Microsoft YaHei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25</cp:revision>
  <dcterms:created xsi:type="dcterms:W3CDTF">2026-08-31T12:17:08Z</dcterms:created>
  <dcterms:modified xsi:type="dcterms:W3CDTF">2026-09-01T02:58:10Z</dcterms:modified>
</cp:coreProperties>
</file>