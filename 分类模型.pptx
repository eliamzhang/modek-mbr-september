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分类模型" id="{8E957497-B430-415D-84AE-94DE7350E81B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1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50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0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63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63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49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41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91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65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51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8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8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0A0A0A"/>
                </a:solidFill>
                <a:latin typeface="微软雅黑"/>
                <a:ea typeface="微软雅黑"/>
              </a:rPr>
              <a:t>分类模型 数字资产沉淀汇总 以用户为示例</a:t>
            </a:r>
            <a:endParaRPr sz="20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dirty="0" err="1">
                <a:solidFill>
                  <a:srgbClr val="606060"/>
                </a:solidFill>
                <a:latin typeface="微软雅黑"/>
                <a:ea typeface="微软雅黑"/>
              </a:rPr>
              <a:t>银行流水是信审最重要的原料，但原料没有标签；模型把每笔交易翻译成收入与负债，支撑信审决策</a:t>
            </a:r>
            <a:r>
              <a:rPr sz="1800" b="0" dirty="0">
                <a:solidFill>
                  <a:srgbClr val="60606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74919" y="1207007"/>
            <a:ext cx="45719" cy="5351447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7F3BE00-43B9-4485-AAC7-1BD08700698B}"/>
              </a:ext>
            </a:extLst>
          </p:cNvPr>
          <p:cNvSpPr/>
          <p:nvPr/>
        </p:nvSpPr>
        <p:spPr>
          <a:xfrm>
            <a:off x="512064" y="1406284"/>
            <a:ext cx="4078855" cy="48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C163591-4CD7-4276-A99B-7C830C9448C3}"/>
              </a:ext>
            </a:extLst>
          </p:cNvPr>
          <p:cNvSpPr/>
          <p:nvPr/>
        </p:nvSpPr>
        <p:spPr>
          <a:xfrm>
            <a:off x="5316132" y="1406284"/>
            <a:ext cx="6476475" cy="4885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1" dirty="0" err="1">
                <a:solidFill>
                  <a:srgbClr val="0A0A0A"/>
                </a:solidFill>
                <a:latin typeface="微软雅黑"/>
                <a:ea typeface="微软雅黑"/>
              </a:rPr>
              <a:t>模型怎么工作、怎么运维</a:t>
            </a:r>
            <a:endParaRPr sz="20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161477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40000"/>
              </a:lnSpc>
            </a:pPr>
            <a:r>
              <a:rPr lang="zh-CN" altLang="en-US" sz="1800" b="1" dirty="0">
                <a:solidFill>
                  <a:srgbClr val="0A0A0A"/>
                </a:solidFill>
                <a:latin typeface="微软雅黑"/>
                <a:ea typeface="微软雅黑"/>
              </a:rPr>
              <a:t>架构的每一项取舍都指向同一件事</a:t>
            </a:r>
            <a:r>
              <a:rPr lang="en-US" altLang="zh-CN" sz="1800" b="1" dirty="0">
                <a:solidFill>
                  <a:srgbClr val="0A0A0A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1800" b="1" dirty="0">
                <a:solidFill>
                  <a:srgbClr val="0A0A0A"/>
                </a:solidFill>
                <a:latin typeface="微软雅黑"/>
                <a:ea typeface="微软雅黑"/>
              </a:rPr>
              <a:t>让规则资产可持续演进，让</a:t>
            </a:r>
            <a:r>
              <a:rPr sz="1800" b="0" dirty="0" err="1">
                <a:solidFill>
                  <a:srgbClr val="606060"/>
                </a:solidFill>
                <a:latin typeface="微软雅黑"/>
                <a:ea typeface="微软雅黑"/>
              </a:rPr>
              <a:t>模型越用越准，而非交付后冻结</a:t>
            </a:r>
            <a:r>
              <a:rPr sz="1800" b="0" dirty="0">
                <a:solidFill>
                  <a:srgbClr val="60606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3" y="1222775"/>
            <a:ext cx="10899648" cy="1640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dirty="0" err="1">
                <a:solidFill>
                  <a:srgbClr val="0A0A0A"/>
                </a:solidFill>
                <a:latin typeface="微软雅黑"/>
                <a:ea typeface="微软雅黑"/>
              </a:rPr>
              <a:t>架构</a:t>
            </a:r>
            <a:r>
              <a:rPr sz="950" b="1" dirty="0">
                <a:solidFill>
                  <a:srgbClr val="0A0A0A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950" b="1" dirty="0">
                <a:solidFill>
                  <a:srgbClr val="0A0A0A"/>
                </a:solidFill>
                <a:latin typeface="微软雅黑"/>
                <a:ea typeface="微软雅黑"/>
              </a:rPr>
              <a:t>多个分类引擎</a:t>
            </a:r>
            <a:r>
              <a:rPr sz="950" b="1" dirty="0" err="1">
                <a:solidFill>
                  <a:srgbClr val="0A0A0A"/>
                </a:solidFill>
                <a:latin typeface="微软雅黑"/>
                <a:ea typeface="微软雅黑"/>
              </a:rPr>
              <a:t>依次过一遍流水：</a:t>
            </a:r>
            <a:r>
              <a:rPr sz="950" b="0" dirty="0" err="1">
                <a:solidFill>
                  <a:srgbClr val="3D3C3A"/>
                </a:solidFill>
                <a:latin typeface="微软雅黑"/>
                <a:ea typeface="微软雅黑"/>
              </a:rPr>
              <a:t>每笔交易按顺序经过各工位，被最合适的工位认领并打上标签；收入、负债两个工位再把认领结果串成「流</a:t>
            </a:r>
            <a:r>
              <a:rPr sz="950" b="0" dirty="0">
                <a:solidFill>
                  <a:srgbClr val="3D3C3A"/>
                </a:solidFill>
                <a:latin typeface="微软雅黑"/>
                <a:ea typeface="微软雅黑"/>
              </a:rPr>
              <a:t>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666668"/>
            <a:ext cx="10899648" cy="6400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1" y="1776396"/>
            <a:ext cx="896112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原始流水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83155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63623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① 商户识别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70707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51175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② 转账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58259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727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③ 拒付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45811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79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④ 收入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33363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13831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⑤ 负债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20915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01383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⑥ 其他进账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08467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88935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⑦ 费用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96019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76487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⑧ 房租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83571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64039" y="1776396"/>
            <a:ext cx="8961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⑨ 兜底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371123" y="1945560"/>
            <a:ext cx="69494" cy="82296"/>
          </a:xfrm>
          <a:prstGeom prst="rightArrow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451591" y="1776396"/>
            <a:ext cx="896112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分类结果 +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收入/负债流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2560320"/>
            <a:ext cx="9144" cy="2468880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2064" y="25877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560320"/>
            <a:ext cx="4297680" cy="80009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设计思考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①：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为什么用「规则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 + 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知识库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」，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而不是训练一个算法模型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信贷场景的刚需是可解释、可审计：每一笔交易为什么这样分类，都能指到具体规则，被拒客户申诉与监管检查都需要；变更成本极低：改一条规则就是改一行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Excel，不用重新训练、重新部署；能力随业务累积：商户库已滚到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850" b="1" dirty="0">
                <a:solidFill>
                  <a:srgbClr val="1F4E79"/>
                </a:solidFill>
                <a:latin typeface="微软雅黑"/>
                <a:ea typeface="微软雅黑"/>
              </a:rPr>
              <a:t>87.6 </a:t>
            </a:r>
            <a:r>
              <a:rPr sz="850" b="1" dirty="0" err="1">
                <a:solidFill>
                  <a:srgbClr val="1F4E79"/>
                </a:solidFill>
                <a:latin typeface="微软雅黑"/>
                <a:ea typeface="微软雅黑"/>
              </a:rPr>
              <a:t>万家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，模型随使用越滚越强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40050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977639"/>
            <a:ext cx="4297680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设计思考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②：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为什么拆成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 </a:t>
            </a:r>
            <a:r>
              <a:rPr lang="zh-CN" altLang="en-US" sz="1000" b="1" dirty="0">
                <a:solidFill>
                  <a:srgbClr val="0A0A0A"/>
                </a:solidFill>
                <a:latin typeface="微软雅黑"/>
                <a:ea typeface="微软雅黑"/>
              </a:rPr>
              <a:t>多个引擎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职责单一，问题能定位到具体工位；互不干扰：改负债规则不会误伤收入识别；类别冲突靠「顺序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+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保护规则」解决：收入是信审最重要的信号，规则上保护它不被其他工位覆盖；每个工位独立测试、独立迭代，回归检查精确到工位层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42432" y="2587751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70448" y="2560320"/>
            <a:ext cx="5742432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设计思考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③：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为什么做四层基线回归</a:t>
            </a:r>
            <a:endParaRPr sz="1000" b="1" dirty="0">
              <a:solidFill>
                <a:srgbClr val="0A0A0A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「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最终结果没变」不等于「没影响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」：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某工位改了规则但没当上最终赢家，最终结果看不出变化，隐患会在未来爆发；四层回归（最终结果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/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各工位认领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/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配置指纹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/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汇总指标）让任何调整都可追溯、可回滚；这也是敢高频更新知识库的前提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——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更新便宜且安全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42432" y="400507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70448" y="3977639"/>
            <a:ext cx="5742432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A0A0A"/>
                </a:solidFill>
                <a:latin typeface="微软雅黑"/>
                <a:ea typeface="微软雅黑"/>
              </a:rPr>
              <a:t>设计思考④：知识库就是这些 Excel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全部规则外置在 24 张规则表中，业务同事可以直接打开修改——最大的「商户库」已收录 </a:t>
            </a:r>
            <a:r>
              <a:rPr sz="850" b="1">
                <a:solidFill>
                  <a:srgbClr val="1F4E79"/>
                </a:solidFill>
                <a:latin typeface="微软雅黑"/>
                <a:ea typeface="微软雅黑"/>
              </a:rPr>
              <a:t>87.6 万家</a:t>
            </a:r>
            <a:r>
              <a:rPr sz="850" b="0">
                <a:solidFill>
                  <a:srgbClr val="3D3C3A"/>
                </a:solidFill>
                <a:latin typeface="微软雅黑"/>
                <a:ea typeface="微软雅黑"/>
              </a:rPr>
              <a:t>澳洲商户，每行是「商户名 + 关键词变体 + 分类」；收入表定义工资识别模式；负债表收录贷款机构与产品类型；房租规则带置信度评分。改表即改规则，不用动代码。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" y="5193792"/>
            <a:ext cx="54864" cy="164592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79" y="5166360"/>
            <a:ext cx="10707623" cy="66865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怎么运维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：「2 人 + 1 个 AI </a:t>
            </a:r>
            <a:r>
              <a:rPr sz="1000" b="1" dirty="0" err="1">
                <a:solidFill>
                  <a:srgbClr val="0A0A0A"/>
                </a:solidFill>
                <a:latin typeface="微软雅黑"/>
                <a:ea typeface="微软雅黑"/>
              </a:rPr>
              <a:t>助手</a:t>
            </a:r>
            <a:r>
              <a:rPr sz="1000" b="1" dirty="0">
                <a:solidFill>
                  <a:srgbClr val="0A0A0A"/>
                </a:solidFill>
                <a:latin typeface="微软雅黑"/>
                <a:ea typeface="微软雅黑"/>
              </a:rPr>
              <a:t>」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模型团队同学负责主动运维（质检监控、分类漂移与模型波动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），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并处理人审团队以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ticket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反馈的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case，给出解决方案与代码修改；AI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 </a:t>
            </a:r>
            <a:r>
              <a:rPr sz="850" b="0" dirty="0" err="1">
                <a:solidFill>
                  <a:srgbClr val="3D3C3A"/>
                </a:solidFill>
                <a:latin typeface="微软雅黑"/>
                <a:ea typeface="微软雅黑"/>
              </a:rPr>
              <a:t>助手负责两类监测：分类异常波动与大量缺失的主动提示、市面上新商户的新增监测</a:t>
            </a:r>
            <a:r>
              <a:rPr sz="850" b="0" dirty="0">
                <a:solidFill>
                  <a:srgbClr val="3D3C3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" y="6236208"/>
            <a:ext cx="10899648" cy="384048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8288" rIns="128016" bIns="18288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dirty="0" err="1">
                <a:solidFill>
                  <a:srgbClr val="0A0A0A"/>
                </a:solidFill>
                <a:latin typeface="微软雅黑"/>
                <a:ea typeface="微软雅黑"/>
              </a:rPr>
              <a:t>架构的每一项取舍都指向同一件事</a:t>
            </a:r>
            <a:r>
              <a:rPr sz="900" b="1" dirty="0">
                <a:solidFill>
                  <a:srgbClr val="0A0A0A"/>
                </a:solidFill>
                <a:latin typeface="微软雅黑"/>
                <a:ea typeface="微软雅黑"/>
              </a:rPr>
              <a:t>——</a:t>
            </a:r>
            <a:r>
              <a:rPr sz="900" b="1" dirty="0" err="1">
                <a:solidFill>
                  <a:srgbClr val="0A0A0A"/>
                </a:solidFill>
                <a:latin typeface="微软雅黑"/>
                <a:ea typeface="微软雅黑"/>
              </a:rPr>
              <a:t>让规则资产可持续演进：改得动、看得清、回得去</a:t>
            </a:r>
            <a:r>
              <a:rPr sz="900" b="1" dirty="0">
                <a:solidFill>
                  <a:srgbClr val="0A0A0A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" y="6236208"/>
            <a:ext cx="64008" cy="384048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270</Words>
  <Application>Microsoft Office PowerPoint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19</cp:revision>
  <dcterms:created xsi:type="dcterms:W3CDTF">2026-08-31T03:24:07Z</dcterms:created>
  <dcterms:modified xsi:type="dcterms:W3CDTF">2026-08-31T07:18:18Z</dcterms:modified>
</cp:coreProperties>
</file>