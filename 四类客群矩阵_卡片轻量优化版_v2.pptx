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9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91D931-C6EF-4AAA-8AF6-ED6BA379CE5A}">
          <p14:sldIdLst>
            <p14:sldId id="290"/>
          </p14:sldIdLst>
        </p14:section>
        <p14:section name="draft" id="{4A55A2FB-9C68-4E40-8234-62AC1197D95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47" autoAdjust="0"/>
  </p:normalViewPr>
  <p:slideViewPr>
    <p:cSldViewPr snapToGrid="0" showGuides="1">
      <p:cViewPr varScale="1">
        <p:scale>
          <a:sx n="133" d="100"/>
          <a:sy n="133" d="100"/>
        </p:scale>
        <p:origin x="13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1ABA1-3A8B-4F78-8FC2-CC35DC6ACD0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9672A-4FCD-4626-A8DC-612F10E6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2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F9672A-4FCD-4626-A8DC-612F10E6BE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5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A74C0-4492-4B6E-82F1-847BE75ED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48B1CD-FA7B-40D0-A752-65ED19491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D2C4A-DB2C-4ABD-8E4A-C2D6567E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C06B2-F499-418D-862E-A5CEFBE4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15A32-7731-485E-B4AA-B08F6E15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BF095-51A9-4DBD-ADF5-FBC7F025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AC3E3-9B46-4488-91C0-9AA4E1C0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6CF6FB-AFA3-49D3-8B12-177CC50B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48375-639C-4148-B536-C14EEAB9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6F5F55-6771-4B3A-B141-C9A8EADB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4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066A-A401-4B7A-9261-A371FD0A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292A1-C559-48E9-B92C-ED860403C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2C8781-CF2A-499C-94E1-8719D4E4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63101-8B73-4C25-BC55-7659EE25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74310-F05B-403D-9C21-A7BC4B09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2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5B945-F937-4281-BF3D-8B65E94A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2C8FAA-08B8-4E14-8258-1ED1E0987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5EF507-EE1E-4906-8E12-3AE95ECCC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705F97-FB45-4ADE-AAD3-111BDC25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2C1D9F-14FE-4CA6-8B97-0A26596D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BA541B-5155-44EE-9B69-870C6F9B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79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83019-4550-438C-AF1D-AFDAB5CF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B7705E-DF06-4579-90EE-2E83BED5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2142CC-217D-4372-8E14-D6443AC4C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5A6281-7CA3-4246-8E55-C3CA7404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FC874-1075-4BFE-8585-AA328CCAD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23710D-E3D8-4F62-8215-989A61AA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A00496-D08A-4F79-9AB1-6DB3C9CF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58F5C5-7812-4992-B30D-C2BBB2D9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19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CC04B-3A70-46FA-BD6F-1BAF41A9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792B4D-D45E-4DC2-AB5B-BD834959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0CF96A-7B5D-4FB4-98A1-C2BB5207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D0F25D-89EF-4CDF-AB3F-9EA0BE98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08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F08A2A-4DDF-4321-B7C0-84BEB946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F69043-3DAA-483F-905A-71EC2721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DED16-87A9-4637-8821-C726D514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5E25E-ACFB-43EA-8A88-1269FC1C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982BD-284D-46CF-8CFC-17A25BE4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DA268B-3287-4EA4-B656-666D9FBE2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1276A-35B8-4DEF-AC08-B5D6EA90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4578D-C269-4781-8E26-9ABFBAAA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DAA54B-C9B3-4D8A-BA0D-93979BF9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2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888E7-4030-41D6-8519-EC2610F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FEBED0-012F-474B-AB92-7FD8A0EF5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A7A0F1-DA2C-4FB3-8467-CAAB0D4BF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786A97-7223-4D44-951E-F866B79B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E55755-29B7-4375-A1B1-E510CFB8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C7FB22-B785-4E00-A396-651FC141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05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E86F8-7C3C-48F9-A140-DF7ECDDA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C504E-A9B0-4526-8809-044E41474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5E44F-A10B-45EB-B982-AAD32F8F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374D6-1026-46FD-B9FF-E36AA217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33D93-F50E-45EC-9C08-292AF188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84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34DD52-860B-430C-9C85-E4533FEAB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86C01-6C80-4FA1-88FA-839883FC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8CEC8-0D67-490E-A721-C15C7977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FA70B-E61C-4E29-A6C8-FABE110F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E4441-8A8F-46BB-9599-110363C0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554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754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13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7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69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70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00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6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6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16D2E2-87AE-4739-8608-CEE8873A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34A209-DDC2-4959-A160-BDC500046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4EE6D-3BAE-4835-9108-B29A33070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6AE31-865A-4DEE-BB2A-053A2D21B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3D2F2-3DD8-465E-8B4F-77319A921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99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38328"/>
            <a:ext cx="1920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50" b="1">
                <a:solidFill>
                  <a:srgbClr val="1F3A5B"/>
                </a:solidFill>
                <a:latin typeface="Microsoft YaHei"/>
              </a:defRPr>
            </a:pPr>
            <a:r>
              <a:rPr kumimoji="0" sz="1850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四类客群矩阵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3602736"/>
            <a:ext cx="11155680" cy="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804672"/>
            <a:ext cx="0" cy="562356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8016" y="3493008"/>
            <a:ext cx="457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9728" y="3493008"/>
            <a:ext cx="512064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722376"/>
            <a:ext cx="4572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1F3A5B"/>
                </a:solidFill>
                <a:latin typeface="Microsoft YaHei"/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528816"/>
            <a:ext cx="4572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价值好 × 风险好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124712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268343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稳健经营型优质客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68343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经营策略：重点经营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｜3000-5000 优质 MACC / LACC / LOC 候选池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896112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价值好 × 风险差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1124712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5790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高薪高波动型周转客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经营策略：短周期小额承接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｜EWA / 超短期产品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493" y="3750533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价值差 × 风险好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493" y="3979133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538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低收入克制型刚需客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B538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3493" y="4509485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经营策略：低额度验证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｜SACC / 低额 Personal Loan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9765" y="3783521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价值差 × 风险差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9765" y="4012121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C83D3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现金流脆弱型谨慎客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765" y="4542473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经营策略：原则上不重点承接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｜限额 / 提价 / 人工审核 / 谨慎准入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1ECF688C-6E3F-4C0E-ABD4-2EE749A8E409}"/>
              </a:ext>
            </a:extLst>
          </p:cNvPr>
          <p:cNvSpPr/>
          <p:nvPr/>
        </p:nvSpPr>
        <p:spPr>
          <a:xfrm>
            <a:off x="658368" y="1396118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高收入稳现金流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1CBC9896-18ED-4F66-A930-AC5965EA2488}"/>
              </a:ext>
            </a:extLst>
          </p:cNvPr>
          <p:cNvSpPr/>
          <p:nvPr/>
        </p:nvSpPr>
        <p:spPr>
          <a:xfrm>
            <a:off x="15453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用信成熟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0EE4068E-A424-44FA-A1AE-B95E543A2B7B}"/>
              </a:ext>
            </a:extLst>
          </p:cNvPr>
          <p:cNvSpPr/>
          <p:nvPr/>
        </p:nvSpPr>
        <p:spPr>
          <a:xfrm>
            <a:off x="22311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履约稳健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866029C3-0908-4601-B0B5-470A21370530}"/>
              </a:ext>
            </a:extLst>
          </p:cNvPr>
          <p:cNvSpPr/>
          <p:nvPr/>
        </p:nvSpPr>
        <p:spPr>
          <a:xfrm>
            <a:off x="29169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高额度诉求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Rounded Rectangle 40">
            <a:extLst>
              <a:ext uri="{FF2B5EF4-FFF2-40B4-BE49-F238E27FC236}">
                <a16:creationId xmlns:a16="http://schemas.microsoft.com/office/drawing/2014/main" id="{DF5A399C-DE9E-439B-8A34-67D4CEF4DB29}"/>
              </a:ext>
            </a:extLst>
          </p:cNvPr>
          <p:cNvSpPr/>
          <p:nvPr/>
        </p:nvSpPr>
        <p:spPr>
          <a:xfrm>
            <a:off x="6373368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纸面富裕</a:t>
            </a:r>
          </a:p>
        </p:txBody>
      </p:sp>
      <p:sp>
        <p:nvSpPr>
          <p:cNvPr id="126" name="Rounded Rectangle 41">
            <a:extLst>
              <a:ext uri="{FF2B5EF4-FFF2-40B4-BE49-F238E27FC236}">
                <a16:creationId xmlns:a16="http://schemas.microsoft.com/office/drawing/2014/main" id="{D17DA79E-22C1-4DB6-92D5-E4C642F7B63C}"/>
              </a:ext>
            </a:extLst>
          </p:cNvPr>
          <p:cNvSpPr/>
          <p:nvPr/>
        </p:nvSpPr>
        <p:spPr>
          <a:xfrm>
            <a:off x="6958584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现金过山车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Rounded Rectangle 42">
            <a:extLst>
              <a:ext uri="{FF2B5EF4-FFF2-40B4-BE49-F238E27FC236}">
                <a16:creationId xmlns:a16="http://schemas.microsoft.com/office/drawing/2014/main" id="{DC5BA0FF-6073-431A-8F9D-AB909101B25A}"/>
              </a:ext>
            </a:extLst>
          </p:cNvPr>
          <p:cNvSpPr/>
          <p:nvPr/>
        </p:nvSpPr>
        <p:spPr>
          <a:xfrm>
            <a:off x="7543800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高支出高波动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A4D1AD08-9A3F-4FE7-AFEC-6C25CDC8B0B8}"/>
              </a:ext>
            </a:extLst>
          </p:cNvPr>
          <p:cNvSpPr/>
          <p:nvPr/>
        </p:nvSpPr>
        <p:spPr>
          <a:xfrm>
            <a:off x="8330184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周转需求强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Rounded Rectangle 44">
            <a:extLst>
              <a:ext uri="{FF2B5EF4-FFF2-40B4-BE49-F238E27FC236}">
                <a16:creationId xmlns:a16="http://schemas.microsoft.com/office/drawing/2014/main" id="{4C841FC0-EB41-4881-80AF-BA5DAF26D3A4}"/>
              </a:ext>
            </a:extLst>
          </p:cNvPr>
          <p:cNvSpPr/>
          <p:nvPr/>
        </p:nvSpPr>
        <p:spPr>
          <a:xfrm>
            <a:off x="9116568" y="138119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高额度诉求</a:t>
            </a:r>
          </a:p>
        </p:txBody>
      </p:sp>
      <p:sp>
        <p:nvSpPr>
          <p:cNvPr id="130" name="Rounded Rectangle 62">
            <a:extLst>
              <a:ext uri="{FF2B5EF4-FFF2-40B4-BE49-F238E27FC236}">
                <a16:creationId xmlns:a16="http://schemas.microsoft.com/office/drawing/2014/main" id="{4A853437-FAF5-4581-B771-2FB269A62555}"/>
              </a:ext>
            </a:extLst>
          </p:cNvPr>
          <p:cNvSpPr/>
          <p:nvPr/>
        </p:nvSpPr>
        <p:spPr>
          <a:xfrm>
            <a:off x="6634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紧预算人群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Rounded Rectangle 63">
            <a:extLst>
              <a:ext uri="{FF2B5EF4-FFF2-40B4-BE49-F238E27FC236}">
                <a16:creationId xmlns:a16="http://schemas.microsoft.com/office/drawing/2014/main" id="{94C06805-ECBB-44FD-A329-6A2418DB2A87}"/>
              </a:ext>
            </a:extLst>
          </p:cNvPr>
          <p:cNvSpPr/>
          <p:nvPr/>
        </p:nvSpPr>
        <p:spPr>
          <a:xfrm>
            <a:off x="1248709" y="425345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福利依赖型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Rounded Rectangle 64">
            <a:extLst>
              <a:ext uri="{FF2B5EF4-FFF2-40B4-BE49-F238E27FC236}">
                <a16:creationId xmlns:a16="http://schemas.microsoft.com/office/drawing/2014/main" id="{1AC0652A-826D-4584-B80B-12FED471DE71}"/>
              </a:ext>
            </a:extLst>
          </p:cNvPr>
          <p:cNvSpPr/>
          <p:nvPr/>
        </p:nvSpPr>
        <p:spPr>
          <a:xfrm>
            <a:off x="20350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克制过日子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Rounded Rectangle 65">
            <a:extLst>
              <a:ext uri="{FF2B5EF4-FFF2-40B4-BE49-F238E27FC236}">
                <a16:creationId xmlns:a16="http://schemas.microsoft.com/office/drawing/2014/main" id="{0EFEF779-1BA0-4BDD-9D10-3FF083279EDE}"/>
              </a:ext>
            </a:extLst>
          </p:cNvPr>
          <p:cNvSpPr/>
          <p:nvPr/>
        </p:nvSpPr>
        <p:spPr>
          <a:xfrm>
            <a:off x="2620309" y="425345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小额刚需党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" name="Rounded Rectangle 84">
            <a:extLst>
              <a:ext uri="{FF2B5EF4-FFF2-40B4-BE49-F238E27FC236}">
                <a16:creationId xmlns:a16="http://schemas.microsoft.com/office/drawing/2014/main" id="{8E8C2170-1413-41B3-8914-31EC5C290A85}"/>
              </a:ext>
            </a:extLst>
          </p:cNvPr>
          <p:cNvSpPr/>
          <p:nvPr/>
        </p:nvSpPr>
        <p:spPr>
          <a:xfrm>
            <a:off x="6409765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现金告急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Rounded Rectangle 85">
            <a:extLst>
              <a:ext uri="{FF2B5EF4-FFF2-40B4-BE49-F238E27FC236}">
                <a16:creationId xmlns:a16="http://schemas.microsoft.com/office/drawing/2014/main" id="{600E8349-AFD6-46C7-B409-59612E132C5D}"/>
              </a:ext>
            </a:extLst>
          </p:cNvPr>
          <p:cNvSpPr/>
          <p:nvPr/>
        </p:nvSpPr>
        <p:spPr>
          <a:xfrm>
            <a:off x="7196149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收支失衡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Rounded Rectangle 86">
            <a:extLst>
              <a:ext uri="{FF2B5EF4-FFF2-40B4-BE49-F238E27FC236}">
                <a16:creationId xmlns:a16="http://schemas.microsoft.com/office/drawing/2014/main" id="{44A9AC8C-29FE-4895-81FF-69BAA02B4A60}"/>
              </a:ext>
            </a:extLst>
          </p:cNvPr>
          <p:cNvSpPr/>
          <p:nvPr/>
        </p:nvSpPr>
        <p:spPr>
          <a:xfrm>
            <a:off x="7982533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还款乏力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Rounded Rectangle 88">
            <a:extLst>
              <a:ext uri="{FF2B5EF4-FFF2-40B4-BE49-F238E27FC236}">
                <a16:creationId xmlns:a16="http://schemas.microsoft.com/office/drawing/2014/main" id="{FB12DEF9-0204-47DE-B33B-B08A965A503D}"/>
              </a:ext>
            </a:extLst>
          </p:cNvPr>
          <p:cNvSpPr/>
          <p:nvPr/>
        </p:nvSpPr>
        <p:spPr>
          <a:xfrm>
            <a:off x="8657665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高危边缘客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69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9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样本占比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9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4.15%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9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四类中等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94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04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平均收入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04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8,351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4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偏高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319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29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平均申请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29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2,589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29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偏高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444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54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件均额度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54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1,627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54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四类最高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9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9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额度满足率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9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62.8%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9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四类最高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194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04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3M30人数逾期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04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5.74%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04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四类最低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319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29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3M30金额逾期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29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2.62%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29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风险最优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44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BFCFB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54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发薪波动 std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54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18549"/>
                </a:solidFill>
                <a:latin typeface="Microsoft YaHei"/>
              </a:rPr>
              <a:t>2.50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54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发薪最稳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640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50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样本占比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50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0.33%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50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样本极少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65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75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平均收入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75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19,425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75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四类最高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890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00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平均申请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00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2,625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00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四类最高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10150000" y="214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252600" y="219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件均额度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0252600" y="231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1,449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0252600" y="250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偏高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40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50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额度满足率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50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55.2%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50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中等水平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765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775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3M30人数逾期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75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10.42%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775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风险已抬升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890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900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3M30金额逾期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00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7.96%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900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偏高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10150000" y="275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C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252600" y="280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 Net Surplus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252600" y="292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9911C"/>
                </a:solidFill>
                <a:latin typeface="Microsoft YaHei"/>
              </a:rPr>
              <a:t>10,620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0252600" y="311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静态偿付最佳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690000" y="501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92600" y="506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样本占比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92600" y="518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0.62%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792600" y="537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样本较少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1940000" y="501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042600" y="506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平均收入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042600" y="518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3,265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042600" y="537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四类最低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3190000" y="501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3292600" y="506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平均申请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292600" y="518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1,763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3292600" y="537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偏低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4440000" y="5015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4542600" y="5065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件均额度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542600" y="5182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973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542600" y="5370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偏低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690000" y="562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792600" y="567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额度满足率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792600" y="579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55.2%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792600" y="598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中等水平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1940000" y="562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2042600" y="567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3M30人数逾期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042600" y="579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11.54%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042600" y="598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可控待验证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3190000" y="562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3292600" y="567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3M30金额逾期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292600" y="579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5.21%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3292600" y="598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中等偏低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4440000" y="5627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9FBFD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4542600" y="5678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通过后成交率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4542600" y="5794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75F9A"/>
                </a:solidFill>
                <a:latin typeface="Microsoft YaHei"/>
              </a:rPr>
              <a:t>89.9%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542600" y="5982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四类最高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6400000" y="5040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502600" y="5090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样本占比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6502600" y="5207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29.31%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6502600" y="5395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样本最多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7650000" y="5040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7752600" y="5090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平均收入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7752600" y="5207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4,153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752600" y="5395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偏低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8900000" y="5040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9002600" y="5090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平均申请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02600" y="5207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1,678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9002600" y="5395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四类最低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10150000" y="50400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0252600" y="50907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件均额度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0252600" y="52074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760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0252600" y="53952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四类最低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6400000" y="5652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6502600" y="5703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额度满足率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6502600" y="5819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45.3%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6502600" y="6007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四类最低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7650000" y="5652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7752600" y="5703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3M30人数逾期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7752600" y="5819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27.05%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7752600" y="6007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四类最高</a:t>
            </a:r>
          </a:p>
        </p:txBody>
      </p:sp>
      <p:sp>
        <p:nvSpPr>
          <p:cNvPr id="337" name="Rounded Rectangle 336"/>
          <p:cNvSpPr/>
          <p:nvPr/>
        </p:nvSpPr>
        <p:spPr>
          <a:xfrm>
            <a:off x="8900000" y="5652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9002600" y="5703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3M30金额逾期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9002600" y="5819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20.82%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9002600" y="6007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风险暴露最高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10150000" y="5652500"/>
            <a:ext cx="1140000" cy="507500"/>
          </a:xfrm>
          <a:prstGeom prst="roundRect">
            <a:avLst>
              <a:gd name="adj" fmla="val 8000"/>
            </a:avLst>
          </a:prstGeom>
          <a:solidFill>
            <a:srgbClr val="FDFAF9"/>
          </a:solidFill>
          <a:ln w="9525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10252600" y="5703250"/>
            <a:ext cx="934800" cy="91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>
                <a:solidFill>
                  <a:srgbClr val="6E7680"/>
                </a:solidFill>
                <a:latin typeface="Microsoft YaHei"/>
              </a:rPr>
              <a:t>余额异常天数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0252600" y="5819975"/>
            <a:ext cx="934800" cy="1319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C4936"/>
                </a:solidFill>
                <a:latin typeface="Microsoft YaHei"/>
              </a:rPr>
              <a:t>5.22 天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0252600" y="6007750"/>
            <a:ext cx="934800" cy="7612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>
                <a:solidFill>
                  <a:srgbClr val="969DA5"/>
                </a:solidFill>
                <a:latin typeface="Microsoft YaHei"/>
              </a:rPr>
              <a:t>四类最高</a:t>
            </a:r>
          </a:p>
        </p:txBody>
      </p:sp>
    </p:spTree>
    <p:extLst>
      <p:ext uri="{BB962C8B-B14F-4D97-AF65-F5344CB8AC3E}">
        <p14:creationId xmlns:p14="http://schemas.microsoft.com/office/powerpoint/2010/main" val="1862504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328</Words>
  <Application>Microsoft Office PowerPoint</Application>
  <PresentationFormat>宽屏</PresentationFormat>
  <Paragraphs>75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Microsoft YaHei</vt:lpstr>
      <vt:lpstr>Microsoft YaHei</vt:lpstr>
      <vt:lpstr>等线</vt:lpstr>
      <vt:lpstr>等线 Light</vt:lpstr>
      <vt:lpstr>Arial</vt:lpstr>
      <vt:lpstr>Office 主题​​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31</cp:revision>
  <dcterms:created xsi:type="dcterms:W3CDTF">2026-08-31T12:17:08Z</dcterms:created>
  <dcterms:modified xsi:type="dcterms:W3CDTF">2026-09-01T05:53:57Z</dcterms:modified>
</cp:coreProperties>
</file>