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"/>
  </p:notesMasterIdLst>
  <p:sldIdLst>
    <p:sldId id="292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9091D931-C6EF-4AAA-8AF6-ED6BA379CE5A}">
          <p14:sldIdLst>
            <p14:sldId id="292"/>
          </p14:sldIdLst>
        </p14:section>
        <p14:section name="draft" id="{4A55A2FB-9C68-4E40-8234-62AC1197D950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7419" autoAdjust="0"/>
  </p:normalViewPr>
  <p:slideViewPr>
    <p:cSldViewPr snapToGrid="0" showGuides="1">
      <p:cViewPr varScale="1">
        <p:scale>
          <a:sx n="161" d="100"/>
          <a:sy n="161" d="100"/>
        </p:scale>
        <p:origin x="2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D1ABA1-3A8B-4F78-8FC2-CC35DC6ACD02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9672A-4FCD-4626-A8DC-612F10E6BE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9525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zh-CN" altLang="en-US" dirty="0"/>
              <a:t>为什么要做价值模型：识别出风险以外的信息，找到最有价值的地方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可以用在两个方向：提额、投放</a:t>
            </a:r>
            <a:endParaRPr lang="en-US" altLang="zh-CN" dirty="0"/>
          </a:p>
          <a:p>
            <a:pPr marL="228600" indent="-228600">
              <a:buAutoNum type="arabicPeriod"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8F9672A-4FCD-4626-A8DC-612F10E6BE2A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24454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FA74C0-4492-4B6E-82F1-847BE75ED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B48B1CD-FA7B-40D0-A752-65ED19491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00D2C4A-DB2C-4ABD-8E4A-C2D6567ED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5C06B2-F499-418D-862E-A5CEFBE46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15A32-7731-485E-B4AA-B08F6E151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1098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EBF095-51A9-4DBD-ADF5-FBC7F025D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FAC3E3-9B46-4488-91C0-9AA4E1C00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6CF6FB-AFA3-49D3-8B12-177CC50B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9A48375-639C-4148-B536-C14EEAB93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6F5F55-6771-4B3A-B141-C9A8EADBF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4947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C3066A-A401-4B7A-9261-A371FD0AB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47292A1-C559-48E9-B92C-ED860403C4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2C8781-CF2A-499C-94E1-8719D4E4A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163101-8B73-4C25-BC55-7659EE25C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C74310-F05B-403D-9C21-A7BC4B094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82276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05B945-F937-4281-BF3D-8B65E94A5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2C8FAA-08B8-4E14-8258-1ED1E09872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45EF507-EE1E-4906-8E12-3AE95ECCCF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705F97-FB45-4ADE-AAD3-111BDC253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52C1D9F-14FE-4CA6-8B97-0A26596D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4BA541B-5155-44EE-9B69-870C6F9BC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793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C83019-4550-438C-AF1D-AFDAB5CF2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7B7705E-DF06-4579-90EE-2E83BED56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C2142CC-217D-4372-8E14-D6443AC4C4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5A6281-7CA3-4246-8E55-C3CA740402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83FC874-1075-4BFE-8585-AA328CCADF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623710D-E3D8-4F62-8215-989A61AA8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DA00496-D08A-4F79-9AB1-6DB3C9CF4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158F5C5-7812-4992-B30D-C2BBB2D98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9197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BCC04B-3A70-46FA-BD6F-1BAF41A9D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5792B4D-D45E-4DC2-AB5B-BD8349596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70CF96A-7B5D-4FB4-98A1-C2BB5207F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8D0F25D-89EF-4CDF-AB3F-9EA0BE989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3084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0F08A2A-4DDF-4321-B7C0-84BEB946F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F69043-3DAA-483F-905A-71EC27212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3BDED16-87A9-4637-8821-C726D514F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410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F5E25E-ACFB-43EA-8A88-1269FC1C3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4982BD-284D-46CF-8CFC-17A25BE45A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EDA268B-3287-4EA4-B656-666D9FBE2A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9D1276A-35B8-4DEF-AC08-B5D6EA90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A14578D-C269-4781-8E26-9ABFBAAAE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DAA54B-C9B3-4D8A-BA0D-93979BF92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24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E888E7-4030-41D6-8519-EC2610F59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1FEBED0-012F-474B-AB92-7FD8A0EF54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BA7A0F1-DA2C-4FB3-8467-CAAB0D4BFE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E786A97-7223-4D44-951E-F866B79BF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E55755-29B7-4375-A1B1-E510CFB82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FC7FB22-B785-4E00-A396-651FC1416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7056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BE86F8-7C3C-48F9-A140-DF7ECDDA2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8DC504E-A9B0-4526-8809-044E414740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55E44F-A10B-45EB-B982-AAD32F8F4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A374D6-1026-46FD-B9FF-E36AA2175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C33D93-F50E-45EC-9C08-292AF188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7842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B34DD52-860B-430C-9C85-E4533FEABE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B86C01-6C80-4FA1-88FA-839883FCB7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78CEC8-0D67-490E-A721-C15C79772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EFA70B-E61C-4E29-A6C8-FABE110F2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FBE4441-8A8F-46BB-9599-110363C0D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65542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B8EBA2-80EF-4252-8597-048A45E2E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21FC56-6680-4AD6-82E5-88A11AFC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AA0C1-447C-4AEA-81FA-9EB45857E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C9B75-A23F-4BC0-AF10-8E3B6D59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F3BAF1-849E-4CFB-97FB-462B79C5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45701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8D98-575F-4B86-853A-5626FCCE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CB4C6-859B-47BA-B600-73580410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1BEAC3-78C5-45B7-A23B-249EC15E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9A1087-075F-407E-BB28-CDF217CD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C62BF-1010-4F72-A364-4192F211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97541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4CBB0-B952-49F8-A1B8-3979F30A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EC5F22-E42C-4263-A574-0CF3FB32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79609-2E9A-498F-932D-68BAA7E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99CF08-A439-43B3-A3F9-168D0F5C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FEC39-07FE-47BE-B8DE-2AFAE3D5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90132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2E4F4-0D12-4C67-A2DE-5D38CFD3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EAA503-16B9-4CA8-8AA5-603157897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8D83A5-8A38-40E5-AB3E-D4138C5D5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0B2CC2-A96A-41D7-A4D7-A284B7D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BBF648-B851-4DA5-953B-86578FBD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CC2EA2-1228-4FAF-B547-0D8F31FE6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29931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E7825-95FC-4C1A-AF5F-E36B597AB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F39FAA-4C36-4CB6-A320-3DAC5409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B609A8-1E92-437D-B0B0-6111310F1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4226CF-A2B3-4B4E-9300-5E028ABA7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B10009-1111-457E-B430-65E1C279A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7E8ED2-908F-4B1A-8AE5-D192B1A89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9F550B-0F48-4318-996D-4884DECB1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28EED0F-6559-4C6F-9CA7-7770DD3D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98077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6F64B-E647-4104-B1ED-F93F843D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D34E7-F38A-4F82-9AB6-F8589C89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3AE06E-5BC2-49FC-AFDD-93822814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46D1A6-6F30-4369-886C-0B9A8E4C5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89691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9A4833-036F-41C6-B817-DBAF5E3F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1AA5643-CE71-4F55-8C58-D1337D39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6E3F4D-D0ED-4973-9E9A-D6287B4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28703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3B291-4439-45D3-BCEE-846EEECB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A73331-4FF4-49B6-A023-F72C49367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A3C987-2276-42A0-A1E7-E0606F374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22F0A1-047D-4CAC-9C15-FF066542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2EAEBB-7478-4902-AB86-AE45AA28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4A46412-6586-483A-ABB0-E712F839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65001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20C44-3AFF-45CD-9780-0D2FBCA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793764D-8357-41AF-8664-BADF71EFE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868CC22-900C-4216-BFAA-893CFBCC4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2A649-1B04-42E5-84B4-2A037C73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ACB251-B513-433D-A8AC-3FA74F8D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7EE6DA-2AE9-4C28-B829-F80EA98E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64623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2334-2A6B-4387-80FD-70E1F1E0E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7C5D0A-2D53-4144-B690-6C700F742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0CEC7-6E44-43BF-A36B-7D08A2F5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E63B3-0B50-4DF9-8F0E-79A5D718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EAD4-D222-409F-A809-BD5B978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48860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48EF8A-FDFA-4016-9979-C8C5B09F3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B09383-AF7E-4FF6-9616-02B3620BC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39486C-99DC-445E-A433-3EDCCFF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26F166-1825-4F9D-89FB-66C38CDA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0A879-DDC9-44A8-97E4-649A0365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967631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0097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A16D2E2-87AE-4739-8608-CEE8873A6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34A209-DDC2-4959-A160-BDC500046B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34EE6D-3BAE-4835-9108-B29A330706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826AE31-865A-4DEE-BB2A-053A2D21B7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F3D2F2-3DD8-465E-8B4F-77319A9210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6994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B64D2A-B4A2-4991-8631-34442C84D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2BE11-2F72-49B2-9898-38081781B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FEC2A-8966-4520-BDC5-D824E4328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AAC27E-A6AB-47AB-8662-4EC357CAD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2857CC-AAF6-440B-A91D-E387063E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4533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40080" y="252331"/>
            <a:ext cx="1423467" cy="284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50" b="1">
                <a:solidFill>
                  <a:srgbClr val="1F3A5B"/>
                </a:solidFill>
                <a:latin typeface="Microsoft YaHei"/>
              </a:defRPr>
            </a:pPr>
            <a:r>
              <a:rPr kumimoji="0" sz="1850" b="1" i="0" u="none" strike="noStrike" kern="1200" cap="none" spc="0" normalizeH="0" baseline="0" noProof="0" dirty="0" err="1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四类客群矩阵</a:t>
            </a:r>
            <a:endParaRPr kumimoji="0" sz="1850" b="1" i="0" u="none" strike="noStrike" kern="1200" cap="none" spc="0" normalizeH="0" baseline="0" noProof="0" dirty="0">
              <a:ln>
                <a:noFill/>
              </a:ln>
              <a:solidFill>
                <a:srgbClr val="1F3A5B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12064" y="3602736"/>
            <a:ext cx="11155680" cy="0"/>
          </a:xfrm>
          <a:prstGeom prst="line">
            <a:avLst/>
          </a:prstGeom>
          <a:ln w="11430">
            <a:solidFill>
              <a:srgbClr val="7A8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080760" y="804672"/>
            <a:ext cx="0" cy="5623560"/>
          </a:xfrm>
          <a:prstGeom prst="line">
            <a:avLst/>
          </a:prstGeom>
          <a:ln w="11430">
            <a:solidFill>
              <a:srgbClr val="7A8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29349" y="3493008"/>
            <a:ext cx="355867" cy="1414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风险低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95925" y="3493008"/>
            <a:ext cx="355867" cy="1414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风险高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8017" y="722376"/>
            <a:ext cx="365485" cy="14619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50" b="1">
                <a:solidFill>
                  <a:srgbClr val="1F3A5B"/>
                </a:solidFill>
                <a:latin typeface="Microsoft YaHei"/>
              </a:defRPr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02826" y="6528816"/>
            <a:ext cx="355867" cy="1414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896112"/>
            <a:ext cx="708527" cy="1154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价值好 × 风险好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124712"/>
            <a:ext cx="1333698" cy="2000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268343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稳健经营型优质客</a:t>
            </a:r>
            <a:endParaRPr kumimoji="0" sz="1300" b="1" i="0" u="none" strike="noStrike" kern="1200" cap="none" spc="0" normalizeH="0" baseline="0" noProof="0" dirty="0">
              <a:ln>
                <a:noFill/>
              </a:ln>
              <a:solidFill>
                <a:srgbClr val="268343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" y="1655064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 dirty="0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经营策略：重点经营</a:t>
            </a:r>
            <a:r>
              <a:rPr kumimoji="0" sz="860" b="0" i="0" u="none" strike="noStrike" kern="1200" cap="none" spc="0" normalizeH="0" baseline="0" noProof="0" dirty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｜3000-5000 </a:t>
            </a:r>
            <a:r>
              <a:rPr kumimoji="0" sz="860" b="0" i="0" u="none" strike="noStrike" kern="1200" cap="none" spc="0" normalizeH="0" baseline="0" noProof="0" dirty="0" err="1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优质</a:t>
            </a:r>
            <a:r>
              <a:rPr kumimoji="0" sz="860" b="0" i="0" u="none" strike="noStrike" kern="1200" cap="none" spc="0" normalizeH="0" baseline="0" noProof="0" dirty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MACC / LACC / LOC </a:t>
            </a:r>
            <a:r>
              <a:rPr kumimoji="0" sz="860" b="0" i="0" u="none" strike="noStrike" kern="1200" cap="none" spc="0" normalizeH="0" baseline="0" noProof="0" dirty="0" err="1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候选池</a:t>
            </a:r>
            <a:endParaRPr kumimoji="0" sz="860" b="0" i="0" u="none" strike="noStrike" kern="1200" cap="none" spc="0" normalizeH="0" baseline="0" noProof="0" dirty="0">
              <a:ln>
                <a:noFill/>
              </a:ln>
              <a:solidFill>
                <a:srgbClr val="2F364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373368" y="896112"/>
            <a:ext cx="708527" cy="1154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价值好 × 风险差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3368" y="1124712"/>
            <a:ext cx="1500411" cy="2000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B5790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高薪高波动型周转客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73368" y="1655064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经营策略：短周期小额承接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｜EWA / 超短期产品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3493" y="3750533"/>
            <a:ext cx="708527" cy="1154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价值差 × 风险好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3493" y="3979133"/>
            <a:ext cx="1500411" cy="2000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1B538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低收入克制型刚需客</a:t>
            </a:r>
            <a:endParaRPr kumimoji="0" sz="1300" b="1" i="0" u="none" strike="noStrike" kern="1200" cap="none" spc="0" normalizeH="0" baseline="0" noProof="0" dirty="0">
              <a:ln>
                <a:noFill/>
              </a:ln>
              <a:solidFill>
                <a:srgbClr val="1B538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63493" y="4509485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经营策略：低额度验证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｜SACC / 低额 Personal Loan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409765" y="3783521"/>
            <a:ext cx="708527" cy="1154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价值差 × 风险差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9765" y="4012121"/>
            <a:ext cx="1500411" cy="2000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C83D3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现金流脆弱型谨慎客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9765" y="4542473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3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经营策略：原则上不重点承接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｜限额 / 提价 / 人工审核 / 谨慎准入</a:t>
            </a:r>
          </a:p>
        </p:txBody>
      </p:sp>
      <p:sp>
        <p:nvSpPr>
          <p:cNvPr id="116" name="Rounded Rectangle 20">
            <a:extLst>
              <a:ext uri="{FF2B5EF4-FFF2-40B4-BE49-F238E27FC236}">
                <a16:creationId xmlns:a16="http://schemas.microsoft.com/office/drawing/2014/main" id="{1ECF688C-6E3F-4C0E-ABD4-2EE749A8E409}"/>
              </a:ext>
            </a:extLst>
          </p:cNvPr>
          <p:cNvSpPr/>
          <p:nvPr/>
        </p:nvSpPr>
        <p:spPr>
          <a:xfrm>
            <a:off x="658368" y="1396118"/>
            <a:ext cx="832104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高收入稳现金流</a:t>
            </a:r>
          </a:p>
        </p:txBody>
      </p:sp>
      <p:sp>
        <p:nvSpPr>
          <p:cNvPr id="117" name="Rounded Rectangle 21">
            <a:extLst>
              <a:ext uri="{FF2B5EF4-FFF2-40B4-BE49-F238E27FC236}">
                <a16:creationId xmlns:a16="http://schemas.microsoft.com/office/drawing/2014/main" id="{1CBC9896-18ED-4F66-A930-AC5965EA2488}"/>
              </a:ext>
            </a:extLst>
          </p:cNvPr>
          <p:cNvSpPr/>
          <p:nvPr/>
        </p:nvSpPr>
        <p:spPr>
          <a:xfrm>
            <a:off x="15453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用信成熟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18" name="Rounded Rectangle 22">
            <a:extLst>
              <a:ext uri="{FF2B5EF4-FFF2-40B4-BE49-F238E27FC236}">
                <a16:creationId xmlns:a16="http://schemas.microsoft.com/office/drawing/2014/main" id="{0EE4068E-A424-44FA-A1AE-B95E543A2B7B}"/>
              </a:ext>
            </a:extLst>
          </p:cNvPr>
          <p:cNvSpPr/>
          <p:nvPr/>
        </p:nvSpPr>
        <p:spPr>
          <a:xfrm>
            <a:off x="22311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履约稳健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19" name="Rounded Rectangle 23">
            <a:extLst>
              <a:ext uri="{FF2B5EF4-FFF2-40B4-BE49-F238E27FC236}">
                <a16:creationId xmlns:a16="http://schemas.microsoft.com/office/drawing/2014/main" id="{866029C3-0908-4601-B0B5-470A21370530}"/>
              </a:ext>
            </a:extLst>
          </p:cNvPr>
          <p:cNvSpPr/>
          <p:nvPr/>
        </p:nvSpPr>
        <p:spPr>
          <a:xfrm>
            <a:off x="29169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高额度诉求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25" name="Rounded Rectangle 40">
            <a:extLst>
              <a:ext uri="{FF2B5EF4-FFF2-40B4-BE49-F238E27FC236}">
                <a16:creationId xmlns:a16="http://schemas.microsoft.com/office/drawing/2014/main" id="{DF5A399C-DE9E-439B-8A34-67D4CEF4DB29}"/>
              </a:ext>
            </a:extLst>
          </p:cNvPr>
          <p:cNvSpPr/>
          <p:nvPr/>
        </p:nvSpPr>
        <p:spPr>
          <a:xfrm>
            <a:off x="6373368" y="138119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纸面富裕</a:t>
            </a:r>
          </a:p>
        </p:txBody>
      </p:sp>
      <p:sp>
        <p:nvSpPr>
          <p:cNvPr id="126" name="Rounded Rectangle 41">
            <a:extLst>
              <a:ext uri="{FF2B5EF4-FFF2-40B4-BE49-F238E27FC236}">
                <a16:creationId xmlns:a16="http://schemas.microsoft.com/office/drawing/2014/main" id="{D17DA79E-22C1-4DB6-92D5-E4C642F7B63C}"/>
              </a:ext>
            </a:extLst>
          </p:cNvPr>
          <p:cNvSpPr/>
          <p:nvPr/>
        </p:nvSpPr>
        <p:spPr>
          <a:xfrm>
            <a:off x="6958584" y="138119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现金过山车</a:t>
            </a:r>
            <a:endParaRPr kumimoji="0" lang="zh-CN" altLang="en-US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27" name="Rounded Rectangle 42">
            <a:extLst>
              <a:ext uri="{FF2B5EF4-FFF2-40B4-BE49-F238E27FC236}">
                <a16:creationId xmlns:a16="http://schemas.microsoft.com/office/drawing/2014/main" id="{DC5BA0FF-6073-431A-8F9D-AB909101B25A}"/>
              </a:ext>
            </a:extLst>
          </p:cNvPr>
          <p:cNvSpPr/>
          <p:nvPr/>
        </p:nvSpPr>
        <p:spPr>
          <a:xfrm>
            <a:off x="7543800" y="138119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高支出高波动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28" name="Rounded Rectangle 43">
            <a:extLst>
              <a:ext uri="{FF2B5EF4-FFF2-40B4-BE49-F238E27FC236}">
                <a16:creationId xmlns:a16="http://schemas.microsoft.com/office/drawing/2014/main" id="{A4D1AD08-9A3F-4FE7-AFEC-6C25CDC8B0B8}"/>
              </a:ext>
            </a:extLst>
          </p:cNvPr>
          <p:cNvSpPr/>
          <p:nvPr/>
        </p:nvSpPr>
        <p:spPr>
          <a:xfrm>
            <a:off x="8330184" y="138119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周转需求强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29" name="Rounded Rectangle 44">
            <a:extLst>
              <a:ext uri="{FF2B5EF4-FFF2-40B4-BE49-F238E27FC236}">
                <a16:creationId xmlns:a16="http://schemas.microsoft.com/office/drawing/2014/main" id="{4C841FC0-EB41-4881-80AF-BA5DAF26D3A4}"/>
              </a:ext>
            </a:extLst>
          </p:cNvPr>
          <p:cNvSpPr/>
          <p:nvPr/>
        </p:nvSpPr>
        <p:spPr>
          <a:xfrm>
            <a:off x="9116568" y="1381193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高额度诉求</a:t>
            </a:r>
          </a:p>
        </p:txBody>
      </p:sp>
      <p:sp>
        <p:nvSpPr>
          <p:cNvPr id="130" name="Rounded Rectangle 62">
            <a:extLst>
              <a:ext uri="{FF2B5EF4-FFF2-40B4-BE49-F238E27FC236}">
                <a16:creationId xmlns:a16="http://schemas.microsoft.com/office/drawing/2014/main" id="{4A853437-FAF5-4581-B771-2FB269A62555}"/>
              </a:ext>
            </a:extLst>
          </p:cNvPr>
          <p:cNvSpPr/>
          <p:nvPr/>
        </p:nvSpPr>
        <p:spPr>
          <a:xfrm>
            <a:off x="663493" y="425345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紧预算人群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1" name="Rounded Rectangle 63">
            <a:extLst>
              <a:ext uri="{FF2B5EF4-FFF2-40B4-BE49-F238E27FC236}">
                <a16:creationId xmlns:a16="http://schemas.microsoft.com/office/drawing/2014/main" id="{94C06805-ECBB-44FD-A329-6A2418DB2A87}"/>
              </a:ext>
            </a:extLst>
          </p:cNvPr>
          <p:cNvSpPr/>
          <p:nvPr/>
        </p:nvSpPr>
        <p:spPr>
          <a:xfrm>
            <a:off x="1248709" y="425345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福利依赖型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2" name="Rounded Rectangle 64">
            <a:extLst>
              <a:ext uri="{FF2B5EF4-FFF2-40B4-BE49-F238E27FC236}">
                <a16:creationId xmlns:a16="http://schemas.microsoft.com/office/drawing/2014/main" id="{1AC0652A-826D-4584-B80B-12FED471DE71}"/>
              </a:ext>
            </a:extLst>
          </p:cNvPr>
          <p:cNvSpPr/>
          <p:nvPr/>
        </p:nvSpPr>
        <p:spPr>
          <a:xfrm>
            <a:off x="2035093" y="425345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克制过日子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3" name="Rounded Rectangle 65">
            <a:extLst>
              <a:ext uri="{FF2B5EF4-FFF2-40B4-BE49-F238E27FC236}">
                <a16:creationId xmlns:a16="http://schemas.microsoft.com/office/drawing/2014/main" id="{0EFEF779-1BA0-4BDD-9D10-3FF083279EDE}"/>
              </a:ext>
            </a:extLst>
          </p:cNvPr>
          <p:cNvSpPr/>
          <p:nvPr/>
        </p:nvSpPr>
        <p:spPr>
          <a:xfrm>
            <a:off x="2620309" y="4253453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小额刚需党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5" name="Rounded Rectangle 84">
            <a:extLst>
              <a:ext uri="{FF2B5EF4-FFF2-40B4-BE49-F238E27FC236}">
                <a16:creationId xmlns:a16="http://schemas.microsoft.com/office/drawing/2014/main" id="{8E8C2170-1413-41B3-8914-31EC5C290A85}"/>
              </a:ext>
            </a:extLst>
          </p:cNvPr>
          <p:cNvSpPr/>
          <p:nvPr/>
        </p:nvSpPr>
        <p:spPr>
          <a:xfrm>
            <a:off x="6409765" y="4253229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现金告急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6" name="Rounded Rectangle 85">
            <a:extLst>
              <a:ext uri="{FF2B5EF4-FFF2-40B4-BE49-F238E27FC236}">
                <a16:creationId xmlns:a16="http://schemas.microsoft.com/office/drawing/2014/main" id="{600E8349-AFD6-46C7-B409-59612E132C5D}"/>
              </a:ext>
            </a:extLst>
          </p:cNvPr>
          <p:cNvSpPr/>
          <p:nvPr/>
        </p:nvSpPr>
        <p:spPr>
          <a:xfrm>
            <a:off x="7196149" y="4253229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收支失衡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7" name="Rounded Rectangle 86">
            <a:extLst>
              <a:ext uri="{FF2B5EF4-FFF2-40B4-BE49-F238E27FC236}">
                <a16:creationId xmlns:a16="http://schemas.microsoft.com/office/drawing/2014/main" id="{44A9AC8C-29FE-4895-81FF-69BAA02B4A60}"/>
              </a:ext>
            </a:extLst>
          </p:cNvPr>
          <p:cNvSpPr/>
          <p:nvPr/>
        </p:nvSpPr>
        <p:spPr>
          <a:xfrm>
            <a:off x="7982533" y="4253229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还款乏力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8" name="Rounded Rectangle 88">
            <a:extLst>
              <a:ext uri="{FF2B5EF4-FFF2-40B4-BE49-F238E27FC236}">
                <a16:creationId xmlns:a16="http://schemas.microsoft.com/office/drawing/2014/main" id="{FB12DEF9-0204-47DE-B33B-B08A965A503D}"/>
              </a:ext>
            </a:extLst>
          </p:cNvPr>
          <p:cNvSpPr/>
          <p:nvPr/>
        </p:nvSpPr>
        <p:spPr>
          <a:xfrm>
            <a:off x="8657665" y="4253229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高危边缘客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9" name="Rounded Rectangle 138"/>
          <p:cNvSpPr/>
          <p:nvPr/>
        </p:nvSpPr>
        <p:spPr>
          <a:xfrm>
            <a:off x="676656" y="2029968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745236" y="2061972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5236" y="2162556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4.15%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5236" y="230886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四类中等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1865376" y="2029968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1933956" y="2061972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申请通过率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33956" y="2162556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42.76%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933956" y="230886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054096" y="2029968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48" name="TextBox 147"/>
          <p:cNvSpPr txBox="1"/>
          <p:nvPr/>
        </p:nvSpPr>
        <p:spPr>
          <a:xfrm>
            <a:off x="3122676" y="2061972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3M30人数逾期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122676" y="2162556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5.74%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122676" y="230886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242816" y="2029968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4311396" y="2061972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余额逾期率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311396" y="2162556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2.62%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311396" y="230886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低风险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76656" y="2473452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745236" y="2505456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平均收入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45236" y="2606040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8,351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45236" y="275234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偏高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1865376" y="2473452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33956" y="2505456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总收入/支出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933956" y="2606040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96,943/92,348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933956" y="275234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收支为正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054096" y="2473452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3122676" y="2505456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平均申请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122676" y="2606040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2,589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122676" y="275234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偏高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4242816" y="2473452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68" name="TextBox 167"/>
          <p:cNvSpPr txBox="1"/>
          <p:nvPr/>
        </p:nvSpPr>
        <p:spPr>
          <a:xfrm>
            <a:off x="4311396" y="2505456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件均额度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311396" y="2606040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1,627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311396" y="275234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76656" y="2916936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745236" y="294894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额度满足率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45236" y="3049524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62.8%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45236" y="3195828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1865376" y="2916936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933956" y="294894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发薪波动 std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933956" y="3049524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2.50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933956" y="3195828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发薪最稳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3054096" y="2916936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3122676" y="294894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还款额/次数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122676" y="3049524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24,276/34.0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22676" y="3195828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履约积极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4242816" y="2916936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4311396" y="294894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赌博支出占比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311396" y="3049524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2.5%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311396" y="3195828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可控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6382512" y="2029968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6451092" y="2061972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51092" y="2162556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0.33%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451092" y="230886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样本极少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7571232" y="2029968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7639812" y="2061972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申请通过率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7639812" y="2162556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26.94%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639812" y="230886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次高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8759952" y="2029968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96" name="TextBox 195"/>
          <p:cNvSpPr txBox="1"/>
          <p:nvPr/>
        </p:nvSpPr>
        <p:spPr>
          <a:xfrm>
            <a:off x="8828532" y="2061972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3M30人数逾期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8828532" y="2162556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10.42%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828532" y="230886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风险抬升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9948672" y="2029968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00" name="TextBox 199"/>
          <p:cNvSpPr txBox="1"/>
          <p:nvPr/>
        </p:nvSpPr>
        <p:spPr>
          <a:xfrm>
            <a:off x="10017252" y="2061972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余额逾期率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17252" y="2162556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7.96%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017252" y="230886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偏高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6382512" y="2473452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04" name="TextBox 203"/>
          <p:cNvSpPr txBox="1"/>
          <p:nvPr/>
        </p:nvSpPr>
        <p:spPr>
          <a:xfrm>
            <a:off x="6451092" y="2505456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平均收入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6451092" y="2606040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19,425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6451092" y="275234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7571232" y="2473452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7639812" y="2505456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Net Surplus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7639812" y="2606040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10,620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7639812" y="275234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静态最佳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8759952" y="2473452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8828532" y="2505456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总收入/支出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828532" y="2606040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191,383/193,711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8828532" y="275234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支出超收入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9948672" y="2473452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10017252" y="2505456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工资收入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0017252" y="2606040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50,253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10017252" y="275234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6382512" y="2916936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6451092" y="294894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金额波动 std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6451092" y="3049524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8,442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6451092" y="3195828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高波动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7571232" y="2916936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7639812" y="294894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赌博支出占比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639812" y="3049524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5.2%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7639812" y="3195828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偏高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8759952" y="2916936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8828532" y="294894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平均申请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8828532" y="3049524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2,625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828532" y="3195828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9948672" y="2916936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32" name="TextBox 231"/>
          <p:cNvSpPr txBox="1"/>
          <p:nvPr/>
        </p:nvSpPr>
        <p:spPr>
          <a:xfrm>
            <a:off x="10017252" y="2948940"/>
            <a:ext cx="336631" cy="8002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20" b="0" i="0" u="none" strike="noStrike" kern="1200" cap="none" spc="0" normalizeH="0" baseline="0" noProof="0" dirty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额度</a:t>
            </a:r>
            <a:r>
              <a:rPr kumimoji="0" sz="520" b="0" i="0" u="none" strike="noStrike" kern="1200" cap="none" spc="0" normalizeH="0" baseline="0" noProof="0" dirty="0" err="1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满足</a:t>
            </a:r>
            <a:r>
              <a:rPr kumimoji="0" lang="zh-CN" altLang="en-US" sz="520" b="0" i="0" u="none" strike="noStrike" kern="1200" cap="none" spc="0" normalizeH="0" baseline="0" noProof="0" dirty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率</a:t>
            </a:r>
            <a:endParaRPr kumimoji="0" sz="520" b="0" i="0" u="none" strike="noStrike" kern="1200" cap="none" spc="0" normalizeH="0" baseline="0" noProof="0" dirty="0">
              <a:ln>
                <a:noFill/>
              </a:ln>
              <a:solidFill>
                <a:srgbClr val="737E8B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10017252" y="3049524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1,449/55.2%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017252" y="3195828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中高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76656" y="5010912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36" name="TextBox 235"/>
          <p:cNvSpPr txBox="1"/>
          <p:nvPr/>
        </p:nvSpPr>
        <p:spPr>
          <a:xfrm>
            <a:off x="745236" y="5042916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745236" y="5143500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0.62%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45236" y="528980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样本较少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1865376" y="5010912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40" name="TextBox 239"/>
          <p:cNvSpPr txBox="1"/>
          <p:nvPr/>
        </p:nvSpPr>
        <p:spPr>
          <a:xfrm>
            <a:off x="1933956" y="5042916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申请通过率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933956" y="5143500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7.01%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933956" y="528980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偏低</a:t>
            </a:r>
          </a:p>
        </p:txBody>
      </p:sp>
      <p:sp>
        <p:nvSpPr>
          <p:cNvPr id="243" name="Rounded Rectangle 242"/>
          <p:cNvSpPr/>
          <p:nvPr/>
        </p:nvSpPr>
        <p:spPr>
          <a:xfrm>
            <a:off x="3054096" y="5010912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44" name="TextBox 243"/>
          <p:cNvSpPr txBox="1"/>
          <p:nvPr/>
        </p:nvSpPr>
        <p:spPr>
          <a:xfrm>
            <a:off x="3122676" y="5042916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3M30人数逾期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3122676" y="5143500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11.54%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3122676" y="528980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中等偏高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4242816" y="5010912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48" name="TextBox 247"/>
          <p:cNvSpPr txBox="1"/>
          <p:nvPr/>
        </p:nvSpPr>
        <p:spPr>
          <a:xfrm>
            <a:off x="4311396" y="5042916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平均收入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4311396" y="5143500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3,265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4311396" y="528980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676656" y="5454396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52" name="TextBox 251"/>
          <p:cNvSpPr txBox="1"/>
          <p:nvPr/>
        </p:nvSpPr>
        <p:spPr>
          <a:xfrm>
            <a:off x="745236" y="548640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总收入/工资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745236" y="5586984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45,568/8,750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745236" y="5733288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均最低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1865376" y="5454396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56" name="TextBox 255"/>
          <p:cNvSpPr txBox="1"/>
          <p:nvPr/>
        </p:nvSpPr>
        <p:spPr>
          <a:xfrm>
            <a:off x="1933956" y="548640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Centrelink占比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1933956" y="5586984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22.1%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933956" y="5733288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福利依赖</a:t>
            </a:r>
          </a:p>
        </p:txBody>
      </p:sp>
      <p:sp>
        <p:nvSpPr>
          <p:cNvPr id="259" name="Rounded Rectangle 258"/>
          <p:cNvSpPr/>
          <p:nvPr/>
        </p:nvSpPr>
        <p:spPr>
          <a:xfrm>
            <a:off x="3054096" y="5454396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0" name="TextBox 259"/>
          <p:cNvSpPr txBox="1"/>
          <p:nvPr/>
        </p:nvSpPr>
        <p:spPr>
          <a:xfrm>
            <a:off x="3122676" y="548640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平均申请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122676" y="5586984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1,763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3122676" y="5733288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偏低</a:t>
            </a:r>
          </a:p>
        </p:txBody>
      </p:sp>
      <p:sp>
        <p:nvSpPr>
          <p:cNvPr id="263" name="Rounded Rectangle 262"/>
          <p:cNvSpPr/>
          <p:nvPr/>
        </p:nvSpPr>
        <p:spPr>
          <a:xfrm>
            <a:off x="4242816" y="5454396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4" name="TextBox 263"/>
          <p:cNvSpPr txBox="1"/>
          <p:nvPr/>
        </p:nvSpPr>
        <p:spPr>
          <a:xfrm>
            <a:off x="4311396" y="548640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件均额度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4311396" y="5586984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973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311396" y="5733288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偏低</a:t>
            </a:r>
          </a:p>
        </p:txBody>
      </p:sp>
      <p:sp>
        <p:nvSpPr>
          <p:cNvPr id="267" name="Rounded Rectangle 266"/>
          <p:cNvSpPr/>
          <p:nvPr/>
        </p:nvSpPr>
        <p:spPr>
          <a:xfrm>
            <a:off x="676656" y="5897880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8" name="TextBox 267"/>
          <p:cNvSpPr txBox="1"/>
          <p:nvPr/>
        </p:nvSpPr>
        <p:spPr>
          <a:xfrm>
            <a:off x="745236" y="592988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额度满足率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745236" y="6030468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55.2%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745236" y="6176772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中等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1865376" y="5897880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72" name="TextBox 271"/>
          <p:cNvSpPr txBox="1"/>
          <p:nvPr/>
        </p:nvSpPr>
        <p:spPr>
          <a:xfrm>
            <a:off x="1933956" y="592988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通过后成交率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33956" y="6030468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89.9%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933956" y="6176772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3054096" y="5897880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76" name="TextBox 275"/>
          <p:cNvSpPr txBox="1"/>
          <p:nvPr/>
        </p:nvSpPr>
        <p:spPr>
          <a:xfrm>
            <a:off x="3122676" y="592988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余额异常天数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122676" y="6030468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3.45天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122676" y="6176772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279" name="Rounded Rectangle 278"/>
          <p:cNvSpPr/>
          <p:nvPr/>
        </p:nvSpPr>
        <p:spPr>
          <a:xfrm>
            <a:off x="4242816" y="5897880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80" name="TextBox 279"/>
          <p:cNvSpPr txBox="1"/>
          <p:nvPr/>
        </p:nvSpPr>
        <p:spPr>
          <a:xfrm>
            <a:off x="4311396" y="592988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赌博/余额波动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4311396" y="6030468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1.3% / 478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4311396" y="6176772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均最低</a:t>
            </a:r>
          </a:p>
        </p:txBody>
      </p:sp>
      <p:sp>
        <p:nvSpPr>
          <p:cNvPr id="283" name="Rounded Rectangle 282"/>
          <p:cNvSpPr/>
          <p:nvPr/>
        </p:nvSpPr>
        <p:spPr>
          <a:xfrm>
            <a:off x="6382512" y="5010912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84" name="TextBox 283"/>
          <p:cNvSpPr txBox="1"/>
          <p:nvPr/>
        </p:nvSpPr>
        <p:spPr>
          <a:xfrm>
            <a:off x="6451092" y="5042916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6451092" y="5143500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29.31%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6451092" y="528980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样本最多</a:t>
            </a:r>
          </a:p>
        </p:txBody>
      </p:sp>
      <p:sp>
        <p:nvSpPr>
          <p:cNvPr id="287" name="Rounded Rectangle 286"/>
          <p:cNvSpPr/>
          <p:nvPr/>
        </p:nvSpPr>
        <p:spPr>
          <a:xfrm>
            <a:off x="7571232" y="5010912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88" name="TextBox 287"/>
          <p:cNvSpPr txBox="1"/>
          <p:nvPr/>
        </p:nvSpPr>
        <p:spPr>
          <a:xfrm>
            <a:off x="7639812" y="5042916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申请通过率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7639812" y="5143500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4.83%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7639812" y="528980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8759952" y="5010912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92" name="TextBox 291"/>
          <p:cNvSpPr txBox="1"/>
          <p:nvPr/>
        </p:nvSpPr>
        <p:spPr>
          <a:xfrm>
            <a:off x="8828532" y="5042916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3M30人数逾期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8828532" y="5143500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27.05%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8828532" y="528980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295" name="Rounded Rectangle 294"/>
          <p:cNvSpPr/>
          <p:nvPr/>
        </p:nvSpPr>
        <p:spPr>
          <a:xfrm>
            <a:off x="9948672" y="5010912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96" name="TextBox 295"/>
          <p:cNvSpPr txBox="1"/>
          <p:nvPr/>
        </p:nvSpPr>
        <p:spPr>
          <a:xfrm>
            <a:off x="10017252" y="5042916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平均收入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10017252" y="5143500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4,153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0017252" y="528980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偏低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382512" y="5454396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00" name="TextBox 299"/>
          <p:cNvSpPr txBox="1"/>
          <p:nvPr/>
        </p:nvSpPr>
        <p:spPr>
          <a:xfrm>
            <a:off x="6451092" y="548640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平均申请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6451092" y="5586984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1,678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6451092" y="5733288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7571232" y="5454396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04" name="TextBox 303"/>
          <p:cNvSpPr txBox="1"/>
          <p:nvPr/>
        </p:nvSpPr>
        <p:spPr>
          <a:xfrm>
            <a:off x="7639812" y="548640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件均额度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7639812" y="5586984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760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7639812" y="5733288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307" name="Rounded Rectangle 306"/>
          <p:cNvSpPr/>
          <p:nvPr/>
        </p:nvSpPr>
        <p:spPr>
          <a:xfrm>
            <a:off x="8759952" y="5454396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08" name="TextBox 307"/>
          <p:cNvSpPr txBox="1"/>
          <p:nvPr/>
        </p:nvSpPr>
        <p:spPr>
          <a:xfrm>
            <a:off x="8828532" y="548640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额度满足率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8828532" y="5586984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45.3%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8828532" y="5733288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311" name="Rounded Rectangle 310"/>
          <p:cNvSpPr/>
          <p:nvPr/>
        </p:nvSpPr>
        <p:spPr>
          <a:xfrm>
            <a:off x="9948672" y="5454396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12" name="TextBox 311"/>
          <p:cNvSpPr txBox="1"/>
          <p:nvPr/>
        </p:nvSpPr>
        <p:spPr>
          <a:xfrm>
            <a:off x="10017252" y="5486400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发薪周期 std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0017252" y="5586984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4.01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0017252" y="5733288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315" name="Rounded Rectangle 314"/>
          <p:cNvSpPr/>
          <p:nvPr/>
        </p:nvSpPr>
        <p:spPr>
          <a:xfrm>
            <a:off x="6382512" y="5897880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16" name="TextBox 315"/>
          <p:cNvSpPr txBox="1"/>
          <p:nvPr/>
        </p:nvSpPr>
        <p:spPr>
          <a:xfrm>
            <a:off x="6451092" y="592988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余额异常天数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6451092" y="6030468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5.22天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6451092" y="6176772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319" name="Rounded Rectangle 318"/>
          <p:cNvSpPr/>
          <p:nvPr/>
        </p:nvSpPr>
        <p:spPr>
          <a:xfrm>
            <a:off x="7571232" y="5897880"/>
            <a:ext cx="1115568" cy="384048"/>
          </a:xfrm>
          <a:prstGeom prst="roundRect">
            <a:avLst>
              <a:gd name="adj" fmla="val 12000"/>
            </a:avLst>
          </a:prstGeom>
          <a:solidFill>
            <a:srgbClr val="FBFCFB"/>
          </a:solidFill>
          <a:ln w="5715">
            <a:solidFill>
              <a:srgbClr val="DF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20" name="TextBox 319"/>
          <p:cNvSpPr txBox="1"/>
          <p:nvPr/>
        </p:nvSpPr>
        <p:spPr>
          <a:xfrm>
            <a:off x="7639812" y="5929884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737E8B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还款额/次数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7639812" y="6030468"/>
            <a:ext cx="978408" cy="1325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1F2D3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4,133/10.8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7639812" y="6176772"/>
            <a:ext cx="978408" cy="9601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09" b="0" i="0" u="none" strike="noStrike" kern="1200" cap="none" spc="0" normalizeH="0" baseline="0" noProof="0">
                <a:ln>
                  <a:noFill/>
                </a:ln>
                <a:solidFill>
                  <a:srgbClr val="2A5B8C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还款偏弱</a:t>
            </a:r>
          </a:p>
        </p:txBody>
      </p:sp>
    </p:spTree>
    <p:extLst>
      <p:ext uri="{BB962C8B-B14F-4D97-AF65-F5344CB8AC3E}">
        <p14:creationId xmlns:p14="http://schemas.microsoft.com/office/powerpoint/2010/main" val="22861038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846</TotalTime>
  <Words>318</Words>
  <Application>Microsoft Office PowerPoint</Application>
  <PresentationFormat>宽屏</PresentationFormat>
  <Paragraphs>175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微软雅黑</vt:lpstr>
      <vt:lpstr>微软雅黑</vt:lpstr>
      <vt:lpstr>等线</vt:lpstr>
      <vt:lpstr>等线 Light</vt:lpstr>
      <vt:lpstr>Arial</vt:lpstr>
      <vt:lpstr>Office 主题​​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昱良</cp:lastModifiedBy>
  <cp:revision>38</cp:revision>
  <dcterms:created xsi:type="dcterms:W3CDTF">2026-08-31T12:17:08Z</dcterms:created>
  <dcterms:modified xsi:type="dcterms:W3CDTF">2026-09-01T06:33:03Z</dcterms:modified>
</cp:coreProperties>
</file>