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6" r:id="rId13"/>
    <p:sldId id="277" r:id="rId14"/>
    <p:sldId id="278" r:id="rId15"/>
    <p:sldId id="274" r:id="rId7"/>
    <p:sldId id="27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型规划" id="{C6715D47-869E-44D0-B78F-B43D1D3129E5}">
          <p14:sldIdLst>
            <p14:sldId id="269"/>
          </p14:sldIdLst>
        </p14:section>
        <p14:section name="价值模型" id="{FCDB1B79-23DC-4AE2-A85A-0A162791C9E3}">
          <p14:sldIdLst>
            <p14:sldId id="270"/>
            <p14:sldId id="271"/>
            <p14:sldId id="272"/>
            <p14:sldId id="273"/>
          </p14:sldIdLst>
        </p14:section>
        <p14:section name="分类模型" id="{8E957497-B430-415D-84AE-94DE7350E81B}">
          <p14:sldIdLst>
            <p14:sldId id="274"/>
            <p14:sldId id="275"/>
          </p14:sldIdLst>
        </p14:section>
        <p14:section name="默认节" id="{FA382578-AE29-457B-AC8F-BA47EF07C7A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41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502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3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30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632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163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49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417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91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65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519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88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486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0A0A0A"/>
                </a:solidFill>
                <a:latin typeface="微软雅黑"/>
                <a:ea typeface="微软雅黑"/>
              </a:rPr>
              <a:t>澳大利亚模型</a:t>
            </a:r>
            <a:r>
              <a:rPr sz="2000" b="1" dirty="0" err="1">
                <a:solidFill>
                  <a:srgbClr val="0A0A0A"/>
                </a:solidFill>
                <a:latin typeface="微软雅黑"/>
                <a:ea typeface="微软雅黑"/>
              </a:rPr>
              <a:t>规划</a:t>
            </a:r>
            <a:endParaRPr sz="20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zh-CN" altLang="en-US" sz="1800" b="0" dirty="0">
                <a:solidFill>
                  <a:srgbClr val="606060"/>
                </a:solidFill>
                <a:latin typeface="微软雅黑"/>
                <a:ea typeface="微软雅黑"/>
              </a:rPr>
              <a:t>规模是澳大利亚主要攻坚方向</a:t>
            </a:r>
            <a:endParaRPr sz="1800" b="0" dirty="0">
              <a:solidFill>
                <a:srgbClr val="60606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064" y="1188720"/>
            <a:ext cx="64008" cy="20116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9565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dirty="0" err="1">
                <a:solidFill>
                  <a:srgbClr val="0A0A0A"/>
                </a:solidFill>
                <a:latin typeface="微软雅黑"/>
                <a:ea typeface="微软雅黑"/>
              </a:rPr>
              <a:t>四项目标:规模</a:t>
            </a:r>
            <a:r>
              <a:rPr sz="1200" b="1" dirty="0">
                <a:solidFill>
                  <a:srgbClr val="0A0A0A"/>
                </a:solidFill>
                <a:latin typeface="微软雅黑"/>
                <a:ea typeface="微软雅黑"/>
              </a:rPr>
              <a:t> · </a:t>
            </a:r>
            <a:r>
              <a:rPr sz="1200" b="1" dirty="0" err="1">
                <a:solidFill>
                  <a:srgbClr val="0A0A0A"/>
                </a:solidFill>
                <a:latin typeface="微软雅黑"/>
                <a:ea typeface="微软雅黑"/>
              </a:rPr>
              <a:t>结构</a:t>
            </a:r>
            <a:r>
              <a:rPr sz="1200" b="1" dirty="0">
                <a:solidFill>
                  <a:srgbClr val="0A0A0A"/>
                </a:solidFill>
                <a:latin typeface="微软雅黑"/>
                <a:ea typeface="微软雅黑"/>
              </a:rPr>
              <a:t> · </a:t>
            </a:r>
            <a:r>
              <a:rPr sz="1200" b="1" dirty="0" err="1">
                <a:solidFill>
                  <a:srgbClr val="0A0A0A"/>
                </a:solidFill>
                <a:latin typeface="微软雅黑"/>
                <a:ea typeface="微软雅黑"/>
              </a:rPr>
              <a:t>质量</a:t>
            </a:r>
            <a:r>
              <a:rPr sz="1200" b="1" dirty="0">
                <a:solidFill>
                  <a:srgbClr val="0A0A0A"/>
                </a:solidFill>
                <a:latin typeface="微软雅黑"/>
                <a:ea typeface="微软雅黑"/>
              </a:rPr>
              <a:t> · </a:t>
            </a:r>
            <a:r>
              <a:rPr sz="1200" b="1" dirty="0" err="1">
                <a:solidFill>
                  <a:srgbClr val="0A0A0A"/>
                </a:solidFill>
                <a:latin typeface="微软雅黑"/>
                <a:ea typeface="微软雅黑"/>
              </a:rPr>
              <a:t>效率</a:t>
            </a:r>
            <a:endParaRPr sz="12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2064" y="1463040"/>
            <a:ext cx="2606040" cy="797355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28016" bIns="73152" rtlCol="0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dirty="0" err="1">
                <a:solidFill>
                  <a:srgbClr val="0A0A0A"/>
                </a:solidFill>
                <a:latin typeface="微软雅黑"/>
                <a:ea typeface="微软雅黑"/>
              </a:rPr>
              <a:t>规模</a:t>
            </a:r>
            <a:endParaRPr sz="1050" b="1" dirty="0">
              <a:solidFill>
                <a:srgbClr val="0A0A0A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dirty="0" err="1">
                <a:solidFill>
                  <a:srgbClr val="1F4E79"/>
                </a:solidFill>
                <a:latin typeface="微软雅黑"/>
                <a:ea typeface="微软雅黑"/>
              </a:rPr>
              <a:t>支撑放款增长</a:t>
            </a:r>
            <a:endParaRPr sz="13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拓展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 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APP、新渠道与复贷</a:t>
            </a:r>
            <a:endParaRPr sz="850" b="0" dirty="0">
              <a:solidFill>
                <a:srgbClr val="3D3C3A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2064" y="1463040"/>
            <a:ext cx="2606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0" y="1463040"/>
            <a:ext cx="2606040" cy="797355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28016" bIns="73152" rtlCol="0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结构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NON SAAC 全年 ≥ 40%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非 SACC 产品占比目标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63040"/>
            <a:ext cx="2606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71616" y="1463040"/>
            <a:ext cx="2606040" cy="797355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28016" bIns="73152" rtlCol="0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质量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风险表现控制在 7.1%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整体风险水平控制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463040"/>
            <a:ext cx="2606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" y="2670048"/>
            <a:ext cx="64008" cy="20116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微软雅黑"/>
                <a:ea typeface="微软雅黑"/>
              </a:rPr>
              <a:t>四大领域:共享同一分层体系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2926080"/>
            <a:ext cx="5367528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128016" bIns="73152" rtlCol="0" anchor="t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0A0A0A"/>
                </a:solidFill>
                <a:latin typeface="微软雅黑"/>
                <a:ea typeface="微软雅黑"/>
              </a:rPr>
              <a:t>数据基建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流水识别与统一底座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BS-CAT 生产化与并行验证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打通 IDP2 全链路:IDA → IDP → BS-CAT → S-CALC → 落库 → 人工复核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商户 / 类别知识库智能体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归因基建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投放归因与回传:渠道/Campaign overlap、Web 追踪、回传质量监控</a:t>
            </a:r>
          </a:p>
          <a:p>
            <a:pPr algn="l">
              <a:lnSpc>
                <a:spcPct val="100000"/>
              </a:lnSpc>
              <a:spcAft>
                <a:spcPts val="6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触达归因与效果监控:短信/邮件/Push/APP 曝光 → 放款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2926080"/>
            <a:ext cx="536752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3072384"/>
            <a:ext cx="54864" cy="18288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25896" y="2926080"/>
            <a:ext cx="5367528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128016" bIns="73152" rtlCol="0" anchor="t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0A0A0A"/>
                </a:solidFill>
                <a:latin typeface="微软雅黑"/>
                <a:ea typeface="微软雅黑"/>
              </a:rPr>
              <a:t>投放市场</a:t>
            </a:r>
          </a:p>
          <a:p>
            <a:pPr algn="l">
              <a:lnSpc>
                <a:spcPct val="100000"/>
              </a:lnSpc>
              <a:spcAft>
                <a:spcPts val="12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人群圈选:风险 × 意愿 × 价值分层输出人群包</a:t>
            </a:r>
          </a:p>
          <a:p>
            <a:pPr algn="l">
              <a:lnSpc>
                <a:spcPct val="100000"/>
              </a:lnSpc>
              <a:spcAft>
                <a:spcPts val="12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Lead Partner 线索评估</a:t>
            </a:r>
          </a:p>
          <a:p>
            <a:pPr algn="l">
              <a:lnSpc>
                <a:spcPct val="100000"/>
              </a:lnSpc>
              <a:spcAft>
                <a:spcPts val="12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边际 CPS 与扩量决策</a:t>
            </a:r>
          </a:p>
          <a:p>
            <a:pPr algn="l">
              <a:lnSpc>
                <a:spcPct val="100000"/>
              </a:lnSpc>
              <a:spcAft>
                <a:spcPts val="12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Campaign 早期质量预测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5896" y="2926080"/>
            <a:ext cx="536752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072384"/>
            <a:ext cx="54864" cy="18288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2064" y="4626864"/>
            <a:ext cx="5367528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128016" bIns="73152" rtlCol="0" anchor="t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dirty="0" err="1">
                <a:solidFill>
                  <a:srgbClr val="0A0A0A"/>
                </a:solidFill>
                <a:latin typeface="微软雅黑"/>
                <a:ea typeface="微软雅黑"/>
              </a:rPr>
              <a:t>用户运营</a:t>
            </a:r>
            <a:endParaRPr sz="1200" b="1" dirty="0">
              <a:solidFill>
                <a:srgbClr val="0A0A0A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dirty="0" err="1">
                <a:solidFill>
                  <a:srgbClr val="1F4E79"/>
                </a:solidFill>
                <a:latin typeface="微软雅黑"/>
                <a:ea typeface="微软雅黑"/>
              </a:rPr>
              <a:t>客户价值与定价</a:t>
            </a:r>
            <a:endParaRPr sz="9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盈利性评估</a:t>
            </a:r>
            <a:endParaRPr sz="850" b="0" dirty="0">
              <a:solidFill>
                <a:srgbClr val="3D3C3A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自动寻优定价</a:t>
            </a:r>
            <a:endParaRPr sz="850" b="0" dirty="0">
              <a:solidFill>
                <a:srgbClr val="3D3C3A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Fundo Score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dirty="0" err="1">
                <a:solidFill>
                  <a:srgbClr val="1F4E79"/>
                </a:solidFill>
                <a:latin typeface="微软雅黑"/>
                <a:ea typeface="微软雅黑"/>
              </a:rPr>
              <a:t>触达与智能经营</a:t>
            </a:r>
            <a:endParaRPr sz="9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dirty="0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 dirty="0" err="1">
                <a:solidFill>
                  <a:srgbClr val="1F4E79"/>
                </a:solidFill>
                <a:latin typeface="微软雅黑"/>
                <a:ea typeface="微软雅黑"/>
              </a:rPr>
              <a:t>触达策略与人群编排</a:t>
            </a:r>
            <a:endParaRPr sz="8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运营监控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 AI 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智能体</a:t>
            </a:r>
            <a:endParaRPr sz="850" b="0" dirty="0">
              <a:solidFill>
                <a:srgbClr val="3D3C3A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dirty="0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 dirty="0" err="1">
                <a:solidFill>
                  <a:srgbClr val="1F4E79"/>
                </a:solidFill>
                <a:latin typeface="微软雅黑"/>
                <a:ea typeface="微软雅黑"/>
              </a:rPr>
              <a:t>结清客户复贷召回</a:t>
            </a:r>
            <a:endParaRPr sz="8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沉睡客户识别唤醒</a:t>
            </a:r>
            <a:endParaRPr sz="850" b="0" dirty="0">
              <a:solidFill>
                <a:srgbClr val="3D3C3A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竞品经营洞察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 AI 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智能体</a:t>
            </a:r>
            <a:endParaRPr sz="850" b="0" dirty="0">
              <a:solidFill>
                <a:srgbClr val="3D3C3A"/>
              </a:solidFill>
              <a:latin typeface="微软雅黑"/>
              <a:ea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12064" y="4626864"/>
            <a:ext cx="536752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4773168"/>
            <a:ext cx="54864" cy="18288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25896" y="4626864"/>
            <a:ext cx="5367528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128016" bIns="73152" rtlCol="0" anchor="t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0A0A0A"/>
                </a:solidFill>
                <a:latin typeface="微软雅黑"/>
                <a:ea typeface="微软雅黑"/>
              </a:rPr>
              <a:t>风险管理</a:t>
            </a:r>
          </a:p>
          <a:p>
            <a:pPr algn="l">
              <a:lnSpc>
                <a:spcPct val="100000"/>
              </a:lnSpc>
              <a:spcAft>
                <a:spcPts val="12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新老客 PD 模型迭代:增强头尾区分,平衡通过率与风险</a:t>
            </a:r>
          </a:p>
          <a:p>
            <a:pPr algn="l">
              <a:lnSpc>
                <a:spcPct val="100000"/>
              </a:lnSpc>
              <a:spcAft>
                <a:spcPts val="12"/>
              </a:spcAft>
            </a:pPr>
            <a:r>
              <a:rPr sz="850" b="1">
                <a:solidFill>
                  <a:srgbClr val="D6A000"/>
                </a:solidFill>
                <a:latin typeface="微软雅黑"/>
                <a:ea typeface="微软雅黑"/>
              </a:rPr>
              <a:t>★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风险 × 价值联合额度策略:交叉分箱自动寻优,输出最优额度与承接标签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25896" y="4626864"/>
            <a:ext cx="536752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4773168"/>
            <a:ext cx="54864" cy="18288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6042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0A0A0A"/>
                </a:solidFill>
                <a:latin typeface="微软雅黑"/>
                <a:ea typeface="微软雅黑"/>
              </a:rPr>
              <a:t>价值模型：</a:t>
            </a:r>
            <a:r>
              <a:rPr sz="2000" b="1" dirty="0" err="1">
                <a:solidFill>
                  <a:srgbClr val="0A0A0A"/>
                </a:solidFill>
                <a:latin typeface="微软雅黑"/>
                <a:ea typeface="微软雅黑"/>
              </a:rPr>
              <a:t>模型识别的是客户价值，不是历史额度策略</a:t>
            </a:r>
            <a:endParaRPr sz="20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控制额度后，模型仍能稳定区分客户表现——价值信号存在于额度之外。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1188720"/>
            <a:ext cx="4425696" cy="2240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直接回答</a:t>
            </a:r>
            <a:endParaRPr sz="1000" b="1" dirty="0">
              <a:solidFill>
                <a:srgbClr val="0A0A0A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额度在先、利息收入在后；但同等额度能否转化为收入，取决于客户的收入、现金流与履约能力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——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模型识别的是客户本身的价值潜力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为什么必须检验</a:t>
            </a:r>
            <a:endParaRPr sz="1000" b="1" dirty="0">
              <a:solidFill>
                <a:srgbClr val="0A0A0A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利息收入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≈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在贷余额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×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利率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×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用款时长，与额度机械关联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；「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高额度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=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高价值」的质疑仅凭论证无法排除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决定性检验</a:t>
            </a:r>
            <a:r>
              <a:rPr sz="1000" b="1" dirty="0">
                <a:solidFill>
                  <a:srgbClr val="0A0A0A"/>
                </a:solidFill>
                <a:latin typeface="微软雅黑"/>
                <a:ea typeface="微软雅黑"/>
              </a:rPr>
              <a:t>——</a:t>
            </a: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同额度分层</a:t>
            </a:r>
            <a:endParaRPr sz="1000" b="1" dirty="0">
              <a:solidFill>
                <a:srgbClr val="0A0A0A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收入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6 个申请金额区间全部单调（5000+ 档：</a:t>
            </a:r>
            <a:r>
              <a:rPr sz="900" b="1" dirty="0">
                <a:solidFill>
                  <a:srgbClr val="1F4E79"/>
                </a:solidFill>
                <a:latin typeface="微软雅黑"/>
                <a:ea typeface="微软雅黑"/>
              </a:rPr>
              <a:t>10,388 vs 3,891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）；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逾期率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4 个总额度区间首尾方向全部随价值变差上升（</a:t>
            </a:r>
            <a:r>
              <a:rPr sz="900" b="1" dirty="0">
                <a:solidFill>
                  <a:srgbClr val="1F4E79"/>
                </a:solidFill>
                <a:latin typeface="微软雅黑"/>
                <a:ea typeface="微软雅黑"/>
              </a:rPr>
              <a:t>4.37% vs 20.59%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）；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盈余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1,334→84、支出 7,902→3,566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同样单调</a:t>
            </a:r>
            <a:endParaRPr sz="900" b="0" dirty="0">
              <a:solidFill>
                <a:srgbClr val="3D3C3A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74920" y="1188720"/>
            <a:ext cx="9144" cy="402336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42432" y="1188720"/>
            <a:ext cx="58704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表2：各总额度区间 × 价值分箱的 3M30 逾期率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42432" y="1444752"/>
          <a:ext cx="5870448" cy="13167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总额度区间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有效样本数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500–1000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4.37%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8.04%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7.47%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12.22%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20.59%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5,769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1000–1500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5.73%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8.35%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10.94%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20.14%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28.04%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3,748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1500–2000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7.80%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10.76%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13.55%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16.84%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37.88%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1,254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2000–2500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8.84%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12.08%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17.17%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24.71%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28.12%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2,181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7.05%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9.46%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10.61%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15.91%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22.90%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12,988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42432" y="2834640"/>
            <a:ext cx="58704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6060"/>
                </a:solidFill>
                <a:latin typeface="微软雅黑"/>
                <a:ea typeface="微软雅黑"/>
              </a:rPr>
              <a:t>注：500–1000 段价值2/3 有轻微倒挂（8.04% vs 7.47%），上屏引用「首尾方向全部正确」，不写「全部严格单调」。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432" y="352724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dirty="0">
                <a:solidFill>
                  <a:srgbClr val="0A0A0A"/>
                </a:solidFill>
                <a:latin typeface="微软雅黑"/>
                <a:ea typeface="微软雅黑"/>
              </a:rPr>
              <a:t>表1：各申请金额区间 × </a:t>
            </a:r>
            <a:r>
              <a:rPr sz="1050" b="1" dirty="0" err="1">
                <a:solidFill>
                  <a:srgbClr val="0A0A0A"/>
                </a:solidFill>
                <a:latin typeface="微软雅黑"/>
                <a:ea typeface="微软雅黑"/>
              </a:rPr>
              <a:t>价值分箱的平均收入</a:t>
            </a:r>
            <a:endParaRPr sz="105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351611"/>
              </p:ext>
            </p:extLst>
          </p:nvPr>
        </p:nvGraphicFramePr>
        <p:xfrm>
          <a:off x="5742432" y="3785615"/>
          <a:ext cx="5669278" cy="1828800"/>
        </p:xfrm>
        <a:graphic>
          <a:graphicData uri="http://schemas.openxmlformats.org/drawingml/2006/table">
            <a:tbl>
              <a:tblPr/>
              <a:tblGrid>
                <a:gridCol w="72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申请金额区间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500–1000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9,559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6,926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6,081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5,518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3,857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1000–1500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8,596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6,850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6,322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5,446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3,982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1500–2000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8,829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7,103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6,186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5,535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3,928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2000–2500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9,891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7,258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6,465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5,826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4,028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2500–5000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9,288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7,454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6,374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5,467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3,965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5000+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10,388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7,849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6,768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6,322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3,891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9,611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7,284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6,366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5,682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3,924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额度决定价值释放的上限，价值决定额度投向哪里；「额度贡献了多少价值」属因果问题，历史数据无法拆分，留待增量额度试点实验回答（方案另行汇报）。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3529584"/>
            <a:ext cx="442569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表3：各申请金额区间 × 价值分箱的平均可支配盈余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12064" y="3785615"/>
          <a:ext cx="4425695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申请金额区间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500–1000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1,106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763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793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287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1000–1500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940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685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731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603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1500–2000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1,096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798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729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608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144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2000–2500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1,708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737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828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−154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2500–5000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1,196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583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681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569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124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5000+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1,488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931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989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1,010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−353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1,334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745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598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761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12064" y="5687568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6060"/>
                </a:solidFill>
                <a:latin typeface="微软雅黑"/>
                <a:ea typeface="微软雅黑"/>
              </a:rPr>
              <a:t>注：盈余＝收入−支出（可支配余量）；按「价值1最高、价值5最低」首尾判读，中间档并非严格单调；价值5在2000–2500与5000+两段转负（入不敷出）。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微软雅黑"/>
                <a:ea typeface="微软雅黑"/>
              </a:rPr>
              <a:t>效果：跨时间稳定，分箱单调，交叉分化清晰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风险与价值两个维度各自排序成立，交叉后两端分化近 5 倍——联合分层具备数据基础。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2064" y="1207008"/>
            <a:ext cx="2633472" cy="89611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bIns="54864" rtlCol="0" anchor="t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AUC（OOT）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0.7294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INS 0.7015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207008"/>
            <a:ext cx="26334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55264" y="1207008"/>
            <a:ext cx="2633472" cy="89611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bIns="54864" rtlCol="0" anchor="t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KS（OOT）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0.3467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INS 0.2939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55264" y="1207008"/>
            <a:ext cx="26334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98464" y="1207008"/>
            <a:ext cx="2633472" cy="89611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bIns="54864" rtlCol="0" anchor="t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Top10% 弱价值率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63.00%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Lift 2.45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98464" y="1207008"/>
            <a:ext cx="26334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41664" y="1207008"/>
            <a:ext cx="2633472" cy="89611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bIns="54864" rtlCol="0" anchor="t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Bottom10%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7.30%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高分 vs 低分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41664" y="1207008"/>
            <a:ext cx="26334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" y="2267712"/>
            <a:ext cx="10899648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模型概况：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新客价值模型 1.0，LightGBM 二分类，17 个银行流水特征，建模样本 56,330（成交客户，2024-04 起）；目标=「3 个月利息收入低于 160」的弱价值标记（占比 27.12%）；原始分越高=弱价值概率越高，对外价值 1（最好）→ 5（最弱）。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分箱单调：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申请样本 151,579，价值 1→5：收入 9,611→3,924、通过率 41.04%→6.57%、3M30 逾期率 7.05%→22.90%，逐档单调、无倒挂。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风险模型对照：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风险 1→5，3M30 逾期率 5.92%→22.02%、通过率 32.91%→7.49%，排序清晰、无倒挂——两个维度各自成立，联合分层成立。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交叉结果与使用边界：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申请样本 157,741，最好格「风险1×价值1」5.74%、最差格「风险5×价值5」27.05%；样本集中于最差格（46,235，29.3%），价值5档占 46.45%。预测性模型回答「当前策略下谁更可能贡献价值」，OOT 弱价值概率低估约 2.15pp，适合排序分层，概率阈值/定价需先校准。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767328"/>
            <a:ext cx="108996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表4：风险 × 价值 3M30 人数逾期率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12064" y="4023360"/>
          <a:ext cx="10899644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 \ 风险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5.74%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5.99%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10.57%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10.55%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10.42%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7.05%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5.46%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8.38%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9.69%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13.80%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14.34%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9.46%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6.35%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8.38%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10.78%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11.76%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14.61%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10.61%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8.04%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8.15%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14.88%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16.80%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20.27%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15.91%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11.54%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10.83%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13.31%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19.28%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27.05%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22.90%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5.92%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7.79%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11.70%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15.16%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22.02%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13.19%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12064" y="5413248"/>
            <a:ext cx="1089964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6060"/>
                </a:solidFill>
                <a:latin typeface="微软雅黑"/>
                <a:ea typeface="微软雅黑"/>
              </a:rPr>
              <a:t>注：价值1×风险5（96 个观察）、价值5×风险1（26 个观察）样本不足 100，上屏时在热力矩阵中淡化处理，不单独引用。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模型适用于排序分层；OOT 弱价值概率存在约 2.15 个百分点的低估（实际 25.75% vs 预测 23.60%），用于概率阈值或定价前需先完成校准。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2064" y="256032"/>
            <a:ext cx="73152" cy="219456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四类客群矩阵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" y="658368"/>
            <a:ext cx="5394960" cy="2962656"/>
          </a:xfrm>
          <a:prstGeom prst="roundRect">
            <a:avLst>
              <a:gd name="adj" fmla="val 3500"/>
            </a:avLst>
          </a:prstGeom>
          <a:solidFill>
            <a:srgbClr val="EEF6F0"/>
          </a:solidFill>
          <a:ln w="19050">
            <a:solidFill>
              <a:srgbClr val="3E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" y="786384"/>
            <a:ext cx="1428749" cy="237744"/>
          </a:xfrm>
          <a:prstGeom prst="roundRect">
            <a:avLst>
              <a:gd name="adj" fmla="val 50000"/>
            </a:avLst>
          </a:prstGeom>
          <a:solidFill>
            <a:srgbClr val="EEF6F0"/>
          </a:solidFill>
          <a:ln w="12700">
            <a:solidFill>
              <a:srgbClr val="3E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E7A55"/>
                </a:solidFill>
                <a:latin typeface="微软雅黑"/>
                <a:ea typeface="微软雅黑"/>
              </a:rPr>
              <a:t>风险 1-2 × 价值 1-2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6846" y="786384"/>
            <a:ext cx="1181862" cy="237744"/>
          </a:xfrm>
          <a:prstGeom prst="roundRect">
            <a:avLst>
              <a:gd name="adj" fmla="val 50000"/>
            </a:avLst>
          </a:prstGeom>
          <a:solidFill>
            <a:srgbClr val="3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价值好 × 风险好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078992"/>
            <a:ext cx="508406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6656" y="1078992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3E7A55"/>
                </a:solidFill>
                <a:latin typeface="微软雅黑"/>
                <a:ea typeface="微软雅黑"/>
              </a:rPr>
              <a:t>优先经营客群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408176"/>
            <a:ext cx="5084064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E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7"/>
            <a:ext cx="486460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06060"/>
                </a:solidFill>
                <a:latin typeface="微软雅黑"/>
                <a:ea typeface="微软雅黑"/>
              </a:rPr>
              <a:t>对应产品  </a:t>
            </a:r>
            <a:r>
              <a:rPr sz="950" b="1">
                <a:solidFill>
                  <a:srgbClr val="3E7A55"/>
                </a:solidFill>
                <a:latin typeface="微软雅黑"/>
                <a:ea typeface="微软雅黑"/>
              </a:rPr>
              <a:t>3000-5000 优质 MACC / LACC 候选池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792224"/>
            <a:ext cx="5084064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风险低、价值好，适合作为重点经营客群。当前优先承接 3000-5000 优质 MACC，后续可从中筛选更优质、更稳定人群，作为 LACC / 循环贷的扩展候选。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2542032"/>
            <a:ext cx="16581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73152" bIns="18288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样本数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E7A55"/>
                </a:solidFill>
                <a:latin typeface="微软雅黑"/>
                <a:ea typeface="微软雅黑"/>
              </a:rPr>
              <a:t>18,934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2542032"/>
            <a:ext cx="1658112" cy="41148"/>
          </a:xfrm>
          <a:prstGeom prst="rect">
            <a:avLst/>
          </a:prstGeom>
          <a:solidFill>
            <a:srgbClr val="3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89632" y="2542032"/>
            <a:ext cx="16581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73152" bIns="18288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样本占比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E7A55"/>
                </a:solidFill>
                <a:latin typeface="微软雅黑"/>
                <a:ea typeface="微软雅黑"/>
              </a:rPr>
              <a:t>12.00%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89632" y="2542032"/>
            <a:ext cx="1658112" cy="41148"/>
          </a:xfrm>
          <a:prstGeom prst="rect">
            <a:avLst/>
          </a:prstGeom>
          <a:solidFill>
            <a:srgbClr val="3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02607" y="2542032"/>
            <a:ext cx="16581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73152" bIns="18288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3M30人数逾期率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E7A55"/>
                </a:solidFill>
                <a:latin typeface="微软雅黑"/>
                <a:ea typeface="微软雅黑"/>
              </a:rPr>
              <a:t>6.30%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02607" y="2542032"/>
            <a:ext cx="1658112" cy="41148"/>
          </a:xfrm>
          <a:prstGeom prst="rect">
            <a:avLst/>
          </a:prstGeom>
          <a:solidFill>
            <a:srgbClr val="3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" y="2962656"/>
            <a:ext cx="508406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73152" bIns="18288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3M30金额逾期率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E7A55"/>
                </a:solidFill>
                <a:latin typeface="微软雅黑"/>
                <a:ea typeface="微软雅黑"/>
              </a:rPr>
              <a:t>3.00%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" y="2962656"/>
            <a:ext cx="5084064" cy="41148"/>
          </a:xfrm>
          <a:prstGeom prst="rect">
            <a:avLst/>
          </a:prstGeom>
          <a:solidFill>
            <a:srgbClr val="3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83280"/>
            <a:ext cx="644144" cy="219456"/>
          </a:xfrm>
          <a:prstGeom prst="roundRect">
            <a:avLst>
              <a:gd name="adj" fmla="val 50000"/>
            </a:avLst>
          </a:prstGeom>
          <a:solidFill>
            <a:srgbClr val="3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优先经营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93951" y="3383280"/>
            <a:ext cx="705104" cy="219456"/>
          </a:xfrm>
          <a:prstGeom prst="roundRect">
            <a:avLst>
              <a:gd name="adj" fmla="val 50000"/>
            </a:avLst>
          </a:prstGeom>
          <a:solidFill>
            <a:srgbClr val="3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优质 MACC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72207" y="3383280"/>
            <a:ext cx="705104" cy="219456"/>
          </a:xfrm>
          <a:prstGeom prst="roundRect">
            <a:avLst>
              <a:gd name="adj" fmla="val 50000"/>
            </a:avLst>
          </a:prstGeom>
          <a:solidFill>
            <a:srgbClr val="3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LACC 候选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50463" y="3383280"/>
            <a:ext cx="745744" cy="219456"/>
          </a:xfrm>
          <a:prstGeom prst="roundRect">
            <a:avLst>
              <a:gd name="adj" fmla="val 50000"/>
            </a:avLst>
          </a:prstGeom>
          <a:solidFill>
            <a:srgbClr val="3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循环贷候选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9904" y="658368"/>
            <a:ext cx="5394960" cy="2962656"/>
          </a:xfrm>
          <a:prstGeom prst="roundRect">
            <a:avLst>
              <a:gd name="adj" fmla="val 3500"/>
            </a:avLst>
          </a:prstGeom>
          <a:solidFill>
            <a:srgbClr val="FBF4E2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54496" y="786384"/>
            <a:ext cx="1428749" cy="237744"/>
          </a:xfrm>
          <a:prstGeom prst="roundRect">
            <a:avLst>
              <a:gd name="adj" fmla="val 50000"/>
            </a:avLst>
          </a:prstGeom>
          <a:solidFill>
            <a:srgbClr val="FBF4E2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8860B"/>
                </a:solidFill>
                <a:latin typeface="微软雅黑"/>
                <a:ea typeface="微软雅黑"/>
              </a:rPr>
              <a:t>风险 4-5 × 价值 1-2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4686" y="786384"/>
            <a:ext cx="1181862" cy="23774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价值好 × 风险差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1078992"/>
            <a:ext cx="508406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54496" y="1078992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B8860B"/>
                </a:solidFill>
                <a:latin typeface="微软雅黑"/>
                <a:ea typeface="微软雅黑"/>
              </a:rPr>
              <a:t>谨慎经营客群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1408176"/>
            <a:ext cx="5084064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435607"/>
            <a:ext cx="486460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06060"/>
                </a:solidFill>
                <a:latin typeface="微软雅黑"/>
                <a:ea typeface="微软雅黑"/>
              </a:rPr>
              <a:t>对应产品  </a:t>
            </a:r>
            <a:r>
              <a:rPr sz="950" b="1">
                <a:solidFill>
                  <a:srgbClr val="B8860B"/>
                </a:solidFill>
                <a:latin typeface="微软雅黑"/>
                <a:ea typeface="微软雅黑"/>
              </a:rPr>
              <a:t>EWA / 超短期产品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1792224"/>
            <a:ext cx="5084064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客户具备一定经营价值，但风险压力已经抬升。不适合直接放款大额度或期限，更适合通过短期、小额、即时周转产品承接需求，并控制风险暴露。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2542032"/>
            <a:ext cx="2514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73152" bIns="18288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定位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8860B"/>
                </a:solidFill>
                <a:latin typeface="微软雅黑"/>
                <a:ea typeface="微软雅黑"/>
              </a:rPr>
              <a:t>有价值但风险高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54496" y="2542032"/>
            <a:ext cx="2514600" cy="411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23960" y="2542032"/>
            <a:ext cx="2514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73152" bIns="18288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3M30人数逾期率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8860B"/>
                </a:solidFill>
                <a:latin typeface="微软雅黑"/>
                <a:ea typeface="微软雅黑"/>
              </a:rPr>
              <a:t>12.90%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2542032"/>
            <a:ext cx="2514600" cy="411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54496" y="3383280"/>
            <a:ext cx="644144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短期承接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71792" y="3383280"/>
            <a:ext cx="644144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小额控制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9088" y="3383280"/>
            <a:ext cx="644144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即时周转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06384" y="3383280"/>
            <a:ext cx="847344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风险暴露控制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" y="3730752"/>
            <a:ext cx="5394960" cy="2962656"/>
          </a:xfrm>
          <a:prstGeom prst="roundRect">
            <a:avLst>
              <a:gd name="adj" fmla="val 3500"/>
            </a:avLst>
          </a:prstGeom>
          <a:solidFill>
            <a:srgbClr val="EFF4FA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76656" y="3858768"/>
            <a:ext cx="1428749" cy="237744"/>
          </a:xfrm>
          <a:prstGeom prst="roundRect">
            <a:avLst>
              <a:gd name="adj" fmla="val 50000"/>
            </a:avLst>
          </a:prstGeom>
          <a:solidFill>
            <a:srgbClr val="EFF4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风险 1-2 × 价值 4-5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96846" y="3858768"/>
            <a:ext cx="1181862" cy="23774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价值差 × 风险好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" y="4151376"/>
            <a:ext cx="508406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76656" y="4151376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收益验证客群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6656" y="4480560"/>
            <a:ext cx="5084064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" y="4507992"/>
            <a:ext cx="486460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06060"/>
                </a:solidFill>
                <a:latin typeface="微软雅黑"/>
                <a:ea typeface="微软雅黑"/>
              </a:rPr>
              <a:t>对应产品  </a:t>
            </a: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低额度 Personal Loan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4864608"/>
            <a:ext cx="5084064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风险相对可控，但收入、额度承接和转化能力偏弱。不适合作为强经营客群，可通过低额度 Personal Loan 验证稳定需求、复贷表现和真实贡献。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" y="5614416"/>
            <a:ext cx="2514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73152" bIns="18288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定位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低风险但价值弱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" y="5614416"/>
            <a:ext cx="2514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46120" y="5614416"/>
            <a:ext cx="25146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73152" bIns="18288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观察重点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稳定需求 / 复贷 / 真实贡献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46120" y="5614416"/>
            <a:ext cx="2514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76656" y="6455664"/>
            <a:ext cx="745744" cy="21945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低额度验证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95552" y="6455664"/>
            <a:ext cx="644144" cy="21945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收益观察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212848" y="6455664"/>
            <a:ext cx="644144" cy="21945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复贷跟踪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30144" y="6455664"/>
            <a:ext cx="644144" cy="21945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贡献评估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89904" y="3730752"/>
            <a:ext cx="5394960" cy="2962656"/>
          </a:xfrm>
          <a:prstGeom prst="roundRect">
            <a:avLst>
              <a:gd name="adj" fmla="val 3500"/>
            </a:avLst>
          </a:prstGeom>
          <a:solidFill>
            <a:srgbClr val="F9ECE9"/>
          </a:solidFill>
          <a:ln w="19050">
            <a:solidFill>
              <a:srgbClr val="A944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54496" y="3858768"/>
            <a:ext cx="1428749" cy="237744"/>
          </a:xfrm>
          <a:prstGeom prst="roundRect">
            <a:avLst>
              <a:gd name="adj" fmla="val 50000"/>
            </a:avLst>
          </a:prstGeom>
          <a:solidFill>
            <a:srgbClr val="F9ECE9"/>
          </a:solidFill>
          <a:ln w="12700">
            <a:solidFill>
              <a:srgbClr val="A944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94434"/>
                </a:solidFill>
                <a:latin typeface="微软雅黑"/>
                <a:ea typeface="微软雅黑"/>
              </a:rPr>
              <a:t>风险 4-5 × 价值 4-5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4686" y="3858768"/>
            <a:ext cx="1181862" cy="237744"/>
          </a:xfrm>
          <a:prstGeom prst="roundRect">
            <a:avLst>
              <a:gd name="adj" fmla="val 50000"/>
            </a:avLst>
          </a:prstGeom>
          <a:solidFill>
            <a:srgbClr val="A9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价值差 × 风险差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54496" y="4151376"/>
            <a:ext cx="5084064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254496" y="4151376"/>
            <a:ext cx="5084064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A94434"/>
                </a:solidFill>
                <a:latin typeface="微软雅黑"/>
                <a:ea typeface="微软雅黑"/>
              </a:rPr>
              <a:t>优先风险控制客群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54496" y="4480560"/>
            <a:ext cx="5084064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44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64224" y="4507992"/>
            <a:ext cx="486460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06060"/>
                </a:solidFill>
                <a:latin typeface="微软雅黑"/>
                <a:ea typeface="微软雅黑"/>
              </a:rPr>
              <a:t>对应产品  </a:t>
            </a:r>
            <a:r>
              <a:rPr sz="950" b="1">
                <a:solidFill>
                  <a:srgbClr val="A94434"/>
                </a:solidFill>
                <a:latin typeface="微软雅黑"/>
                <a:ea typeface="微软雅黑"/>
              </a:rPr>
              <a:t>原则上不重点承接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6" y="4864608"/>
            <a:ext cx="5084064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同时处在高风险、弱价值位置，风险暴露明显。该客群不建议绑定扩展型产品，重点应放在限额、提价、人工审核和谨慎准入。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54496" y="5614416"/>
            <a:ext cx="16581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73152" bIns="18288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样本数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94434"/>
                </a:solidFill>
                <a:latin typeface="微软雅黑"/>
                <a:ea typeface="微软雅黑"/>
              </a:rPr>
              <a:t>77,057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54496" y="5614416"/>
            <a:ext cx="1658112" cy="41148"/>
          </a:xfrm>
          <a:prstGeom prst="rect">
            <a:avLst/>
          </a:prstGeom>
          <a:solidFill>
            <a:srgbClr val="A9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67472" y="5614416"/>
            <a:ext cx="16581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73152" bIns="18288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样本占比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94434"/>
                </a:solidFill>
                <a:latin typeface="微软雅黑"/>
                <a:ea typeface="微软雅黑"/>
              </a:rPr>
              <a:t>48.85%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67472" y="5614416"/>
            <a:ext cx="1658112" cy="41148"/>
          </a:xfrm>
          <a:prstGeom prst="rect">
            <a:avLst/>
          </a:prstGeom>
          <a:solidFill>
            <a:srgbClr val="A9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680448" y="5614416"/>
            <a:ext cx="165811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73152" bIns="18288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3M30人数逾期率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94434"/>
                </a:solidFill>
                <a:latin typeface="微软雅黑"/>
                <a:ea typeface="微软雅黑"/>
              </a:rPr>
              <a:t>22.25%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80448" y="5614416"/>
            <a:ext cx="1658112" cy="41148"/>
          </a:xfrm>
          <a:prstGeom prst="rect">
            <a:avLst/>
          </a:prstGeom>
          <a:solidFill>
            <a:srgbClr val="A9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54496" y="6035040"/>
            <a:ext cx="5084064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73152" bIns="18288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3M30金额逾期率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94434"/>
                </a:solidFill>
                <a:latin typeface="微软雅黑"/>
                <a:ea typeface="微软雅黑"/>
              </a:rPr>
              <a:t>15.38%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54496" y="6035040"/>
            <a:ext cx="5084064" cy="41148"/>
          </a:xfrm>
          <a:prstGeom prst="rect">
            <a:avLst/>
          </a:prstGeom>
          <a:solidFill>
            <a:srgbClr val="A9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254496" y="6455664"/>
            <a:ext cx="440944" cy="219456"/>
          </a:xfrm>
          <a:prstGeom prst="roundRect">
            <a:avLst>
              <a:gd name="adj" fmla="val 50000"/>
            </a:avLst>
          </a:prstGeom>
          <a:solidFill>
            <a:srgbClr val="A9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限额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768592" y="6455664"/>
            <a:ext cx="440944" cy="219456"/>
          </a:xfrm>
          <a:prstGeom prst="roundRect">
            <a:avLst>
              <a:gd name="adj" fmla="val 50000"/>
            </a:avLst>
          </a:prstGeom>
          <a:solidFill>
            <a:srgbClr val="A9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提价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82688" y="6455664"/>
            <a:ext cx="644144" cy="219456"/>
          </a:xfrm>
          <a:prstGeom prst="roundRect">
            <a:avLst>
              <a:gd name="adj" fmla="val 50000"/>
            </a:avLst>
          </a:prstGeom>
          <a:solidFill>
            <a:srgbClr val="A9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人工审核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99984" y="6455664"/>
            <a:ext cx="644144" cy="219456"/>
          </a:xfrm>
          <a:prstGeom prst="roundRect">
            <a:avLst>
              <a:gd name="adj" fmla="val 50000"/>
            </a:avLst>
          </a:prstGeom>
          <a:solidFill>
            <a:srgbClr val="A94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谨慎准入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微软雅黑"/>
                <a:ea typeface="微软雅黑"/>
              </a:rPr>
              <a:t>价值画像由收入体量、工资连续性与职业可识别性共同决定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价值差更像「职业现金流弱」，并非负债更重或多头更多。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1188720"/>
            <a:ext cx="8275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高收入体量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4188" y="1188720"/>
            <a:ext cx="8275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工资更连续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6312" y="1188720"/>
            <a:ext cx="8275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主业更清晰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8436" y="1188720"/>
            <a:ext cx="10561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福利收入依赖低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91056"/>
            <a:ext cx="10899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表5：画像对比（价值 1/2 档 vs 4/5 档）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12064" y="1865376"/>
          <a:ext cx="10899648" cy="237744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1700784"/>
                <a:gridCol w="1700784"/>
                <a:gridCol w="5669280"/>
              </a:tblGrid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画像维度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价值好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价值差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画像解读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41,139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11,130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价值好约为 3.7 倍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总收入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140,807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59,771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整体资金体量更高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工资入账次数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20.5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10.6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工资现金流更连续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主行业入账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40,916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16,067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职业主收入更强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Centrelink 收入占比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2.1%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14.6%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价值差更依赖福利收入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发薪周期标准差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2.72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3.79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价值差发薪更不稳定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行业识别缺失率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3.5%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30.7%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价值差职业信息更弱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可支配盈余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1,334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84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价值差可支配空间有限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2064" y="4389120"/>
            <a:ext cx="10899648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结构补充：价值好人群 couple 占比更高（43.8% vs 29.1%），Lead Partner / Owned Channels 占比也更高；该差异仅作结构描述，不解释为因果。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28016" tIns="18288" bIns="18288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信贷还款金额与次数在价值差人群中反而更低（5,963 / 13.5 vs 20,439 / 29.4），当前数据不支持「价值差 = 高负债 / 多头更多」。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微软雅黑"/>
                <a:ea typeface="微软雅黑"/>
              </a:rPr>
              <a:t>高价值但高风险：收入更高，但资金波动与风险消费同步放大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这类客户的价值来自收入端，风险则来自高支出、高波动和账户异常。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高收入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75588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高支出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9112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高赌博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2636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高波动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91056"/>
            <a:ext cx="10899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表6：画像对比（价值好且风险好 vs 价值好但风险差）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12064" y="1865376"/>
          <a:ext cx="10899648" cy="2359152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1700784"/>
                <a:gridCol w="1700784"/>
                <a:gridCol w="5669280"/>
              </a:tblGrid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画像维度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价值好且风险好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价值好但风险差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风险信号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34,024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50,253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收入能力并不弱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总收入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96,943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191,383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资金体量约 2 倍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总支出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92,348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193,711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收支几乎打平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赌博支出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2,398 / 2.5%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7,416 / 5.2%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金额与占比同时升高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余额波动标准差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4,947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8,442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账户波动显著放大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余额异常天数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3.82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5.13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账户异常更多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收入波动 CV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1.83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2.10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收入稳定性更弱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2064" y="4389120"/>
            <a:ext cx="10899648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注：赌博支出为金额 / 占比。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28016" tIns="18288" bIns="18288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不宜因价值高直接扩额；优先用小额、短期产品承接，并持续观察赌博支出、余额异常和收入波动。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微软雅黑"/>
                <a:ea typeface="微软雅黑"/>
              </a:rPr>
              <a:t>低价值但低风险：收入偏弱，但支出克制、账户稳定、还款更活跃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这类客户不是高收入客群，而是行为更保守、风险相对可控的低收入客群。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低收入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75588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低支出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9112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低赌博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2636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低波动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188720"/>
            <a:ext cx="8275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有还款活动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591056"/>
            <a:ext cx="10899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表7：画像对比（价值差但风险好 vs 价值差且风险差）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2064" y="1865376"/>
          <a:ext cx="10899648" cy="237744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1700784"/>
                <a:gridCol w="1700784"/>
                <a:gridCol w="5669280"/>
              </a:tblGrid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画像维度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价值差但风险好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价值差且风险差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风险信号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8,750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13,314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低风险并非来自高收入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Centrelink 收入占比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22.1%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5.9%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收入结构偏福利类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总支出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43,062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75,496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支出更克制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赌博支出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531.7 / 1.3%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2,067 / 3.7%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风险消费更低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余额波动标准差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478.1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1,181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账户波动更小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余额异常天数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3.45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5.22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账户异常更少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信贷还款金额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7,582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4,133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还款活动更活跃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贷款还款次数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15.9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10.8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还款活动相对更多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12064" y="4389120"/>
            <a:ext cx="10899648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6060"/>
                </a:solidFill>
                <a:latin typeface="微软雅黑"/>
                <a:ea typeface="微软雅黑"/>
              </a:rPr>
              <a:t>注：赌博支出为金额 / 占比。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28016" tIns="18288" bIns="18288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不宜因价值弱一刀切拒绝；可用低额度 Personal Loan 验证其额度使用、复贷与真实贡献。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微软雅黑"/>
                <a:ea typeface="微软雅黑"/>
              </a:rPr>
              <a:t>模型由收入、现金流、负债与支出等多类变量共同驱动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Top 3 均为收入与现金流特征，重要度合计 51.08%。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591056"/>
            <a:ext cx="10899648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微软雅黑"/>
                <a:ea typeface="微软雅黑"/>
              </a:rPr>
              <a:t>表8：入模变量重要度 Top10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2064" y="1865376"/>
          <a:ext cx="10899648" cy="2377440"/>
        </p:xfrm>
        <a:graphic>
          <a:graphicData uri="http://schemas.openxmlformats.org/drawingml/2006/table">
            <a:tbl>
              <a:tblPr firstRow="0" bandRow="0"/>
              <a:tblGrid>
                <a:gridCol w="822960"/>
                <a:gridCol w="3383280"/>
                <a:gridCol w="5504688"/>
                <a:gridCol w="1188720"/>
              </a:tblGrid>
              <a:tr h="1828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排名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变量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重要度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bank_txn_income_wages_sum_182d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182 天工资收入汇总金额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20.25%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bank_txn_income_global_mean_56d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56 天收入均值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15.60%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bank_txn_balance_debit_mean_168d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168 天借方金额均值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15.23%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bank_txn_lender_repay_bnpl_amount_sum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先买后付（BNPL）还款金额总和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6.98%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bank_txn_category_cluster_transfers_share_28d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28 天转账簇金额占比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6.32%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bank_txn_lender_repay_loan_count_max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个人贷款还款单机构最大累计笔数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4.98%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bank_txn_balance_cv_56d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56 天余额变异系数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4.91%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bank_txn_lender_disburse_loan_amount_avg_l168d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168 天个人贷款放款金额均值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4.75%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bank_txn_category_insurance_debit_amt_14d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14 天保险出账金额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4.56%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bank_txn_category_cluster_debt_avg_ticket_168d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债务支出簇近 168 天平均客单价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3.60%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28016" tIns="18288" bIns="18288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画像用于解释分层，不替代风险判断；地域、渠道、具体行业与余额绝对值仅作结构补充，不直接形成强干预结论。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微软雅黑"/>
                <a:ea typeface="微软雅黑"/>
              </a:rPr>
              <a:t>把原始流水翻译成财务画像：输入与输出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银行流水是信审最重要的原料，但原料没有标签；模型把每笔交易翻译成收入与负债，支撑信审决策。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74920" y="1207008"/>
            <a:ext cx="9144" cy="484632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2064" y="1234440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07008"/>
            <a:ext cx="4297680" cy="8000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为什么重要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澳洲 Responsible Lending 监管下，信审必须核实客户财务状况，核心公式 Serviceability = 收入 − 必要支出 − 负债还款；新客价值模型最重要的特征全部来自流水，老客风险模型里流水子模型占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68.25%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 权重——流水翻译的质量，决定上层模型的天花板。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130551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4297680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输入是什么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一个申请名下的全部银行流水。每笔交易只有 4 个信息——时间、金额、收支方向、一段文字描述（如 PAYROLL ACME PTY LTD、BILL PAY Fair Go Finance），没有任何现成的「这是工资 / 这是贷款」标签。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9067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4297680" cy="8000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输出是什么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① 每笔交易打上分类标签 + 交易对手（共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35 个类别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，如 Wages / SACC Loans / 消费）；② 收入流（月收入估算、预计下次发薪日）；③ 负债流——把外部金融机构的放款与还款交易，聚合成一条条「贷款档案」；④ 分类汇总成客户财务画像，下游据此计算可支配盈余、完成信审。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427939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4297680" cy="5372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翻译示例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PAYROLL ACME PTY LTD → ACME 公司发放的工资，归入收入流；BILL PAY Fair Go Finance → 偿还 Fair Go Finance 的 SACC 贷款，归入负债流。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42432" y="1234440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0448" y="1207008"/>
            <a:ext cx="5742432" cy="5372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输出示例——收入流（演示数据，非真实客户）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同一雇主的连续发薪被串成一条收入流——ACME 公司每两周发薪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A$2,600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，月收入估算约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A$5,600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，预计下次发薪 9 月 11 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42432" y="2130551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0448" y="2103120"/>
            <a:ext cx="5742432" cy="8000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输出示例——负债流，核心能力（演示数据，非真实客户）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银行流水可以还原客户在外部机构的完整多头负债档案。例如 MoneySpot 给该客户发过 3 笔贷款——A$1,200（3月，已结清）、A$1,500（6月，已结清）、A$1,500（7月，在贷）；在贷这笔按 8 期计划、每期约 A$255，推算含费成本率约 </a:t>
            </a: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36%</a:t>
            </a: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，属 SACC 高成本产品档。汇总到客户级：外部机构 3 家、在贷 3 笔（SACC 2 笔 + BNPL 1 笔）、近 90 天新借款 A$2,300。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2432" y="409651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0448" y="4069080"/>
            <a:ext cx="5742432" cy="5372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指标体系的丰富性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定价档位（从放款与还款节奏推算利率）、多头与负债压力（机构数、借款频率、剩余期数）、还款能力（月还款 / 月收入）、资金饥渴度（近 90 天新增借款）等，全部由流水客观还原，不依赖客户自报。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491947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70448" y="4892040"/>
            <a:ext cx="5742432" cy="4057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在链路中的位置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IDA 发起申请 → IDP 调度 → 流水模型（BS-CAT）→ S-CALC 计算可支配盈余 → 风险模型与信审决策。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从流水还原收入与负债，把信审核实从「客户自报」升级为「流水客观还原」。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微软雅黑"/>
                <a:ea typeface="微软雅黑"/>
              </a:rPr>
              <a:t>模型怎么工作、怎么运维：9 个工位的流水线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</a:rPr>
              <a:t>架构的本质，是把专家经验变成可改、可查、可回滚的规则资产——模型越用越准，而非交付后冻结。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" y="1170432"/>
            <a:ext cx="1089964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0A0A0A"/>
                </a:solidFill>
                <a:latin typeface="微软雅黑"/>
                <a:ea typeface="微软雅黑"/>
              </a:rPr>
              <a:t>架构——9 个工位依次过一遍流水：</a:t>
            </a:r>
            <a:r>
              <a:rPr sz="950" b="0">
                <a:solidFill>
                  <a:srgbClr val="3D3C3A"/>
                </a:solidFill>
                <a:latin typeface="微软雅黑"/>
                <a:ea typeface="微软雅黑"/>
              </a:rPr>
              <a:t>每笔交易按顺序经过各工位，被最合适的工位认领并打上标签；收入、负债两个工位再把认领结果串成「流」。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700784"/>
            <a:ext cx="10899648" cy="640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072" y="1810512"/>
            <a:ext cx="896112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原始流水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483156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63624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① 商户识别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70708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51176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② 转账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58260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38728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③ 拒付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45812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④ 收入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33364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13832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⑤ 负债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20916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01384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⑥ 其他进账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08468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88936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⑦ 费用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96020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76488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⑧ 房租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83572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64040" y="181051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⑨ 兜底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371124" y="1979676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451592" y="1810512"/>
            <a:ext cx="896112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分类结果 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收入/负债流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2560320"/>
            <a:ext cx="9144" cy="246888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12064" y="2587751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2560320"/>
            <a:ext cx="4297680" cy="8000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设计思考①：为什么用「规则 + 知识库」，而不是训练一个算法模型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信贷场景的刚需是可解释、可审计：每一笔交易为什么这样分类，都能指到具体规则，被拒客户申诉与监管检查都需要；变更成本极低：改一条规则就是改一行 Excel，不用重新训练、重新部署；能力随业务累积：商户库已滚到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87.6 万家</a:t>
            </a: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，模型随使用越滚越强。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" y="400507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977639"/>
            <a:ext cx="4297680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设计思考②：为什么拆成 9 个工位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职责单一，问题能定位到具体工位；互不干扰：改负债规则不会误伤收入识别；类别冲突靠「顺序 + 保护规则」解决：收入是信审最重要的信号，规则上保护它不被其他工位覆盖；每个工位独立测试、独立迭代，回归检查精确到工位层。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42432" y="2587751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70448" y="2560320"/>
            <a:ext cx="5742432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设计思考③：为什么做四层基线回归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「最终结果没变」不等于「没影响」：某工位改了规则但没当上最终赢家，最终结果看不出变化，隐患会在未来爆发；四层回归（最终结果 / 各工位认领 / 配置指纹 / 汇总指标）让任何调整都可追溯、可回滚；这也是敢高频更新知识库的前提——更新便宜且安全。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42432" y="400507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70448" y="3977639"/>
            <a:ext cx="5742432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设计思考④：知识库就是这些 Excel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全部规则外置在 24 张规则表中，业务同事可以直接打开修改——最大的「商户库」已收录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87.6 万家</a:t>
            </a: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澳洲商户，每行是「商户名 + 关键词变体 + 分类」；收入表定义工资识别模式；负债表收录贷款机构与产品类型；房租规则带置信度评分。改表即改规则，不用动代码。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" y="519379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166360"/>
            <a:ext cx="5212080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怎么运维：「2 人 + 1 个 AI 助手」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模型团队同学负责主动运维（质检监控、分类漂移与模型波动），并处理人审团队以 ticket 反馈的 case，给出解决方案与代码修改；AI 助手负责两类监测：分类异常波动与大量缺失的主动提示、市面上新商户的新增监测。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1616" y="519379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99631" y="5166360"/>
            <a:ext cx="5212080" cy="5372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相对 illion 的收益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逻辑透明、问题可定位；粒度可控（SACC / Non-SACC / BNPL / LOC / EWA 可拆分）；口径可配置；Open Banking 等新数据源可直接接入。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架构的每一项取舍都指向同一件事——让规则资产可持续演进：改得动、看得清、回得去。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1945</Words>
  <Application>Microsoft Office PowerPoint</Application>
  <PresentationFormat>宽屏</PresentationFormat>
  <Paragraphs>376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微软雅黑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昱良</cp:lastModifiedBy>
  <cp:revision>8</cp:revision>
  <dcterms:created xsi:type="dcterms:W3CDTF">2026-08-31T03:24:07Z</dcterms:created>
  <dcterms:modified xsi:type="dcterms:W3CDTF">2026-08-31T03:54:09Z</dcterms:modified>
</cp:coreProperties>
</file>