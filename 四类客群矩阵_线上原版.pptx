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A74C0-4492-4B6E-82F1-847BE75E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48B1CD-FA7B-40D0-A752-65ED1949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D2C4A-DB2C-4ABD-8E4A-C2D6567E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C06B2-F499-418D-862E-A5CEFBE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15A32-7731-485E-B4AA-B08F6E15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F095-51A9-4DBD-ADF5-FBC7F025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AC3E3-9B46-4488-91C0-9AA4E1C0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CF6FB-AFA3-49D3-8B12-177CC50B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48375-639C-4148-B536-C14EEAB9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F5F55-6771-4B3A-B141-C9A8EADB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066A-A401-4B7A-9261-A371FD0A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292A1-C559-48E9-B92C-ED860403C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C8781-CF2A-499C-94E1-8719D4E4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63101-8B73-4C25-BC55-7659EE25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74310-F05B-403D-9C21-A7BC4B09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2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5B945-F937-4281-BF3D-8B65E94A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2C8FAA-08B8-4E14-8258-1ED1E0987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EF507-EE1E-4906-8E12-3AE95ECCC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705F97-FB45-4ADE-AAD3-111BDC25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C1D9F-14FE-4CA6-8B97-0A26596D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BA541B-5155-44EE-9B69-870C6F9B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83019-4550-438C-AF1D-AFDAB5CF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7705E-DF06-4579-90EE-2E83BED5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2142CC-217D-4372-8E14-D6443AC4C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5A6281-7CA3-4246-8E55-C3CA7404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FC874-1075-4BFE-8585-AA328CCAD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23710D-E3D8-4F62-8215-989A61AA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A00496-D08A-4F79-9AB1-6DB3C9CF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58F5C5-7812-4992-B30D-C2BBB2D9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19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CC04B-3A70-46FA-BD6F-1BAF41A9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792B4D-D45E-4DC2-AB5B-BD834959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0CF96A-7B5D-4FB4-98A1-C2BB5207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D0F25D-89EF-4CDF-AB3F-9EA0BE98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08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F08A2A-4DDF-4321-B7C0-84BEB946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F69043-3DAA-483F-905A-71EC2721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DED16-87A9-4637-8821-C726D514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5E25E-ACFB-43EA-8A88-1269FC1C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982BD-284D-46CF-8CFC-17A25BE4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DA268B-3287-4EA4-B656-666D9FBE2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1276A-35B8-4DEF-AC08-B5D6EA90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4578D-C269-4781-8E26-9ABFBAAA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DAA54B-C9B3-4D8A-BA0D-93979BF9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2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888E7-4030-41D6-8519-EC2610F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FEBED0-012F-474B-AB92-7FD8A0EF5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A7A0F1-DA2C-4FB3-8467-CAAB0D4BF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86A97-7223-4D44-951E-F866B79B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55755-29B7-4375-A1B1-E510CFB8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C7FB22-B785-4E00-A396-651FC141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5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E86F8-7C3C-48F9-A140-DF7ECDDA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C504E-A9B0-4526-8809-044E41474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5E44F-A10B-45EB-B982-AAD32F8F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374D6-1026-46FD-B9FF-E36AA217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33D93-F50E-45EC-9C08-292AF18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84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34DD52-860B-430C-9C85-E4533FEAB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86C01-6C80-4FA1-88FA-839883FC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8CEC8-0D67-490E-A721-C15C7977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FA70B-E61C-4E29-A6C8-FABE110F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E4441-8A8F-46BB-9599-110363C0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54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16D2E2-87AE-4739-8608-CEE8873A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34A209-DDC2-4959-A160-BDC500046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4EE6D-3BAE-4835-9108-B29A33070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CAA53-B6C0-4D1B-8E8C-333540490368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6AE31-865A-4DEE-BB2A-053A2D21B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3D2F2-3DD8-465E-8B4F-77319A921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99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微软雅黑"/>
                <a:cs typeface="+mn-cs"/>
              </a:rPr>
              <a:t>四类客群矩阵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613" y="1276357"/>
            <a:ext cx="1379983" cy="374135"/>
          </a:xfrm>
          <a:prstGeom prst="roundRect">
            <a:avLst/>
          </a:prstGeom>
          <a:solidFill>
            <a:srgbClr val="2F6B4F"/>
          </a:solidFill>
          <a:ln w="1270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风险好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26948" y="1796767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0100" y="1860776"/>
            <a:ext cx="2790957" cy="144848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 </a:t>
            </a: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3000-5000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优质</a:t>
            </a: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MACC / LACC </a:t>
            </a:r>
            <a:r>
              <a:rPr kumimoji="0" lang="en-US" sz="960" b="1" i="0" u="none" strike="noStrike" kern="1200" cap="none" spc="0" normalizeH="0" baseline="0" noProof="0" dirty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/LOC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候选池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2F6B4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" y="2206876"/>
            <a:ext cx="4533138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风险低、价值好，适合作为重点经营客群</a:t>
            </a:r>
            <a:r>
              <a:rPr kumimoji="0" sz="91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F46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1661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1661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4813" y="2867733"/>
            <a:ext cx="433708" cy="132344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4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等线" panose="02010600030101010101" pitchFamily="2" charset="-122"/>
                <a:cs typeface="+mn-cs"/>
              </a:rPr>
              <a:t>样本占比</a:t>
            </a:r>
            <a:endParaRPr kumimoji="0" sz="74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813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7249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87249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60401" y="2867733"/>
            <a:ext cx="339132" cy="132344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4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等线" panose="02010600030101010101" pitchFamily="2" charset="-122"/>
                <a:cs typeface="+mn-cs"/>
              </a:rPr>
              <a:t>通过率</a:t>
            </a:r>
            <a:endParaRPr kumimoji="0" sz="74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60401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2837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62837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35989" y="2867733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5989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8425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38425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11577" y="2867733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1577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2203" y="1357604"/>
            <a:ext cx="1223609" cy="335306"/>
          </a:xfrm>
          <a:prstGeom prst="roundRect">
            <a:avLst/>
          </a:prstGeom>
          <a:solidFill>
            <a:srgbClr val="9A7211"/>
          </a:solidFill>
          <a:ln w="1270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风险差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87083" y="1884450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60236" y="1948459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EWA / 超短期产品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5372" y="2286787"/>
            <a:ext cx="4873752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不适合直接放款大额度或期限，更适合通过短期、小额、即时周转产品承接需求</a:t>
            </a: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F46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0033" y="4333239"/>
            <a:ext cx="1408399" cy="381088"/>
          </a:xfrm>
          <a:prstGeom prst="roundRect">
            <a:avLst/>
          </a:prstGeom>
          <a:solidFill>
            <a:srgbClr val="1E4F7A"/>
          </a:solidFill>
          <a:ln w="1270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风险好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62320" y="4828228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35472" y="4892236"/>
            <a:ext cx="812851" cy="137345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SACC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1E4F7A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4919" y="5234737"/>
            <a:ext cx="4805619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不适合作为强经营客群，可通过低额度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Personal Loan </a:t>
            </a: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验证稳定需求、复贷表现和真实贡献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4608" y="4328595"/>
            <a:ext cx="1305301" cy="391887"/>
          </a:xfrm>
          <a:prstGeom prst="roundRect">
            <a:avLst/>
          </a:prstGeom>
          <a:solidFill>
            <a:srgbClr val="A2463C"/>
          </a:solidFill>
          <a:ln w="1270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风险差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404609" y="4830209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77762" y="4894217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原则上不重点承接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A2463C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04609" y="5247328"/>
            <a:ext cx="4802150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重点应放在限额、提价、人工审核和谨慎准入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23659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23659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96811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6811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77,057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8965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728965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02117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02117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48.85%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1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034271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107423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07423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22.25%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39577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0339577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412729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12729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15.38%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" y="777240"/>
            <a:ext cx="10927080" cy="13716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621792" y="3877056"/>
            <a:ext cx="11100816" cy="0"/>
          </a:xfrm>
          <a:prstGeom prst="line">
            <a:avLst/>
          </a:prstGeom>
          <a:ln w="16510">
            <a:solidFill>
              <a:srgbClr val="7584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108192" y="1115568"/>
            <a:ext cx="0" cy="5394960"/>
          </a:xfrm>
          <a:prstGeom prst="line">
            <a:avLst/>
          </a:prstGeom>
          <a:ln w="16510">
            <a:solidFill>
              <a:srgbClr val="7584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21792" y="3712463"/>
            <a:ext cx="713232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风险低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18520" y="3712463"/>
            <a:ext cx="713232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15000" y="932688"/>
            <a:ext cx="786384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0" y="6547104"/>
            <a:ext cx="786384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价值低</a:t>
            </a:r>
          </a:p>
        </p:txBody>
      </p:sp>
      <p:sp>
        <p:nvSpPr>
          <p:cNvPr id="64" name="Rectangle 12">
            <a:extLst>
              <a:ext uri="{FF2B5EF4-FFF2-40B4-BE49-F238E27FC236}">
                <a16:creationId xmlns:a16="http://schemas.microsoft.com/office/drawing/2014/main" id="{4FD914A2-F23C-44E4-AB4B-734D717A22BF}"/>
              </a:ext>
            </a:extLst>
          </p:cNvPr>
          <p:cNvSpPr/>
          <p:nvPr/>
        </p:nvSpPr>
        <p:spPr>
          <a:xfrm>
            <a:off x="6386003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5" name="Rectangle 13">
            <a:extLst>
              <a:ext uri="{FF2B5EF4-FFF2-40B4-BE49-F238E27FC236}">
                <a16:creationId xmlns:a16="http://schemas.microsoft.com/office/drawing/2014/main" id="{8033073F-02B2-417A-8060-AE51380D2EF2}"/>
              </a:ext>
            </a:extLst>
          </p:cNvPr>
          <p:cNvSpPr/>
          <p:nvPr/>
        </p:nvSpPr>
        <p:spPr>
          <a:xfrm>
            <a:off x="6386003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7" name="TextBox 14">
            <a:extLst>
              <a:ext uri="{FF2B5EF4-FFF2-40B4-BE49-F238E27FC236}">
                <a16:creationId xmlns:a16="http://schemas.microsoft.com/office/drawing/2014/main" id="{D53B8B82-491C-48DE-98E1-5F01B85A4817}"/>
              </a:ext>
            </a:extLst>
          </p:cNvPr>
          <p:cNvSpPr txBox="1"/>
          <p:nvPr/>
        </p:nvSpPr>
        <p:spPr>
          <a:xfrm>
            <a:off x="6459155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874DC849-CA90-4FE7-9788-92BC201E2EEA}"/>
              </a:ext>
            </a:extLst>
          </p:cNvPr>
          <p:cNvSpPr txBox="1"/>
          <p:nvPr/>
        </p:nvSpPr>
        <p:spPr>
          <a:xfrm>
            <a:off x="6459155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96" name="Rectangle 16">
            <a:extLst>
              <a:ext uri="{FF2B5EF4-FFF2-40B4-BE49-F238E27FC236}">
                <a16:creationId xmlns:a16="http://schemas.microsoft.com/office/drawing/2014/main" id="{1E067236-6F83-4217-9DA7-62424105BBD4}"/>
              </a:ext>
            </a:extLst>
          </p:cNvPr>
          <p:cNvSpPr/>
          <p:nvPr/>
        </p:nvSpPr>
        <p:spPr>
          <a:xfrm>
            <a:off x="7661591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7" name="Rectangle 17">
            <a:extLst>
              <a:ext uri="{FF2B5EF4-FFF2-40B4-BE49-F238E27FC236}">
                <a16:creationId xmlns:a16="http://schemas.microsoft.com/office/drawing/2014/main" id="{CA50D63F-AC71-4240-BB45-223D88F8449E}"/>
              </a:ext>
            </a:extLst>
          </p:cNvPr>
          <p:cNvSpPr/>
          <p:nvPr/>
        </p:nvSpPr>
        <p:spPr>
          <a:xfrm>
            <a:off x="7661591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8" name="TextBox 18">
            <a:extLst>
              <a:ext uri="{FF2B5EF4-FFF2-40B4-BE49-F238E27FC236}">
                <a16:creationId xmlns:a16="http://schemas.microsoft.com/office/drawing/2014/main" id="{B42DBFD5-B192-4A39-88CB-0688EB1637DE}"/>
              </a:ext>
            </a:extLst>
          </p:cNvPr>
          <p:cNvSpPr txBox="1"/>
          <p:nvPr/>
        </p:nvSpPr>
        <p:spPr>
          <a:xfrm>
            <a:off x="7734743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99" name="TextBox 19">
            <a:extLst>
              <a:ext uri="{FF2B5EF4-FFF2-40B4-BE49-F238E27FC236}">
                <a16:creationId xmlns:a16="http://schemas.microsoft.com/office/drawing/2014/main" id="{F1468225-AD8D-42ED-A951-AF1042CB0246}"/>
              </a:ext>
            </a:extLst>
          </p:cNvPr>
          <p:cNvSpPr txBox="1"/>
          <p:nvPr/>
        </p:nvSpPr>
        <p:spPr>
          <a:xfrm>
            <a:off x="7734743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F26E370B-2987-4C44-97A9-2AFCDA573AB4}"/>
              </a:ext>
            </a:extLst>
          </p:cNvPr>
          <p:cNvSpPr/>
          <p:nvPr/>
        </p:nvSpPr>
        <p:spPr>
          <a:xfrm>
            <a:off x="8937179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1" name="Rectangle 21">
            <a:extLst>
              <a:ext uri="{FF2B5EF4-FFF2-40B4-BE49-F238E27FC236}">
                <a16:creationId xmlns:a16="http://schemas.microsoft.com/office/drawing/2014/main" id="{17418F14-35DF-4B59-82E0-ED955AD5E5F3}"/>
              </a:ext>
            </a:extLst>
          </p:cNvPr>
          <p:cNvSpPr/>
          <p:nvPr/>
        </p:nvSpPr>
        <p:spPr>
          <a:xfrm>
            <a:off x="8937179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2" name="TextBox 22">
            <a:extLst>
              <a:ext uri="{FF2B5EF4-FFF2-40B4-BE49-F238E27FC236}">
                <a16:creationId xmlns:a16="http://schemas.microsoft.com/office/drawing/2014/main" id="{12CFD782-A0F5-4604-8764-6CA90A6B6619}"/>
              </a:ext>
            </a:extLst>
          </p:cNvPr>
          <p:cNvSpPr txBox="1"/>
          <p:nvPr/>
        </p:nvSpPr>
        <p:spPr>
          <a:xfrm>
            <a:off x="9010331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103" name="TextBox 23">
            <a:extLst>
              <a:ext uri="{FF2B5EF4-FFF2-40B4-BE49-F238E27FC236}">
                <a16:creationId xmlns:a16="http://schemas.microsoft.com/office/drawing/2014/main" id="{0535F90D-E145-4F2A-97B1-B83306D7961A}"/>
              </a:ext>
            </a:extLst>
          </p:cNvPr>
          <p:cNvSpPr txBox="1"/>
          <p:nvPr/>
        </p:nvSpPr>
        <p:spPr>
          <a:xfrm>
            <a:off x="9010331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104" name="Rectangle 24">
            <a:extLst>
              <a:ext uri="{FF2B5EF4-FFF2-40B4-BE49-F238E27FC236}">
                <a16:creationId xmlns:a16="http://schemas.microsoft.com/office/drawing/2014/main" id="{1D896793-BA07-4127-944A-6E0689ED11F9}"/>
              </a:ext>
            </a:extLst>
          </p:cNvPr>
          <p:cNvSpPr/>
          <p:nvPr/>
        </p:nvSpPr>
        <p:spPr>
          <a:xfrm>
            <a:off x="10212767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5" name="Rectangle 25">
            <a:extLst>
              <a:ext uri="{FF2B5EF4-FFF2-40B4-BE49-F238E27FC236}">
                <a16:creationId xmlns:a16="http://schemas.microsoft.com/office/drawing/2014/main" id="{934A70D4-A7DD-4E5C-8C51-5ACDBA6C21FF}"/>
              </a:ext>
            </a:extLst>
          </p:cNvPr>
          <p:cNvSpPr/>
          <p:nvPr/>
        </p:nvSpPr>
        <p:spPr>
          <a:xfrm>
            <a:off x="10212767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6" name="TextBox 26">
            <a:extLst>
              <a:ext uri="{FF2B5EF4-FFF2-40B4-BE49-F238E27FC236}">
                <a16:creationId xmlns:a16="http://schemas.microsoft.com/office/drawing/2014/main" id="{3A670DF6-D5A2-4B19-96CF-88058C33F675}"/>
              </a:ext>
            </a:extLst>
          </p:cNvPr>
          <p:cNvSpPr txBox="1"/>
          <p:nvPr/>
        </p:nvSpPr>
        <p:spPr>
          <a:xfrm>
            <a:off x="10285919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107" name="TextBox 27">
            <a:extLst>
              <a:ext uri="{FF2B5EF4-FFF2-40B4-BE49-F238E27FC236}">
                <a16:creationId xmlns:a16="http://schemas.microsoft.com/office/drawing/2014/main" id="{C81F11DB-D8A9-42C3-903D-1D6D34866172}"/>
              </a:ext>
            </a:extLst>
          </p:cNvPr>
          <p:cNvSpPr txBox="1"/>
          <p:nvPr/>
        </p:nvSpPr>
        <p:spPr>
          <a:xfrm>
            <a:off x="10285919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  <p:sp>
        <p:nvSpPr>
          <p:cNvPr id="108" name="Rectangle 12">
            <a:extLst>
              <a:ext uri="{FF2B5EF4-FFF2-40B4-BE49-F238E27FC236}">
                <a16:creationId xmlns:a16="http://schemas.microsoft.com/office/drawing/2014/main" id="{E0CE5DB8-F3FF-4C35-B90B-4E30AB703553}"/>
              </a:ext>
            </a:extLst>
          </p:cNvPr>
          <p:cNvSpPr/>
          <p:nvPr/>
        </p:nvSpPr>
        <p:spPr>
          <a:xfrm>
            <a:off x="752857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9" name="Rectangle 13">
            <a:extLst>
              <a:ext uri="{FF2B5EF4-FFF2-40B4-BE49-F238E27FC236}">
                <a16:creationId xmlns:a16="http://schemas.microsoft.com/office/drawing/2014/main" id="{DECDF4B5-A8E8-4C9A-8BEF-941E9C6E2B0F}"/>
              </a:ext>
            </a:extLst>
          </p:cNvPr>
          <p:cNvSpPr/>
          <p:nvPr/>
        </p:nvSpPr>
        <p:spPr>
          <a:xfrm>
            <a:off x="752857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0" name="TextBox 14">
            <a:extLst>
              <a:ext uri="{FF2B5EF4-FFF2-40B4-BE49-F238E27FC236}">
                <a16:creationId xmlns:a16="http://schemas.microsoft.com/office/drawing/2014/main" id="{A81126DB-1E60-44D6-B995-E7B7FD762799}"/>
              </a:ext>
            </a:extLst>
          </p:cNvPr>
          <p:cNvSpPr txBox="1"/>
          <p:nvPr/>
        </p:nvSpPr>
        <p:spPr>
          <a:xfrm>
            <a:off x="826009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111" name="TextBox 15">
            <a:extLst>
              <a:ext uri="{FF2B5EF4-FFF2-40B4-BE49-F238E27FC236}">
                <a16:creationId xmlns:a16="http://schemas.microsoft.com/office/drawing/2014/main" id="{9152A401-CA0A-437C-B823-1CB1A5CFA4D8}"/>
              </a:ext>
            </a:extLst>
          </p:cNvPr>
          <p:cNvSpPr txBox="1"/>
          <p:nvPr/>
        </p:nvSpPr>
        <p:spPr>
          <a:xfrm>
            <a:off x="826009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112" name="Rectangle 16">
            <a:extLst>
              <a:ext uri="{FF2B5EF4-FFF2-40B4-BE49-F238E27FC236}">
                <a16:creationId xmlns:a16="http://schemas.microsoft.com/office/drawing/2014/main" id="{8BA057C5-46E5-46BA-BCB1-FEDC1C03666D}"/>
              </a:ext>
            </a:extLst>
          </p:cNvPr>
          <p:cNvSpPr/>
          <p:nvPr/>
        </p:nvSpPr>
        <p:spPr>
          <a:xfrm>
            <a:off x="2028445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3" name="Rectangle 17">
            <a:extLst>
              <a:ext uri="{FF2B5EF4-FFF2-40B4-BE49-F238E27FC236}">
                <a16:creationId xmlns:a16="http://schemas.microsoft.com/office/drawing/2014/main" id="{6CBC9BFE-23D7-41D8-A0AA-83A1F18736E5}"/>
              </a:ext>
            </a:extLst>
          </p:cNvPr>
          <p:cNvSpPr/>
          <p:nvPr/>
        </p:nvSpPr>
        <p:spPr>
          <a:xfrm>
            <a:off x="2028445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4" name="TextBox 18">
            <a:extLst>
              <a:ext uri="{FF2B5EF4-FFF2-40B4-BE49-F238E27FC236}">
                <a16:creationId xmlns:a16="http://schemas.microsoft.com/office/drawing/2014/main" id="{FD1ACB24-0129-4F1C-BA55-1E393C583FCE}"/>
              </a:ext>
            </a:extLst>
          </p:cNvPr>
          <p:cNvSpPr txBox="1"/>
          <p:nvPr/>
        </p:nvSpPr>
        <p:spPr>
          <a:xfrm>
            <a:off x="2101597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115" name="TextBox 19">
            <a:extLst>
              <a:ext uri="{FF2B5EF4-FFF2-40B4-BE49-F238E27FC236}">
                <a16:creationId xmlns:a16="http://schemas.microsoft.com/office/drawing/2014/main" id="{141138F3-FCC6-41DE-BFAE-069F6286079C}"/>
              </a:ext>
            </a:extLst>
          </p:cNvPr>
          <p:cNvSpPr txBox="1"/>
          <p:nvPr/>
        </p:nvSpPr>
        <p:spPr>
          <a:xfrm>
            <a:off x="2101597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116" name="Rectangle 20">
            <a:extLst>
              <a:ext uri="{FF2B5EF4-FFF2-40B4-BE49-F238E27FC236}">
                <a16:creationId xmlns:a16="http://schemas.microsoft.com/office/drawing/2014/main" id="{98606484-4C45-4292-A88B-B2BB6B93C1E8}"/>
              </a:ext>
            </a:extLst>
          </p:cNvPr>
          <p:cNvSpPr/>
          <p:nvPr/>
        </p:nvSpPr>
        <p:spPr>
          <a:xfrm>
            <a:off x="3304033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7" name="Rectangle 21">
            <a:extLst>
              <a:ext uri="{FF2B5EF4-FFF2-40B4-BE49-F238E27FC236}">
                <a16:creationId xmlns:a16="http://schemas.microsoft.com/office/drawing/2014/main" id="{982417F1-FF33-4AED-9CF3-1CD041E4E89C}"/>
              </a:ext>
            </a:extLst>
          </p:cNvPr>
          <p:cNvSpPr/>
          <p:nvPr/>
        </p:nvSpPr>
        <p:spPr>
          <a:xfrm>
            <a:off x="3304033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8" name="TextBox 22">
            <a:extLst>
              <a:ext uri="{FF2B5EF4-FFF2-40B4-BE49-F238E27FC236}">
                <a16:creationId xmlns:a16="http://schemas.microsoft.com/office/drawing/2014/main" id="{92B098E2-F3E1-4CEB-9687-F358DC8AB365}"/>
              </a:ext>
            </a:extLst>
          </p:cNvPr>
          <p:cNvSpPr txBox="1"/>
          <p:nvPr/>
        </p:nvSpPr>
        <p:spPr>
          <a:xfrm>
            <a:off x="3377185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119" name="TextBox 23">
            <a:extLst>
              <a:ext uri="{FF2B5EF4-FFF2-40B4-BE49-F238E27FC236}">
                <a16:creationId xmlns:a16="http://schemas.microsoft.com/office/drawing/2014/main" id="{98729146-56F7-47B4-9AA7-418358FED8A9}"/>
              </a:ext>
            </a:extLst>
          </p:cNvPr>
          <p:cNvSpPr txBox="1"/>
          <p:nvPr/>
        </p:nvSpPr>
        <p:spPr>
          <a:xfrm>
            <a:off x="3377185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120" name="Rectangle 24">
            <a:extLst>
              <a:ext uri="{FF2B5EF4-FFF2-40B4-BE49-F238E27FC236}">
                <a16:creationId xmlns:a16="http://schemas.microsoft.com/office/drawing/2014/main" id="{0F753732-702E-46C8-9767-1523823886A7}"/>
              </a:ext>
            </a:extLst>
          </p:cNvPr>
          <p:cNvSpPr/>
          <p:nvPr/>
        </p:nvSpPr>
        <p:spPr>
          <a:xfrm>
            <a:off x="4579621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1" name="Rectangle 25">
            <a:extLst>
              <a:ext uri="{FF2B5EF4-FFF2-40B4-BE49-F238E27FC236}">
                <a16:creationId xmlns:a16="http://schemas.microsoft.com/office/drawing/2014/main" id="{990457D0-78F3-4D94-A99C-BE6AE021FADA}"/>
              </a:ext>
            </a:extLst>
          </p:cNvPr>
          <p:cNvSpPr/>
          <p:nvPr/>
        </p:nvSpPr>
        <p:spPr>
          <a:xfrm>
            <a:off x="4579621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2" name="TextBox 26">
            <a:extLst>
              <a:ext uri="{FF2B5EF4-FFF2-40B4-BE49-F238E27FC236}">
                <a16:creationId xmlns:a16="http://schemas.microsoft.com/office/drawing/2014/main" id="{25A536A1-9D0B-47A4-AA3D-350FCFBB9391}"/>
              </a:ext>
            </a:extLst>
          </p:cNvPr>
          <p:cNvSpPr txBox="1"/>
          <p:nvPr/>
        </p:nvSpPr>
        <p:spPr>
          <a:xfrm>
            <a:off x="4652773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123" name="TextBox 27">
            <a:extLst>
              <a:ext uri="{FF2B5EF4-FFF2-40B4-BE49-F238E27FC236}">
                <a16:creationId xmlns:a16="http://schemas.microsoft.com/office/drawing/2014/main" id="{9A01F9F9-9D00-4C3B-B469-CC75B5CFE282}"/>
              </a:ext>
            </a:extLst>
          </p:cNvPr>
          <p:cNvSpPr txBox="1"/>
          <p:nvPr/>
        </p:nvSpPr>
        <p:spPr>
          <a:xfrm>
            <a:off x="4652773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</p:spTree>
    <p:extLst>
      <p:ext uri="{BB962C8B-B14F-4D97-AF65-F5344CB8AC3E}">
        <p14:creationId xmlns:p14="http://schemas.microsoft.com/office/powerpoint/2010/main" val="26805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Noto Sans CJK SC</vt:lpstr>
      <vt:lpstr>Microsoft YaHei</vt:lpstr>
      <vt:lpstr>Microsoft YaHei</vt:lpstr>
      <vt:lpstr>等线</vt:lpstr>
      <vt:lpstr>等线 Light</vt:lpstr>
      <vt:lpstr>Arial</vt:lpstr>
      <vt:lpstr>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1</cp:revision>
  <dcterms:created xsi:type="dcterms:W3CDTF">2026-08-31T12:17:08Z</dcterms:created>
  <dcterms:modified xsi:type="dcterms:W3CDTF">2026-08-31T12:17:13Z</dcterms:modified>
</cp:coreProperties>
</file>